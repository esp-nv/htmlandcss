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5" r:id="rId1"/>
  </p:sldMasterIdLst>
  <p:notesMasterIdLst>
    <p:notesMasterId r:id="rId85"/>
  </p:notesMasterIdLst>
  <p:handoutMasterIdLst>
    <p:handoutMasterId r:id="rId86"/>
  </p:handoutMasterIdLst>
  <p:sldIdLst>
    <p:sldId id="256" r:id="rId2"/>
    <p:sldId id="387" r:id="rId3"/>
    <p:sldId id="744" r:id="rId4"/>
    <p:sldId id="745" r:id="rId5"/>
    <p:sldId id="746" r:id="rId6"/>
    <p:sldId id="747" r:id="rId7"/>
    <p:sldId id="754" r:id="rId8"/>
    <p:sldId id="588" r:id="rId9"/>
    <p:sldId id="713" r:id="rId10"/>
    <p:sldId id="755" r:id="rId11"/>
    <p:sldId id="589" r:id="rId12"/>
    <p:sldId id="748" r:id="rId13"/>
    <p:sldId id="374" r:id="rId14"/>
    <p:sldId id="623" r:id="rId15"/>
    <p:sldId id="721" r:id="rId16"/>
    <p:sldId id="580" r:id="rId17"/>
    <p:sldId id="578" r:id="rId18"/>
    <p:sldId id="555" r:id="rId19"/>
    <p:sldId id="718" r:id="rId20"/>
    <p:sldId id="630" r:id="rId21"/>
    <p:sldId id="586" r:id="rId22"/>
    <p:sldId id="584" r:id="rId23"/>
    <p:sldId id="558" r:id="rId24"/>
    <p:sldId id="615" r:id="rId25"/>
    <p:sldId id="722" r:id="rId26"/>
    <p:sldId id="636" r:id="rId27"/>
    <p:sldId id="724" r:id="rId28"/>
    <p:sldId id="617" r:id="rId29"/>
    <p:sldId id="665" r:id="rId30"/>
    <p:sldId id="723" r:id="rId31"/>
    <p:sldId id="618" r:id="rId32"/>
    <p:sldId id="560" r:id="rId33"/>
    <p:sldId id="559" r:id="rId34"/>
    <p:sldId id="735" r:id="rId35"/>
    <p:sldId id="686" r:id="rId36"/>
    <p:sldId id="699" r:id="rId37"/>
    <p:sldId id="700" r:id="rId38"/>
    <p:sldId id="698" r:id="rId39"/>
    <p:sldId id="702" r:id="rId40"/>
    <p:sldId id="742" r:id="rId41"/>
    <p:sldId id="703" r:id="rId42"/>
    <p:sldId id="704" r:id="rId43"/>
    <p:sldId id="706" r:id="rId44"/>
    <p:sldId id="705" r:id="rId45"/>
    <p:sldId id="707" r:id="rId46"/>
    <p:sldId id="708" r:id="rId47"/>
    <p:sldId id="725" r:id="rId48"/>
    <p:sldId id="546" r:id="rId49"/>
    <p:sldId id="403" r:id="rId50"/>
    <p:sldId id="404" r:id="rId51"/>
    <p:sldId id="567" r:id="rId52"/>
    <p:sldId id="406" r:id="rId53"/>
    <p:sldId id="305" r:id="rId54"/>
    <p:sldId id="687" r:id="rId55"/>
    <p:sldId id="688" r:id="rId56"/>
    <p:sldId id="689" r:id="rId57"/>
    <p:sldId id="690" r:id="rId58"/>
    <p:sldId id="691" r:id="rId59"/>
    <p:sldId id="693" r:id="rId60"/>
    <p:sldId id="716" r:id="rId61"/>
    <p:sldId id="692" r:id="rId62"/>
    <p:sldId id="715" r:id="rId63"/>
    <p:sldId id="694" r:id="rId64"/>
    <p:sldId id="652" r:id="rId65"/>
    <p:sldId id="654" r:id="rId66"/>
    <p:sldId id="736" r:id="rId67"/>
    <p:sldId id="727" r:id="rId68"/>
    <p:sldId id="415" r:id="rId69"/>
    <p:sldId id="416" r:id="rId70"/>
    <p:sldId id="738" r:id="rId71"/>
    <p:sldId id="417" r:id="rId72"/>
    <p:sldId id="739" r:id="rId73"/>
    <p:sldId id="418" r:id="rId74"/>
    <p:sldId id="740" r:id="rId75"/>
    <p:sldId id="741" r:id="rId76"/>
    <p:sldId id="434" r:id="rId77"/>
    <p:sldId id="435" r:id="rId78"/>
    <p:sldId id="436" r:id="rId79"/>
    <p:sldId id="752" r:id="rId80"/>
    <p:sldId id="726" r:id="rId81"/>
    <p:sldId id="753" r:id="rId82"/>
    <p:sldId id="405" r:id="rId83"/>
    <p:sldId id="493" r:id="rId8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589C082F-36E2-4F80-8296-77DF3D2196D8}">
          <p14:sldIdLst>
            <p14:sldId id="256"/>
          </p14:sldIdLst>
        </p14:section>
        <p14:section name="What is Box Model?" id="{879D88A0-63A8-4FB6-AC88-61A48BB8E27E}">
          <p14:sldIdLst>
            <p14:sldId id="387"/>
            <p14:sldId id="744"/>
            <p14:sldId id="745"/>
            <p14:sldId id="746"/>
            <p14:sldId id="747"/>
            <p14:sldId id="754"/>
            <p14:sldId id="588"/>
            <p14:sldId id="713"/>
            <p14:sldId id="755"/>
            <p14:sldId id="589"/>
            <p14:sldId id="748"/>
            <p14:sldId id="374"/>
            <p14:sldId id="623"/>
            <p14:sldId id="721"/>
            <p14:sldId id="580"/>
            <p14:sldId id="578"/>
            <p14:sldId id="555"/>
            <p14:sldId id="718"/>
            <p14:sldId id="630"/>
            <p14:sldId id="586"/>
            <p14:sldId id="584"/>
            <p14:sldId id="558"/>
            <p14:sldId id="615"/>
            <p14:sldId id="722"/>
            <p14:sldId id="636"/>
            <p14:sldId id="724"/>
            <p14:sldId id="617"/>
            <p14:sldId id="665"/>
            <p14:sldId id="723"/>
            <p14:sldId id="618"/>
            <p14:sldId id="560"/>
            <p14:sldId id="559"/>
          </p14:sldIdLst>
        </p14:section>
        <p14:section name="The CSS Box Model" id="{033A77D6-C9D3-46A5-9D56-910720743DD3}">
          <p14:sldIdLst>
            <p14:sldId id="735"/>
            <p14:sldId id="686"/>
            <p14:sldId id="699"/>
            <p14:sldId id="700"/>
            <p14:sldId id="698"/>
            <p14:sldId id="702"/>
            <p14:sldId id="742"/>
            <p14:sldId id="703"/>
            <p14:sldId id="704"/>
            <p14:sldId id="706"/>
            <p14:sldId id="705"/>
            <p14:sldId id="707"/>
            <p14:sldId id="708"/>
            <p14:sldId id="725"/>
            <p14:sldId id="546"/>
            <p14:sldId id="403"/>
            <p14:sldId id="404"/>
            <p14:sldId id="567"/>
            <p14:sldId id="406"/>
          </p14:sldIdLst>
        </p14:section>
        <p14:section name="Typography" id="{77949996-DA15-4BD2-BA63-C207AF859D0F}">
          <p14:sldIdLst>
            <p14:sldId id="305"/>
            <p14:sldId id="687"/>
            <p14:sldId id="688"/>
            <p14:sldId id="689"/>
            <p14:sldId id="690"/>
            <p14:sldId id="691"/>
            <p14:sldId id="693"/>
            <p14:sldId id="716"/>
            <p14:sldId id="692"/>
            <p14:sldId id="715"/>
            <p14:sldId id="694"/>
            <p14:sldId id="652"/>
            <p14:sldId id="654"/>
          </p14:sldIdLst>
        </p14:section>
        <p14:section name="Position" id="{8CBDE98A-AEE8-448F-A3C7-E8370DE1C1E6}">
          <p14:sldIdLst>
            <p14:sldId id="736"/>
            <p14:sldId id="727"/>
            <p14:sldId id="415"/>
            <p14:sldId id="416"/>
            <p14:sldId id="738"/>
            <p14:sldId id="417"/>
            <p14:sldId id="739"/>
            <p14:sldId id="418"/>
            <p14:sldId id="740"/>
            <p14:sldId id="741"/>
            <p14:sldId id="434"/>
            <p14:sldId id="435"/>
            <p14:sldId id="436"/>
            <p14:sldId id="752"/>
            <p14:sldId id="726"/>
          </p14:sldIdLst>
        </p14:section>
        <p14:section name="Summary" id="{044FE56B-152C-469D-A109-71332C64881D}">
          <p14:sldIdLst>
            <p14:sldId id="753"/>
            <p14:sldId id="405"/>
            <p14:sldId id="493"/>
          </p14:sldIdLst>
        </p14:section>
      </p14:sectionLst>
    </p:ext>
    <p:ext uri="{EFAFB233-063F-42B5-8137-9DF3F51BA10A}">
      <p15:sldGuideLst xmlns:p15="http://schemas.microsoft.com/office/powerpoint/2012/main">
        <p15:guide id="1" orient="horz" pos="2184" userDrawn="1">
          <p15:clr>
            <a:srgbClr val="A4A3A4"/>
          </p15:clr>
        </p15:guide>
        <p15:guide id="2" pos="3840" userDrawn="1">
          <p15:clr>
            <a:srgbClr val="A4A3A4"/>
          </p15:clr>
        </p15:guide>
        <p15:guide id="3" orient="horz" pos="2188">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64646"/>
    <a:srgbClr val="F2A40D"/>
    <a:srgbClr val="DBBD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CC232DE-2511-49A3-B33B-FD78A94CD8E3}" v="22" dt="2019-12-04T16:40:36.347"/>
  </p1510:revLst>
</p1510:revInfo>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52" autoAdjust="0"/>
    <p:restoredTop sz="95238" autoAdjust="0"/>
  </p:normalViewPr>
  <p:slideViewPr>
    <p:cSldViewPr showGuides="1">
      <p:cViewPr varScale="1">
        <p:scale>
          <a:sx n="150" d="100"/>
          <a:sy n="150" d="100"/>
        </p:scale>
        <p:origin x="132" y="150"/>
      </p:cViewPr>
      <p:guideLst>
        <p:guide orient="horz" pos="2184"/>
        <p:guide pos="3840"/>
        <p:guide orient="horz" pos="2188"/>
      </p:guideLst>
    </p:cSldViewPr>
  </p:slideViewPr>
  <p:outlineViewPr>
    <p:cViewPr>
      <p:scale>
        <a:sx n="33" d="100"/>
        <a:sy n="33" d="100"/>
      </p:scale>
      <p:origin x="0" y="-9989"/>
    </p:cViewPr>
  </p:outlineViewPr>
  <p:notesTextViewPr>
    <p:cViewPr>
      <p:scale>
        <a:sx n="1" d="1"/>
        <a:sy n="1" d="1"/>
      </p:scale>
      <p:origin x="0" y="0"/>
    </p:cViewPr>
  </p:notesTextViewPr>
  <p:sorterViewPr>
    <p:cViewPr>
      <p:scale>
        <a:sx n="100" d="100"/>
        <a:sy n="100" d="100"/>
      </p:scale>
      <p:origin x="0" y="-6566"/>
    </p:cViewPr>
  </p:sorterViewPr>
  <p:notesViewPr>
    <p:cSldViewPr>
      <p:cViewPr varScale="1">
        <p:scale>
          <a:sx n="62" d="100"/>
          <a:sy n="62" d="100"/>
        </p:scale>
        <p:origin x="3154" y="72"/>
      </p:cViewPr>
      <p:guideLst/>
    </p:cSldViewPr>
  </p:notesViewPr>
  <p:gridSpacing cx="45000" cy="450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9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handoutMasters/_rels/handoutMaster1.xml.rels><?xml version="1.0" encoding="UTF-8" standalone="yes"?>
<Relationships xmlns="http://schemas.openxmlformats.org/package/2006/relationships"><Relationship Id="rId2" Type="http://schemas.openxmlformats.org/officeDocument/2006/relationships/hyperlink" Target="https://softuni.org/" TargetMode="External"/><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6F20103-83CC-4A54-8FDE-9D37FC2629C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bg-BG"/>
          </a:p>
        </p:txBody>
      </p:sp>
      <p:sp>
        <p:nvSpPr>
          <p:cNvPr id="3" name="Date Placeholder 2">
            <a:extLst>
              <a:ext uri="{FF2B5EF4-FFF2-40B4-BE49-F238E27FC236}">
                <a16:creationId xmlns:a16="http://schemas.microsoft.com/office/drawing/2014/main" id="{27A53962-26EF-44E4-9E69-61B1727AB1C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E087215-0C8F-4762-A664-737A353EC9A4}" type="datetimeFigureOut">
              <a:rPr lang="bg-BG" smtClean="0"/>
              <a:pPr/>
              <a:t>15.5.2026 г.</a:t>
            </a:fld>
            <a:endParaRPr lang="bg-BG"/>
          </a:p>
        </p:txBody>
      </p:sp>
      <p:sp>
        <p:nvSpPr>
          <p:cNvPr id="4" name="Footer Placeholder 3">
            <a:extLst>
              <a:ext uri="{FF2B5EF4-FFF2-40B4-BE49-F238E27FC236}">
                <a16:creationId xmlns:a16="http://schemas.microsoft.com/office/drawing/2014/main" id="{28A6967E-448F-4887-8FCB-34482EFBCC74}"/>
              </a:ext>
            </a:extLst>
          </p:cNvPr>
          <p:cNvSpPr>
            <a:spLocks noGrp="1"/>
          </p:cNvSpPr>
          <p:nvPr>
            <p:ph type="ftr" sz="quarter" idx="2"/>
          </p:nvPr>
        </p:nvSpPr>
        <p:spPr>
          <a:xfrm>
            <a:off x="-1" y="8847000"/>
            <a:ext cx="6443999" cy="297000"/>
          </a:xfrm>
          <a:prstGeom prst="rect">
            <a:avLst/>
          </a:prstGeom>
        </p:spPr>
        <p:txBody>
          <a:bodyPr vert="horz" lIns="91440" tIns="45720" rIns="91440" bIns="45720" rtlCol="0" anchor="b"/>
          <a:lstStyle>
            <a:lvl1pPr algn="l">
              <a:defRPr sz="1200"/>
            </a:lvl1pPr>
          </a:lstStyle>
          <a:p>
            <a:r>
              <a:rPr lang="en-US" sz="1100" dirty="0"/>
              <a:t>© SoftUni – </a:t>
            </a:r>
            <a:r>
              <a:rPr lang="en-US" sz="1100" u="sng" dirty="0">
                <a:hlinkClick r:id="rId2"/>
              </a:rPr>
              <a:t>https://softuni.org</a:t>
            </a:r>
            <a:r>
              <a:rPr lang="en-US" sz="1100" dirty="0"/>
              <a:t>. Copyrighted document. Unauthorized copy or reproduction is not permitted.</a:t>
            </a:r>
          </a:p>
        </p:txBody>
      </p:sp>
      <p:sp>
        <p:nvSpPr>
          <p:cNvPr id="5" name="Slide Number Placeholder 4">
            <a:extLst>
              <a:ext uri="{FF2B5EF4-FFF2-40B4-BE49-F238E27FC236}">
                <a16:creationId xmlns:a16="http://schemas.microsoft.com/office/drawing/2014/main" id="{8B6554C2-DDBA-40E2-9536-53A07EC50274}"/>
              </a:ext>
            </a:extLst>
          </p:cNvPr>
          <p:cNvSpPr>
            <a:spLocks noGrp="1"/>
          </p:cNvSpPr>
          <p:nvPr>
            <p:ph type="sldNum" sz="quarter" idx="3"/>
          </p:nvPr>
        </p:nvSpPr>
        <p:spPr>
          <a:xfrm>
            <a:off x="6443999" y="8847000"/>
            <a:ext cx="412413" cy="297000"/>
          </a:xfrm>
          <a:prstGeom prst="rect">
            <a:avLst/>
          </a:prstGeom>
        </p:spPr>
        <p:txBody>
          <a:bodyPr vert="horz" lIns="91440" tIns="45720" rIns="91440" bIns="45720" rtlCol="0" anchor="b"/>
          <a:lstStyle>
            <a:lvl1pPr algn="r">
              <a:defRPr sz="1200"/>
            </a:lvl1pPr>
          </a:lstStyle>
          <a:p>
            <a:fld id="{7AC318AE-53F9-47EA-B5FE-E9473933AF11}" type="slidenum">
              <a:rPr lang="bg-BG" smtClean="0"/>
              <a:pPr/>
              <a:t>‹#›</a:t>
            </a:fld>
            <a:endParaRPr lang="bg-BG" dirty="0"/>
          </a:p>
        </p:txBody>
      </p:sp>
    </p:spTree>
    <p:extLst>
      <p:ext uri="{BB962C8B-B14F-4D97-AF65-F5344CB8AC3E}">
        <p14:creationId xmlns:p14="http://schemas.microsoft.com/office/powerpoint/2010/main" val="4150602968"/>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2" Type="http://schemas.openxmlformats.org/officeDocument/2006/relationships/hyperlink" Target="https://softuni.org/" TargetMode="External"/><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D84649-876A-46C9-8472-14CB09C070D8}" type="datetimeFigureOut">
              <a:rPr lang="en-US" smtClean="0"/>
              <a:pPr/>
              <a:t>5/15/2026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5"/>
          </p:nvPr>
        </p:nvSpPr>
        <p:spPr>
          <a:xfrm>
            <a:off x="6488999" y="8847000"/>
            <a:ext cx="367414" cy="297000"/>
          </a:xfrm>
          <a:prstGeom prst="rect">
            <a:avLst/>
          </a:prstGeom>
        </p:spPr>
        <p:txBody>
          <a:bodyPr vert="horz" lIns="91440" tIns="45720" rIns="91440" bIns="45720" rtlCol="0" anchor="b"/>
          <a:lstStyle>
            <a:lvl1pPr algn="r">
              <a:defRPr sz="1200"/>
            </a:lvl1pPr>
          </a:lstStyle>
          <a:p>
            <a:fld id="{2BF067CD-8E6B-4360-9AA8-C5DF2A48A6D1}" type="slidenum">
              <a:rPr lang="en-US" smtClean="0"/>
              <a:pPr/>
              <a:t>‹#›</a:t>
            </a:fld>
            <a:endParaRPr lang="en-US" dirty="0"/>
          </a:p>
        </p:txBody>
      </p:sp>
      <p:sp>
        <p:nvSpPr>
          <p:cNvPr id="8" name="Footer Placeholder 7">
            <a:extLst>
              <a:ext uri="{FF2B5EF4-FFF2-40B4-BE49-F238E27FC236}">
                <a16:creationId xmlns:a16="http://schemas.microsoft.com/office/drawing/2014/main" id="{CAC3A49B-3196-44DF-AC28-085C72EFBFF0}"/>
              </a:ext>
            </a:extLst>
          </p:cNvPr>
          <p:cNvSpPr>
            <a:spLocks noGrp="1"/>
          </p:cNvSpPr>
          <p:nvPr>
            <p:ph type="ftr" sz="quarter" idx="4"/>
          </p:nvPr>
        </p:nvSpPr>
        <p:spPr>
          <a:xfrm>
            <a:off x="-1" y="8847000"/>
            <a:ext cx="6488999" cy="297000"/>
          </a:xfrm>
          <a:prstGeom prst="rect">
            <a:avLst/>
          </a:prstGeom>
        </p:spPr>
        <p:txBody>
          <a:bodyPr vert="horz" lIns="91440" tIns="45720" rIns="91440" bIns="45720" rtlCol="0" anchor="b"/>
          <a:lstStyle>
            <a:lvl1pPr algn="l">
              <a:defRPr sz="1100"/>
            </a:lvl1pPr>
          </a:lstStyle>
          <a:p>
            <a:r>
              <a:rPr lang="en-US" dirty="0"/>
              <a:t>© SoftUni – </a:t>
            </a:r>
            <a:r>
              <a:rPr lang="en-US" u="sng" dirty="0">
                <a:hlinkClick r:id="rId2"/>
              </a:rPr>
              <a:t>https://softuni.org</a:t>
            </a:r>
            <a:r>
              <a:rPr lang="en-US" dirty="0"/>
              <a:t>. Copyrighted document. Unauthorized copy or reproduction is not permitted.</a:t>
            </a:r>
          </a:p>
        </p:txBody>
      </p:sp>
    </p:spTree>
    <p:extLst>
      <p:ext uri="{BB962C8B-B14F-4D97-AF65-F5344CB8AC3E}">
        <p14:creationId xmlns:p14="http://schemas.microsoft.com/office/powerpoint/2010/main" val="1530847692"/>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softuni.org/"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softuni.org/" TargetMode="External"/><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softuni.org/" TargetMode="External"/><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softuni.org/" TargetMode="External"/><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softuni.org/" TargetMode="External"/><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softuni.org/" TargetMode="External"/><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BF067CD-8E6B-4360-9AA8-C5DF2A48A6D1}" type="slidenum">
              <a:rPr lang="en-US" smtClean="0"/>
              <a:pPr/>
              <a:t>13</a:t>
            </a:fld>
            <a:endParaRPr lang="en-US" dirty="0"/>
          </a:p>
        </p:txBody>
      </p:sp>
      <p:sp>
        <p:nvSpPr>
          <p:cNvPr id="5" name="Footer Placeholder 4"/>
          <p:cNvSpPr>
            <a:spLocks noGrp="1"/>
          </p:cNvSpPr>
          <p:nvPr>
            <p:ph type="ftr" sz="quarter" idx="4"/>
          </p:nvPr>
        </p:nvSpPr>
        <p:spPr/>
        <p:txBody>
          <a:bodyPr/>
          <a:lstStyle/>
          <a:p>
            <a:r>
              <a:rPr lang="en-US"/>
              <a:t>© SoftUni – </a:t>
            </a:r>
            <a:r>
              <a:rPr lang="en-US" u="sng">
                <a:hlinkClick r:id="rId3"/>
              </a:rPr>
              <a:t>https://softuni.org</a:t>
            </a:r>
            <a:r>
              <a:rPr lang="en-US"/>
              <a:t>. Copyrighted document. Unauthorized copy or reproduction is not permitted.</a:t>
            </a:r>
            <a:endParaRPr lang="en-US" dirty="0"/>
          </a:p>
        </p:txBody>
      </p:sp>
    </p:spTree>
    <p:extLst>
      <p:ext uri="{BB962C8B-B14F-4D97-AF65-F5344CB8AC3E}">
        <p14:creationId xmlns:p14="http://schemas.microsoft.com/office/powerpoint/2010/main" val="17949221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bg-BG" dirty="0"/>
          </a:p>
        </p:txBody>
      </p:sp>
      <p:sp>
        <p:nvSpPr>
          <p:cNvPr id="4" name="Slide Number Placeholder 3"/>
          <p:cNvSpPr>
            <a:spLocks noGrp="1"/>
          </p:cNvSpPr>
          <p:nvPr>
            <p:ph type="sldNum" sz="quarter" idx="10"/>
          </p:nvPr>
        </p:nvSpPr>
        <p:spPr/>
        <p:txBody>
          <a:bodyPr/>
          <a:lstStyle/>
          <a:p>
            <a:fld id="{2BF067CD-8E6B-4360-9AA8-C5DF2A48A6D1}" type="slidenum">
              <a:rPr lang="en-US" smtClean="0"/>
              <a:pPr/>
              <a:t>28</a:t>
            </a:fld>
            <a:endParaRPr lang="en-US" dirty="0"/>
          </a:p>
        </p:txBody>
      </p:sp>
      <p:sp>
        <p:nvSpPr>
          <p:cNvPr id="7" name="Footer Placeholder 7">
            <a:extLst>
              <a:ext uri="{FF2B5EF4-FFF2-40B4-BE49-F238E27FC236}">
                <a16:creationId xmlns:a16="http://schemas.microsoft.com/office/drawing/2014/main" id="{F003BC47-BAA6-46F8-86BA-8E5F8F11AFAA}"/>
              </a:ext>
            </a:extLst>
          </p:cNvPr>
          <p:cNvSpPr>
            <a:spLocks noGrp="1"/>
          </p:cNvSpPr>
          <p:nvPr>
            <p:ph type="ftr" sz="quarter" idx="4"/>
          </p:nvPr>
        </p:nvSpPr>
        <p:spPr>
          <a:xfrm>
            <a:off x="-1" y="8847000"/>
            <a:ext cx="6488999" cy="297000"/>
          </a:xfrm>
          <a:prstGeom prst="rect">
            <a:avLst/>
          </a:prstGeom>
        </p:spPr>
        <p:txBody>
          <a:bodyPr vert="horz" lIns="91440" tIns="45720" rIns="91440" bIns="45720" rtlCol="0" anchor="b"/>
          <a:lstStyle>
            <a:lvl1pPr algn="l">
              <a:defRPr sz="1100"/>
            </a:lvl1pPr>
          </a:lstStyle>
          <a:p>
            <a:r>
              <a:rPr lang="en-US" dirty="0"/>
              <a:t>© SoftUni – </a:t>
            </a:r>
            <a:r>
              <a:rPr lang="en-US" u="sng" dirty="0">
                <a:hlinkClick r:id="rId3"/>
              </a:rPr>
              <a:t>https://softuni.org</a:t>
            </a:r>
            <a:r>
              <a:rPr lang="en-US" dirty="0"/>
              <a:t>. Copyrighted document. Unauthorized copy or reproduction is not permitted.</a:t>
            </a:r>
          </a:p>
        </p:txBody>
      </p:sp>
    </p:spTree>
    <p:extLst>
      <p:ext uri="{BB962C8B-B14F-4D97-AF65-F5344CB8AC3E}">
        <p14:creationId xmlns:p14="http://schemas.microsoft.com/office/powerpoint/2010/main" val="11560125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BF067CD-8E6B-4360-9AA8-C5DF2A48A6D1}" type="slidenum">
              <a:rPr lang="en-US" smtClean="0"/>
              <a:pPr/>
              <a:t>49</a:t>
            </a:fld>
            <a:endParaRPr lang="en-US" dirty="0"/>
          </a:p>
        </p:txBody>
      </p:sp>
      <p:sp>
        <p:nvSpPr>
          <p:cNvPr id="7" name="Footer Placeholder 7">
            <a:extLst>
              <a:ext uri="{FF2B5EF4-FFF2-40B4-BE49-F238E27FC236}">
                <a16:creationId xmlns:a16="http://schemas.microsoft.com/office/drawing/2014/main" id="{3ADA778C-93E4-4EFE-868B-5516AC903CB2}"/>
              </a:ext>
            </a:extLst>
          </p:cNvPr>
          <p:cNvSpPr>
            <a:spLocks noGrp="1"/>
          </p:cNvSpPr>
          <p:nvPr>
            <p:ph type="ftr" sz="quarter" idx="4"/>
          </p:nvPr>
        </p:nvSpPr>
        <p:spPr>
          <a:xfrm>
            <a:off x="-1" y="8847000"/>
            <a:ext cx="6488999" cy="297000"/>
          </a:xfrm>
          <a:prstGeom prst="rect">
            <a:avLst/>
          </a:prstGeom>
        </p:spPr>
        <p:txBody>
          <a:bodyPr vert="horz" lIns="91440" tIns="45720" rIns="91440" bIns="45720" rtlCol="0" anchor="b"/>
          <a:lstStyle>
            <a:lvl1pPr algn="l">
              <a:defRPr sz="1100"/>
            </a:lvl1pPr>
          </a:lstStyle>
          <a:p>
            <a:r>
              <a:rPr lang="en-US" dirty="0"/>
              <a:t>© SoftUni – </a:t>
            </a:r>
            <a:r>
              <a:rPr lang="en-US" u="sng" dirty="0">
                <a:hlinkClick r:id="rId3"/>
              </a:rPr>
              <a:t>https://softuni.org</a:t>
            </a:r>
            <a:r>
              <a:rPr lang="en-US" dirty="0"/>
              <a:t>. Copyrighted document. Unauthorized copy or reproduction is not permitted.</a:t>
            </a:r>
          </a:p>
        </p:txBody>
      </p:sp>
    </p:spTree>
    <p:extLst>
      <p:ext uri="{BB962C8B-B14F-4D97-AF65-F5344CB8AC3E}">
        <p14:creationId xmlns:p14="http://schemas.microsoft.com/office/powerpoint/2010/main" val="15127272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5" name="Slide Number Placeholder 4"/>
          <p:cNvSpPr>
            <a:spLocks noGrp="1"/>
          </p:cNvSpPr>
          <p:nvPr>
            <p:ph type="sldNum" sz="quarter" idx="11"/>
          </p:nvPr>
        </p:nvSpPr>
        <p:spPr/>
        <p:txBody>
          <a:bodyPr/>
          <a:lstStyle/>
          <a:p>
            <a:fld id="{3EBA5BD7-F043-4D1B-AA17-CD412FC534DE}" type="slidenum">
              <a:rPr lang="en-US" smtClean="0"/>
              <a:pPr/>
              <a:t>81</a:t>
            </a:fld>
            <a:endParaRPr lang="en-US" dirty="0"/>
          </a:p>
        </p:txBody>
      </p:sp>
      <p:sp>
        <p:nvSpPr>
          <p:cNvPr id="7" name="Footer Placeholder 7">
            <a:extLst>
              <a:ext uri="{FF2B5EF4-FFF2-40B4-BE49-F238E27FC236}">
                <a16:creationId xmlns:a16="http://schemas.microsoft.com/office/drawing/2014/main" id="{CAC3A49B-3196-44DF-AC28-085C72EFBFF0}"/>
              </a:ext>
            </a:extLst>
          </p:cNvPr>
          <p:cNvSpPr>
            <a:spLocks noGrp="1"/>
          </p:cNvSpPr>
          <p:nvPr>
            <p:ph type="ftr" sz="quarter" idx="4"/>
          </p:nvPr>
        </p:nvSpPr>
        <p:spPr>
          <a:xfrm>
            <a:off x="-1" y="8847000"/>
            <a:ext cx="6488999" cy="297000"/>
          </a:xfrm>
          <a:prstGeom prst="rect">
            <a:avLst/>
          </a:prstGeom>
        </p:spPr>
        <p:txBody>
          <a:bodyPr vert="horz" lIns="91440" tIns="45720" rIns="91440" bIns="45720" rtlCol="0" anchor="b"/>
          <a:lstStyle>
            <a:lvl1pPr algn="l">
              <a:defRPr sz="1100"/>
            </a:lvl1pPr>
          </a:lstStyle>
          <a:p>
            <a:r>
              <a:rPr lang="en-US" dirty="0"/>
              <a:t>© SoftUni – </a:t>
            </a:r>
            <a:r>
              <a:rPr lang="en-US" u="sng" dirty="0">
                <a:hlinkClick r:id="rId3"/>
              </a:rPr>
              <a:t>https://softuni.org</a:t>
            </a:r>
            <a:r>
              <a:rPr lang="en-US" dirty="0"/>
              <a:t>. Copyrighted document. Unauthorized copy or reproduction is not permitted.</a:t>
            </a:r>
          </a:p>
        </p:txBody>
      </p:sp>
    </p:spTree>
    <p:extLst>
      <p:ext uri="{BB962C8B-B14F-4D97-AF65-F5344CB8AC3E}">
        <p14:creationId xmlns:p14="http://schemas.microsoft.com/office/powerpoint/2010/main" val="38407464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7" name="Slide Number Placeholder 5">
            <a:extLst>
              <a:ext uri="{FF2B5EF4-FFF2-40B4-BE49-F238E27FC236}">
                <a16:creationId xmlns:a16="http://schemas.microsoft.com/office/drawing/2014/main" id="{5D1C0779-821B-433B-AB3A-0953EE966C7E}"/>
              </a:ext>
            </a:extLst>
          </p:cNvPr>
          <p:cNvSpPr txBox="1">
            <a:spLocks/>
          </p:cNvSpPr>
          <p:nvPr/>
        </p:nvSpPr>
        <p:spPr>
          <a:xfrm>
            <a:off x="6488999" y="8847000"/>
            <a:ext cx="367414" cy="297000"/>
          </a:xfrm>
          <a:prstGeom prst="rect">
            <a:avLst/>
          </a:prstGeom>
        </p:spPr>
        <p:txBody>
          <a:bodyPr vert="horz" lIns="91440" tIns="45720" rIns="91440" bIns="45720" rtlCol="0" anchor="b"/>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BA5BD7-F043-4D1B-AA17-CD412FC534DE}" type="slidenum">
              <a:rPr lang="en-US" smtClean="0"/>
              <a:pPr/>
              <a:t>82</a:t>
            </a:fld>
            <a:endParaRPr lang="en-US" dirty="0"/>
          </a:p>
        </p:txBody>
      </p:sp>
      <p:sp>
        <p:nvSpPr>
          <p:cNvPr id="6" name="Footer Placeholder 7">
            <a:extLst>
              <a:ext uri="{FF2B5EF4-FFF2-40B4-BE49-F238E27FC236}">
                <a16:creationId xmlns:a16="http://schemas.microsoft.com/office/drawing/2014/main" id="{0CBA6FCE-6B4E-4B7E-8DA4-A04563E6F389}"/>
              </a:ext>
            </a:extLst>
          </p:cNvPr>
          <p:cNvSpPr>
            <a:spLocks noGrp="1"/>
          </p:cNvSpPr>
          <p:nvPr>
            <p:ph type="ftr" sz="quarter" idx="4"/>
          </p:nvPr>
        </p:nvSpPr>
        <p:spPr>
          <a:xfrm>
            <a:off x="-1" y="8847000"/>
            <a:ext cx="6488999" cy="297000"/>
          </a:xfrm>
          <a:prstGeom prst="rect">
            <a:avLst/>
          </a:prstGeom>
        </p:spPr>
        <p:txBody>
          <a:bodyPr vert="horz" lIns="91440" tIns="45720" rIns="91440" bIns="45720" rtlCol="0" anchor="b"/>
          <a:lstStyle>
            <a:lvl1pPr algn="l">
              <a:defRPr sz="1100"/>
            </a:lvl1pPr>
          </a:lstStyle>
          <a:p>
            <a:r>
              <a:rPr lang="en-US" dirty="0"/>
              <a:t>© SoftUni – </a:t>
            </a:r>
            <a:r>
              <a:rPr lang="en-US" u="sng" dirty="0">
                <a:hlinkClick r:id="rId3"/>
              </a:rPr>
              <a:t>https://softuni.org</a:t>
            </a:r>
            <a:r>
              <a:rPr lang="en-US" dirty="0"/>
              <a:t>. Copyrighted document. Unauthorized copy or reproduction is not permitted.</a:t>
            </a:r>
          </a:p>
        </p:txBody>
      </p:sp>
    </p:spTree>
    <p:extLst>
      <p:ext uri="{BB962C8B-B14F-4D97-AF65-F5344CB8AC3E}">
        <p14:creationId xmlns:p14="http://schemas.microsoft.com/office/powerpoint/2010/main" val="27502498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6" name="Slide Number Placeholder 5">
            <a:extLst>
              <a:ext uri="{FF2B5EF4-FFF2-40B4-BE49-F238E27FC236}">
                <a16:creationId xmlns:a16="http://schemas.microsoft.com/office/drawing/2014/main" id="{6627548A-4D3C-449B-81A5-FA4BE4628490}"/>
              </a:ext>
            </a:extLst>
          </p:cNvPr>
          <p:cNvSpPr txBox="1">
            <a:spLocks/>
          </p:cNvSpPr>
          <p:nvPr/>
        </p:nvSpPr>
        <p:spPr>
          <a:xfrm>
            <a:off x="6488999" y="8847000"/>
            <a:ext cx="367414" cy="297000"/>
          </a:xfrm>
          <a:prstGeom prst="rect">
            <a:avLst/>
          </a:prstGeom>
        </p:spPr>
        <p:txBody>
          <a:bodyPr vert="horz" lIns="91440" tIns="45720" rIns="91440" bIns="45720" rtlCol="0" anchor="b"/>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BA5BD7-F043-4D1B-AA17-CD412FC534DE}" type="slidenum">
              <a:rPr lang="en-US" smtClean="0"/>
              <a:pPr/>
              <a:t>83</a:t>
            </a:fld>
            <a:endParaRPr lang="en-US" dirty="0"/>
          </a:p>
        </p:txBody>
      </p:sp>
      <p:sp>
        <p:nvSpPr>
          <p:cNvPr id="7" name="Footer Placeholder 7">
            <a:extLst>
              <a:ext uri="{FF2B5EF4-FFF2-40B4-BE49-F238E27FC236}">
                <a16:creationId xmlns:a16="http://schemas.microsoft.com/office/drawing/2014/main" id="{16FE9FF2-A941-4AB4-9CE0-BE8A2B72783D}"/>
              </a:ext>
            </a:extLst>
          </p:cNvPr>
          <p:cNvSpPr>
            <a:spLocks noGrp="1"/>
          </p:cNvSpPr>
          <p:nvPr>
            <p:ph type="ftr" sz="quarter" idx="4"/>
          </p:nvPr>
        </p:nvSpPr>
        <p:spPr>
          <a:xfrm>
            <a:off x="-1" y="8847000"/>
            <a:ext cx="6488999" cy="297000"/>
          </a:xfrm>
          <a:prstGeom prst="rect">
            <a:avLst/>
          </a:prstGeom>
        </p:spPr>
        <p:txBody>
          <a:bodyPr vert="horz" lIns="91440" tIns="45720" rIns="91440" bIns="45720" rtlCol="0" anchor="b"/>
          <a:lstStyle>
            <a:lvl1pPr algn="l">
              <a:defRPr sz="1100"/>
            </a:lvl1pPr>
          </a:lstStyle>
          <a:p>
            <a:r>
              <a:rPr lang="en-US" dirty="0"/>
              <a:t>© SoftUni – </a:t>
            </a:r>
            <a:r>
              <a:rPr lang="en-US" u="sng" dirty="0">
                <a:hlinkClick r:id="rId3"/>
              </a:rPr>
              <a:t>https://softuni.org</a:t>
            </a:r>
            <a:r>
              <a:rPr lang="en-US" dirty="0"/>
              <a:t>. Copyrighted document. Unauthorized copy or reproduction is not permitted.</a:t>
            </a:r>
          </a:p>
        </p:txBody>
      </p:sp>
    </p:spTree>
    <p:extLst>
      <p:ext uri="{BB962C8B-B14F-4D97-AF65-F5344CB8AC3E}">
        <p14:creationId xmlns:p14="http://schemas.microsoft.com/office/powerpoint/2010/main" val="101599109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hyperlink" Target="https://softuni.org/" TargetMode="Externa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hyperlink" Target="https://softuni.org/" TargetMode="External"/><Relationship Id="rId1" Type="http://schemas.openxmlformats.org/officeDocument/2006/relationships/slideMaster" Target="../slideMasters/slideMaster1.xml"/><Relationship Id="rId6" Type="http://schemas.openxmlformats.org/officeDocument/2006/relationships/image" Target="../media/image10.png"/><Relationship Id="rId11" Type="http://schemas.openxmlformats.org/officeDocument/2006/relationships/image" Target="../media/image4.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Layouts/_rels/slideLayout11.xml.rels><?xml version="1.0" encoding="UTF-8" standalone="yes"?>
<Relationships xmlns="http://schemas.openxmlformats.org/package/2006/relationships"><Relationship Id="rId8" Type="http://schemas.openxmlformats.org/officeDocument/2006/relationships/hyperlink" Target="https://softuni.foundation/" TargetMode="External"/><Relationship Id="rId3" Type="http://schemas.openxmlformats.org/officeDocument/2006/relationships/image" Target="../media/image15.png"/><Relationship Id="rId7" Type="http://schemas.openxmlformats.org/officeDocument/2006/relationships/image" Target="../media/image17.png"/><Relationship Id="rId2" Type="http://schemas.openxmlformats.org/officeDocument/2006/relationships/hyperlink" Target="https://www.facebook.com/SoftwareUniversity" TargetMode="External"/><Relationship Id="rId1" Type="http://schemas.openxmlformats.org/officeDocument/2006/relationships/slideMaster" Target="../slideMasters/slideMaster1.xml"/><Relationship Id="rId6" Type="http://schemas.openxmlformats.org/officeDocument/2006/relationships/hyperlink" Target="https://softuni.bg/" TargetMode="External"/><Relationship Id="rId5" Type="http://schemas.openxmlformats.org/officeDocument/2006/relationships/image" Target="../media/image16.png"/><Relationship Id="rId4" Type="http://schemas.openxmlformats.org/officeDocument/2006/relationships/hyperlink" Target="https://softuni.org/" TargetMode="External"/><Relationship Id="rId9"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softuni.org/"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resentation Title Slide">
    <p:spTree>
      <p:nvGrpSpPr>
        <p:cNvPr id="1" name=""/>
        <p:cNvGrpSpPr/>
        <p:nvPr/>
      </p:nvGrpSpPr>
      <p:grpSpPr>
        <a:xfrm>
          <a:off x="0" y="0"/>
          <a:ext cx="0" cy="0"/>
          <a:chOff x="0" y="0"/>
          <a:chExt cx="0" cy="0"/>
        </a:xfrm>
      </p:grpSpPr>
      <p:sp>
        <p:nvSpPr>
          <p:cNvPr id="16" name="Rectangle Bottom">
            <a:extLst>
              <a:ext uri="{FF2B5EF4-FFF2-40B4-BE49-F238E27FC236}">
                <a16:creationId xmlns:a16="http://schemas.microsoft.com/office/drawing/2014/main" id="{6854D183-0374-4B3E-B2CE-32F308A81591}"/>
              </a:ext>
            </a:extLst>
          </p:cNvPr>
          <p:cNvSpPr/>
          <p:nvPr/>
        </p:nvSpPr>
        <p:spPr>
          <a:xfrm>
            <a:off x="0" y="6702676"/>
            <a:ext cx="12195176" cy="15532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a:ln>
                <a:noFill/>
              </a:ln>
              <a:solidFill>
                <a:srgbClr val="F7C86D"/>
              </a:solidFill>
              <a:effectLst/>
              <a:uLnTx/>
              <a:uFillTx/>
              <a:latin typeface="Calibri" panose="020F0502020204030204"/>
              <a:ea typeface="맑은 고딕" panose="020B0503020000020004" pitchFamily="34" charset="-127"/>
              <a:cs typeface="+mn-cs"/>
            </a:endParaRPr>
          </a:p>
        </p:txBody>
      </p:sp>
      <p:pic>
        <p:nvPicPr>
          <p:cNvPr id="14" name="Picture Logo SoftUni" descr="SoftUni logo">
            <a:extLst>
              <a:ext uri="{FF2B5EF4-FFF2-40B4-BE49-F238E27FC236}">
                <a16:creationId xmlns:a16="http://schemas.microsoft.com/office/drawing/2014/main" id="{C4D6B2A2-DFF0-4712-BFEC-6676BEC99FEC}"/>
              </a:ext>
            </a:extLst>
          </p:cNvPr>
          <p:cNvPicPr>
            <a:picLocks noChangeAspect="1"/>
          </p:cNvPicPr>
          <p:nvPr userDrawn="1"/>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324460" y="5184000"/>
            <a:ext cx="3751540" cy="1297655"/>
          </a:xfrm>
          <a:prstGeom prst="rect">
            <a:avLst/>
          </a:prstGeom>
        </p:spPr>
      </p:pic>
      <p:sp>
        <p:nvSpPr>
          <p:cNvPr id="31" name="Text Placeholder Company Site">
            <a:extLst>
              <a:ext uri="{FF2B5EF4-FFF2-40B4-BE49-F238E27FC236}">
                <a16:creationId xmlns:a16="http://schemas.microsoft.com/office/drawing/2014/main" id="{3E6B87B7-9D33-4EBB-BD4F-C0436BA3FD72}"/>
              </a:ext>
            </a:extLst>
          </p:cNvPr>
          <p:cNvSpPr>
            <a:spLocks noGrp="1"/>
          </p:cNvSpPr>
          <p:nvPr>
            <p:ph type="body" sz="quarter" idx="18" hasCustomPrompt="1"/>
          </p:nvPr>
        </p:nvSpPr>
        <p:spPr bwMode="auto">
          <a:xfrm>
            <a:off x="8708505" y="6130863"/>
            <a:ext cx="2951518" cy="341556"/>
          </a:xfrm>
          <a:prstGeom prst="rect">
            <a:avLst/>
          </a:prstGeom>
          <a:noFill/>
          <a:effectLst/>
        </p:spPr>
        <p:txBody>
          <a:bodyPr wrap="square" lIns="36000" tIns="36000" rIns="36000" bIns="36000" rtlCol="0" anchor="ctr" anchorCtr="0">
            <a:noAutofit/>
          </a:bodyPr>
          <a:lstStyle>
            <a:lvl1pPr marL="0" indent="0" algn="r" rtl="0" fontAlgn="base" latinLnBrk="0">
              <a:spcBef>
                <a:spcPct val="0"/>
              </a:spcBef>
              <a:spcAft>
                <a:spcPct val="0"/>
              </a:spcAft>
              <a:buNone/>
              <a:defRPr lang="en-US" sz="1798" b="1" kern="1200" dirty="0" smtClean="0">
                <a:solidFill>
                  <a:schemeClr val="tx1">
                    <a:lumMod val="75000"/>
                  </a:schemeClr>
                </a:solidFill>
                <a:effectLst/>
                <a:latin typeface="+mn-lt"/>
                <a:ea typeface="+mn-ea"/>
                <a:cs typeface="+mn-cs"/>
              </a:defRPr>
            </a:lvl1pPr>
          </a:lstStyle>
          <a:p>
            <a:pPr lvl="0"/>
            <a:r>
              <a:rPr lang="en-US" noProof="0" dirty="0"/>
              <a:t>Company Web Site</a:t>
            </a:r>
          </a:p>
        </p:txBody>
      </p:sp>
      <p:sp>
        <p:nvSpPr>
          <p:cNvPr id="30" name="Text Placeholder Company Name">
            <a:extLst>
              <a:ext uri="{FF2B5EF4-FFF2-40B4-BE49-F238E27FC236}">
                <a16:creationId xmlns:a16="http://schemas.microsoft.com/office/drawing/2014/main" id="{2EA92DCA-4DB5-4D03-ACD3-A6A296592D0C}"/>
              </a:ext>
            </a:extLst>
          </p:cNvPr>
          <p:cNvSpPr>
            <a:spLocks noGrp="1"/>
          </p:cNvSpPr>
          <p:nvPr>
            <p:ph type="body" sz="quarter" idx="17" hasCustomPrompt="1"/>
          </p:nvPr>
        </p:nvSpPr>
        <p:spPr bwMode="auto">
          <a:xfrm>
            <a:off x="8708505" y="5756628"/>
            <a:ext cx="2951518" cy="367080"/>
          </a:xfrm>
          <a:prstGeom prst="rect">
            <a:avLst/>
          </a:prstGeom>
          <a:noFill/>
          <a:effectLst/>
        </p:spPr>
        <p:txBody>
          <a:bodyPr wrap="square" lIns="36000" tIns="36000" rIns="36000" bIns="36000" rtlCol="0" anchor="ctr" anchorCtr="0">
            <a:noAutofit/>
          </a:bodyPr>
          <a:lstStyle>
            <a:lvl1pPr marL="0" indent="0" algn="r" rtl="0" fontAlgn="base" latinLnBrk="0">
              <a:spcBef>
                <a:spcPct val="0"/>
              </a:spcBef>
              <a:spcAft>
                <a:spcPct val="0"/>
              </a:spcAft>
              <a:buNone/>
              <a:defRPr lang="en-US" sz="1998" b="1" kern="1200" dirty="0" smtClean="0">
                <a:solidFill>
                  <a:schemeClr val="tx1">
                    <a:lumMod val="75000"/>
                  </a:schemeClr>
                </a:solidFill>
                <a:effectLst/>
                <a:latin typeface="+mn-lt"/>
                <a:ea typeface="+mn-ea"/>
                <a:cs typeface="+mn-cs"/>
              </a:defRPr>
            </a:lvl1pPr>
          </a:lstStyle>
          <a:p>
            <a:pPr lvl="0"/>
            <a:r>
              <a:rPr lang="en-US" noProof="0" dirty="0"/>
              <a:t>Company Name</a:t>
            </a:r>
          </a:p>
        </p:txBody>
      </p:sp>
      <p:pic>
        <p:nvPicPr>
          <p:cNvPr id="35" name="Picture SoftUni Mascot" descr="SoftUni mascot">
            <a:extLst>
              <a:ext uri="{FF2B5EF4-FFF2-40B4-BE49-F238E27FC236}">
                <a16:creationId xmlns:a16="http://schemas.microsoft.com/office/drawing/2014/main" id="{951E7DA9-C5F0-43D9-B013-3BDF9EEF029D}"/>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flipH="1">
            <a:off x="8848924" y="2609644"/>
            <a:ext cx="2788893" cy="3018284"/>
          </a:xfrm>
          <a:prstGeom prst="rect">
            <a:avLst/>
          </a:prstGeom>
        </p:spPr>
      </p:pic>
      <p:pic>
        <p:nvPicPr>
          <p:cNvPr id="22" name="Picture Logo Software University" descr="Software University logo">
            <a:hlinkClick r:id="rId4"/>
            <a:extLst>
              <a:ext uri="{FF2B5EF4-FFF2-40B4-BE49-F238E27FC236}">
                <a16:creationId xmlns:a16="http://schemas.microsoft.com/office/drawing/2014/main" id="{F2315EB3-3FE4-4D3B-921E-5F209CEC13CB}"/>
              </a:ext>
            </a:extLst>
          </p:cNvPr>
          <p:cNvPicPr>
            <a:picLocks noChangeAspect="1"/>
          </p:cNvPicPr>
          <p:nvPr userDrawn="1"/>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07944" y="5918567"/>
            <a:ext cx="1830305" cy="628159"/>
          </a:xfrm>
          <a:prstGeom prst="rect">
            <a:avLst/>
          </a:prstGeom>
        </p:spPr>
      </p:pic>
      <p:sp>
        <p:nvSpPr>
          <p:cNvPr id="40" name="Text Placeholder Author Position">
            <a:extLst>
              <a:ext uri="{FF2B5EF4-FFF2-40B4-BE49-F238E27FC236}">
                <a16:creationId xmlns:a16="http://schemas.microsoft.com/office/drawing/2014/main" id="{CD940256-851E-46C8-8BFB-A5ECA6C7DA07}"/>
              </a:ext>
            </a:extLst>
          </p:cNvPr>
          <p:cNvSpPr>
            <a:spLocks noGrp="1"/>
          </p:cNvSpPr>
          <p:nvPr>
            <p:ph type="body" sz="quarter" idx="20" hasCustomPrompt="1"/>
          </p:nvPr>
        </p:nvSpPr>
        <p:spPr bwMode="auto">
          <a:xfrm>
            <a:off x="553082" y="5344180"/>
            <a:ext cx="2980696" cy="444793"/>
          </a:xfrm>
          <a:prstGeom prst="rect">
            <a:avLst/>
          </a:prstGeom>
          <a:noFill/>
          <a:effectLst/>
        </p:spPr>
        <p:txBody>
          <a:bodyPr wrap="square" lIns="36000" tIns="36000" rIns="36000" bIns="36000" rtlCol="0" anchor="ctr" anchorCtr="0">
            <a:spAutoFit/>
          </a:bodyPr>
          <a:lstStyle>
            <a:lvl1pPr marL="0" indent="0" algn="l" rtl="0" fontAlgn="base" latinLnBrk="0">
              <a:spcBef>
                <a:spcPct val="0"/>
              </a:spcBef>
              <a:spcAft>
                <a:spcPct val="0"/>
              </a:spcAft>
              <a:buNone/>
              <a:defRPr lang="en-US" sz="2398" b="1" kern="1200" dirty="0" smtClean="0">
                <a:solidFill>
                  <a:schemeClr val="tx1"/>
                </a:solidFill>
                <a:effectLst/>
                <a:latin typeface="+mn-lt"/>
                <a:ea typeface="+mn-ea"/>
                <a:cs typeface="+mn-cs"/>
              </a:defRPr>
            </a:lvl1pPr>
          </a:lstStyle>
          <a:p>
            <a:pPr lvl="0"/>
            <a:r>
              <a:rPr lang="en-US" noProof="0" dirty="0"/>
              <a:t>Position</a:t>
            </a:r>
          </a:p>
        </p:txBody>
      </p:sp>
      <p:sp>
        <p:nvSpPr>
          <p:cNvPr id="36" name="Text Placeholder Author Name">
            <a:extLst>
              <a:ext uri="{FF2B5EF4-FFF2-40B4-BE49-F238E27FC236}">
                <a16:creationId xmlns:a16="http://schemas.microsoft.com/office/drawing/2014/main" id="{3B21F47B-DE1F-442D-A2B7-6866F8786704}"/>
              </a:ext>
            </a:extLst>
          </p:cNvPr>
          <p:cNvSpPr>
            <a:spLocks noGrp="1"/>
          </p:cNvSpPr>
          <p:nvPr>
            <p:ph type="body" sz="quarter" idx="19" hasCustomPrompt="1"/>
          </p:nvPr>
        </p:nvSpPr>
        <p:spPr bwMode="auto">
          <a:xfrm>
            <a:off x="553082" y="4851838"/>
            <a:ext cx="2980696" cy="454398"/>
          </a:xfrm>
          <a:prstGeom prst="rect">
            <a:avLst/>
          </a:prstGeom>
          <a:noFill/>
          <a:effectLst/>
        </p:spPr>
        <p:txBody>
          <a:bodyPr wrap="square" lIns="36000" tIns="36000" rIns="36000" bIns="36000" rtlCol="0" anchor="ctr" anchorCtr="0">
            <a:noAutofit/>
          </a:bodyPr>
          <a:lstStyle>
            <a:lvl1pPr marL="0" indent="0" algn="l" rtl="0" fontAlgn="base" latinLnBrk="0">
              <a:spcBef>
                <a:spcPct val="0"/>
              </a:spcBef>
              <a:spcAft>
                <a:spcPct val="0"/>
              </a:spcAft>
              <a:buNone/>
              <a:defRPr lang="en-US" sz="2798" b="1" kern="1200" dirty="0" smtClean="0">
                <a:solidFill>
                  <a:schemeClr val="tx1"/>
                </a:solidFill>
                <a:effectLst/>
                <a:latin typeface="+mn-lt"/>
                <a:ea typeface="+mn-ea"/>
                <a:cs typeface="+mn-cs"/>
              </a:defRPr>
            </a:lvl1pPr>
          </a:lstStyle>
          <a:p>
            <a:pPr lvl="0"/>
            <a:r>
              <a:rPr lang="en-US" noProof="0" dirty="0"/>
              <a:t>Author Name</a:t>
            </a:r>
          </a:p>
        </p:txBody>
      </p:sp>
      <p:sp>
        <p:nvSpPr>
          <p:cNvPr id="33" name="Picture Placeholder Title Image">
            <a:extLst>
              <a:ext uri="{FF2B5EF4-FFF2-40B4-BE49-F238E27FC236}">
                <a16:creationId xmlns:a16="http://schemas.microsoft.com/office/drawing/2014/main" id="{A04D819A-89E2-4714-8C56-1838BF467EF7}"/>
              </a:ext>
            </a:extLst>
          </p:cNvPr>
          <p:cNvSpPr>
            <a:spLocks noGrp="1"/>
          </p:cNvSpPr>
          <p:nvPr>
            <p:ph type="pic" sz="quarter" idx="10"/>
          </p:nvPr>
        </p:nvSpPr>
        <p:spPr>
          <a:xfrm>
            <a:off x="553082" y="2740913"/>
            <a:ext cx="4642919" cy="1936503"/>
          </a:xfrm>
        </p:spPr>
        <p:txBody>
          <a:bodyPr/>
          <a:lstStyle>
            <a:lvl1pPr marL="0" indent="0" algn="ctr" latinLnBrk="0">
              <a:buNone/>
              <a:defRPr>
                <a:solidFill>
                  <a:schemeClr val="bg1"/>
                </a:solidFill>
              </a:defRPr>
            </a:lvl1pPr>
          </a:lstStyle>
          <a:p>
            <a:r>
              <a:rPr lang="en-US" noProof="0" dirty="0"/>
              <a:t>Click icon to add picture</a:t>
            </a:r>
          </a:p>
        </p:txBody>
      </p:sp>
      <p:sp>
        <p:nvSpPr>
          <p:cNvPr id="43" name="Presentation Subtitle">
            <a:extLst>
              <a:ext uri="{FF2B5EF4-FFF2-40B4-BE49-F238E27FC236}">
                <a16:creationId xmlns:a16="http://schemas.microsoft.com/office/drawing/2014/main" id="{37BDB812-1395-4B02-ABCF-6A331EEE23E5}"/>
              </a:ext>
            </a:extLst>
          </p:cNvPr>
          <p:cNvSpPr>
            <a:spLocks noGrp="1"/>
          </p:cNvSpPr>
          <p:nvPr>
            <p:ph type="subTitle" idx="1" hasCustomPrompt="1"/>
          </p:nvPr>
        </p:nvSpPr>
        <p:spPr>
          <a:xfrm>
            <a:off x="554182" y="1258272"/>
            <a:ext cx="11083636" cy="1315728"/>
          </a:xfrm>
        </p:spPr>
        <p:txBody>
          <a:bodyPr anchor="t" anchorCtr="0">
            <a:normAutofit/>
          </a:bodyPr>
          <a:lstStyle>
            <a:lvl1pPr marL="0" indent="0" algn="ctr" latinLnBrk="0">
              <a:buNone/>
              <a:defRPr sz="3598">
                <a:solidFill>
                  <a:schemeClr val="tx1"/>
                </a:solidFill>
              </a:defRPr>
            </a:lvl1pPr>
          </a:lstStyle>
          <a:p>
            <a:r>
              <a:rPr lang="en-US" noProof="0" dirty="0"/>
              <a:t>Presentation Subtitle</a:t>
            </a:r>
          </a:p>
        </p:txBody>
      </p:sp>
      <p:sp>
        <p:nvSpPr>
          <p:cNvPr id="2" name="Presentation Title">
            <a:extLst>
              <a:ext uri="{FF2B5EF4-FFF2-40B4-BE49-F238E27FC236}">
                <a16:creationId xmlns:a16="http://schemas.microsoft.com/office/drawing/2014/main" id="{A4DF3AB8-E6E3-4FCE-8A4A-ECD147720A5D}"/>
              </a:ext>
            </a:extLst>
          </p:cNvPr>
          <p:cNvSpPr>
            <a:spLocks noGrp="1"/>
          </p:cNvSpPr>
          <p:nvPr>
            <p:ph type="title" hasCustomPrompt="1"/>
          </p:nvPr>
        </p:nvSpPr>
        <p:spPr>
          <a:xfrm>
            <a:off x="554182" y="321502"/>
            <a:ext cx="11083636" cy="882654"/>
          </a:xfrm>
        </p:spPr>
        <p:txBody>
          <a:bodyPr/>
          <a:lstStyle>
            <a:lvl1pPr algn="ctr" latinLnBrk="0">
              <a:defRPr sz="4798"/>
            </a:lvl1pPr>
          </a:lstStyle>
          <a:p>
            <a:r>
              <a:rPr lang="en-US" noProof="0" dirty="0"/>
              <a:t>Presentation Title</a:t>
            </a:r>
          </a:p>
        </p:txBody>
      </p:sp>
    </p:spTree>
    <p:extLst>
      <p:ext uri="{BB962C8B-B14F-4D97-AF65-F5344CB8AC3E}">
        <p14:creationId xmlns:p14="http://schemas.microsoft.com/office/powerpoint/2010/main" val="970179299"/>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ection Title Slide">
    <p:spTree>
      <p:nvGrpSpPr>
        <p:cNvPr id="1" name=""/>
        <p:cNvGrpSpPr/>
        <p:nvPr/>
      </p:nvGrpSpPr>
      <p:grpSpPr>
        <a:xfrm>
          <a:off x="0" y="0"/>
          <a:ext cx="0" cy="0"/>
          <a:chOff x="0" y="0"/>
          <a:chExt cx="0" cy="0"/>
        </a:xfrm>
      </p:grpSpPr>
      <p:sp>
        <p:nvSpPr>
          <p:cNvPr id="4" name="Oval Center Icon"/>
          <p:cNvSpPr>
            <a:spLocks noChangeAspect="1"/>
          </p:cNvSpPr>
          <p:nvPr/>
        </p:nvSpPr>
        <p:spPr>
          <a:xfrm>
            <a:off x="4319736" y="867751"/>
            <a:ext cx="3552529" cy="3552529"/>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a:ln>
                <a:noFill/>
              </a:ln>
              <a:solidFill>
                <a:srgbClr val="F7C86D"/>
              </a:solidFill>
              <a:effectLst/>
              <a:uLnTx/>
              <a:uFillTx/>
              <a:latin typeface="Calibri" panose="020F0502020204030204"/>
              <a:ea typeface="맑은 고딕" panose="020B0503020000020004" pitchFamily="34" charset="-127"/>
              <a:cs typeface="+mn-cs"/>
            </a:endParaRPr>
          </a:p>
        </p:txBody>
      </p:sp>
      <p:sp>
        <p:nvSpPr>
          <p:cNvPr id="11" name="Slide Subtitle"/>
          <p:cNvSpPr>
            <a:spLocks noGrp="1"/>
          </p:cNvSpPr>
          <p:nvPr>
            <p:ph type="subTitle" sz="quarter" idx="11" hasCustomPrompt="1"/>
          </p:nvPr>
        </p:nvSpPr>
        <p:spPr>
          <a:xfrm>
            <a:off x="615109" y="5585916"/>
            <a:ext cx="10961783" cy="768084"/>
          </a:xfrm>
          <a:prstGeom prst="rect">
            <a:avLst/>
          </a:prstGeom>
        </p:spPr>
        <p:txBody>
          <a:bodyPr anchor="ctr">
            <a:noAutofit/>
          </a:bodyPr>
          <a:lstStyle>
            <a:lvl1pPr marL="0" indent="0" algn="ctr" latinLnBrk="0">
              <a:buNone/>
              <a:defRPr sz="3998" b="0" baseline="0">
                <a:solidFill>
                  <a:schemeClr val="tx1"/>
                </a:solidFill>
                <a:latin typeface="+mn-lt"/>
                <a:cs typeface="Arial" pitchFamily="34" charset="0"/>
              </a:defRPr>
            </a:lvl1pPr>
          </a:lstStyle>
          <a:p>
            <a:pPr lvl="0"/>
            <a:r>
              <a:rPr lang="en-US" noProof="0" dirty="0"/>
              <a:t>Click to Edit Section Subtitle</a:t>
            </a:r>
          </a:p>
        </p:txBody>
      </p:sp>
      <p:sp>
        <p:nvSpPr>
          <p:cNvPr id="10" name="Slide Title"/>
          <p:cNvSpPr>
            <a:spLocks noGrp="1"/>
          </p:cNvSpPr>
          <p:nvPr>
            <p:ph type="title" sz="quarter" idx="10" hasCustomPrompt="1"/>
          </p:nvPr>
        </p:nvSpPr>
        <p:spPr>
          <a:xfrm>
            <a:off x="615109" y="4704825"/>
            <a:ext cx="10961783" cy="768084"/>
          </a:xfrm>
          <a:prstGeom prst="rect">
            <a:avLst/>
          </a:prstGeom>
        </p:spPr>
        <p:txBody>
          <a:bodyPr anchor="ctr">
            <a:noAutofit/>
          </a:bodyPr>
          <a:lstStyle>
            <a:lvl1pPr marL="0" indent="0" algn="ctr" latinLnBrk="0">
              <a:buNone/>
              <a:defRPr sz="5396" b="1" baseline="0">
                <a:solidFill>
                  <a:schemeClr val="tx1"/>
                </a:solidFill>
                <a:latin typeface="+mj-lt"/>
                <a:cs typeface="Arial" pitchFamily="34" charset="0"/>
              </a:defRPr>
            </a:lvl1pPr>
          </a:lstStyle>
          <a:p>
            <a:pPr lvl="0"/>
            <a:r>
              <a:rPr lang="en-US" noProof="0" dirty="0"/>
              <a:t>Click to Edit Section Title</a:t>
            </a:r>
            <a:endParaRPr lang="en-US" altLang="ko-KR" noProof="0" dirty="0"/>
          </a:p>
        </p:txBody>
      </p:sp>
    </p:spTree>
    <p:extLst>
      <p:ext uri="{BB962C8B-B14F-4D97-AF65-F5344CB8AC3E}">
        <p14:creationId xmlns:p14="http://schemas.microsoft.com/office/powerpoint/2010/main" val="3529216409"/>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Slide Number">
            <a:extLst>
              <a:ext uri="{FF2B5EF4-FFF2-40B4-BE49-F238E27FC236}">
                <a16:creationId xmlns:a16="http://schemas.microsoft.com/office/drawing/2014/main" id="{C1780DB1-0AF0-4108-AFE1-9DA99F0DBCB8}"/>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a:t>
            </a:fld>
            <a:endParaRPr lang="en-US" noProof="0" dirty="0"/>
          </a:p>
        </p:txBody>
      </p:sp>
      <p:sp>
        <p:nvSpPr>
          <p:cNvPr id="3" name="Slide Body Text">
            <a:extLst>
              <a:ext uri="{FF2B5EF4-FFF2-40B4-BE49-F238E27FC236}">
                <a16:creationId xmlns:a16="http://schemas.microsoft.com/office/drawing/2014/main" id="{5A9D2960-6D42-439F-82E8-812822013A10}"/>
              </a:ext>
            </a:extLst>
          </p:cNvPr>
          <p:cNvSpPr>
            <a:spLocks noGrp="1"/>
          </p:cNvSpPr>
          <p:nvPr>
            <p:ph type="body" sz="quarter" idx="10" hasCustomPrompt="1"/>
          </p:nvPr>
        </p:nvSpPr>
        <p:spPr>
          <a:xfrm>
            <a:off x="190402" y="1196125"/>
            <a:ext cx="11818096" cy="5528766"/>
          </a:xfrm>
        </p:spPr>
        <p:txBody>
          <a:bodyPr/>
          <a:lstStyle>
            <a:lvl1pPr latinLnBrk="0">
              <a:defRPr/>
            </a:lvl1pPr>
            <a:lvl2pPr latinLnBrk="0">
              <a:defRPr/>
            </a:lvl2pPr>
            <a:lvl3pPr latinLnBrk="0">
              <a:defRPr/>
            </a:lvl3pPr>
            <a:lvl4pPr latinLnBrk="0">
              <a:defRPr/>
            </a:lvl4pPr>
            <a:lvl5pPr latinLnBrk="0">
              <a:defRPr/>
            </a:lvl5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Rectangle Top">
            <a:extLst>
              <a:ext uri="{FF2B5EF4-FFF2-40B4-BE49-F238E27FC236}">
                <a16:creationId xmlns:a16="http://schemas.microsoft.com/office/drawing/2014/main" id="{391AFA4E-7870-4561-A1B8-AC956B0C8931}"/>
              </a:ext>
            </a:extLst>
          </p:cNvPr>
          <p:cNvSpPr/>
          <p:nvPr userDrawn="1"/>
        </p:nvSpPr>
        <p:spPr>
          <a:xfrm>
            <a:off x="0" y="0"/>
            <a:ext cx="12196800" cy="109537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a:ln>
                <a:noFill/>
              </a:ln>
              <a:solidFill>
                <a:srgbClr val="F7C86D"/>
              </a:solidFill>
              <a:effectLst/>
              <a:uLnTx/>
              <a:uFillTx/>
              <a:latin typeface="Calibri" panose="020F0502020204030204"/>
              <a:ea typeface="맑은 고딕" panose="020B0503020000020004" pitchFamily="34" charset="-127"/>
              <a:cs typeface="+mn-cs"/>
            </a:endParaRPr>
          </a:p>
        </p:txBody>
      </p:sp>
      <p:pic>
        <p:nvPicPr>
          <p:cNvPr id="12" name="Logo Software University" descr="Software University logo">
            <a:extLst>
              <a:ext uri="{FF2B5EF4-FFF2-40B4-BE49-F238E27FC236}">
                <a16:creationId xmlns:a16="http://schemas.microsoft.com/office/drawing/2014/main" id="{B1D3B425-B9BF-43ED-9DEC-C05002FBA2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67957" y="253936"/>
            <a:ext cx="1915704" cy="559235"/>
          </a:xfrm>
          <a:prstGeom prst="rect">
            <a:avLst/>
          </a:prstGeom>
        </p:spPr>
      </p:pic>
      <p:sp>
        <p:nvSpPr>
          <p:cNvPr id="6" name="Slide Title">
            <a:extLst>
              <a:ext uri="{FF2B5EF4-FFF2-40B4-BE49-F238E27FC236}">
                <a16:creationId xmlns:a16="http://schemas.microsoft.com/office/drawing/2014/main" id="{19B5B676-7892-440F-8191-7109B2C59885}"/>
              </a:ext>
            </a:extLst>
          </p:cNvPr>
          <p:cNvSpPr>
            <a:spLocks noGrp="1"/>
          </p:cNvSpPr>
          <p:nvPr>
            <p:ph type="title" hasCustomPrompt="1"/>
          </p:nvPr>
        </p:nvSpPr>
        <p:spPr>
          <a:xfrm>
            <a:off x="190406" y="100750"/>
            <a:ext cx="9715594" cy="882654"/>
          </a:xfrm>
        </p:spPr>
        <p:txBody>
          <a:bodyPr/>
          <a:lstStyle>
            <a:lvl1pPr latinLnBrk="0">
              <a:defRPr>
                <a:solidFill>
                  <a:schemeClr val="bg2"/>
                </a:solidFill>
              </a:defRPr>
            </a:lvl1pPr>
          </a:lstStyle>
          <a:p>
            <a:r>
              <a:rPr lang="en-US" noProof="0" dirty="0"/>
              <a:t>Slide Title</a:t>
            </a:r>
          </a:p>
        </p:txBody>
      </p:sp>
    </p:spTree>
    <p:extLst>
      <p:ext uri="{BB962C8B-B14F-4D97-AF65-F5344CB8AC3E}">
        <p14:creationId xmlns:p14="http://schemas.microsoft.com/office/powerpoint/2010/main" val="1102970716"/>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mportant Concept">
    <p:spTree>
      <p:nvGrpSpPr>
        <p:cNvPr id="1" name=""/>
        <p:cNvGrpSpPr/>
        <p:nvPr/>
      </p:nvGrpSpPr>
      <p:grpSpPr>
        <a:xfrm>
          <a:off x="0" y="0"/>
          <a:ext cx="0" cy="0"/>
          <a:chOff x="0" y="0"/>
          <a:chExt cx="0" cy="0"/>
        </a:xfrm>
      </p:grpSpPr>
      <p:sp>
        <p:nvSpPr>
          <p:cNvPr id="9" name="Slide Number">
            <a:extLst>
              <a:ext uri="{FF2B5EF4-FFF2-40B4-BE49-F238E27FC236}">
                <a16:creationId xmlns:a16="http://schemas.microsoft.com/office/drawing/2014/main" id="{0020EB61-2079-41A3-B356-B1D8D48D786E}"/>
              </a:ext>
            </a:extLst>
          </p:cNvPr>
          <p:cNvSpPr>
            <a:spLocks noGrp="1"/>
          </p:cNvSpPr>
          <p:nvPr>
            <p:ph type="sldNum" sz="quarter" idx="4"/>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a:t>
            </a:fld>
            <a:endParaRPr lang="en-US" noProof="0" dirty="0"/>
          </a:p>
        </p:txBody>
      </p:sp>
      <p:sp>
        <p:nvSpPr>
          <p:cNvPr id="6" name="Rectangle Left"/>
          <p:cNvSpPr/>
          <p:nvPr/>
        </p:nvSpPr>
        <p:spPr>
          <a:xfrm>
            <a:off x="0" y="0"/>
            <a:ext cx="115383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dirty="0">
              <a:ln>
                <a:noFill/>
              </a:ln>
              <a:solidFill>
                <a:srgbClr val="F7C86D"/>
              </a:solidFill>
              <a:effectLst/>
              <a:uLnTx/>
              <a:uFillTx/>
              <a:latin typeface="Calibri" panose="020F0502020204030204"/>
              <a:ea typeface="맑은 고딕" panose="020B0503020000020004" pitchFamily="34" charset="-127"/>
              <a:cs typeface="+mn-cs"/>
            </a:endParaRPr>
          </a:p>
        </p:txBody>
      </p:sp>
      <p:sp>
        <p:nvSpPr>
          <p:cNvPr id="7" name="Slide Body Text">
            <a:extLst>
              <a:ext uri="{FF2B5EF4-FFF2-40B4-BE49-F238E27FC236}">
                <a16:creationId xmlns:a16="http://schemas.microsoft.com/office/drawing/2014/main" id="{CB4CB13C-66A1-466B-A6C1-B0BABF5CFEC1}"/>
              </a:ext>
            </a:extLst>
          </p:cNvPr>
          <p:cNvSpPr>
            <a:spLocks noGrp="1"/>
          </p:cNvSpPr>
          <p:nvPr>
            <p:ph type="body" sz="quarter" idx="10"/>
          </p:nvPr>
        </p:nvSpPr>
        <p:spPr>
          <a:xfrm>
            <a:off x="1866000" y="1121143"/>
            <a:ext cx="10129234" cy="5546589"/>
          </a:xfrm>
        </p:spPr>
        <p:txBody>
          <a:bodyPr/>
          <a:lstStyle>
            <a:lvl1pPr latinLnBrk="0">
              <a:defRPr>
                <a:solidFill>
                  <a:schemeClr val="tx1"/>
                </a:solidFill>
              </a:defRPr>
            </a:lvl1pPr>
            <a:lvl2pPr latinLnBrk="0">
              <a:defRPr>
                <a:solidFill>
                  <a:schemeClr val="tx1"/>
                </a:solidFill>
              </a:defRPr>
            </a:lvl2pPr>
            <a:lvl3pPr latinLnBrk="0">
              <a:defRPr>
                <a:solidFill>
                  <a:schemeClr val="tx1"/>
                </a:solidFill>
              </a:defRPr>
            </a:lvl3pPr>
            <a:lvl4pPr latinLnBrk="0">
              <a:defRPr>
                <a:solidFill>
                  <a:schemeClr val="tx1"/>
                </a:solidFill>
              </a:defRPr>
            </a:lvl4pPr>
            <a:lvl5pPr latinLnBrk="0">
              <a:defRPr>
                <a:solidFill>
                  <a:schemeClr val="tx1"/>
                </a:solidFill>
              </a:defRPr>
            </a:lvl5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pic>
        <p:nvPicPr>
          <p:cNvPr id="3" name="Logo Software University" descr="Software University logo">
            <a:extLst>
              <a:ext uri="{FF2B5EF4-FFF2-40B4-BE49-F238E27FC236}">
                <a16:creationId xmlns:a16="http://schemas.microsoft.com/office/drawing/2014/main" id="{5573C101-930B-47AC-967A-A64513DFFDEE}"/>
              </a:ext>
            </a:extLst>
          </p:cNvPr>
          <p:cNvPicPr>
            <a:picLocks noChangeAspect="1"/>
          </p:cNvPicPr>
          <p:nvPr userDrawn="1"/>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008761" y="190267"/>
            <a:ext cx="2013336" cy="690975"/>
          </a:xfrm>
          <a:prstGeom prst="rect">
            <a:avLst/>
          </a:prstGeom>
        </p:spPr>
      </p:pic>
      <p:sp>
        <p:nvSpPr>
          <p:cNvPr id="8" name="Slide Title">
            <a:extLst>
              <a:ext uri="{FF2B5EF4-FFF2-40B4-BE49-F238E27FC236}">
                <a16:creationId xmlns:a16="http://schemas.microsoft.com/office/drawing/2014/main" id="{E2DA9691-CDF5-499C-94BB-AAA61DAC1BFB}"/>
              </a:ext>
            </a:extLst>
          </p:cNvPr>
          <p:cNvSpPr>
            <a:spLocks noGrp="1"/>
          </p:cNvSpPr>
          <p:nvPr>
            <p:ph type="title" hasCustomPrompt="1"/>
          </p:nvPr>
        </p:nvSpPr>
        <p:spPr>
          <a:xfrm>
            <a:off x="1296957" y="100750"/>
            <a:ext cx="8625520" cy="882654"/>
          </a:xfrm>
        </p:spPr>
        <p:txBody>
          <a:bodyPr/>
          <a:lstStyle>
            <a:lvl1pPr latinLnBrk="0">
              <a:defRPr/>
            </a:lvl1pPr>
          </a:lstStyle>
          <a:p>
            <a:r>
              <a:rPr lang="en-US" noProof="0" dirty="0"/>
              <a:t>Slide Title</a:t>
            </a:r>
          </a:p>
        </p:txBody>
      </p:sp>
      <p:grpSp>
        <p:nvGrpSpPr>
          <p:cNvPr id="10" name="Group 9">
            <a:extLst>
              <a:ext uri="{FF2B5EF4-FFF2-40B4-BE49-F238E27FC236}">
                <a16:creationId xmlns:a16="http://schemas.microsoft.com/office/drawing/2014/main" id="{43CDBCC2-1C96-44BC-B992-7B0C49C34904}"/>
              </a:ext>
            </a:extLst>
          </p:cNvPr>
          <p:cNvGrpSpPr/>
          <p:nvPr userDrawn="1"/>
        </p:nvGrpSpPr>
        <p:grpSpPr>
          <a:xfrm>
            <a:off x="185076" y="1868177"/>
            <a:ext cx="1937508" cy="3070349"/>
            <a:chOff x="3928039" y="1792355"/>
            <a:chExt cx="1830304" cy="2900460"/>
          </a:xfrm>
        </p:grpSpPr>
        <p:grpSp>
          <p:nvGrpSpPr>
            <p:cNvPr id="11" name="Group 10">
              <a:extLst>
                <a:ext uri="{FF2B5EF4-FFF2-40B4-BE49-F238E27FC236}">
                  <a16:creationId xmlns:a16="http://schemas.microsoft.com/office/drawing/2014/main" id="{7D71B3A8-4D39-42CF-9255-81EA3A622DD6}"/>
                </a:ext>
              </a:extLst>
            </p:cNvPr>
            <p:cNvGrpSpPr/>
            <p:nvPr/>
          </p:nvGrpSpPr>
          <p:grpSpPr>
            <a:xfrm>
              <a:off x="3928039" y="1792355"/>
              <a:ext cx="1830304" cy="2206534"/>
              <a:chOff x="3216839" y="2404072"/>
              <a:chExt cx="1830304" cy="2206534"/>
            </a:xfrm>
          </p:grpSpPr>
          <p:sp>
            <p:nvSpPr>
              <p:cNvPr id="25" name="Oval 24">
                <a:extLst>
                  <a:ext uri="{FF2B5EF4-FFF2-40B4-BE49-F238E27FC236}">
                    <a16:creationId xmlns:a16="http://schemas.microsoft.com/office/drawing/2014/main" id="{B98059F9-1874-426D-8AF7-A12C21F37DD9}"/>
                  </a:ext>
                </a:extLst>
              </p:cNvPr>
              <p:cNvSpPr/>
              <p:nvPr/>
            </p:nvSpPr>
            <p:spPr>
              <a:xfrm>
                <a:off x="3216839" y="2404072"/>
                <a:ext cx="1830304" cy="1830304"/>
              </a:xfrm>
              <a:prstGeom prst="ellipse">
                <a:avLst/>
              </a:prstGeom>
              <a:solidFill>
                <a:srgbClr val="F2A4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26" name="Rectangle 5">
                <a:extLst>
                  <a:ext uri="{FF2B5EF4-FFF2-40B4-BE49-F238E27FC236}">
                    <a16:creationId xmlns:a16="http://schemas.microsoft.com/office/drawing/2014/main" id="{A3A1E077-DBDF-48F0-A924-604984B940A2}"/>
                  </a:ext>
                </a:extLst>
              </p:cNvPr>
              <p:cNvSpPr/>
              <p:nvPr/>
            </p:nvSpPr>
            <p:spPr>
              <a:xfrm>
                <a:off x="3699615" y="3807346"/>
                <a:ext cx="1143001" cy="803260"/>
              </a:xfrm>
              <a:custGeom>
                <a:avLst/>
                <a:gdLst>
                  <a:gd name="connsiteX0" fmla="*/ 0 w 876300"/>
                  <a:gd name="connsiteY0" fmla="*/ 0 h 787400"/>
                  <a:gd name="connsiteX1" fmla="*/ 876300 w 876300"/>
                  <a:gd name="connsiteY1" fmla="*/ 0 h 787400"/>
                  <a:gd name="connsiteX2" fmla="*/ 876300 w 876300"/>
                  <a:gd name="connsiteY2" fmla="*/ 787400 h 787400"/>
                  <a:gd name="connsiteX3" fmla="*/ 0 w 876300"/>
                  <a:gd name="connsiteY3" fmla="*/ 787400 h 787400"/>
                  <a:gd name="connsiteX4" fmla="*/ 0 w 876300"/>
                  <a:gd name="connsiteY4" fmla="*/ 0 h 787400"/>
                  <a:gd name="connsiteX0" fmla="*/ 0 w 876300"/>
                  <a:gd name="connsiteY0" fmla="*/ 0 h 787400"/>
                  <a:gd name="connsiteX1" fmla="*/ 876300 w 876300"/>
                  <a:gd name="connsiteY1" fmla="*/ 0 h 787400"/>
                  <a:gd name="connsiteX2" fmla="*/ 876300 w 876300"/>
                  <a:gd name="connsiteY2" fmla="*/ 787400 h 787400"/>
                  <a:gd name="connsiteX3" fmla="*/ 0 w 876300"/>
                  <a:gd name="connsiteY3" fmla="*/ 787400 h 787400"/>
                  <a:gd name="connsiteX4" fmla="*/ 0 w 876300"/>
                  <a:gd name="connsiteY4" fmla="*/ 0 h 787400"/>
                  <a:gd name="connsiteX0" fmla="*/ 0 w 876300"/>
                  <a:gd name="connsiteY0" fmla="*/ 0 h 787400"/>
                  <a:gd name="connsiteX1" fmla="*/ 876300 w 876300"/>
                  <a:gd name="connsiteY1" fmla="*/ 0 h 787400"/>
                  <a:gd name="connsiteX2" fmla="*/ 876300 w 876300"/>
                  <a:gd name="connsiteY2" fmla="*/ 787400 h 787400"/>
                  <a:gd name="connsiteX3" fmla="*/ 0 w 876300"/>
                  <a:gd name="connsiteY3" fmla="*/ 787400 h 787400"/>
                  <a:gd name="connsiteX4" fmla="*/ 0 w 876300"/>
                  <a:gd name="connsiteY4" fmla="*/ 0 h 787400"/>
                  <a:gd name="connsiteX0" fmla="*/ 0 w 1130300"/>
                  <a:gd name="connsiteY0" fmla="*/ 0 h 787400"/>
                  <a:gd name="connsiteX1" fmla="*/ 1130300 w 1130300"/>
                  <a:gd name="connsiteY1" fmla="*/ 50800 h 787400"/>
                  <a:gd name="connsiteX2" fmla="*/ 876300 w 1130300"/>
                  <a:gd name="connsiteY2" fmla="*/ 787400 h 787400"/>
                  <a:gd name="connsiteX3" fmla="*/ 0 w 1130300"/>
                  <a:gd name="connsiteY3" fmla="*/ 787400 h 787400"/>
                  <a:gd name="connsiteX4" fmla="*/ 0 w 1130300"/>
                  <a:gd name="connsiteY4" fmla="*/ 0 h 787400"/>
                  <a:gd name="connsiteX0" fmla="*/ 0 w 1136650"/>
                  <a:gd name="connsiteY0" fmla="*/ 0 h 787400"/>
                  <a:gd name="connsiteX1" fmla="*/ 1136650 w 1136650"/>
                  <a:gd name="connsiteY1" fmla="*/ 38100 h 787400"/>
                  <a:gd name="connsiteX2" fmla="*/ 876300 w 1136650"/>
                  <a:gd name="connsiteY2" fmla="*/ 787400 h 787400"/>
                  <a:gd name="connsiteX3" fmla="*/ 0 w 1136650"/>
                  <a:gd name="connsiteY3" fmla="*/ 787400 h 787400"/>
                  <a:gd name="connsiteX4" fmla="*/ 0 w 1136650"/>
                  <a:gd name="connsiteY4" fmla="*/ 0 h 787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6650" h="787400">
                    <a:moveTo>
                      <a:pt x="0" y="0"/>
                    </a:moveTo>
                    <a:lnTo>
                      <a:pt x="1136650" y="38100"/>
                    </a:lnTo>
                    <a:cubicBezTo>
                      <a:pt x="920750" y="376767"/>
                      <a:pt x="876300" y="524933"/>
                      <a:pt x="876300" y="787400"/>
                    </a:cubicBezTo>
                    <a:lnTo>
                      <a:pt x="0" y="787400"/>
                    </a:lnTo>
                    <a:lnTo>
                      <a:pt x="0" y="0"/>
                    </a:lnTo>
                    <a:close/>
                  </a:path>
                </a:pathLst>
              </a:custGeom>
              <a:solidFill>
                <a:srgbClr val="F2A4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dirty="0"/>
              </a:p>
            </p:txBody>
          </p:sp>
          <p:sp>
            <p:nvSpPr>
              <p:cNvPr id="27" name="Rectangle 5">
                <a:extLst>
                  <a:ext uri="{FF2B5EF4-FFF2-40B4-BE49-F238E27FC236}">
                    <a16:creationId xmlns:a16="http://schemas.microsoft.com/office/drawing/2014/main" id="{798B1F51-1FA4-4199-81C7-62356C936CC9}"/>
                  </a:ext>
                </a:extLst>
              </p:cNvPr>
              <p:cNvSpPr/>
              <p:nvPr/>
            </p:nvSpPr>
            <p:spPr>
              <a:xfrm flipH="1">
                <a:off x="3426570" y="3807347"/>
                <a:ext cx="1143000" cy="803259"/>
              </a:xfrm>
              <a:custGeom>
                <a:avLst/>
                <a:gdLst>
                  <a:gd name="connsiteX0" fmla="*/ 0 w 876300"/>
                  <a:gd name="connsiteY0" fmla="*/ 0 h 787400"/>
                  <a:gd name="connsiteX1" fmla="*/ 876300 w 876300"/>
                  <a:gd name="connsiteY1" fmla="*/ 0 h 787400"/>
                  <a:gd name="connsiteX2" fmla="*/ 876300 w 876300"/>
                  <a:gd name="connsiteY2" fmla="*/ 787400 h 787400"/>
                  <a:gd name="connsiteX3" fmla="*/ 0 w 876300"/>
                  <a:gd name="connsiteY3" fmla="*/ 787400 h 787400"/>
                  <a:gd name="connsiteX4" fmla="*/ 0 w 876300"/>
                  <a:gd name="connsiteY4" fmla="*/ 0 h 787400"/>
                  <a:gd name="connsiteX0" fmla="*/ 0 w 876300"/>
                  <a:gd name="connsiteY0" fmla="*/ 0 h 787400"/>
                  <a:gd name="connsiteX1" fmla="*/ 876300 w 876300"/>
                  <a:gd name="connsiteY1" fmla="*/ 0 h 787400"/>
                  <a:gd name="connsiteX2" fmla="*/ 876300 w 876300"/>
                  <a:gd name="connsiteY2" fmla="*/ 787400 h 787400"/>
                  <a:gd name="connsiteX3" fmla="*/ 0 w 876300"/>
                  <a:gd name="connsiteY3" fmla="*/ 787400 h 787400"/>
                  <a:gd name="connsiteX4" fmla="*/ 0 w 876300"/>
                  <a:gd name="connsiteY4" fmla="*/ 0 h 787400"/>
                  <a:gd name="connsiteX0" fmla="*/ 0 w 876300"/>
                  <a:gd name="connsiteY0" fmla="*/ 0 h 787400"/>
                  <a:gd name="connsiteX1" fmla="*/ 876300 w 876300"/>
                  <a:gd name="connsiteY1" fmla="*/ 0 h 787400"/>
                  <a:gd name="connsiteX2" fmla="*/ 876300 w 876300"/>
                  <a:gd name="connsiteY2" fmla="*/ 787400 h 787400"/>
                  <a:gd name="connsiteX3" fmla="*/ 0 w 876300"/>
                  <a:gd name="connsiteY3" fmla="*/ 787400 h 787400"/>
                  <a:gd name="connsiteX4" fmla="*/ 0 w 876300"/>
                  <a:gd name="connsiteY4" fmla="*/ 0 h 787400"/>
                  <a:gd name="connsiteX0" fmla="*/ 0 w 1130300"/>
                  <a:gd name="connsiteY0" fmla="*/ 0 h 787400"/>
                  <a:gd name="connsiteX1" fmla="*/ 1130300 w 1130300"/>
                  <a:gd name="connsiteY1" fmla="*/ 50800 h 787400"/>
                  <a:gd name="connsiteX2" fmla="*/ 876300 w 1130300"/>
                  <a:gd name="connsiteY2" fmla="*/ 787400 h 787400"/>
                  <a:gd name="connsiteX3" fmla="*/ 0 w 1130300"/>
                  <a:gd name="connsiteY3" fmla="*/ 787400 h 787400"/>
                  <a:gd name="connsiteX4" fmla="*/ 0 w 1130300"/>
                  <a:gd name="connsiteY4" fmla="*/ 0 h 787400"/>
                  <a:gd name="connsiteX0" fmla="*/ 0 w 1136650"/>
                  <a:gd name="connsiteY0" fmla="*/ 0 h 787400"/>
                  <a:gd name="connsiteX1" fmla="*/ 1136650 w 1136650"/>
                  <a:gd name="connsiteY1" fmla="*/ 38100 h 787400"/>
                  <a:gd name="connsiteX2" fmla="*/ 876300 w 1136650"/>
                  <a:gd name="connsiteY2" fmla="*/ 787400 h 787400"/>
                  <a:gd name="connsiteX3" fmla="*/ 0 w 1136650"/>
                  <a:gd name="connsiteY3" fmla="*/ 787400 h 787400"/>
                  <a:gd name="connsiteX4" fmla="*/ 0 w 1136650"/>
                  <a:gd name="connsiteY4" fmla="*/ 0 h 787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6650" h="787400">
                    <a:moveTo>
                      <a:pt x="0" y="0"/>
                    </a:moveTo>
                    <a:lnTo>
                      <a:pt x="1136650" y="38100"/>
                    </a:lnTo>
                    <a:cubicBezTo>
                      <a:pt x="920750" y="376767"/>
                      <a:pt x="876300" y="524933"/>
                      <a:pt x="876300" y="787400"/>
                    </a:cubicBezTo>
                    <a:lnTo>
                      <a:pt x="0" y="787400"/>
                    </a:lnTo>
                    <a:lnTo>
                      <a:pt x="0" y="0"/>
                    </a:lnTo>
                    <a:close/>
                  </a:path>
                </a:pathLst>
              </a:custGeom>
              <a:solidFill>
                <a:srgbClr val="F2A4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dirty="0"/>
              </a:p>
            </p:txBody>
          </p:sp>
          <p:sp>
            <p:nvSpPr>
              <p:cNvPr id="28" name="Arc 27">
                <a:extLst>
                  <a:ext uri="{FF2B5EF4-FFF2-40B4-BE49-F238E27FC236}">
                    <a16:creationId xmlns:a16="http://schemas.microsoft.com/office/drawing/2014/main" id="{40A224C8-1233-40F7-96AB-BFF79AF6CDCB}"/>
                  </a:ext>
                </a:extLst>
              </p:cNvPr>
              <p:cNvSpPr/>
              <p:nvPr/>
            </p:nvSpPr>
            <p:spPr>
              <a:xfrm>
                <a:off x="3454111" y="2482850"/>
                <a:ext cx="1504950" cy="1504950"/>
              </a:xfrm>
              <a:prstGeom prst="arc">
                <a:avLst>
                  <a:gd name="adj1" fmla="val 18068338"/>
                  <a:gd name="adj2" fmla="val 0"/>
                </a:avLst>
              </a:prstGeom>
              <a:ln w="38100" cap="rnd">
                <a:solidFill>
                  <a:schemeClr val="bg2"/>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bg-BG">
                  <a:ln w="57150">
                    <a:solidFill>
                      <a:schemeClr val="tx1"/>
                    </a:solidFill>
                  </a:ln>
                </a:endParaRPr>
              </a:p>
            </p:txBody>
          </p:sp>
          <p:sp>
            <p:nvSpPr>
              <p:cNvPr id="29" name="Arc 28">
                <a:extLst>
                  <a:ext uri="{FF2B5EF4-FFF2-40B4-BE49-F238E27FC236}">
                    <a16:creationId xmlns:a16="http://schemas.microsoft.com/office/drawing/2014/main" id="{B57C7CCC-E218-4321-8C7B-3F0C5753C7A1}"/>
                  </a:ext>
                </a:extLst>
              </p:cNvPr>
              <p:cNvSpPr/>
              <p:nvPr/>
            </p:nvSpPr>
            <p:spPr>
              <a:xfrm>
                <a:off x="3454111" y="2482849"/>
                <a:ext cx="1504950" cy="1504950"/>
              </a:xfrm>
              <a:prstGeom prst="arc">
                <a:avLst>
                  <a:gd name="adj1" fmla="val 17518504"/>
                  <a:gd name="adj2" fmla="val 17709817"/>
                </a:avLst>
              </a:prstGeom>
              <a:ln w="38100" cap="rnd">
                <a:solidFill>
                  <a:schemeClr val="bg2"/>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bg-BG">
                  <a:ln w="57150">
                    <a:solidFill>
                      <a:schemeClr val="tx1"/>
                    </a:solidFill>
                  </a:ln>
                </a:endParaRPr>
              </a:p>
            </p:txBody>
          </p:sp>
        </p:grpSp>
        <p:sp>
          <p:nvSpPr>
            <p:cNvPr id="13" name="Rectangle: Rounded Corners 12">
              <a:extLst>
                <a:ext uri="{FF2B5EF4-FFF2-40B4-BE49-F238E27FC236}">
                  <a16:creationId xmlns:a16="http://schemas.microsoft.com/office/drawing/2014/main" id="{6AF309CA-A56C-4ABC-B293-420F4EB1A9B4}"/>
                </a:ext>
              </a:extLst>
            </p:cNvPr>
            <p:cNvSpPr/>
            <p:nvPr/>
          </p:nvSpPr>
          <p:spPr>
            <a:xfrm>
              <a:off x="4400007" y="4324162"/>
              <a:ext cx="886369" cy="150698"/>
            </a:xfrm>
            <a:prstGeom prst="roundRect">
              <a:avLst/>
            </a:prstGeom>
            <a:solidFill>
              <a:srgbClr val="F2A40D"/>
            </a:solidFill>
            <a:ln w="38100">
              <a:solidFill>
                <a:srgbClr val="4646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14" name="Rectangle: Rounded Corners 13">
              <a:extLst>
                <a:ext uri="{FF2B5EF4-FFF2-40B4-BE49-F238E27FC236}">
                  <a16:creationId xmlns:a16="http://schemas.microsoft.com/office/drawing/2014/main" id="{07955808-2AC7-44EB-8B6D-82B974E53A3C}"/>
                </a:ext>
              </a:extLst>
            </p:cNvPr>
            <p:cNvSpPr/>
            <p:nvPr/>
          </p:nvSpPr>
          <p:spPr>
            <a:xfrm>
              <a:off x="4533357" y="4542116"/>
              <a:ext cx="619670" cy="150699"/>
            </a:xfrm>
            <a:prstGeom prst="roundRect">
              <a:avLst/>
            </a:prstGeom>
            <a:solidFill>
              <a:srgbClr val="F2A40D"/>
            </a:solidFill>
            <a:ln w="38100">
              <a:solidFill>
                <a:srgbClr val="464646"/>
              </a:solidFill>
            </a:ln>
            <a:effectLst>
              <a:outerShdw blurRad="152400" dist="381000" dir="5400000" sx="70000" sy="70000"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cxnSp>
          <p:nvCxnSpPr>
            <p:cNvPr id="15" name="Straight Connector 14">
              <a:extLst>
                <a:ext uri="{FF2B5EF4-FFF2-40B4-BE49-F238E27FC236}">
                  <a16:creationId xmlns:a16="http://schemas.microsoft.com/office/drawing/2014/main" id="{AC6420D7-AEAB-45EF-8D46-11EB06E4AFEA}"/>
                </a:ext>
              </a:extLst>
            </p:cNvPr>
            <p:cNvCxnSpPr>
              <a:cxnSpLocks/>
            </p:cNvCxnSpPr>
            <p:nvPr/>
          </p:nvCxnSpPr>
          <p:spPr>
            <a:xfrm flipH="1" flipV="1">
              <a:off x="4472677" y="2844800"/>
              <a:ext cx="161562" cy="1164292"/>
            </a:xfrm>
            <a:prstGeom prst="line">
              <a:avLst/>
            </a:prstGeom>
            <a:solidFill>
              <a:srgbClr val="464646"/>
            </a:solidFill>
            <a:ln w="38100">
              <a:solidFill>
                <a:srgbClr val="464646"/>
              </a:solidFill>
            </a:ln>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76C7FABC-6773-44F6-990B-3EB082BE9B35}"/>
                </a:ext>
              </a:extLst>
            </p:cNvPr>
            <p:cNvCxnSpPr>
              <a:cxnSpLocks/>
            </p:cNvCxnSpPr>
            <p:nvPr/>
          </p:nvCxnSpPr>
          <p:spPr>
            <a:xfrm flipH="1">
              <a:off x="4578548" y="3618567"/>
              <a:ext cx="528128" cy="0"/>
            </a:xfrm>
            <a:prstGeom prst="line">
              <a:avLst/>
            </a:prstGeom>
            <a:solidFill>
              <a:srgbClr val="464646"/>
            </a:solidFill>
            <a:ln w="38100">
              <a:solidFill>
                <a:srgbClr val="464646"/>
              </a:solidFill>
            </a:ln>
          </p:spPr>
          <p:style>
            <a:lnRef idx="1">
              <a:schemeClr val="dk1"/>
            </a:lnRef>
            <a:fillRef idx="0">
              <a:schemeClr val="dk1"/>
            </a:fillRef>
            <a:effectRef idx="0">
              <a:schemeClr val="dk1"/>
            </a:effectRef>
            <a:fontRef idx="minor">
              <a:schemeClr val="tx1"/>
            </a:fontRef>
          </p:style>
        </p:cxnSp>
        <p:grpSp>
          <p:nvGrpSpPr>
            <p:cNvPr id="17" name="Group 16">
              <a:extLst>
                <a:ext uri="{FF2B5EF4-FFF2-40B4-BE49-F238E27FC236}">
                  <a16:creationId xmlns:a16="http://schemas.microsoft.com/office/drawing/2014/main" id="{1FAD48E1-DC45-4B3D-9CE5-613250708496}"/>
                </a:ext>
              </a:extLst>
            </p:cNvPr>
            <p:cNvGrpSpPr/>
            <p:nvPr/>
          </p:nvGrpSpPr>
          <p:grpSpPr>
            <a:xfrm>
              <a:off x="4203288" y="2479090"/>
              <a:ext cx="436874" cy="448528"/>
              <a:chOff x="2320288" y="2903541"/>
              <a:chExt cx="332555" cy="302680"/>
            </a:xfrm>
            <a:solidFill>
              <a:srgbClr val="464646"/>
            </a:solidFill>
          </p:grpSpPr>
          <p:cxnSp>
            <p:nvCxnSpPr>
              <p:cNvPr id="23" name="Straight Connector 22">
                <a:extLst>
                  <a:ext uri="{FF2B5EF4-FFF2-40B4-BE49-F238E27FC236}">
                    <a16:creationId xmlns:a16="http://schemas.microsoft.com/office/drawing/2014/main" id="{B01FD1D1-046F-457B-AB63-2702CE3E906E}"/>
                  </a:ext>
                </a:extLst>
              </p:cNvPr>
              <p:cNvCxnSpPr>
                <a:cxnSpLocks/>
              </p:cNvCxnSpPr>
              <p:nvPr/>
            </p:nvCxnSpPr>
            <p:spPr>
              <a:xfrm flipH="1" flipV="1">
                <a:off x="2321560" y="3054881"/>
                <a:ext cx="331283" cy="151340"/>
              </a:xfrm>
              <a:prstGeom prst="line">
                <a:avLst/>
              </a:prstGeom>
              <a:grpFill/>
              <a:ln w="38100" cap="rnd">
                <a:solidFill>
                  <a:srgbClr val="464646"/>
                </a:solidFill>
              </a:ln>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895660C3-C72C-43EE-9C4A-170F85E5BE08}"/>
                  </a:ext>
                </a:extLst>
              </p:cNvPr>
              <p:cNvCxnSpPr>
                <a:cxnSpLocks/>
              </p:cNvCxnSpPr>
              <p:nvPr/>
            </p:nvCxnSpPr>
            <p:spPr>
              <a:xfrm flipH="1">
                <a:off x="2320288" y="2903541"/>
                <a:ext cx="331283" cy="151340"/>
              </a:xfrm>
              <a:prstGeom prst="line">
                <a:avLst/>
              </a:prstGeom>
              <a:grpFill/>
              <a:ln w="38100" cap="rnd">
                <a:solidFill>
                  <a:srgbClr val="464646"/>
                </a:solidFill>
              </a:ln>
            </p:spPr>
            <p:style>
              <a:lnRef idx="1">
                <a:schemeClr val="dk1"/>
              </a:lnRef>
              <a:fillRef idx="0">
                <a:schemeClr val="dk1"/>
              </a:fillRef>
              <a:effectRef idx="0">
                <a:schemeClr val="dk1"/>
              </a:effectRef>
              <a:fontRef idx="minor">
                <a:schemeClr val="tx1"/>
              </a:fontRef>
            </p:style>
          </p:cxnSp>
        </p:grpSp>
        <p:cxnSp>
          <p:nvCxnSpPr>
            <p:cNvPr id="19" name="Straight Connector 18">
              <a:extLst>
                <a:ext uri="{FF2B5EF4-FFF2-40B4-BE49-F238E27FC236}">
                  <a16:creationId xmlns:a16="http://schemas.microsoft.com/office/drawing/2014/main" id="{A74EE503-8FC0-42A6-8860-CA4EE42272E4}"/>
                </a:ext>
              </a:extLst>
            </p:cNvPr>
            <p:cNvCxnSpPr>
              <a:cxnSpLocks/>
            </p:cNvCxnSpPr>
            <p:nvPr/>
          </p:nvCxnSpPr>
          <p:spPr>
            <a:xfrm flipV="1">
              <a:off x="5048904" y="2844800"/>
              <a:ext cx="142425" cy="1164292"/>
            </a:xfrm>
            <a:prstGeom prst="line">
              <a:avLst/>
            </a:prstGeom>
            <a:solidFill>
              <a:srgbClr val="464646"/>
            </a:solidFill>
            <a:ln w="38100">
              <a:solidFill>
                <a:srgbClr val="464646"/>
              </a:solidFill>
            </a:ln>
          </p:spPr>
          <p:style>
            <a:lnRef idx="1">
              <a:schemeClr val="dk1"/>
            </a:lnRef>
            <a:fillRef idx="0">
              <a:schemeClr val="dk1"/>
            </a:fillRef>
            <a:effectRef idx="0">
              <a:schemeClr val="dk1"/>
            </a:effectRef>
            <a:fontRef idx="minor">
              <a:schemeClr val="tx1"/>
            </a:fontRef>
          </p:style>
        </p:cxnSp>
        <p:sp>
          <p:nvSpPr>
            <p:cNvPr id="12" name="Rectangle: Rounded Corners 11">
              <a:extLst>
                <a:ext uri="{FF2B5EF4-FFF2-40B4-BE49-F238E27FC236}">
                  <a16:creationId xmlns:a16="http://schemas.microsoft.com/office/drawing/2014/main" id="{F4189FDA-9FE8-490B-8A70-2E941811021F}"/>
                </a:ext>
              </a:extLst>
            </p:cNvPr>
            <p:cNvSpPr/>
            <p:nvPr/>
          </p:nvSpPr>
          <p:spPr>
            <a:xfrm>
              <a:off x="4355556" y="4106208"/>
              <a:ext cx="975271" cy="150698"/>
            </a:xfrm>
            <a:prstGeom prst="roundRect">
              <a:avLst/>
            </a:prstGeom>
            <a:solidFill>
              <a:srgbClr val="F2A40D"/>
            </a:solidFill>
            <a:ln w="38100">
              <a:solidFill>
                <a:srgbClr val="4646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grpSp>
          <p:nvGrpSpPr>
            <p:cNvPr id="18" name="Group 17">
              <a:extLst>
                <a:ext uri="{FF2B5EF4-FFF2-40B4-BE49-F238E27FC236}">
                  <a16:creationId xmlns:a16="http://schemas.microsoft.com/office/drawing/2014/main" id="{FDA3EFCD-0DF8-419D-8533-D781521E597E}"/>
                </a:ext>
              </a:extLst>
            </p:cNvPr>
            <p:cNvGrpSpPr/>
            <p:nvPr/>
          </p:nvGrpSpPr>
          <p:grpSpPr>
            <a:xfrm flipH="1">
              <a:off x="5035162" y="2479090"/>
              <a:ext cx="436872" cy="448528"/>
              <a:chOff x="2320288" y="2903541"/>
              <a:chExt cx="332555" cy="302680"/>
            </a:xfrm>
            <a:solidFill>
              <a:srgbClr val="464646"/>
            </a:solidFill>
          </p:grpSpPr>
          <p:cxnSp>
            <p:nvCxnSpPr>
              <p:cNvPr id="21" name="Straight Connector 20">
                <a:extLst>
                  <a:ext uri="{FF2B5EF4-FFF2-40B4-BE49-F238E27FC236}">
                    <a16:creationId xmlns:a16="http://schemas.microsoft.com/office/drawing/2014/main" id="{C3CC6A5A-182E-4A09-9C04-EB191881D789}"/>
                  </a:ext>
                </a:extLst>
              </p:cNvPr>
              <p:cNvCxnSpPr>
                <a:cxnSpLocks/>
              </p:cNvCxnSpPr>
              <p:nvPr/>
            </p:nvCxnSpPr>
            <p:spPr>
              <a:xfrm flipH="1" flipV="1">
                <a:off x="2321560" y="3054881"/>
                <a:ext cx="331283" cy="151340"/>
              </a:xfrm>
              <a:prstGeom prst="line">
                <a:avLst/>
              </a:prstGeom>
              <a:grpFill/>
              <a:ln w="38100" cap="rnd">
                <a:solidFill>
                  <a:srgbClr val="464646"/>
                </a:solidFill>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440C8953-0555-48CC-8255-78F17E053EE7}"/>
                  </a:ext>
                </a:extLst>
              </p:cNvPr>
              <p:cNvCxnSpPr>
                <a:cxnSpLocks/>
              </p:cNvCxnSpPr>
              <p:nvPr/>
            </p:nvCxnSpPr>
            <p:spPr>
              <a:xfrm flipH="1">
                <a:off x="2320288" y="2903541"/>
                <a:ext cx="331283" cy="151340"/>
              </a:xfrm>
              <a:prstGeom prst="line">
                <a:avLst/>
              </a:prstGeom>
              <a:grpFill/>
              <a:ln w="38100" cap="rnd">
                <a:solidFill>
                  <a:srgbClr val="464646"/>
                </a:solidFill>
              </a:ln>
            </p:spPr>
            <p:style>
              <a:lnRef idx="1">
                <a:schemeClr val="dk1"/>
              </a:lnRef>
              <a:fillRef idx="0">
                <a:schemeClr val="dk1"/>
              </a:fillRef>
              <a:effectRef idx="0">
                <a:schemeClr val="dk1"/>
              </a:effectRef>
              <a:fontRef idx="minor">
                <a:schemeClr val="tx1"/>
              </a:fontRef>
            </p:style>
          </p:cxnSp>
        </p:grpSp>
      </p:grpSp>
      <p:cxnSp>
        <p:nvCxnSpPr>
          <p:cNvPr id="34" name="Straight Connector 33">
            <a:extLst>
              <a:ext uri="{FF2B5EF4-FFF2-40B4-BE49-F238E27FC236}">
                <a16:creationId xmlns:a16="http://schemas.microsoft.com/office/drawing/2014/main" id="{29B538CA-8CCB-43FB-B5E5-5FC04EBC1F54}"/>
              </a:ext>
            </a:extLst>
          </p:cNvPr>
          <p:cNvCxnSpPr>
            <a:cxnSpLocks/>
            <a:stCxn id="26" idx="2"/>
          </p:cNvCxnSpPr>
          <p:nvPr userDrawn="1"/>
        </p:nvCxnSpPr>
        <p:spPr>
          <a:xfrm flipH="1">
            <a:off x="673735" y="4203953"/>
            <a:ext cx="955204" cy="0"/>
          </a:xfrm>
          <a:prstGeom prst="line">
            <a:avLst/>
          </a:prstGeom>
          <a:solidFill>
            <a:srgbClr val="464646"/>
          </a:solidFill>
          <a:ln w="38100">
            <a:solidFill>
              <a:srgbClr val="464646"/>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743545348"/>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Important Example">
    <p:spTree>
      <p:nvGrpSpPr>
        <p:cNvPr id="1" name=""/>
        <p:cNvGrpSpPr/>
        <p:nvPr/>
      </p:nvGrpSpPr>
      <p:grpSpPr>
        <a:xfrm>
          <a:off x="0" y="0"/>
          <a:ext cx="0" cy="0"/>
          <a:chOff x="0" y="0"/>
          <a:chExt cx="0" cy="0"/>
        </a:xfrm>
      </p:grpSpPr>
      <p:sp>
        <p:nvSpPr>
          <p:cNvPr id="9" name="Slide Number">
            <a:extLst>
              <a:ext uri="{FF2B5EF4-FFF2-40B4-BE49-F238E27FC236}">
                <a16:creationId xmlns:a16="http://schemas.microsoft.com/office/drawing/2014/main" id="{1865BF6B-7F07-4E9C-879F-80E36EEB3405}"/>
              </a:ext>
            </a:extLst>
          </p:cNvPr>
          <p:cNvSpPr>
            <a:spLocks noGrp="1"/>
          </p:cNvSpPr>
          <p:nvPr>
            <p:ph type="sldNum" sz="quarter" idx="4"/>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a:t>
            </a:fld>
            <a:endParaRPr lang="en-US" noProof="0" dirty="0"/>
          </a:p>
        </p:txBody>
      </p:sp>
      <p:sp>
        <p:nvSpPr>
          <p:cNvPr id="12" name="Rectangle Left">
            <a:extLst>
              <a:ext uri="{FF2B5EF4-FFF2-40B4-BE49-F238E27FC236}">
                <a16:creationId xmlns:a16="http://schemas.microsoft.com/office/drawing/2014/main" id="{345FB1C8-7F66-4D5C-ACCE-AE919936BCFD}"/>
              </a:ext>
            </a:extLst>
          </p:cNvPr>
          <p:cNvSpPr/>
          <p:nvPr/>
        </p:nvSpPr>
        <p:spPr>
          <a:xfrm>
            <a:off x="0" y="0"/>
            <a:ext cx="115383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dirty="0">
              <a:ln>
                <a:noFill/>
              </a:ln>
              <a:solidFill>
                <a:srgbClr val="F7C86D"/>
              </a:solidFill>
              <a:effectLst/>
              <a:uLnTx/>
              <a:uFillTx/>
              <a:latin typeface="Calibri" panose="020F0502020204030204"/>
              <a:ea typeface="맑은 고딕" panose="020B0503020000020004" pitchFamily="34" charset="-127"/>
              <a:cs typeface="+mn-cs"/>
            </a:endParaRPr>
          </a:p>
        </p:txBody>
      </p:sp>
      <p:sp>
        <p:nvSpPr>
          <p:cNvPr id="15" name="Slide Body Text">
            <a:extLst>
              <a:ext uri="{FF2B5EF4-FFF2-40B4-BE49-F238E27FC236}">
                <a16:creationId xmlns:a16="http://schemas.microsoft.com/office/drawing/2014/main" id="{6157C8DE-E0AF-422B-BBB1-F0AF1264B5E9}"/>
              </a:ext>
            </a:extLst>
          </p:cNvPr>
          <p:cNvSpPr>
            <a:spLocks noGrp="1"/>
          </p:cNvSpPr>
          <p:nvPr>
            <p:ph type="body" sz="quarter" idx="10"/>
          </p:nvPr>
        </p:nvSpPr>
        <p:spPr>
          <a:xfrm>
            <a:off x="1673561" y="1121143"/>
            <a:ext cx="10321675" cy="5546589"/>
          </a:xfrm>
        </p:spPr>
        <p:txBody>
          <a:bodyPr/>
          <a:lstStyle>
            <a:lvl1pPr latinLnBrk="0">
              <a:defRPr>
                <a:solidFill>
                  <a:schemeClr val="tx1"/>
                </a:solidFill>
              </a:defRPr>
            </a:lvl1pPr>
            <a:lvl2pPr latinLnBrk="0">
              <a:defRPr>
                <a:solidFill>
                  <a:schemeClr val="tx1"/>
                </a:solidFill>
              </a:defRPr>
            </a:lvl2pPr>
            <a:lvl3pPr latinLnBrk="0">
              <a:defRPr>
                <a:solidFill>
                  <a:schemeClr val="tx1"/>
                </a:solidFill>
              </a:defRPr>
            </a:lvl3pPr>
            <a:lvl4pPr latinLnBrk="0">
              <a:defRPr>
                <a:solidFill>
                  <a:schemeClr val="tx1"/>
                </a:solidFill>
              </a:defRPr>
            </a:lvl4pPr>
            <a:lvl5pPr latinLnBrk="0">
              <a:defRPr>
                <a:solidFill>
                  <a:schemeClr val="tx1"/>
                </a:solidFill>
              </a:defRPr>
            </a:lvl5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pic>
        <p:nvPicPr>
          <p:cNvPr id="16" name="Logo Software University" descr="Software University logo">
            <a:extLst>
              <a:ext uri="{FF2B5EF4-FFF2-40B4-BE49-F238E27FC236}">
                <a16:creationId xmlns:a16="http://schemas.microsoft.com/office/drawing/2014/main" id="{EFEBB553-EACE-4B4F-8B4F-7629FDD910A4}"/>
              </a:ext>
            </a:extLst>
          </p:cNvPr>
          <p:cNvPicPr>
            <a:picLocks noChangeAspect="1"/>
          </p:cNvPicPr>
          <p:nvPr userDrawn="1"/>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008761" y="190267"/>
            <a:ext cx="2013336" cy="690975"/>
          </a:xfrm>
          <a:prstGeom prst="rect">
            <a:avLst/>
          </a:prstGeom>
        </p:spPr>
      </p:pic>
      <p:sp>
        <p:nvSpPr>
          <p:cNvPr id="13" name="Slide Title">
            <a:extLst>
              <a:ext uri="{FF2B5EF4-FFF2-40B4-BE49-F238E27FC236}">
                <a16:creationId xmlns:a16="http://schemas.microsoft.com/office/drawing/2014/main" id="{0D5CC956-5C4A-44BE-8F8B-327FAFA51E97}"/>
              </a:ext>
            </a:extLst>
          </p:cNvPr>
          <p:cNvSpPr>
            <a:spLocks noGrp="1"/>
          </p:cNvSpPr>
          <p:nvPr>
            <p:ph type="title" hasCustomPrompt="1"/>
          </p:nvPr>
        </p:nvSpPr>
        <p:spPr>
          <a:xfrm>
            <a:off x="1296957" y="100750"/>
            <a:ext cx="8625520" cy="882654"/>
          </a:xfrm>
        </p:spPr>
        <p:txBody>
          <a:bodyPr/>
          <a:lstStyle>
            <a:lvl1pPr latinLnBrk="0">
              <a:defRPr/>
            </a:lvl1pPr>
          </a:lstStyle>
          <a:p>
            <a:r>
              <a:rPr lang="en-US" noProof="0" dirty="0"/>
              <a:t>Slide Title</a:t>
            </a:r>
          </a:p>
        </p:txBody>
      </p:sp>
      <p:grpSp>
        <p:nvGrpSpPr>
          <p:cNvPr id="33" name="Group 32">
            <a:extLst>
              <a:ext uri="{FF2B5EF4-FFF2-40B4-BE49-F238E27FC236}">
                <a16:creationId xmlns:a16="http://schemas.microsoft.com/office/drawing/2014/main" id="{7CF60135-47AA-48F0-96BA-0E795668ABDB}"/>
              </a:ext>
            </a:extLst>
          </p:cNvPr>
          <p:cNvGrpSpPr/>
          <p:nvPr userDrawn="1"/>
        </p:nvGrpSpPr>
        <p:grpSpPr>
          <a:xfrm>
            <a:off x="392806" y="3429000"/>
            <a:ext cx="1522048" cy="2411973"/>
            <a:chOff x="3928039" y="1792355"/>
            <a:chExt cx="1830304" cy="2900460"/>
          </a:xfrm>
        </p:grpSpPr>
        <p:grpSp>
          <p:nvGrpSpPr>
            <p:cNvPr id="34" name="Group 33">
              <a:extLst>
                <a:ext uri="{FF2B5EF4-FFF2-40B4-BE49-F238E27FC236}">
                  <a16:creationId xmlns:a16="http://schemas.microsoft.com/office/drawing/2014/main" id="{2823380E-3936-41AF-BDF7-DA54D75BBF6B}"/>
                </a:ext>
              </a:extLst>
            </p:cNvPr>
            <p:cNvGrpSpPr/>
            <p:nvPr/>
          </p:nvGrpSpPr>
          <p:grpSpPr>
            <a:xfrm>
              <a:off x="3928039" y="1792355"/>
              <a:ext cx="1830304" cy="2206534"/>
              <a:chOff x="3216839" y="2404072"/>
              <a:chExt cx="1830304" cy="2206534"/>
            </a:xfrm>
          </p:grpSpPr>
          <p:sp>
            <p:nvSpPr>
              <p:cNvPr id="47" name="Oval 46">
                <a:extLst>
                  <a:ext uri="{FF2B5EF4-FFF2-40B4-BE49-F238E27FC236}">
                    <a16:creationId xmlns:a16="http://schemas.microsoft.com/office/drawing/2014/main" id="{52B047D9-D8DD-45C7-9BC8-6D4F682F5182}"/>
                  </a:ext>
                </a:extLst>
              </p:cNvPr>
              <p:cNvSpPr/>
              <p:nvPr/>
            </p:nvSpPr>
            <p:spPr>
              <a:xfrm>
                <a:off x="3216839" y="2404072"/>
                <a:ext cx="1830304" cy="1830304"/>
              </a:xfrm>
              <a:prstGeom prst="ellipse">
                <a:avLst/>
              </a:prstGeom>
              <a:solidFill>
                <a:srgbClr val="F2A4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48" name="Rectangle 5">
                <a:extLst>
                  <a:ext uri="{FF2B5EF4-FFF2-40B4-BE49-F238E27FC236}">
                    <a16:creationId xmlns:a16="http://schemas.microsoft.com/office/drawing/2014/main" id="{4D84FE51-BD8E-47EA-9463-CE02FEA31766}"/>
                  </a:ext>
                </a:extLst>
              </p:cNvPr>
              <p:cNvSpPr/>
              <p:nvPr/>
            </p:nvSpPr>
            <p:spPr>
              <a:xfrm>
                <a:off x="3699615" y="3807346"/>
                <a:ext cx="1143001" cy="803260"/>
              </a:xfrm>
              <a:custGeom>
                <a:avLst/>
                <a:gdLst>
                  <a:gd name="connsiteX0" fmla="*/ 0 w 876300"/>
                  <a:gd name="connsiteY0" fmla="*/ 0 h 787400"/>
                  <a:gd name="connsiteX1" fmla="*/ 876300 w 876300"/>
                  <a:gd name="connsiteY1" fmla="*/ 0 h 787400"/>
                  <a:gd name="connsiteX2" fmla="*/ 876300 w 876300"/>
                  <a:gd name="connsiteY2" fmla="*/ 787400 h 787400"/>
                  <a:gd name="connsiteX3" fmla="*/ 0 w 876300"/>
                  <a:gd name="connsiteY3" fmla="*/ 787400 h 787400"/>
                  <a:gd name="connsiteX4" fmla="*/ 0 w 876300"/>
                  <a:gd name="connsiteY4" fmla="*/ 0 h 787400"/>
                  <a:gd name="connsiteX0" fmla="*/ 0 w 876300"/>
                  <a:gd name="connsiteY0" fmla="*/ 0 h 787400"/>
                  <a:gd name="connsiteX1" fmla="*/ 876300 w 876300"/>
                  <a:gd name="connsiteY1" fmla="*/ 0 h 787400"/>
                  <a:gd name="connsiteX2" fmla="*/ 876300 w 876300"/>
                  <a:gd name="connsiteY2" fmla="*/ 787400 h 787400"/>
                  <a:gd name="connsiteX3" fmla="*/ 0 w 876300"/>
                  <a:gd name="connsiteY3" fmla="*/ 787400 h 787400"/>
                  <a:gd name="connsiteX4" fmla="*/ 0 w 876300"/>
                  <a:gd name="connsiteY4" fmla="*/ 0 h 787400"/>
                  <a:gd name="connsiteX0" fmla="*/ 0 w 876300"/>
                  <a:gd name="connsiteY0" fmla="*/ 0 h 787400"/>
                  <a:gd name="connsiteX1" fmla="*/ 876300 w 876300"/>
                  <a:gd name="connsiteY1" fmla="*/ 0 h 787400"/>
                  <a:gd name="connsiteX2" fmla="*/ 876300 w 876300"/>
                  <a:gd name="connsiteY2" fmla="*/ 787400 h 787400"/>
                  <a:gd name="connsiteX3" fmla="*/ 0 w 876300"/>
                  <a:gd name="connsiteY3" fmla="*/ 787400 h 787400"/>
                  <a:gd name="connsiteX4" fmla="*/ 0 w 876300"/>
                  <a:gd name="connsiteY4" fmla="*/ 0 h 787400"/>
                  <a:gd name="connsiteX0" fmla="*/ 0 w 1130300"/>
                  <a:gd name="connsiteY0" fmla="*/ 0 h 787400"/>
                  <a:gd name="connsiteX1" fmla="*/ 1130300 w 1130300"/>
                  <a:gd name="connsiteY1" fmla="*/ 50800 h 787400"/>
                  <a:gd name="connsiteX2" fmla="*/ 876300 w 1130300"/>
                  <a:gd name="connsiteY2" fmla="*/ 787400 h 787400"/>
                  <a:gd name="connsiteX3" fmla="*/ 0 w 1130300"/>
                  <a:gd name="connsiteY3" fmla="*/ 787400 h 787400"/>
                  <a:gd name="connsiteX4" fmla="*/ 0 w 1130300"/>
                  <a:gd name="connsiteY4" fmla="*/ 0 h 787400"/>
                  <a:gd name="connsiteX0" fmla="*/ 0 w 1136650"/>
                  <a:gd name="connsiteY0" fmla="*/ 0 h 787400"/>
                  <a:gd name="connsiteX1" fmla="*/ 1136650 w 1136650"/>
                  <a:gd name="connsiteY1" fmla="*/ 38100 h 787400"/>
                  <a:gd name="connsiteX2" fmla="*/ 876300 w 1136650"/>
                  <a:gd name="connsiteY2" fmla="*/ 787400 h 787400"/>
                  <a:gd name="connsiteX3" fmla="*/ 0 w 1136650"/>
                  <a:gd name="connsiteY3" fmla="*/ 787400 h 787400"/>
                  <a:gd name="connsiteX4" fmla="*/ 0 w 1136650"/>
                  <a:gd name="connsiteY4" fmla="*/ 0 h 787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6650" h="787400">
                    <a:moveTo>
                      <a:pt x="0" y="0"/>
                    </a:moveTo>
                    <a:lnTo>
                      <a:pt x="1136650" y="38100"/>
                    </a:lnTo>
                    <a:cubicBezTo>
                      <a:pt x="920750" y="376767"/>
                      <a:pt x="876300" y="524933"/>
                      <a:pt x="876300" y="787400"/>
                    </a:cubicBezTo>
                    <a:lnTo>
                      <a:pt x="0" y="787400"/>
                    </a:lnTo>
                    <a:lnTo>
                      <a:pt x="0" y="0"/>
                    </a:lnTo>
                    <a:close/>
                  </a:path>
                </a:pathLst>
              </a:custGeom>
              <a:solidFill>
                <a:srgbClr val="F2A4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dirty="0"/>
              </a:p>
            </p:txBody>
          </p:sp>
          <p:sp>
            <p:nvSpPr>
              <p:cNvPr id="49" name="Rectangle 5">
                <a:extLst>
                  <a:ext uri="{FF2B5EF4-FFF2-40B4-BE49-F238E27FC236}">
                    <a16:creationId xmlns:a16="http://schemas.microsoft.com/office/drawing/2014/main" id="{F5C8F037-C197-4219-AC87-3A81763512BC}"/>
                  </a:ext>
                </a:extLst>
              </p:cNvPr>
              <p:cNvSpPr/>
              <p:nvPr/>
            </p:nvSpPr>
            <p:spPr>
              <a:xfrm flipH="1">
                <a:off x="3426570" y="3807347"/>
                <a:ext cx="1143000" cy="803259"/>
              </a:xfrm>
              <a:custGeom>
                <a:avLst/>
                <a:gdLst>
                  <a:gd name="connsiteX0" fmla="*/ 0 w 876300"/>
                  <a:gd name="connsiteY0" fmla="*/ 0 h 787400"/>
                  <a:gd name="connsiteX1" fmla="*/ 876300 w 876300"/>
                  <a:gd name="connsiteY1" fmla="*/ 0 h 787400"/>
                  <a:gd name="connsiteX2" fmla="*/ 876300 w 876300"/>
                  <a:gd name="connsiteY2" fmla="*/ 787400 h 787400"/>
                  <a:gd name="connsiteX3" fmla="*/ 0 w 876300"/>
                  <a:gd name="connsiteY3" fmla="*/ 787400 h 787400"/>
                  <a:gd name="connsiteX4" fmla="*/ 0 w 876300"/>
                  <a:gd name="connsiteY4" fmla="*/ 0 h 787400"/>
                  <a:gd name="connsiteX0" fmla="*/ 0 w 876300"/>
                  <a:gd name="connsiteY0" fmla="*/ 0 h 787400"/>
                  <a:gd name="connsiteX1" fmla="*/ 876300 w 876300"/>
                  <a:gd name="connsiteY1" fmla="*/ 0 h 787400"/>
                  <a:gd name="connsiteX2" fmla="*/ 876300 w 876300"/>
                  <a:gd name="connsiteY2" fmla="*/ 787400 h 787400"/>
                  <a:gd name="connsiteX3" fmla="*/ 0 w 876300"/>
                  <a:gd name="connsiteY3" fmla="*/ 787400 h 787400"/>
                  <a:gd name="connsiteX4" fmla="*/ 0 w 876300"/>
                  <a:gd name="connsiteY4" fmla="*/ 0 h 787400"/>
                  <a:gd name="connsiteX0" fmla="*/ 0 w 876300"/>
                  <a:gd name="connsiteY0" fmla="*/ 0 h 787400"/>
                  <a:gd name="connsiteX1" fmla="*/ 876300 w 876300"/>
                  <a:gd name="connsiteY1" fmla="*/ 0 h 787400"/>
                  <a:gd name="connsiteX2" fmla="*/ 876300 w 876300"/>
                  <a:gd name="connsiteY2" fmla="*/ 787400 h 787400"/>
                  <a:gd name="connsiteX3" fmla="*/ 0 w 876300"/>
                  <a:gd name="connsiteY3" fmla="*/ 787400 h 787400"/>
                  <a:gd name="connsiteX4" fmla="*/ 0 w 876300"/>
                  <a:gd name="connsiteY4" fmla="*/ 0 h 787400"/>
                  <a:gd name="connsiteX0" fmla="*/ 0 w 1130300"/>
                  <a:gd name="connsiteY0" fmla="*/ 0 h 787400"/>
                  <a:gd name="connsiteX1" fmla="*/ 1130300 w 1130300"/>
                  <a:gd name="connsiteY1" fmla="*/ 50800 h 787400"/>
                  <a:gd name="connsiteX2" fmla="*/ 876300 w 1130300"/>
                  <a:gd name="connsiteY2" fmla="*/ 787400 h 787400"/>
                  <a:gd name="connsiteX3" fmla="*/ 0 w 1130300"/>
                  <a:gd name="connsiteY3" fmla="*/ 787400 h 787400"/>
                  <a:gd name="connsiteX4" fmla="*/ 0 w 1130300"/>
                  <a:gd name="connsiteY4" fmla="*/ 0 h 787400"/>
                  <a:gd name="connsiteX0" fmla="*/ 0 w 1136650"/>
                  <a:gd name="connsiteY0" fmla="*/ 0 h 787400"/>
                  <a:gd name="connsiteX1" fmla="*/ 1136650 w 1136650"/>
                  <a:gd name="connsiteY1" fmla="*/ 38100 h 787400"/>
                  <a:gd name="connsiteX2" fmla="*/ 876300 w 1136650"/>
                  <a:gd name="connsiteY2" fmla="*/ 787400 h 787400"/>
                  <a:gd name="connsiteX3" fmla="*/ 0 w 1136650"/>
                  <a:gd name="connsiteY3" fmla="*/ 787400 h 787400"/>
                  <a:gd name="connsiteX4" fmla="*/ 0 w 1136650"/>
                  <a:gd name="connsiteY4" fmla="*/ 0 h 787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6650" h="787400">
                    <a:moveTo>
                      <a:pt x="0" y="0"/>
                    </a:moveTo>
                    <a:lnTo>
                      <a:pt x="1136650" y="38100"/>
                    </a:lnTo>
                    <a:cubicBezTo>
                      <a:pt x="920750" y="376767"/>
                      <a:pt x="876300" y="524933"/>
                      <a:pt x="876300" y="787400"/>
                    </a:cubicBezTo>
                    <a:lnTo>
                      <a:pt x="0" y="787400"/>
                    </a:lnTo>
                    <a:lnTo>
                      <a:pt x="0" y="0"/>
                    </a:lnTo>
                    <a:close/>
                  </a:path>
                </a:pathLst>
              </a:custGeom>
              <a:solidFill>
                <a:srgbClr val="F2A4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dirty="0"/>
              </a:p>
            </p:txBody>
          </p:sp>
          <p:sp>
            <p:nvSpPr>
              <p:cNvPr id="50" name="Arc 49">
                <a:extLst>
                  <a:ext uri="{FF2B5EF4-FFF2-40B4-BE49-F238E27FC236}">
                    <a16:creationId xmlns:a16="http://schemas.microsoft.com/office/drawing/2014/main" id="{786EE401-CF8E-439B-94A0-EE6F3A7D5798}"/>
                  </a:ext>
                </a:extLst>
              </p:cNvPr>
              <p:cNvSpPr/>
              <p:nvPr/>
            </p:nvSpPr>
            <p:spPr>
              <a:xfrm>
                <a:off x="3454111" y="2482850"/>
                <a:ext cx="1504950" cy="1504950"/>
              </a:xfrm>
              <a:prstGeom prst="arc">
                <a:avLst>
                  <a:gd name="adj1" fmla="val 18068338"/>
                  <a:gd name="adj2" fmla="val 0"/>
                </a:avLst>
              </a:prstGeom>
              <a:ln w="38100" cap="rnd">
                <a:solidFill>
                  <a:schemeClr val="bg2"/>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bg-BG">
                  <a:ln w="57150">
                    <a:solidFill>
                      <a:schemeClr val="tx1"/>
                    </a:solidFill>
                  </a:ln>
                </a:endParaRPr>
              </a:p>
            </p:txBody>
          </p:sp>
          <p:sp>
            <p:nvSpPr>
              <p:cNvPr id="51" name="Arc 50">
                <a:extLst>
                  <a:ext uri="{FF2B5EF4-FFF2-40B4-BE49-F238E27FC236}">
                    <a16:creationId xmlns:a16="http://schemas.microsoft.com/office/drawing/2014/main" id="{8D9ACD38-B3EB-4A63-9730-CBF0501BF235}"/>
                  </a:ext>
                </a:extLst>
              </p:cNvPr>
              <p:cNvSpPr/>
              <p:nvPr/>
            </p:nvSpPr>
            <p:spPr>
              <a:xfrm>
                <a:off x="3454111" y="2482849"/>
                <a:ext cx="1504950" cy="1504950"/>
              </a:xfrm>
              <a:prstGeom prst="arc">
                <a:avLst>
                  <a:gd name="adj1" fmla="val 17518504"/>
                  <a:gd name="adj2" fmla="val 17709817"/>
                </a:avLst>
              </a:prstGeom>
              <a:ln w="38100" cap="rnd">
                <a:solidFill>
                  <a:schemeClr val="bg2"/>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bg-BG">
                  <a:ln w="57150">
                    <a:solidFill>
                      <a:schemeClr val="tx1"/>
                    </a:solidFill>
                  </a:ln>
                </a:endParaRPr>
              </a:p>
            </p:txBody>
          </p:sp>
        </p:grpSp>
        <p:sp>
          <p:nvSpPr>
            <p:cNvPr id="35" name="Rectangle: Rounded Corners 34">
              <a:extLst>
                <a:ext uri="{FF2B5EF4-FFF2-40B4-BE49-F238E27FC236}">
                  <a16:creationId xmlns:a16="http://schemas.microsoft.com/office/drawing/2014/main" id="{64EE493E-A353-4C75-A3B9-D48ABA2C57CC}"/>
                </a:ext>
              </a:extLst>
            </p:cNvPr>
            <p:cNvSpPr/>
            <p:nvPr/>
          </p:nvSpPr>
          <p:spPr>
            <a:xfrm>
              <a:off x="4400007" y="4324162"/>
              <a:ext cx="886369" cy="150698"/>
            </a:xfrm>
            <a:prstGeom prst="roundRect">
              <a:avLst/>
            </a:prstGeom>
            <a:solidFill>
              <a:srgbClr val="F2A40D"/>
            </a:solidFill>
            <a:ln w="38100">
              <a:solidFill>
                <a:srgbClr val="4646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36" name="Rectangle: Rounded Corners 35">
              <a:extLst>
                <a:ext uri="{FF2B5EF4-FFF2-40B4-BE49-F238E27FC236}">
                  <a16:creationId xmlns:a16="http://schemas.microsoft.com/office/drawing/2014/main" id="{718408B9-204E-42E3-9E79-33E047E869BC}"/>
                </a:ext>
              </a:extLst>
            </p:cNvPr>
            <p:cNvSpPr/>
            <p:nvPr/>
          </p:nvSpPr>
          <p:spPr>
            <a:xfrm>
              <a:off x="4533357" y="4542116"/>
              <a:ext cx="619670" cy="150699"/>
            </a:xfrm>
            <a:prstGeom prst="roundRect">
              <a:avLst/>
            </a:prstGeom>
            <a:solidFill>
              <a:srgbClr val="F2A40D"/>
            </a:solidFill>
            <a:ln w="38100">
              <a:solidFill>
                <a:srgbClr val="464646"/>
              </a:solidFill>
            </a:ln>
            <a:effectLst>
              <a:outerShdw blurRad="152400" dist="381000" dir="5400000" sx="70000" sy="70000"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cxnSp>
          <p:nvCxnSpPr>
            <p:cNvPr id="37" name="Straight Connector 36">
              <a:extLst>
                <a:ext uri="{FF2B5EF4-FFF2-40B4-BE49-F238E27FC236}">
                  <a16:creationId xmlns:a16="http://schemas.microsoft.com/office/drawing/2014/main" id="{0AB66D97-DF6F-4CD2-AF13-42B5C852F673}"/>
                </a:ext>
              </a:extLst>
            </p:cNvPr>
            <p:cNvCxnSpPr>
              <a:cxnSpLocks/>
            </p:cNvCxnSpPr>
            <p:nvPr/>
          </p:nvCxnSpPr>
          <p:spPr>
            <a:xfrm flipH="1" flipV="1">
              <a:off x="4472677" y="2844800"/>
              <a:ext cx="161562" cy="1164292"/>
            </a:xfrm>
            <a:prstGeom prst="line">
              <a:avLst/>
            </a:prstGeom>
            <a:solidFill>
              <a:srgbClr val="464646"/>
            </a:solidFill>
            <a:ln w="38100">
              <a:solidFill>
                <a:srgbClr val="464646"/>
              </a:solidFill>
            </a:ln>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F2AFBA69-C196-4703-8AAB-5F72A8EDCEB5}"/>
                </a:ext>
              </a:extLst>
            </p:cNvPr>
            <p:cNvCxnSpPr>
              <a:cxnSpLocks/>
            </p:cNvCxnSpPr>
            <p:nvPr/>
          </p:nvCxnSpPr>
          <p:spPr>
            <a:xfrm flipH="1">
              <a:off x="4578548" y="3618567"/>
              <a:ext cx="528128" cy="0"/>
            </a:xfrm>
            <a:prstGeom prst="line">
              <a:avLst/>
            </a:prstGeom>
            <a:solidFill>
              <a:srgbClr val="464646"/>
            </a:solidFill>
            <a:ln w="38100">
              <a:solidFill>
                <a:srgbClr val="464646"/>
              </a:solidFill>
            </a:ln>
          </p:spPr>
          <p:style>
            <a:lnRef idx="1">
              <a:schemeClr val="dk1"/>
            </a:lnRef>
            <a:fillRef idx="0">
              <a:schemeClr val="dk1"/>
            </a:fillRef>
            <a:effectRef idx="0">
              <a:schemeClr val="dk1"/>
            </a:effectRef>
            <a:fontRef idx="minor">
              <a:schemeClr val="tx1"/>
            </a:fontRef>
          </p:style>
        </p:cxnSp>
        <p:grpSp>
          <p:nvGrpSpPr>
            <p:cNvPr id="39" name="Group 38">
              <a:extLst>
                <a:ext uri="{FF2B5EF4-FFF2-40B4-BE49-F238E27FC236}">
                  <a16:creationId xmlns:a16="http://schemas.microsoft.com/office/drawing/2014/main" id="{9AFC66C1-0C1C-4332-9C4E-782574C896B8}"/>
                </a:ext>
              </a:extLst>
            </p:cNvPr>
            <p:cNvGrpSpPr/>
            <p:nvPr/>
          </p:nvGrpSpPr>
          <p:grpSpPr>
            <a:xfrm>
              <a:off x="4203288" y="2479090"/>
              <a:ext cx="436874" cy="448528"/>
              <a:chOff x="2320288" y="2903541"/>
              <a:chExt cx="332555" cy="302680"/>
            </a:xfrm>
            <a:solidFill>
              <a:srgbClr val="464646"/>
            </a:solidFill>
          </p:grpSpPr>
          <p:cxnSp>
            <p:nvCxnSpPr>
              <p:cNvPr id="45" name="Straight Connector 44">
                <a:extLst>
                  <a:ext uri="{FF2B5EF4-FFF2-40B4-BE49-F238E27FC236}">
                    <a16:creationId xmlns:a16="http://schemas.microsoft.com/office/drawing/2014/main" id="{872CA8AD-EAF6-40BE-9DDE-ECDB4A980CA5}"/>
                  </a:ext>
                </a:extLst>
              </p:cNvPr>
              <p:cNvCxnSpPr>
                <a:cxnSpLocks/>
              </p:cNvCxnSpPr>
              <p:nvPr/>
            </p:nvCxnSpPr>
            <p:spPr>
              <a:xfrm flipH="1" flipV="1">
                <a:off x="2321560" y="3054881"/>
                <a:ext cx="331283" cy="151340"/>
              </a:xfrm>
              <a:prstGeom prst="line">
                <a:avLst/>
              </a:prstGeom>
              <a:grpFill/>
              <a:ln w="38100" cap="rnd">
                <a:solidFill>
                  <a:srgbClr val="464646"/>
                </a:solidFill>
              </a:ln>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57DD3EC7-1A13-4AFE-BD6F-DA12C281FAFB}"/>
                  </a:ext>
                </a:extLst>
              </p:cNvPr>
              <p:cNvCxnSpPr>
                <a:cxnSpLocks/>
              </p:cNvCxnSpPr>
              <p:nvPr/>
            </p:nvCxnSpPr>
            <p:spPr>
              <a:xfrm flipH="1">
                <a:off x="2320288" y="2903541"/>
                <a:ext cx="331283" cy="151340"/>
              </a:xfrm>
              <a:prstGeom prst="line">
                <a:avLst/>
              </a:prstGeom>
              <a:grpFill/>
              <a:ln w="38100" cap="rnd">
                <a:solidFill>
                  <a:srgbClr val="464646"/>
                </a:solidFill>
              </a:ln>
            </p:spPr>
            <p:style>
              <a:lnRef idx="1">
                <a:schemeClr val="dk1"/>
              </a:lnRef>
              <a:fillRef idx="0">
                <a:schemeClr val="dk1"/>
              </a:fillRef>
              <a:effectRef idx="0">
                <a:schemeClr val="dk1"/>
              </a:effectRef>
              <a:fontRef idx="minor">
                <a:schemeClr val="tx1"/>
              </a:fontRef>
            </p:style>
          </p:cxnSp>
        </p:grpSp>
        <p:cxnSp>
          <p:nvCxnSpPr>
            <p:cNvPr id="40" name="Straight Connector 39">
              <a:extLst>
                <a:ext uri="{FF2B5EF4-FFF2-40B4-BE49-F238E27FC236}">
                  <a16:creationId xmlns:a16="http://schemas.microsoft.com/office/drawing/2014/main" id="{E46151FA-19E9-4E84-A082-EDAC6F76EA9D}"/>
                </a:ext>
              </a:extLst>
            </p:cNvPr>
            <p:cNvCxnSpPr>
              <a:cxnSpLocks/>
            </p:cNvCxnSpPr>
            <p:nvPr/>
          </p:nvCxnSpPr>
          <p:spPr>
            <a:xfrm flipV="1">
              <a:off x="5048904" y="2844800"/>
              <a:ext cx="142425" cy="1164292"/>
            </a:xfrm>
            <a:prstGeom prst="line">
              <a:avLst/>
            </a:prstGeom>
            <a:solidFill>
              <a:srgbClr val="464646"/>
            </a:solidFill>
            <a:ln w="38100">
              <a:solidFill>
                <a:srgbClr val="464646"/>
              </a:solidFill>
            </a:ln>
          </p:spPr>
          <p:style>
            <a:lnRef idx="1">
              <a:schemeClr val="dk1"/>
            </a:lnRef>
            <a:fillRef idx="0">
              <a:schemeClr val="dk1"/>
            </a:fillRef>
            <a:effectRef idx="0">
              <a:schemeClr val="dk1"/>
            </a:effectRef>
            <a:fontRef idx="minor">
              <a:schemeClr val="tx1"/>
            </a:fontRef>
          </p:style>
        </p:cxnSp>
        <p:sp>
          <p:nvSpPr>
            <p:cNvPr id="41" name="Rectangle: Rounded Corners 40">
              <a:extLst>
                <a:ext uri="{FF2B5EF4-FFF2-40B4-BE49-F238E27FC236}">
                  <a16:creationId xmlns:a16="http://schemas.microsoft.com/office/drawing/2014/main" id="{3423EEF0-5B70-4091-B2DA-0740D2609643}"/>
                </a:ext>
              </a:extLst>
            </p:cNvPr>
            <p:cNvSpPr/>
            <p:nvPr/>
          </p:nvSpPr>
          <p:spPr>
            <a:xfrm>
              <a:off x="4355556" y="4106208"/>
              <a:ext cx="975271" cy="150698"/>
            </a:xfrm>
            <a:prstGeom prst="roundRect">
              <a:avLst/>
            </a:prstGeom>
            <a:solidFill>
              <a:srgbClr val="F2A40D"/>
            </a:solidFill>
            <a:ln w="38100">
              <a:solidFill>
                <a:srgbClr val="4646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grpSp>
          <p:nvGrpSpPr>
            <p:cNvPr id="42" name="Group 41">
              <a:extLst>
                <a:ext uri="{FF2B5EF4-FFF2-40B4-BE49-F238E27FC236}">
                  <a16:creationId xmlns:a16="http://schemas.microsoft.com/office/drawing/2014/main" id="{49A8AAA7-98E7-4224-B027-830FFCC285A3}"/>
                </a:ext>
              </a:extLst>
            </p:cNvPr>
            <p:cNvGrpSpPr/>
            <p:nvPr/>
          </p:nvGrpSpPr>
          <p:grpSpPr>
            <a:xfrm flipH="1">
              <a:off x="5035162" y="2479090"/>
              <a:ext cx="436872" cy="448528"/>
              <a:chOff x="2320288" y="2903541"/>
              <a:chExt cx="332555" cy="302680"/>
            </a:xfrm>
            <a:solidFill>
              <a:srgbClr val="464646"/>
            </a:solidFill>
          </p:grpSpPr>
          <p:cxnSp>
            <p:nvCxnSpPr>
              <p:cNvPr id="43" name="Straight Connector 42">
                <a:extLst>
                  <a:ext uri="{FF2B5EF4-FFF2-40B4-BE49-F238E27FC236}">
                    <a16:creationId xmlns:a16="http://schemas.microsoft.com/office/drawing/2014/main" id="{2129EC38-471E-4685-973E-BA7A7F567C42}"/>
                  </a:ext>
                </a:extLst>
              </p:cNvPr>
              <p:cNvCxnSpPr>
                <a:cxnSpLocks/>
              </p:cNvCxnSpPr>
              <p:nvPr/>
            </p:nvCxnSpPr>
            <p:spPr>
              <a:xfrm flipH="1" flipV="1">
                <a:off x="2321560" y="3054881"/>
                <a:ext cx="331283" cy="151340"/>
              </a:xfrm>
              <a:prstGeom prst="line">
                <a:avLst/>
              </a:prstGeom>
              <a:grpFill/>
              <a:ln w="38100" cap="rnd">
                <a:solidFill>
                  <a:srgbClr val="464646"/>
                </a:solidFill>
              </a:ln>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678142BE-84C9-4834-B6CC-6623E401661C}"/>
                  </a:ext>
                </a:extLst>
              </p:cNvPr>
              <p:cNvCxnSpPr>
                <a:cxnSpLocks/>
              </p:cNvCxnSpPr>
              <p:nvPr/>
            </p:nvCxnSpPr>
            <p:spPr>
              <a:xfrm flipH="1">
                <a:off x="2320288" y="2903541"/>
                <a:ext cx="331283" cy="151340"/>
              </a:xfrm>
              <a:prstGeom prst="line">
                <a:avLst/>
              </a:prstGeom>
              <a:grpFill/>
              <a:ln w="38100" cap="rnd">
                <a:solidFill>
                  <a:srgbClr val="464646"/>
                </a:solidFill>
              </a:ln>
            </p:spPr>
            <p:style>
              <a:lnRef idx="1">
                <a:schemeClr val="dk1"/>
              </a:lnRef>
              <a:fillRef idx="0">
                <a:schemeClr val="dk1"/>
              </a:fillRef>
              <a:effectRef idx="0">
                <a:schemeClr val="dk1"/>
              </a:effectRef>
              <a:fontRef idx="minor">
                <a:schemeClr val="tx1"/>
              </a:fontRef>
            </p:style>
          </p:cxnSp>
        </p:grpSp>
      </p:grpSp>
    </p:spTree>
    <p:extLst>
      <p:ext uri="{BB962C8B-B14F-4D97-AF65-F5344CB8AC3E}">
        <p14:creationId xmlns:p14="http://schemas.microsoft.com/office/powerpoint/2010/main" val="1679651758"/>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5" name="Slide Number">
            <a:extLst>
              <a:ext uri="{FF2B5EF4-FFF2-40B4-BE49-F238E27FC236}">
                <a16:creationId xmlns:a16="http://schemas.microsoft.com/office/drawing/2014/main" id="{F0B8C963-1813-4B69-AD27-6D02EBBBB569}"/>
              </a:ext>
            </a:extLst>
          </p:cNvPr>
          <p:cNvSpPr>
            <a:spLocks noGrp="1"/>
          </p:cNvSpPr>
          <p:nvPr>
            <p:ph type="sldNum" sz="quarter" idx="4"/>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a:t>
            </a:fld>
            <a:endParaRPr lang="en-US" noProof="0" dirty="0"/>
          </a:p>
        </p:txBody>
      </p:sp>
      <p:sp>
        <p:nvSpPr>
          <p:cNvPr id="3" name="Rectangle Left">
            <a:extLst>
              <a:ext uri="{FF2B5EF4-FFF2-40B4-BE49-F238E27FC236}">
                <a16:creationId xmlns:a16="http://schemas.microsoft.com/office/drawing/2014/main" id="{345FB1C8-7F66-4D5C-ACCE-AE919936BCFD}"/>
              </a:ext>
            </a:extLst>
          </p:cNvPr>
          <p:cNvSpPr/>
          <p:nvPr userDrawn="1"/>
        </p:nvSpPr>
        <p:spPr>
          <a:xfrm>
            <a:off x="0" y="0"/>
            <a:ext cx="429471"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1"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dirty="0">
              <a:ln>
                <a:noFill/>
              </a:ln>
              <a:solidFill>
                <a:srgbClr val="F7C86D"/>
              </a:solidFill>
              <a:effectLst/>
              <a:uLnTx/>
              <a:uFillTx/>
              <a:latin typeface="Calibri" panose="020F0502020204030204"/>
              <a:ea typeface="맑은 고딕" panose="020B0503020000020004" pitchFamily="34" charset="-127"/>
              <a:cs typeface="+mn-cs"/>
            </a:endParaRPr>
          </a:p>
        </p:txBody>
      </p:sp>
      <p:sp>
        <p:nvSpPr>
          <p:cNvPr id="7" name="Slide Body Text">
            <a:extLst>
              <a:ext uri="{FF2B5EF4-FFF2-40B4-BE49-F238E27FC236}">
                <a16:creationId xmlns:a16="http://schemas.microsoft.com/office/drawing/2014/main" id="{7296EDA7-D37D-4B31-A888-371F0804124F}"/>
              </a:ext>
            </a:extLst>
          </p:cNvPr>
          <p:cNvSpPr>
            <a:spLocks noGrp="1"/>
          </p:cNvSpPr>
          <p:nvPr>
            <p:ph type="body" sz="quarter" idx="10"/>
          </p:nvPr>
        </p:nvSpPr>
        <p:spPr>
          <a:xfrm>
            <a:off x="585176" y="1121143"/>
            <a:ext cx="11410061" cy="5546589"/>
          </a:xfrm>
        </p:spPr>
        <p:txBody>
          <a:bodyPr/>
          <a:lstStyle>
            <a:lvl1pPr latinLnBrk="0">
              <a:defRPr>
                <a:solidFill>
                  <a:schemeClr val="tx1"/>
                </a:solidFill>
              </a:defRPr>
            </a:lvl1pPr>
            <a:lvl2pPr latinLnBrk="0">
              <a:defRPr>
                <a:solidFill>
                  <a:schemeClr val="tx1"/>
                </a:solidFill>
              </a:defRPr>
            </a:lvl2pPr>
            <a:lvl3pPr latinLnBrk="0">
              <a:defRPr>
                <a:solidFill>
                  <a:schemeClr val="tx1"/>
                </a:solidFill>
              </a:defRPr>
            </a:lvl3pPr>
            <a:lvl4pPr latinLnBrk="0">
              <a:defRPr>
                <a:solidFill>
                  <a:schemeClr val="tx1"/>
                </a:solidFill>
              </a:defRPr>
            </a:lvl4pPr>
            <a:lvl5pPr latinLnBrk="0">
              <a:defRPr>
                <a:solidFill>
                  <a:schemeClr val="tx1"/>
                </a:solidFill>
              </a:defRPr>
            </a:lvl5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Slide Title">
            <a:extLst>
              <a:ext uri="{FF2B5EF4-FFF2-40B4-BE49-F238E27FC236}">
                <a16:creationId xmlns:a16="http://schemas.microsoft.com/office/drawing/2014/main" id="{55A88B09-3557-48A3-BF27-42699C269215}"/>
              </a:ext>
            </a:extLst>
          </p:cNvPr>
          <p:cNvSpPr>
            <a:spLocks noGrp="1"/>
          </p:cNvSpPr>
          <p:nvPr>
            <p:ph type="title" hasCustomPrompt="1"/>
          </p:nvPr>
        </p:nvSpPr>
        <p:spPr>
          <a:xfrm>
            <a:off x="585176" y="100750"/>
            <a:ext cx="11410061" cy="882654"/>
          </a:xfrm>
        </p:spPr>
        <p:txBody>
          <a:bodyPr/>
          <a:lstStyle>
            <a:lvl1pPr latinLnBrk="0">
              <a:defRPr/>
            </a:lvl1pPr>
          </a:lstStyle>
          <a:p>
            <a:r>
              <a:rPr lang="en-US" noProof="0" dirty="0"/>
              <a:t>Slide Title</a:t>
            </a:r>
          </a:p>
        </p:txBody>
      </p:sp>
      <p:grpSp>
        <p:nvGrpSpPr>
          <p:cNvPr id="28" name="Group 27">
            <a:extLst>
              <a:ext uri="{FF2B5EF4-FFF2-40B4-BE49-F238E27FC236}">
                <a16:creationId xmlns:a16="http://schemas.microsoft.com/office/drawing/2014/main" id="{C4248838-4E67-439E-AE0A-0043D2CB04D6}"/>
              </a:ext>
            </a:extLst>
          </p:cNvPr>
          <p:cNvGrpSpPr/>
          <p:nvPr userDrawn="1"/>
        </p:nvGrpSpPr>
        <p:grpSpPr>
          <a:xfrm>
            <a:off x="108596" y="5591709"/>
            <a:ext cx="641749" cy="1016973"/>
            <a:chOff x="3928039" y="1792355"/>
            <a:chExt cx="1830304" cy="2900460"/>
          </a:xfrm>
        </p:grpSpPr>
        <p:grpSp>
          <p:nvGrpSpPr>
            <p:cNvPr id="29" name="Group 28">
              <a:extLst>
                <a:ext uri="{FF2B5EF4-FFF2-40B4-BE49-F238E27FC236}">
                  <a16:creationId xmlns:a16="http://schemas.microsoft.com/office/drawing/2014/main" id="{810CFD6A-2427-49D5-846A-5F93601D4184}"/>
                </a:ext>
              </a:extLst>
            </p:cNvPr>
            <p:cNvGrpSpPr/>
            <p:nvPr/>
          </p:nvGrpSpPr>
          <p:grpSpPr>
            <a:xfrm>
              <a:off x="3928039" y="1792355"/>
              <a:ext cx="1830304" cy="2206534"/>
              <a:chOff x="3216839" y="2404072"/>
              <a:chExt cx="1830304" cy="2206534"/>
            </a:xfrm>
          </p:grpSpPr>
          <p:sp>
            <p:nvSpPr>
              <p:cNvPr id="42" name="Oval 41">
                <a:extLst>
                  <a:ext uri="{FF2B5EF4-FFF2-40B4-BE49-F238E27FC236}">
                    <a16:creationId xmlns:a16="http://schemas.microsoft.com/office/drawing/2014/main" id="{017B1AE5-5C36-4839-BA1F-B404EA44E701}"/>
                  </a:ext>
                </a:extLst>
              </p:cNvPr>
              <p:cNvSpPr/>
              <p:nvPr/>
            </p:nvSpPr>
            <p:spPr>
              <a:xfrm>
                <a:off x="3216839" y="2404072"/>
                <a:ext cx="1830304" cy="1830304"/>
              </a:xfrm>
              <a:prstGeom prst="ellipse">
                <a:avLst/>
              </a:prstGeom>
              <a:solidFill>
                <a:srgbClr val="F2A4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43" name="Rectangle 5">
                <a:extLst>
                  <a:ext uri="{FF2B5EF4-FFF2-40B4-BE49-F238E27FC236}">
                    <a16:creationId xmlns:a16="http://schemas.microsoft.com/office/drawing/2014/main" id="{FB963D79-BB49-4A1D-BA66-EA0670C79BAE}"/>
                  </a:ext>
                </a:extLst>
              </p:cNvPr>
              <p:cNvSpPr/>
              <p:nvPr/>
            </p:nvSpPr>
            <p:spPr>
              <a:xfrm>
                <a:off x="3699615" y="3807346"/>
                <a:ext cx="1143001" cy="803260"/>
              </a:xfrm>
              <a:custGeom>
                <a:avLst/>
                <a:gdLst>
                  <a:gd name="connsiteX0" fmla="*/ 0 w 876300"/>
                  <a:gd name="connsiteY0" fmla="*/ 0 h 787400"/>
                  <a:gd name="connsiteX1" fmla="*/ 876300 w 876300"/>
                  <a:gd name="connsiteY1" fmla="*/ 0 h 787400"/>
                  <a:gd name="connsiteX2" fmla="*/ 876300 w 876300"/>
                  <a:gd name="connsiteY2" fmla="*/ 787400 h 787400"/>
                  <a:gd name="connsiteX3" fmla="*/ 0 w 876300"/>
                  <a:gd name="connsiteY3" fmla="*/ 787400 h 787400"/>
                  <a:gd name="connsiteX4" fmla="*/ 0 w 876300"/>
                  <a:gd name="connsiteY4" fmla="*/ 0 h 787400"/>
                  <a:gd name="connsiteX0" fmla="*/ 0 w 876300"/>
                  <a:gd name="connsiteY0" fmla="*/ 0 h 787400"/>
                  <a:gd name="connsiteX1" fmla="*/ 876300 w 876300"/>
                  <a:gd name="connsiteY1" fmla="*/ 0 h 787400"/>
                  <a:gd name="connsiteX2" fmla="*/ 876300 w 876300"/>
                  <a:gd name="connsiteY2" fmla="*/ 787400 h 787400"/>
                  <a:gd name="connsiteX3" fmla="*/ 0 w 876300"/>
                  <a:gd name="connsiteY3" fmla="*/ 787400 h 787400"/>
                  <a:gd name="connsiteX4" fmla="*/ 0 w 876300"/>
                  <a:gd name="connsiteY4" fmla="*/ 0 h 787400"/>
                  <a:gd name="connsiteX0" fmla="*/ 0 w 876300"/>
                  <a:gd name="connsiteY0" fmla="*/ 0 h 787400"/>
                  <a:gd name="connsiteX1" fmla="*/ 876300 w 876300"/>
                  <a:gd name="connsiteY1" fmla="*/ 0 h 787400"/>
                  <a:gd name="connsiteX2" fmla="*/ 876300 w 876300"/>
                  <a:gd name="connsiteY2" fmla="*/ 787400 h 787400"/>
                  <a:gd name="connsiteX3" fmla="*/ 0 w 876300"/>
                  <a:gd name="connsiteY3" fmla="*/ 787400 h 787400"/>
                  <a:gd name="connsiteX4" fmla="*/ 0 w 876300"/>
                  <a:gd name="connsiteY4" fmla="*/ 0 h 787400"/>
                  <a:gd name="connsiteX0" fmla="*/ 0 w 1130300"/>
                  <a:gd name="connsiteY0" fmla="*/ 0 h 787400"/>
                  <a:gd name="connsiteX1" fmla="*/ 1130300 w 1130300"/>
                  <a:gd name="connsiteY1" fmla="*/ 50800 h 787400"/>
                  <a:gd name="connsiteX2" fmla="*/ 876300 w 1130300"/>
                  <a:gd name="connsiteY2" fmla="*/ 787400 h 787400"/>
                  <a:gd name="connsiteX3" fmla="*/ 0 w 1130300"/>
                  <a:gd name="connsiteY3" fmla="*/ 787400 h 787400"/>
                  <a:gd name="connsiteX4" fmla="*/ 0 w 1130300"/>
                  <a:gd name="connsiteY4" fmla="*/ 0 h 787400"/>
                  <a:gd name="connsiteX0" fmla="*/ 0 w 1136650"/>
                  <a:gd name="connsiteY0" fmla="*/ 0 h 787400"/>
                  <a:gd name="connsiteX1" fmla="*/ 1136650 w 1136650"/>
                  <a:gd name="connsiteY1" fmla="*/ 38100 h 787400"/>
                  <a:gd name="connsiteX2" fmla="*/ 876300 w 1136650"/>
                  <a:gd name="connsiteY2" fmla="*/ 787400 h 787400"/>
                  <a:gd name="connsiteX3" fmla="*/ 0 w 1136650"/>
                  <a:gd name="connsiteY3" fmla="*/ 787400 h 787400"/>
                  <a:gd name="connsiteX4" fmla="*/ 0 w 1136650"/>
                  <a:gd name="connsiteY4" fmla="*/ 0 h 787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6650" h="787400">
                    <a:moveTo>
                      <a:pt x="0" y="0"/>
                    </a:moveTo>
                    <a:lnTo>
                      <a:pt x="1136650" y="38100"/>
                    </a:lnTo>
                    <a:cubicBezTo>
                      <a:pt x="920750" y="376767"/>
                      <a:pt x="876300" y="524933"/>
                      <a:pt x="876300" y="787400"/>
                    </a:cubicBezTo>
                    <a:lnTo>
                      <a:pt x="0" y="787400"/>
                    </a:lnTo>
                    <a:lnTo>
                      <a:pt x="0" y="0"/>
                    </a:lnTo>
                    <a:close/>
                  </a:path>
                </a:pathLst>
              </a:custGeom>
              <a:solidFill>
                <a:srgbClr val="F2A4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dirty="0"/>
              </a:p>
            </p:txBody>
          </p:sp>
          <p:sp>
            <p:nvSpPr>
              <p:cNvPr id="44" name="Rectangle 5">
                <a:extLst>
                  <a:ext uri="{FF2B5EF4-FFF2-40B4-BE49-F238E27FC236}">
                    <a16:creationId xmlns:a16="http://schemas.microsoft.com/office/drawing/2014/main" id="{6D7746D8-B913-493B-AAE9-25BC6893D40E}"/>
                  </a:ext>
                </a:extLst>
              </p:cNvPr>
              <p:cNvSpPr/>
              <p:nvPr/>
            </p:nvSpPr>
            <p:spPr>
              <a:xfrm flipH="1">
                <a:off x="3426570" y="3807347"/>
                <a:ext cx="1143000" cy="803259"/>
              </a:xfrm>
              <a:custGeom>
                <a:avLst/>
                <a:gdLst>
                  <a:gd name="connsiteX0" fmla="*/ 0 w 876300"/>
                  <a:gd name="connsiteY0" fmla="*/ 0 h 787400"/>
                  <a:gd name="connsiteX1" fmla="*/ 876300 w 876300"/>
                  <a:gd name="connsiteY1" fmla="*/ 0 h 787400"/>
                  <a:gd name="connsiteX2" fmla="*/ 876300 w 876300"/>
                  <a:gd name="connsiteY2" fmla="*/ 787400 h 787400"/>
                  <a:gd name="connsiteX3" fmla="*/ 0 w 876300"/>
                  <a:gd name="connsiteY3" fmla="*/ 787400 h 787400"/>
                  <a:gd name="connsiteX4" fmla="*/ 0 w 876300"/>
                  <a:gd name="connsiteY4" fmla="*/ 0 h 787400"/>
                  <a:gd name="connsiteX0" fmla="*/ 0 w 876300"/>
                  <a:gd name="connsiteY0" fmla="*/ 0 h 787400"/>
                  <a:gd name="connsiteX1" fmla="*/ 876300 w 876300"/>
                  <a:gd name="connsiteY1" fmla="*/ 0 h 787400"/>
                  <a:gd name="connsiteX2" fmla="*/ 876300 w 876300"/>
                  <a:gd name="connsiteY2" fmla="*/ 787400 h 787400"/>
                  <a:gd name="connsiteX3" fmla="*/ 0 w 876300"/>
                  <a:gd name="connsiteY3" fmla="*/ 787400 h 787400"/>
                  <a:gd name="connsiteX4" fmla="*/ 0 w 876300"/>
                  <a:gd name="connsiteY4" fmla="*/ 0 h 787400"/>
                  <a:gd name="connsiteX0" fmla="*/ 0 w 876300"/>
                  <a:gd name="connsiteY0" fmla="*/ 0 h 787400"/>
                  <a:gd name="connsiteX1" fmla="*/ 876300 w 876300"/>
                  <a:gd name="connsiteY1" fmla="*/ 0 h 787400"/>
                  <a:gd name="connsiteX2" fmla="*/ 876300 w 876300"/>
                  <a:gd name="connsiteY2" fmla="*/ 787400 h 787400"/>
                  <a:gd name="connsiteX3" fmla="*/ 0 w 876300"/>
                  <a:gd name="connsiteY3" fmla="*/ 787400 h 787400"/>
                  <a:gd name="connsiteX4" fmla="*/ 0 w 876300"/>
                  <a:gd name="connsiteY4" fmla="*/ 0 h 787400"/>
                  <a:gd name="connsiteX0" fmla="*/ 0 w 1130300"/>
                  <a:gd name="connsiteY0" fmla="*/ 0 h 787400"/>
                  <a:gd name="connsiteX1" fmla="*/ 1130300 w 1130300"/>
                  <a:gd name="connsiteY1" fmla="*/ 50800 h 787400"/>
                  <a:gd name="connsiteX2" fmla="*/ 876300 w 1130300"/>
                  <a:gd name="connsiteY2" fmla="*/ 787400 h 787400"/>
                  <a:gd name="connsiteX3" fmla="*/ 0 w 1130300"/>
                  <a:gd name="connsiteY3" fmla="*/ 787400 h 787400"/>
                  <a:gd name="connsiteX4" fmla="*/ 0 w 1130300"/>
                  <a:gd name="connsiteY4" fmla="*/ 0 h 787400"/>
                  <a:gd name="connsiteX0" fmla="*/ 0 w 1136650"/>
                  <a:gd name="connsiteY0" fmla="*/ 0 h 787400"/>
                  <a:gd name="connsiteX1" fmla="*/ 1136650 w 1136650"/>
                  <a:gd name="connsiteY1" fmla="*/ 38100 h 787400"/>
                  <a:gd name="connsiteX2" fmla="*/ 876300 w 1136650"/>
                  <a:gd name="connsiteY2" fmla="*/ 787400 h 787400"/>
                  <a:gd name="connsiteX3" fmla="*/ 0 w 1136650"/>
                  <a:gd name="connsiteY3" fmla="*/ 787400 h 787400"/>
                  <a:gd name="connsiteX4" fmla="*/ 0 w 1136650"/>
                  <a:gd name="connsiteY4" fmla="*/ 0 h 787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6650" h="787400">
                    <a:moveTo>
                      <a:pt x="0" y="0"/>
                    </a:moveTo>
                    <a:lnTo>
                      <a:pt x="1136650" y="38100"/>
                    </a:lnTo>
                    <a:cubicBezTo>
                      <a:pt x="920750" y="376767"/>
                      <a:pt x="876300" y="524933"/>
                      <a:pt x="876300" y="787400"/>
                    </a:cubicBezTo>
                    <a:lnTo>
                      <a:pt x="0" y="787400"/>
                    </a:lnTo>
                    <a:lnTo>
                      <a:pt x="0" y="0"/>
                    </a:lnTo>
                    <a:close/>
                  </a:path>
                </a:pathLst>
              </a:custGeom>
              <a:solidFill>
                <a:srgbClr val="F2A4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dirty="0"/>
              </a:p>
            </p:txBody>
          </p:sp>
          <p:sp>
            <p:nvSpPr>
              <p:cNvPr id="45" name="Arc 44">
                <a:extLst>
                  <a:ext uri="{FF2B5EF4-FFF2-40B4-BE49-F238E27FC236}">
                    <a16:creationId xmlns:a16="http://schemas.microsoft.com/office/drawing/2014/main" id="{29031C02-E965-417B-8799-96061B14F30D}"/>
                  </a:ext>
                </a:extLst>
              </p:cNvPr>
              <p:cNvSpPr/>
              <p:nvPr/>
            </p:nvSpPr>
            <p:spPr>
              <a:xfrm>
                <a:off x="3454111" y="2482850"/>
                <a:ext cx="1504950" cy="1504950"/>
              </a:xfrm>
              <a:prstGeom prst="arc">
                <a:avLst>
                  <a:gd name="adj1" fmla="val 18068338"/>
                  <a:gd name="adj2" fmla="val 0"/>
                </a:avLst>
              </a:prstGeom>
              <a:ln w="38100" cap="rnd">
                <a:solidFill>
                  <a:schemeClr val="bg2"/>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bg-BG">
                  <a:ln w="57150">
                    <a:solidFill>
                      <a:schemeClr val="tx1"/>
                    </a:solidFill>
                  </a:ln>
                </a:endParaRPr>
              </a:p>
            </p:txBody>
          </p:sp>
          <p:sp>
            <p:nvSpPr>
              <p:cNvPr id="46" name="Arc 45">
                <a:extLst>
                  <a:ext uri="{FF2B5EF4-FFF2-40B4-BE49-F238E27FC236}">
                    <a16:creationId xmlns:a16="http://schemas.microsoft.com/office/drawing/2014/main" id="{26BFD8A6-BC99-4B16-BA10-08A9E5C681C0}"/>
                  </a:ext>
                </a:extLst>
              </p:cNvPr>
              <p:cNvSpPr/>
              <p:nvPr/>
            </p:nvSpPr>
            <p:spPr>
              <a:xfrm>
                <a:off x="3454111" y="2482849"/>
                <a:ext cx="1504950" cy="1504950"/>
              </a:xfrm>
              <a:prstGeom prst="arc">
                <a:avLst>
                  <a:gd name="adj1" fmla="val 17518504"/>
                  <a:gd name="adj2" fmla="val 17709817"/>
                </a:avLst>
              </a:prstGeom>
              <a:ln w="38100" cap="rnd">
                <a:solidFill>
                  <a:schemeClr val="bg2"/>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bg-BG">
                  <a:ln w="57150">
                    <a:solidFill>
                      <a:schemeClr val="tx1"/>
                    </a:solidFill>
                  </a:ln>
                </a:endParaRPr>
              </a:p>
            </p:txBody>
          </p:sp>
        </p:grpSp>
        <p:sp>
          <p:nvSpPr>
            <p:cNvPr id="30" name="Rectangle: Rounded Corners 29">
              <a:extLst>
                <a:ext uri="{FF2B5EF4-FFF2-40B4-BE49-F238E27FC236}">
                  <a16:creationId xmlns:a16="http://schemas.microsoft.com/office/drawing/2014/main" id="{B310277F-A78E-4FB9-9EA9-88BE4F1D585B}"/>
                </a:ext>
              </a:extLst>
            </p:cNvPr>
            <p:cNvSpPr/>
            <p:nvPr/>
          </p:nvSpPr>
          <p:spPr>
            <a:xfrm>
              <a:off x="4400007" y="4324162"/>
              <a:ext cx="886369" cy="150698"/>
            </a:xfrm>
            <a:prstGeom prst="roundRect">
              <a:avLst/>
            </a:prstGeom>
            <a:solidFill>
              <a:srgbClr val="F2A40D"/>
            </a:solidFill>
            <a:ln w="38100">
              <a:solidFill>
                <a:srgbClr val="4646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31" name="Rectangle: Rounded Corners 30">
              <a:extLst>
                <a:ext uri="{FF2B5EF4-FFF2-40B4-BE49-F238E27FC236}">
                  <a16:creationId xmlns:a16="http://schemas.microsoft.com/office/drawing/2014/main" id="{A92CF92B-C212-4542-83AE-A0058B5BB5EA}"/>
                </a:ext>
              </a:extLst>
            </p:cNvPr>
            <p:cNvSpPr/>
            <p:nvPr/>
          </p:nvSpPr>
          <p:spPr>
            <a:xfrm>
              <a:off x="4533357" y="4542116"/>
              <a:ext cx="619670" cy="150699"/>
            </a:xfrm>
            <a:prstGeom prst="roundRect">
              <a:avLst/>
            </a:prstGeom>
            <a:solidFill>
              <a:srgbClr val="F2A40D"/>
            </a:solidFill>
            <a:ln w="38100">
              <a:solidFill>
                <a:srgbClr val="464646"/>
              </a:solidFill>
            </a:ln>
            <a:effectLst>
              <a:outerShdw blurRad="152400" dist="381000" dir="5400000" sx="70000" sy="70000"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cxnSp>
          <p:nvCxnSpPr>
            <p:cNvPr id="32" name="Straight Connector 31">
              <a:extLst>
                <a:ext uri="{FF2B5EF4-FFF2-40B4-BE49-F238E27FC236}">
                  <a16:creationId xmlns:a16="http://schemas.microsoft.com/office/drawing/2014/main" id="{563B4374-5C0D-461F-B3BD-78D99614D365}"/>
                </a:ext>
              </a:extLst>
            </p:cNvPr>
            <p:cNvCxnSpPr>
              <a:cxnSpLocks/>
            </p:cNvCxnSpPr>
            <p:nvPr/>
          </p:nvCxnSpPr>
          <p:spPr>
            <a:xfrm flipH="1" flipV="1">
              <a:off x="4472677" y="2844800"/>
              <a:ext cx="161562" cy="1164292"/>
            </a:xfrm>
            <a:prstGeom prst="line">
              <a:avLst/>
            </a:prstGeom>
            <a:solidFill>
              <a:srgbClr val="464646"/>
            </a:solidFill>
            <a:ln w="38100">
              <a:solidFill>
                <a:srgbClr val="464646"/>
              </a:solidFill>
            </a:ln>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FBC6FDE7-AEA1-4230-8433-4C088A0FF5F9}"/>
                </a:ext>
              </a:extLst>
            </p:cNvPr>
            <p:cNvCxnSpPr>
              <a:cxnSpLocks/>
            </p:cNvCxnSpPr>
            <p:nvPr/>
          </p:nvCxnSpPr>
          <p:spPr>
            <a:xfrm flipH="1">
              <a:off x="4578548" y="3618567"/>
              <a:ext cx="528128" cy="0"/>
            </a:xfrm>
            <a:prstGeom prst="line">
              <a:avLst/>
            </a:prstGeom>
            <a:solidFill>
              <a:srgbClr val="464646"/>
            </a:solidFill>
            <a:ln w="38100">
              <a:solidFill>
                <a:srgbClr val="464646"/>
              </a:solidFill>
            </a:ln>
          </p:spPr>
          <p:style>
            <a:lnRef idx="1">
              <a:schemeClr val="dk1"/>
            </a:lnRef>
            <a:fillRef idx="0">
              <a:schemeClr val="dk1"/>
            </a:fillRef>
            <a:effectRef idx="0">
              <a:schemeClr val="dk1"/>
            </a:effectRef>
            <a:fontRef idx="minor">
              <a:schemeClr val="tx1"/>
            </a:fontRef>
          </p:style>
        </p:cxnSp>
        <p:grpSp>
          <p:nvGrpSpPr>
            <p:cNvPr id="34" name="Group 33">
              <a:extLst>
                <a:ext uri="{FF2B5EF4-FFF2-40B4-BE49-F238E27FC236}">
                  <a16:creationId xmlns:a16="http://schemas.microsoft.com/office/drawing/2014/main" id="{C4D1021D-07C7-4331-8FF6-36980A30978B}"/>
                </a:ext>
              </a:extLst>
            </p:cNvPr>
            <p:cNvGrpSpPr/>
            <p:nvPr/>
          </p:nvGrpSpPr>
          <p:grpSpPr>
            <a:xfrm>
              <a:off x="4203288" y="2479090"/>
              <a:ext cx="436874" cy="448528"/>
              <a:chOff x="2320288" y="2903541"/>
              <a:chExt cx="332555" cy="302680"/>
            </a:xfrm>
            <a:solidFill>
              <a:srgbClr val="464646"/>
            </a:solidFill>
          </p:grpSpPr>
          <p:cxnSp>
            <p:nvCxnSpPr>
              <p:cNvPr id="40" name="Straight Connector 39">
                <a:extLst>
                  <a:ext uri="{FF2B5EF4-FFF2-40B4-BE49-F238E27FC236}">
                    <a16:creationId xmlns:a16="http://schemas.microsoft.com/office/drawing/2014/main" id="{13B7FE99-95CF-45D5-966B-87A979B93431}"/>
                  </a:ext>
                </a:extLst>
              </p:cNvPr>
              <p:cNvCxnSpPr>
                <a:cxnSpLocks/>
              </p:cNvCxnSpPr>
              <p:nvPr/>
            </p:nvCxnSpPr>
            <p:spPr>
              <a:xfrm flipH="1" flipV="1">
                <a:off x="2321560" y="3054881"/>
                <a:ext cx="331283" cy="151340"/>
              </a:xfrm>
              <a:prstGeom prst="line">
                <a:avLst/>
              </a:prstGeom>
              <a:grpFill/>
              <a:ln w="38100" cap="rnd">
                <a:solidFill>
                  <a:srgbClr val="464646"/>
                </a:solidFill>
              </a:ln>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71BBA69B-19FF-4ADB-A739-AD8136A5F0A6}"/>
                  </a:ext>
                </a:extLst>
              </p:cNvPr>
              <p:cNvCxnSpPr>
                <a:cxnSpLocks/>
              </p:cNvCxnSpPr>
              <p:nvPr/>
            </p:nvCxnSpPr>
            <p:spPr>
              <a:xfrm flipH="1">
                <a:off x="2320288" y="2903541"/>
                <a:ext cx="331283" cy="151340"/>
              </a:xfrm>
              <a:prstGeom prst="line">
                <a:avLst/>
              </a:prstGeom>
              <a:grpFill/>
              <a:ln w="38100" cap="rnd">
                <a:solidFill>
                  <a:srgbClr val="464646"/>
                </a:solidFill>
              </a:ln>
            </p:spPr>
            <p:style>
              <a:lnRef idx="1">
                <a:schemeClr val="dk1"/>
              </a:lnRef>
              <a:fillRef idx="0">
                <a:schemeClr val="dk1"/>
              </a:fillRef>
              <a:effectRef idx="0">
                <a:schemeClr val="dk1"/>
              </a:effectRef>
              <a:fontRef idx="minor">
                <a:schemeClr val="tx1"/>
              </a:fontRef>
            </p:style>
          </p:cxnSp>
        </p:grpSp>
        <p:cxnSp>
          <p:nvCxnSpPr>
            <p:cNvPr id="35" name="Straight Connector 34">
              <a:extLst>
                <a:ext uri="{FF2B5EF4-FFF2-40B4-BE49-F238E27FC236}">
                  <a16:creationId xmlns:a16="http://schemas.microsoft.com/office/drawing/2014/main" id="{BFD1D86B-562B-40B2-8E46-34233EFEE7FC}"/>
                </a:ext>
              </a:extLst>
            </p:cNvPr>
            <p:cNvCxnSpPr>
              <a:cxnSpLocks/>
            </p:cNvCxnSpPr>
            <p:nvPr/>
          </p:nvCxnSpPr>
          <p:spPr>
            <a:xfrm flipV="1">
              <a:off x="5048904" y="2844800"/>
              <a:ext cx="142425" cy="1164292"/>
            </a:xfrm>
            <a:prstGeom prst="line">
              <a:avLst/>
            </a:prstGeom>
            <a:solidFill>
              <a:srgbClr val="464646"/>
            </a:solidFill>
            <a:ln w="38100">
              <a:solidFill>
                <a:srgbClr val="464646"/>
              </a:solidFill>
            </a:ln>
          </p:spPr>
          <p:style>
            <a:lnRef idx="1">
              <a:schemeClr val="dk1"/>
            </a:lnRef>
            <a:fillRef idx="0">
              <a:schemeClr val="dk1"/>
            </a:fillRef>
            <a:effectRef idx="0">
              <a:schemeClr val="dk1"/>
            </a:effectRef>
            <a:fontRef idx="minor">
              <a:schemeClr val="tx1"/>
            </a:fontRef>
          </p:style>
        </p:cxnSp>
        <p:sp>
          <p:nvSpPr>
            <p:cNvPr id="36" name="Rectangle: Rounded Corners 35">
              <a:extLst>
                <a:ext uri="{FF2B5EF4-FFF2-40B4-BE49-F238E27FC236}">
                  <a16:creationId xmlns:a16="http://schemas.microsoft.com/office/drawing/2014/main" id="{388C17BD-16A1-43C5-BFFA-2FF9174719E1}"/>
                </a:ext>
              </a:extLst>
            </p:cNvPr>
            <p:cNvSpPr/>
            <p:nvPr/>
          </p:nvSpPr>
          <p:spPr>
            <a:xfrm>
              <a:off x="4355556" y="4106208"/>
              <a:ext cx="975271" cy="150698"/>
            </a:xfrm>
            <a:prstGeom prst="roundRect">
              <a:avLst/>
            </a:prstGeom>
            <a:solidFill>
              <a:srgbClr val="F2A40D"/>
            </a:solidFill>
            <a:ln w="38100">
              <a:solidFill>
                <a:srgbClr val="4646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grpSp>
          <p:nvGrpSpPr>
            <p:cNvPr id="37" name="Group 36">
              <a:extLst>
                <a:ext uri="{FF2B5EF4-FFF2-40B4-BE49-F238E27FC236}">
                  <a16:creationId xmlns:a16="http://schemas.microsoft.com/office/drawing/2014/main" id="{1B3B910E-ACFC-4F28-8E28-F02E1588B87E}"/>
                </a:ext>
              </a:extLst>
            </p:cNvPr>
            <p:cNvGrpSpPr/>
            <p:nvPr/>
          </p:nvGrpSpPr>
          <p:grpSpPr>
            <a:xfrm flipH="1">
              <a:off x="5035162" y="2479090"/>
              <a:ext cx="436872" cy="448528"/>
              <a:chOff x="2320288" y="2903541"/>
              <a:chExt cx="332555" cy="302680"/>
            </a:xfrm>
            <a:solidFill>
              <a:srgbClr val="464646"/>
            </a:solidFill>
          </p:grpSpPr>
          <p:cxnSp>
            <p:nvCxnSpPr>
              <p:cNvPr id="38" name="Straight Connector 37">
                <a:extLst>
                  <a:ext uri="{FF2B5EF4-FFF2-40B4-BE49-F238E27FC236}">
                    <a16:creationId xmlns:a16="http://schemas.microsoft.com/office/drawing/2014/main" id="{F57772B6-06C0-4F54-AA94-D3F92DA4716A}"/>
                  </a:ext>
                </a:extLst>
              </p:cNvPr>
              <p:cNvCxnSpPr>
                <a:cxnSpLocks/>
              </p:cNvCxnSpPr>
              <p:nvPr/>
            </p:nvCxnSpPr>
            <p:spPr>
              <a:xfrm flipH="1" flipV="1">
                <a:off x="2321560" y="3054881"/>
                <a:ext cx="331283" cy="151340"/>
              </a:xfrm>
              <a:prstGeom prst="line">
                <a:avLst/>
              </a:prstGeom>
              <a:grpFill/>
              <a:ln w="38100" cap="rnd">
                <a:solidFill>
                  <a:srgbClr val="464646"/>
                </a:solidFill>
              </a:ln>
            </p:spPr>
            <p:style>
              <a:lnRef idx="1">
                <a:schemeClr val="dk1"/>
              </a:lnRef>
              <a:fillRef idx="0">
                <a:schemeClr val="dk1"/>
              </a:fillRef>
              <a:effectRef idx="0">
                <a:schemeClr val="dk1"/>
              </a:effectRef>
              <a:fontRef idx="minor">
                <a:schemeClr val="tx1"/>
              </a:fontRef>
            </p:style>
          </p:cxnSp>
          <p:cxnSp>
            <p:nvCxnSpPr>
              <p:cNvPr id="39" name="Straight Connector 38">
                <a:extLst>
                  <a:ext uri="{FF2B5EF4-FFF2-40B4-BE49-F238E27FC236}">
                    <a16:creationId xmlns:a16="http://schemas.microsoft.com/office/drawing/2014/main" id="{23370C1F-7876-4278-AB20-78F6CAA385E2}"/>
                  </a:ext>
                </a:extLst>
              </p:cNvPr>
              <p:cNvCxnSpPr>
                <a:cxnSpLocks/>
              </p:cNvCxnSpPr>
              <p:nvPr/>
            </p:nvCxnSpPr>
            <p:spPr>
              <a:xfrm flipH="1">
                <a:off x="2320288" y="2903541"/>
                <a:ext cx="331283" cy="151340"/>
              </a:xfrm>
              <a:prstGeom prst="line">
                <a:avLst/>
              </a:prstGeom>
              <a:grpFill/>
              <a:ln w="38100" cap="rnd">
                <a:solidFill>
                  <a:srgbClr val="464646"/>
                </a:solidFill>
              </a:ln>
            </p:spPr>
            <p:style>
              <a:lnRef idx="1">
                <a:schemeClr val="dk1"/>
              </a:lnRef>
              <a:fillRef idx="0">
                <a:schemeClr val="dk1"/>
              </a:fillRef>
              <a:effectRef idx="0">
                <a:schemeClr val="dk1"/>
              </a:effectRef>
              <a:fontRef idx="minor">
                <a:schemeClr val="tx1"/>
              </a:fontRef>
            </p:style>
          </p:cxnSp>
        </p:grpSp>
      </p:grpSp>
    </p:spTree>
    <p:extLst>
      <p:ext uri="{BB962C8B-B14F-4D97-AF65-F5344CB8AC3E}">
        <p14:creationId xmlns:p14="http://schemas.microsoft.com/office/powerpoint/2010/main" val="3284562556"/>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ource Code Example">
    <p:spTree>
      <p:nvGrpSpPr>
        <p:cNvPr id="1" name=""/>
        <p:cNvGrpSpPr/>
        <p:nvPr/>
      </p:nvGrpSpPr>
      <p:grpSpPr>
        <a:xfrm>
          <a:off x="0" y="0"/>
          <a:ext cx="0" cy="0"/>
          <a:chOff x="0" y="0"/>
          <a:chExt cx="0" cy="0"/>
        </a:xfrm>
      </p:grpSpPr>
      <p:sp>
        <p:nvSpPr>
          <p:cNvPr id="8" name="Slide Number">
            <a:extLst>
              <a:ext uri="{FF2B5EF4-FFF2-40B4-BE49-F238E27FC236}">
                <a16:creationId xmlns:a16="http://schemas.microsoft.com/office/drawing/2014/main" id="{509D954E-A844-4072-A556-DE584BEB9321}"/>
              </a:ext>
            </a:extLst>
          </p:cNvPr>
          <p:cNvSpPr>
            <a:spLocks noGrp="1"/>
          </p:cNvSpPr>
          <p:nvPr>
            <p:ph type="sldNum" sz="quarter" idx="4"/>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a:t>
            </a:fld>
            <a:endParaRPr lang="en-US" noProof="0"/>
          </a:p>
        </p:txBody>
      </p:sp>
      <p:sp>
        <p:nvSpPr>
          <p:cNvPr id="6" name="Code Box">
            <a:extLst>
              <a:ext uri="{FF2B5EF4-FFF2-40B4-BE49-F238E27FC236}">
                <a16:creationId xmlns:a16="http://schemas.microsoft.com/office/drawing/2014/main" id="{3278A82F-5546-4977-9F75-2A933B415945}"/>
              </a:ext>
            </a:extLst>
          </p:cNvPr>
          <p:cNvSpPr>
            <a:spLocks noGrp="1"/>
          </p:cNvSpPr>
          <p:nvPr>
            <p:ph type="body" sz="quarter" idx="11" hasCustomPrompt="1"/>
          </p:nvPr>
        </p:nvSpPr>
        <p:spPr>
          <a:xfrm>
            <a:off x="621234" y="1931154"/>
            <a:ext cx="10949531" cy="1362846"/>
          </a:xfrm>
          <a:prstGeom prst="rect">
            <a:avLst/>
          </a:prstGeom>
          <a:solidFill>
            <a:schemeClr val="accent6">
              <a:lumMod val="75000"/>
              <a:alpha val="15000"/>
            </a:schemeClr>
          </a:solidFill>
          <a:ln w="12700">
            <a:solidFill>
              <a:schemeClr val="tx1">
                <a:lumMod val="50000"/>
              </a:schemeClr>
            </a:solidFill>
          </a:ln>
        </p:spPr>
        <p:txBody>
          <a:bodyPr wrap="square" lIns="144000" tIns="108000" rIns="144000" bIns="108000">
            <a:spAutoFit/>
          </a:bodyPr>
          <a:lstStyle>
            <a:lvl1pPr marL="0" indent="0" latinLnBrk="0">
              <a:lnSpc>
                <a:spcPct val="105000"/>
              </a:lnSpc>
              <a:spcBef>
                <a:spcPts val="0"/>
              </a:spcBef>
              <a:spcAft>
                <a:spcPts val="0"/>
              </a:spcAft>
              <a:buNone/>
              <a:defRPr lang="en-US" sz="2398" b="1" noProof="1" smtClean="0">
                <a:solidFill>
                  <a:schemeClr val="tx1"/>
                </a:solidFill>
                <a:effectLst/>
                <a:latin typeface="Consolas" pitchFamily="49" charset="0"/>
                <a:cs typeface="Consolas" pitchFamily="49" charset="0"/>
              </a:defRPr>
            </a:lvl1pPr>
          </a:lstStyle>
          <a:p>
            <a:pPr marL="0" lvl="0"/>
            <a:r>
              <a:rPr lang="en-US" noProof="1"/>
              <a:t>Source code box</a:t>
            </a:r>
          </a:p>
          <a:p>
            <a:pPr marL="0" lvl="0"/>
            <a:r>
              <a:rPr lang="en-US" noProof="1"/>
              <a:t>…</a:t>
            </a:r>
          </a:p>
          <a:p>
            <a:pPr marL="0" lvl="0"/>
            <a:r>
              <a:rPr lang="en-US" noProof="1"/>
              <a:t>…</a:t>
            </a:r>
          </a:p>
        </p:txBody>
      </p:sp>
      <p:sp>
        <p:nvSpPr>
          <p:cNvPr id="21" name="Slide Body Text">
            <a:extLst>
              <a:ext uri="{FF2B5EF4-FFF2-40B4-BE49-F238E27FC236}">
                <a16:creationId xmlns:a16="http://schemas.microsoft.com/office/drawing/2014/main" id="{04F318BE-2BAD-4677-871C-D78A4BF0CBA6}"/>
              </a:ext>
            </a:extLst>
          </p:cNvPr>
          <p:cNvSpPr>
            <a:spLocks noGrp="1"/>
          </p:cNvSpPr>
          <p:nvPr>
            <p:ph type="body" sz="quarter" idx="10" hasCustomPrompt="1"/>
          </p:nvPr>
        </p:nvSpPr>
        <p:spPr>
          <a:xfrm>
            <a:off x="190501" y="1196126"/>
            <a:ext cx="11811097" cy="5561124"/>
          </a:xfrm>
        </p:spPr>
        <p:txBody>
          <a:bodyPr/>
          <a:lstStyle>
            <a:lvl1pPr marL="0" indent="0" latinLnBrk="0">
              <a:buNone/>
              <a:defRPr>
                <a:solidFill>
                  <a:schemeClr val="tx1"/>
                </a:solidFill>
              </a:defRPr>
            </a:lvl1pPr>
            <a:lvl2pPr marL="609219" indent="0">
              <a:buNone/>
              <a:defRPr/>
            </a:lvl2pPr>
          </a:lstStyle>
          <a:p>
            <a:pPr lvl="0"/>
            <a:r>
              <a:rPr lang="en-US" noProof="0"/>
              <a:t>Sample source code:</a:t>
            </a:r>
          </a:p>
        </p:txBody>
      </p:sp>
      <p:sp>
        <p:nvSpPr>
          <p:cNvPr id="9" name="Rectangle Top">
            <a:extLst>
              <a:ext uri="{FF2B5EF4-FFF2-40B4-BE49-F238E27FC236}">
                <a16:creationId xmlns:a16="http://schemas.microsoft.com/office/drawing/2014/main" id="{A15CE03A-0933-4E5D-9EA1-718D4F802FFC}"/>
              </a:ext>
            </a:extLst>
          </p:cNvPr>
          <p:cNvSpPr/>
          <p:nvPr userDrawn="1"/>
        </p:nvSpPr>
        <p:spPr>
          <a:xfrm>
            <a:off x="0" y="0"/>
            <a:ext cx="12196800" cy="109537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a:ln>
                <a:noFill/>
              </a:ln>
              <a:solidFill>
                <a:srgbClr val="F7C86D"/>
              </a:solidFill>
              <a:effectLst/>
              <a:uLnTx/>
              <a:uFillTx/>
              <a:latin typeface="Calibri" panose="020F0502020204030204"/>
              <a:ea typeface="맑은 고딕" panose="020B0503020000020004" pitchFamily="34" charset="-127"/>
              <a:cs typeface="+mn-cs"/>
            </a:endParaRPr>
          </a:p>
        </p:txBody>
      </p:sp>
      <p:pic>
        <p:nvPicPr>
          <p:cNvPr id="10" name="Logo Software University" descr="Software University logo">
            <a:extLst>
              <a:ext uri="{FF2B5EF4-FFF2-40B4-BE49-F238E27FC236}">
                <a16:creationId xmlns:a16="http://schemas.microsoft.com/office/drawing/2014/main" id="{8C01D7AF-7CBD-46E1-99F3-8EB60E838D9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67957" y="253936"/>
            <a:ext cx="1915704" cy="559235"/>
          </a:xfrm>
          <a:prstGeom prst="rect">
            <a:avLst/>
          </a:prstGeom>
        </p:spPr>
      </p:pic>
      <p:sp>
        <p:nvSpPr>
          <p:cNvPr id="11" name="Slide Title">
            <a:extLst>
              <a:ext uri="{FF2B5EF4-FFF2-40B4-BE49-F238E27FC236}">
                <a16:creationId xmlns:a16="http://schemas.microsoft.com/office/drawing/2014/main" id="{47D60833-F0A9-4F29-8C06-A963A7C8BE93}"/>
              </a:ext>
            </a:extLst>
          </p:cNvPr>
          <p:cNvSpPr>
            <a:spLocks noGrp="1"/>
          </p:cNvSpPr>
          <p:nvPr>
            <p:ph type="title" hasCustomPrompt="1"/>
          </p:nvPr>
        </p:nvSpPr>
        <p:spPr>
          <a:xfrm>
            <a:off x="190406" y="100750"/>
            <a:ext cx="9715594" cy="882654"/>
          </a:xfrm>
        </p:spPr>
        <p:txBody>
          <a:bodyPr/>
          <a:lstStyle>
            <a:lvl1pPr latinLnBrk="0">
              <a:defRPr>
                <a:solidFill>
                  <a:schemeClr val="bg2"/>
                </a:solidFill>
              </a:defRPr>
            </a:lvl1pPr>
          </a:lstStyle>
          <a:p>
            <a:r>
              <a:rPr lang="en-US" noProof="0" dirty="0"/>
              <a:t>Slide Title</a:t>
            </a:r>
          </a:p>
        </p:txBody>
      </p:sp>
    </p:spTree>
    <p:extLst>
      <p:ext uri="{BB962C8B-B14F-4D97-AF65-F5344CB8AC3E}">
        <p14:creationId xmlns:p14="http://schemas.microsoft.com/office/powerpoint/2010/main" val="1000829826"/>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Slide">
    <p:spTree>
      <p:nvGrpSpPr>
        <p:cNvPr id="1" name=""/>
        <p:cNvGrpSpPr/>
        <p:nvPr/>
      </p:nvGrpSpPr>
      <p:grpSpPr>
        <a:xfrm>
          <a:off x="0" y="0"/>
          <a:ext cx="0" cy="0"/>
          <a:chOff x="0" y="0"/>
          <a:chExt cx="0" cy="0"/>
        </a:xfrm>
      </p:grpSpPr>
      <p:sp>
        <p:nvSpPr>
          <p:cNvPr id="2" name="Rectangle Bottom"/>
          <p:cNvSpPr/>
          <p:nvPr/>
        </p:nvSpPr>
        <p:spPr>
          <a:xfrm>
            <a:off x="2" y="6264000"/>
            <a:ext cx="12192000" cy="594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856" tIns="60928" rIns="121856" bIns="60928" numCol="1" spcCol="0" rtlCol="0" fromWordArt="0" anchor="ctr" anchorCtr="0" forceAA="0" compatLnSpc="1">
            <a:prstTxWarp prst="textNoShape">
              <a:avLst/>
            </a:prstTxWarp>
            <a:noAutofit/>
          </a:bodyP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a:ln>
                <a:noFill/>
              </a:ln>
              <a:solidFill>
                <a:srgbClr val="F7C86D"/>
              </a:solidFill>
              <a:effectLst/>
              <a:uLnTx/>
              <a:uFillTx/>
              <a:latin typeface="Calibri" panose="020F0502020204030204"/>
              <a:ea typeface="맑은 고딕" panose="020B0503020000020004" pitchFamily="34" charset="-127"/>
              <a:cs typeface="+mn-cs"/>
            </a:endParaRPr>
          </a:p>
        </p:txBody>
      </p:sp>
      <p:sp>
        <p:nvSpPr>
          <p:cNvPr id="11" name="Slide Number">
            <a:extLst>
              <a:ext uri="{FF2B5EF4-FFF2-40B4-BE49-F238E27FC236}">
                <a16:creationId xmlns:a16="http://schemas.microsoft.com/office/drawing/2014/main" id="{6750ECE4-94E0-469B-B8E4-562792823B0F}"/>
              </a:ext>
            </a:extLst>
          </p:cNvPr>
          <p:cNvSpPr>
            <a:spLocks noGrp="1"/>
          </p:cNvSpPr>
          <p:nvPr>
            <p:ph type="sldNum" sz="quarter" idx="4"/>
          </p:nvPr>
        </p:nvSpPr>
        <p:spPr>
          <a:xfrm>
            <a:off x="11753030" y="6462000"/>
            <a:ext cx="367414" cy="297000"/>
          </a:xfrm>
          <a:prstGeom prst="rect">
            <a:avLst/>
          </a:prstGeom>
        </p:spPr>
        <p:txBody>
          <a:bodyPr vert="horz" lIns="91440" tIns="45720" rIns="91440" bIns="45720" rtlCol="0" anchor="b"/>
          <a:lstStyle>
            <a:lvl1pPr algn="r">
              <a:defRPr sz="1000">
                <a:solidFill>
                  <a:schemeClr val="bg2"/>
                </a:solidFill>
              </a:defRPr>
            </a:lvl1pPr>
          </a:lstStyle>
          <a:p>
            <a:fld id="{2BF067CD-8E6B-4360-9AA8-C5DF2A48A6D1}" type="slidenum">
              <a:rPr lang="en-US" smtClean="0"/>
              <a:pPr/>
              <a:t>‹#›</a:t>
            </a:fld>
            <a:endParaRPr lang="en-US" dirty="0"/>
          </a:p>
        </p:txBody>
      </p:sp>
      <p:sp>
        <p:nvSpPr>
          <p:cNvPr id="4" name="Oval Logo Holder"/>
          <p:cNvSpPr/>
          <p:nvPr/>
        </p:nvSpPr>
        <p:spPr>
          <a:xfrm>
            <a:off x="5161650" y="4824665"/>
            <a:ext cx="1868701" cy="1868701"/>
          </a:xfrm>
          <a:prstGeom prst="ellipse">
            <a:avLst/>
          </a:prstGeom>
          <a:solidFill>
            <a:schemeClr val="tx2"/>
          </a:solidFill>
          <a:ln w="635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a:ln>
                <a:noFill/>
              </a:ln>
              <a:solidFill>
                <a:srgbClr val="F7C86D"/>
              </a:solidFill>
              <a:effectLst/>
              <a:uLnTx/>
              <a:uFillTx/>
              <a:latin typeface="Calibri" panose="020F0502020204030204"/>
              <a:ea typeface="맑은 고딕" panose="020B0503020000020004" pitchFamily="34" charset="-127"/>
              <a:cs typeface="+mn-cs"/>
            </a:endParaRPr>
          </a:p>
        </p:txBody>
      </p:sp>
      <p:pic>
        <p:nvPicPr>
          <p:cNvPr id="12" name="Logo Software University Down" descr="Software University logo">
            <a:extLst>
              <a:ext uri="{FF2B5EF4-FFF2-40B4-BE49-F238E27FC236}">
                <a16:creationId xmlns:a16="http://schemas.microsoft.com/office/drawing/2014/main" id="{7028D2F0-1E67-414B-A93D-D3F8F131A13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616551" y="5206773"/>
            <a:ext cx="958900" cy="1184869"/>
          </a:xfrm>
          <a:prstGeom prst="rect">
            <a:avLst/>
          </a:prstGeom>
        </p:spPr>
      </p:pic>
      <p:sp>
        <p:nvSpPr>
          <p:cNvPr id="10" name="Text Placeholder Right">
            <a:extLst>
              <a:ext uri="{FF2B5EF4-FFF2-40B4-BE49-F238E27FC236}">
                <a16:creationId xmlns:a16="http://schemas.microsoft.com/office/drawing/2014/main" id="{AF69A59F-C564-4A04-B1CC-31C261499991}"/>
              </a:ext>
            </a:extLst>
          </p:cNvPr>
          <p:cNvSpPr>
            <a:spLocks noGrp="1"/>
          </p:cNvSpPr>
          <p:nvPr>
            <p:ph type="body" sz="quarter" idx="11" hasCustomPrompt="1"/>
          </p:nvPr>
        </p:nvSpPr>
        <p:spPr>
          <a:xfrm>
            <a:off x="6456000" y="1195931"/>
            <a:ext cx="5545597" cy="4957073"/>
          </a:xfrm>
        </p:spPr>
        <p:txBody>
          <a:bodyPr/>
          <a:lstStyle>
            <a:lvl1pPr latinLnBrk="0">
              <a:defRPr/>
            </a:lvl1pPr>
            <a:lvl2pPr latinLnBrk="0">
              <a:defRPr/>
            </a:lvl2pPr>
            <a:lvl3pPr latinLnBrk="0">
              <a:defRPr/>
            </a:lvl3pPr>
            <a:lvl4pPr latinLnBrk="0">
              <a:defRPr/>
            </a:lvl4pPr>
            <a:lvl5pPr latinLnBrk="0">
              <a:defRPr/>
            </a:lvl5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9" name="Text Placeholder Left">
            <a:extLst>
              <a:ext uri="{FF2B5EF4-FFF2-40B4-BE49-F238E27FC236}">
                <a16:creationId xmlns:a16="http://schemas.microsoft.com/office/drawing/2014/main" id="{C8A626D2-456B-41EF-9818-EA8DD7E314DA}"/>
              </a:ext>
            </a:extLst>
          </p:cNvPr>
          <p:cNvSpPr>
            <a:spLocks noGrp="1"/>
          </p:cNvSpPr>
          <p:nvPr>
            <p:ph type="body" sz="quarter" idx="10" hasCustomPrompt="1"/>
          </p:nvPr>
        </p:nvSpPr>
        <p:spPr>
          <a:xfrm>
            <a:off x="190402" y="1195931"/>
            <a:ext cx="5545598" cy="4957073"/>
          </a:xfrm>
        </p:spPr>
        <p:txBody>
          <a:bodyPr/>
          <a:lstStyle>
            <a:lvl1pPr latinLnBrk="0">
              <a:defRPr/>
            </a:lvl1pPr>
            <a:lvl2pPr latinLnBrk="0">
              <a:defRPr/>
            </a:lvl2pPr>
            <a:lvl3pPr latinLnBrk="0">
              <a:defRPr/>
            </a:lvl3pPr>
            <a:lvl4pPr latinLnBrk="0">
              <a:defRPr/>
            </a:lvl4pPr>
            <a:lvl5pPr latinLnBrk="0">
              <a:defRPr/>
            </a:lvl5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Rectangle Top">
            <a:extLst>
              <a:ext uri="{FF2B5EF4-FFF2-40B4-BE49-F238E27FC236}">
                <a16:creationId xmlns:a16="http://schemas.microsoft.com/office/drawing/2014/main" id="{E03301DA-D0AF-46FD-8740-2F761250203A}"/>
              </a:ext>
            </a:extLst>
          </p:cNvPr>
          <p:cNvSpPr/>
          <p:nvPr userDrawn="1"/>
        </p:nvSpPr>
        <p:spPr>
          <a:xfrm>
            <a:off x="0" y="0"/>
            <a:ext cx="12196800" cy="109537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a:ln>
                <a:noFill/>
              </a:ln>
              <a:solidFill>
                <a:srgbClr val="F7C86D"/>
              </a:solidFill>
              <a:effectLst/>
              <a:uLnTx/>
              <a:uFillTx/>
              <a:latin typeface="Calibri" panose="020F0502020204030204"/>
              <a:ea typeface="맑은 고딕" panose="020B0503020000020004" pitchFamily="34" charset="-127"/>
              <a:cs typeface="+mn-cs"/>
            </a:endParaRPr>
          </a:p>
        </p:txBody>
      </p:sp>
      <p:pic>
        <p:nvPicPr>
          <p:cNvPr id="14" name="Logo Software University" descr="Software University logo">
            <a:extLst>
              <a:ext uri="{FF2B5EF4-FFF2-40B4-BE49-F238E27FC236}">
                <a16:creationId xmlns:a16="http://schemas.microsoft.com/office/drawing/2014/main" id="{19A67BB9-D880-4EAD-B90E-89C4219BFC0B}"/>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067957" y="253936"/>
            <a:ext cx="1915704" cy="559235"/>
          </a:xfrm>
          <a:prstGeom prst="rect">
            <a:avLst/>
          </a:prstGeom>
        </p:spPr>
      </p:pic>
      <p:sp>
        <p:nvSpPr>
          <p:cNvPr id="15" name="Slide Title">
            <a:extLst>
              <a:ext uri="{FF2B5EF4-FFF2-40B4-BE49-F238E27FC236}">
                <a16:creationId xmlns:a16="http://schemas.microsoft.com/office/drawing/2014/main" id="{EA9A94D1-F9F6-4D7B-85E3-896A987B6A4D}"/>
              </a:ext>
            </a:extLst>
          </p:cNvPr>
          <p:cNvSpPr>
            <a:spLocks noGrp="1"/>
          </p:cNvSpPr>
          <p:nvPr>
            <p:ph type="title" hasCustomPrompt="1"/>
          </p:nvPr>
        </p:nvSpPr>
        <p:spPr>
          <a:xfrm>
            <a:off x="190406" y="100750"/>
            <a:ext cx="9715594" cy="882654"/>
          </a:xfrm>
        </p:spPr>
        <p:txBody>
          <a:bodyPr/>
          <a:lstStyle>
            <a:lvl1pPr latinLnBrk="0">
              <a:defRPr>
                <a:solidFill>
                  <a:schemeClr val="bg2"/>
                </a:solidFill>
              </a:defRPr>
            </a:lvl1pPr>
          </a:lstStyle>
          <a:p>
            <a:r>
              <a:rPr lang="en-US" noProof="0" dirty="0"/>
              <a:t>Slide Title</a:t>
            </a:r>
          </a:p>
        </p:txBody>
      </p:sp>
    </p:spTree>
    <p:extLst>
      <p:ext uri="{BB962C8B-B14F-4D97-AF65-F5344CB8AC3E}">
        <p14:creationId xmlns:p14="http://schemas.microsoft.com/office/powerpoint/2010/main" val="3044033461"/>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mage and Content">
    <p:spTree>
      <p:nvGrpSpPr>
        <p:cNvPr id="1" name=""/>
        <p:cNvGrpSpPr/>
        <p:nvPr/>
      </p:nvGrpSpPr>
      <p:grpSpPr>
        <a:xfrm>
          <a:off x="0" y="0"/>
          <a:ext cx="0" cy="0"/>
          <a:chOff x="0" y="0"/>
          <a:chExt cx="0" cy="0"/>
        </a:xfrm>
      </p:grpSpPr>
      <p:sp>
        <p:nvSpPr>
          <p:cNvPr id="15" name="Slide Number">
            <a:extLst>
              <a:ext uri="{FF2B5EF4-FFF2-40B4-BE49-F238E27FC236}">
                <a16:creationId xmlns:a16="http://schemas.microsoft.com/office/drawing/2014/main" id="{F888EE71-82B3-40F1-A63F-7417422FB4A4}"/>
              </a:ext>
            </a:extLst>
          </p:cNvPr>
          <p:cNvSpPr>
            <a:spLocks noGrp="1"/>
          </p:cNvSpPr>
          <p:nvPr>
            <p:ph type="sldNum" sz="quarter" idx="4"/>
          </p:nvPr>
        </p:nvSpPr>
        <p:spPr>
          <a:xfrm>
            <a:off x="11753030" y="6444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a:t>
            </a:fld>
            <a:endParaRPr lang="en-US" noProof="0"/>
          </a:p>
        </p:txBody>
      </p:sp>
      <p:sp>
        <p:nvSpPr>
          <p:cNvPr id="14" name="Text Placeholder Body">
            <a:extLst>
              <a:ext uri="{FF2B5EF4-FFF2-40B4-BE49-F238E27FC236}">
                <a16:creationId xmlns:a16="http://schemas.microsoft.com/office/drawing/2014/main" id="{A2ABE920-240F-4CF6-AD45-23ED489FAD6E}"/>
              </a:ext>
            </a:extLst>
          </p:cNvPr>
          <p:cNvSpPr>
            <a:spLocks noGrp="1"/>
          </p:cNvSpPr>
          <p:nvPr>
            <p:ph type="body" sz="quarter" idx="13" hasCustomPrompt="1"/>
          </p:nvPr>
        </p:nvSpPr>
        <p:spPr>
          <a:xfrm>
            <a:off x="4569002" y="1353866"/>
            <a:ext cx="7426234" cy="5219931"/>
          </a:xfrm>
        </p:spPr>
        <p:txBody>
          <a:bodyPr/>
          <a:lstStyle>
            <a:lvl1pPr latinLnBrk="0">
              <a:defRPr/>
            </a:lvl1pPr>
            <a:lvl2pPr latinLnBrk="0">
              <a:defRPr/>
            </a:lvl2pPr>
            <a:lvl3pPr latinLnBrk="0">
              <a:defRPr/>
            </a:lvl3pPr>
            <a:lvl4pPr latinLnBrk="0">
              <a:defRPr/>
            </a:lvl4pPr>
            <a:lvl5pPr latinLnBrk="0">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Picture Placeholder Left"/>
          <p:cNvSpPr>
            <a:spLocks noGrp="1"/>
          </p:cNvSpPr>
          <p:nvPr>
            <p:ph type="pic" idx="1" hasCustomPrompt="1"/>
          </p:nvPr>
        </p:nvSpPr>
        <p:spPr>
          <a:xfrm>
            <a:off x="190405" y="1355077"/>
            <a:ext cx="3889373" cy="5366405"/>
          </a:xfrm>
          <a:prstGeom prst="rect">
            <a:avLst/>
          </a:prstGeom>
          <a:solidFill>
            <a:schemeClr val="bg2">
              <a:lumMod val="90000"/>
            </a:schemeClr>
          </a:solidFill>
        </p:spPr>
        <p:txBody>
          <a:bodyPr anchor="ctr"/>
          <a:lstStyle>
            <a:lvl1pPr marL="0" indent="0" algn="ctr" latinLnBrk="0">
              <a:buNone/>
              <a:defRPr sz="2131" baseline="0">
                <a:solidFill>
                  <a:schemeClr val="tx1"/>
                </a:solidFill>
                <a:latin typeface="+mn-lt"/>
                <a:cs typeface="Arial" pitchFamily="34" charset="0"/>
              </a:defRPr>
            </a:lvl1pPr>
            <a:lvl2pPr marL="609219" indent="0">
              <a:buNone/>
              <a:defRPr sz="3731"/>
            </a:lvl2pPr>
            <a:lvl3pPr marL="1218438" indent="0">
              <a:buNone/>
              <a:defRPr sz="3198"/>
            </a:lvl3pPr>
            <a:lvl4pPr marL="1827657" indent="0">
              <a:buNone/>
              <a:defRPr sz="2665"/>
            </a:lvl4pPr>
            <a:lvl5pPr marL="2436876" indent="0">
              <a:buNone/>
              <a:defRPr sz="2665"/>
            </a:lvl5pPr>
            <a:lvl6pPr marL="3046096" indent="0">
              <a:buNone/>
              <a:defRPr sz="2665"/>
            </a:lvl6pPr>
            <a:lvl7pPr marL="3655315" indent="0">
              <a:buNone/>
              <a:defRPr sz="2665"/>
            </a:lvl7pPr>
            <a:lvl8pPr marL="4264533" indent="0">
              <a:buNone/>
              <a:defRPr sz="2665"/>
            </a:lvl8pPr>
            <a:lvl9pPr marL="4873752" indent="0">
              <a:buNone/>
              <a:defRPr sz="2665"/>
            </a:lvl9pPr>
          </a:lstStyle>
          <a:p>
            <a:r>
              <a:rPr lang="en-US" altLang="ko-KR" noProof="0"/>
              <a:t>Your Picture Here</a:t>
            </a:r>
          </a:p>
        </p:txBody>
      </p:sp>
      <p:sp>
        <p:nvSpPr>
          <p:cNvPr id="3" name="Rectangle Left Second"/>
          <p:cNvSpPr/>
          <p:nvPr/>
        </p:nvSpPr>
        <p:spPr>
          <a:xfrm>
            <a:off x="4127777" y="1748999"/>
            <a:ext cx="240001" cy="3360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a:ln>
                <a:noFill/>
              </a:ln>
              <a:solidFill>
                <a:srgbClr val="F7C86D"/>
              </a:solidFill>
              <a:effectLst/>
              <a:uLnTx/>
              <a:uFillTx/>
              <a:latin typeface="Calibri" panose="020F0502020204030204"/>
              <a:ea typeface="맑은 고딕" panose="020B0503020000020004" pitchFamily="34" charset="-127"/>
              <a:cs typeface="+mn-cs"/>
            </a:endParaRPr>
          </a:p>
        </p:txBody>
      </p:sp>
      <p:sp>
        <p:nvSpPr>
          <p:cNvPr id="2" name="Rectangle Left First"/>
          <p:cNvSpPr/>
          <p:nvPr/>
        </p:nvSpPr>
        <p:spPr>
          <a:xfrm>
            <a:off x="4079775" y="1355073"/>
            <a:ext cx="48001" cy="550292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a:ln>
                <a:noFill/>
              </a:ln>
              <a:solidFill>
                <a:srgbClr val="F7C86D"/>
              </a:solidFill>
              <a:effectLst/>
              <a:uLnTx/>
              <a:uFillTx/>
              <a:latin typeface="Calibri" panose="020F0502020204030204"/>
              <a:ea typeface="맑은 고딕" panose="020B0503020000020004" pitchFamily="34" charset="-127"/>
              <a:cs typeface="+mn-cs"/>
            </a:endParaRPr>
          </a:p>
        </p:txBody>
      </p:sp>
      <p:sp>
        <p:nvSpPr>
          <p:cNvPr id="10" name="Rectangle Down">
            <a:extLst>
              <a:ext uri="{FF2B5EF4-FFF2-40B4-BE49-F238E27FC236}">
                <a16:creationId xmlns:a16="http://schemas.microsoft.com/office/drawing/2014/main" id="{E9B994EC-35A8-4A11-98CB-25DC28852F94}"/>
              </a:ext>
            </a:extLst>
          </p:cNvPr>
          <p:cNvSpPr/>
          <p:nvPr/>
        </p:nvSpPr>
        <p:spPr>
          <a:xfrm>
            <a:off x="2" y="6721482"/>
            <a:ext cx="12192000" cy="1365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a:ln>
                <a:noFill/>
              </a:ln>
              <a:solidFill>
                <a:srgbClr val="F7C86D"/>
              </a:solidFill>
              <a:effectLst/>
              <a:uLnTx/>
              <a:uFillTx/>
              <a:latin typeface="Calibri" panose="020F0502020204030204"/>
              <a:ea typeface="맑은 고딕" panose="020B0503020000020004" pitchFamily="34" charset="-127"/>
              <a:cs typeface="+mn-cs"/>
            </a:endParaRPr>
          </a:p>
        </p:txBody>
      </p:sp>
      <p:sp>
        <p:nvSpPr>
          <p:cNvPr id="11" name="Rectangle Top">
            <a:extLst>
              <a:ext uri="{FF2B5EF4-FFF2-40B4-BE49-F238E27FC236}">
                <a16:creationId xmlns:a16="http://schemas.microsoft.com/office/drawing/2014/main" id="{274B8F05-DFCE-47BD-BAFD-DF93E1A63BDD}"/>
              </a:ext>
            </a:extLst>
          </p:cNvPr>
          <p:cNvSpPr/>
          <p:nvPr userDrawn="1"/>
        </p:nvSpPr>
        <p:spPr>
          <a:xfrm>
            <a:off x="0" y="0"/>
            <a:ext cx="12196800" cy="109537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a:ln>
                <a:noFill/>
              </a:ln>
              <a:solidFill>
                <a:srgbClr val="F7C86D"/>
              </a:solidFill>
              <a:effectLst/>
              <a:uLnTx/>
              <a:uFillTx/>
              <a:latin typeface="Calibri" panose="020F0502020204030204"/>
              <a:ea typeface="맑은 고딕" panose="020B0503020000020004" pitchFamily="34" charset="-127"/>
              <a:cs typeface="+mn-cs"/>
            </a:endParaRPr>
          </a:p>
        </p:txBody>
      </p:sp>
      <p:pic>
        <p:nvPicPr>
          <p:cNvPr id="12" name="Logo Software University" descr="Software University logo">
            <a:extLst>
              <a:ext uri="{FF2B5EF4-FFF2-40B4-BE49-F238E27FC236}">
                <a16:creationId xmlns:a16="http://schemas.microsoft.com/office/drawing/2014/main" id="{233CBB95-791E-4630-B3D9-FADFCE7BCF5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67957" y="253936"/>
            <a:ext cx="1915704" cy="559235"/>
          </a:xfrm>
          <a:prstGeom prst="rect">
            <a:avLst/>
          </a:prstGeom>
        </p:spPr>
      </p:pic>
      <p:sp>
        <p:nvSpPr>
          <p:cNvPr id="13" name="Slide Title">
            <a:extLst>
              <a:ext uri="{FF2B5EF4-FFF2-40B4-BE49-F238E27FC236}">
                <a16:creationId xmlns:a16="http://schemas.microsoft.com/office/drawing/2014/main" id="{3F218E34-55D7-4290-BFE4-80F31F941551}"/>
              </a:ext>
            </a:extLst>
          </p:cNvPr>
          <p:cNvSpPr>
            <a:spLocks noGrp="1"/>
          </p:cNvSpPr>
          <p:nvPr>
            <p:ph type="title" hasCustomPrompt="1"/>
          </p:nvPr>
        </p:nvSpPr>
        <p:spPr>
          <a:xfrm>
            <a:off x="190406" y="100750"/>
            <a:ext cx="9715594" cy="882654"/>
          </a:xfrm>
        </p:spPr>
        <p:txBody>
          <a:bodyPr/>
          <a:lstStyle>
            <a:lvl1pPr latinLnBrk="0">
              <a:defRPr>
                <a:solidFill>
                  <a:schemeClr val="bg2"/>
                </a:solidFill>
              </a:defRPr>
            </a:lvl1pPr>
          </a:lstStyle>
          <a:p>
            <a:r>
              <a:rPr lang="en-US" noProof="0" dirty="0"/>
              <a:t>Slide Title</a:t>
            </a:r>
          </a:p>
        </p:txBody>
      </p:sp>
    </p:spTree>
    <p:extLst>
      <p:ext uri="{BB962C8B-B14F-4D97-AF65-F5344CB8AC3E}">
        <p14:creationId xmlns:p14="http://schemas.microsoft.com/office/powerpoint/2010/main" val="3774019400"/>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Questions Slide">
    <p:bg>
      <p:bgPr>
        <a:solidFill>
          <a:schemeClr val="bg2"/>
        </a:solidFill>
        <a:effectLst/>
      </p:bgPr>
    </p:bg>
    <p:spTree>
      <p:nvGrpSpPr>
        <p:cNvPr id="1" name=""/>
        <p:cNvGrpSpPr/>
        <p:nvPr/>
      </p:nvGrpSpPr>
      <p:grpSpPr>
        <a:xfrm>
          <a:off x="0" y="0"/>
          <a:ext cx="0" cy="0"/>
          <a:chOff x="0" y="0"/>
          <a:chExt cx="0" cy="0"/>
        </a:xfrm>
      </p:grpSpPr>
      <p:sp>
        <p:nvSpPr>
          <p:cNvPr id="35" name="Rectangle Bottom">
            <a:extLst>
              <a:ext uri="{FF2B5EF4-FFF2-40B4-BE49-F238E27FC236}">
                <a16:creationId xmlns:a16="http://schemas.microsoft.com/office/drawing/2014/main" id="{550A59F9-9A9D-4956-95B4-F78CC0DB1D59}"/>
              </a:ext>
            </a:extLst>
          </p:cNvPr>
          <p:cNvSpPr/>
          <p:nvPr userDrawn="1"/>
        </p:nvSpPr>
        <p:spPr>
          <a:xfrm>
            <a:off x="0" y="6371332"/>
            <a:ext cx="12195176" cy="48723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a:ln>
                <a:noFill/>
              </a:ln>
              <a:solidFill>
                <a:srgbClr val="F7C86D"/>
              </a:solidFill>
              <a:effectLst/>
              <a:uLnTx/>
              <a:uFillTx/>
              <a:latin typeface="Calibri" panose="020F0502020204030204"/>
              <a:ea typeface="맑은 고딕" panose="020B0503020000020004" pitchFamily="34" charset="-127"/>
              <a:cs typeface="+mn-cs"/>
            </a:endParaRPr>
          </a:p>
        </p:txBody>
      </p:sp>
      <p:sp>
        <p:nvSpPr>
          <p:cNvPr id="53" name="Rectangle Bottom Copyright">
            <a:extLst>
              <a:ext uri="{FF2B5EF4-FFF2-40B4-BE49-F238E27FC236}">
                <a16:creationId xmlns:a16="http://schemas.microsoft.com/office/drawing/2014/main" id="{B07FB7FB-DA6C-4F5D-B068-357F0FCE27D8}"/>
              </a:ext>
            </a:extLst>
          </p:cNvPr>
          <p:cNvSpPr/>
          <p:nvPr userDrawn="1"/>
        </p:nvSpPr>
        <p:spPr>
          <a:xfrm>
            <a:off x="111000" y="6454758"/>
            <a:ext cx="11970000" cy="258449"/>
          </a:xfrm>
          <a:prstGeom prst="rect">
            <a:avLst/>
          </a:prstGeom>
        </p:spPr>
        <p:txBody>
          <a:bodyPr wrap="square">
            <a:noAutofit/>
          </a:bodyPr>
          <a:lstStyle/>
          <a:p>
            <a:pPr algn="ctr">
              <a:lnSpc>
                <a:spcPct val="100000"/>
              </a:lnSpc>
              <a:spcBef>
                <a:spcPts val="0"/>
              </a:spcBef>
              <a:spcAft>
                <a:spcPts val="0"/>
              </a:spcAft>
            </a:pPr>
            <a:r>
              <a:rPr lang="en-US" sz="1600" noProof="0" dirty="0">
                <a:solidFill>
                  <a:schemeClr val="bg2"/>
                </a:solidFill>
                <a:effectLst/>
                <a:latin typeface="Calibri" panose="020F0502020204030204" pitchFamily="34" charset="0"/>
                <a:ea typeface="Calibri" panose="020F0502020204030204" pitchFamily="34" charset="0"/>
                <a:cs typeface="Arial" panose="020B0604020202020204" pitchFamily="34" charset="0"/>
              </a:rPr>
              <a:t>© SoftUni – </a:t>
            </a:r>
            <a:r>
              <a:rPr lang="en-US" sz="1600" u="sng" noProof="0" dirty="0">
                <a:solidFill>
                  <a:schemeClr val="bg2"/>
                </a:solidFill>
                <a:effectLst/>
                <a:latin typeface="Calibri" panose="020F0502020204030204" pitchFamily="34" charset="0"/>
                <a:ea typeface="Calibri" panose="020F0502020204030204" pitchFamily="34" charset="0"/>
                <a:cs typeface="Arial" panose="020B0604020202020204" pitchFamily="34" charset="0"/>
                <a:hlinkClick r:id="rId2">
                  <a:extLst>
                    <a:ext uri="{A12FA001-AC4F-418D-AE19-62706E023703}">
                      <ahyp:hlinkClr xmlns:ahyp="http://schemas.microsoft.com/office/drawing/2018/hyperlinkcolor" val="tx"/>
                    </a:ext>
                  </a:extLst>
                </a:hlinkClick>
              </a:rPr>
              <a:t>https://about.softuni.</a:t>
            </a:r>
            <a:r>
              <a:rPr lang="en-US" sz="1600" u="sng" noProof="0" dirty="0">
                <a:solidFill>
                  <a:schemeClr val="bg2"/>
                </a:solidFill>
                <a:effectLst/>
                <a:latin typeface="Calibri" panose="020F0502020204030204" pitchFamily="34" charset="0"/>
                <a:ea typeface="Calibri" panose="020F0502020204030204" pitchFamily="34" charset="0"/>
                <a:cs typeface="Arial" panose="020B0604020202020204" pitchFamily="34" charset="0"/>
              </a:rPr>
              <a:t>bg</a:t>
            </a:r>
            <a:r>
              <a:rPr lang="en-US" sz="1600" noProof="0" dirty="0">
                <a:solidFill>
                  <a:schemeClr val="bg2"/>
                </a:solidFill>
                <a:effectLst/>
                <a:latin typeface="Calibri" panose="020F0502020204030204" pitchFamily="34" charset="0"/>
                <a:ea typeface="Calibri" panose="020F0502020204030204" pitchFamily="34" charset="0"/>
                <a:cs typeface="Arial" panose="020B0604020202020204" pitchFamily="34" charset="0"/>
              </a:rPr>
              <a:t>. Copyrighted document. Unauthorized copy, reproduction or use is not permitted.</a:t>
            </a:r>
            <a:endParaRPr lang="en-US" sz="2400" noProof="0" dirty="0">
              <a:solidFill>
                <a:schemeClr val="bg2"/>
              </a:solidFill>
              <a:effectLst/>
              <a:latin typeface="Calibri" panose="020F0502020204030204" pitchFamily="34" charset="0"/>
              <a:ea typeface="Calibri" panose="020F0502020204030204" pitchFamily="34" charset="0"/>
              <a:cs typeface="Arial" panose="020B0604020202020204" pitchFamily="34" charset="0"/>
            </a:endParaRPr>
          </a:p>
        </p:txBody>
      </p:sp>
      <p:pic>
        <p:nvPicPr>
          <p:cNvPr id="26" name="Picture SoftUni Mascot" descr="SoftUni mascot with open hand">
            <a:extLst>
              <a:ext uri="{FF2B5EF4-FFF2-40B4-BE49-F238E27FC236}">
                <a16:creationId xmlns:a16="http://schemas.microsoft.com/office/drawing/2014/main" id="{247CFF3C-C4FA-493D-8505-DF469F4D36A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2586" y="2898830"/>
            <a:ext cx="2451608" cy="2959741"/>
          </a:xfrm>
          <a:prstGeom prst="rect">
            <a:avLst/>
          </a:prstGeom>
        </p:spPr>
      </p:pic>
      <p:grpSp>
        <p:nvGrpSpPr>
          <p:cNvPr id="2" name="Group SoftUni Brands">
            <a:extLst>
              <a:ext uri="{FF2B5EF4-FFF2-40B4-BE49-F238E27FC236}">
                <a16:creationId xmlns:a16="http://schemas.microsoft.com/office/drawing/2014/main" id="{418FAE34-C1F8-46C7-A4AE-F270D1E70F25}"/>
              </a:ext>
            </a:extLst>
          </p:cNvPr>
          <p:cNvGrpSpPr/>
          <p:nvPr userDrawn="1"/>
        </p:nvGrpSpPr>
        <p:grpSpPr>
          <a:xfrm>
            <a:off x="3332216" y="1702473"/>
            <a:ext cx="8314909" cy="3543782"/>
            <a:chOff x="3332216" y="1702473"/>
            <a:chExt cx="8314909" cy="3543782"/>
          </a:xfrm>
        </p:grpSpPr>
        <p:pic>
          <p:nvPicPr>
            <p:cNvPr id="24" name="Picture SoftUni Kids Logo" descr="SoftUni Kids logo">
              <a:extLst>
                <a:ext uri="{FF2B5EF4-FFF2-40B4-BE49-F238E27FC236}">
                  <a16:creationId xmlns:a16="http://schemas.microsoft.com/office/drawing/2014/main" id="{B0812936-74B6-4265-8C08-AEDC8C79870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516883" y="3776294"/>
              <a:ext cx="1130242" cy="1389256"/>
            </a:xfrm>
            <a:prstGeom prst="rect">
              <a:avLst/>
            </a:prstGeom>
          </p:spPr>
        </p:pic>
        <p:pic>
          <p:nvPicPr>
            <p:cNvPr id="23" name="Picture SoftUni Foundation Logo" descr="SoftUni Foundation logo">
              <a:extLst>
                <a:ext uri="{FF2B5EF4-FFF2-40B4-BE49-F238E27FC236}">
                  <a16:creationId xmlns:a16="http://schemas.microsoft.com/office/drawing/2014/main" id="{6643F71A-2013-433A-8322-FBAAED3162D8}"/>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9053913" y="3788231"/>
              <a:ext cx="1166400" cy="1350756"/>
            </a:xfrm>
            <a:prstGeom prst="rect">
              <a:avLst/>
            </a:prstGeom>
          </p:spPr>
        </p:pic>
        <p:pic>
          <p:nvPicPr>
            <p:cNvPr id="22" name="Picture SoftUni Digital Logo" descr="SoftUni Digital logo">
              <a:extLst>
                <a:ext uri="{FF2B5EF4-FFF2-40B4-BE49-F238E27FC236}">
                  <a16:creationId xmlns:a16="http://schemas.microsoft.com/office/drawing/2014/main" id="{0A83D66F-855B-463B-920B-BF239B01A206}"/>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7657695" y="3789000"/>
              <a:ext cx="1084614" cy="1457255"/>
            </a:xfrm>
            <a:prstGeom prst="rect">
              <a:avLst/>
            </a:prstGeom>
          </p:spPr>
        </p:pic>
        <p:pic>
          <p:nvPicPr>
            <p:cNvPr id="21" name="Picture SoftUni Creative Logo" descr="SoftUni Creative logo">
              <a:extLst>
                <a:ext uri="{FF2B5EF4-FFF2-40B4-BE49-F238E27FC236}">
                  <a16:creationId xmlns:a16="http://schemas.microsoft.com/office/drawing/2014/main" id="{EA755AAE-BA08-481C-9224-0061170EE4B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173913" y="3776293"/>
              <a:ext cx="1166400" cy="1389257"/>
            </a:xfrm>
            <a:prstGeom prst="rect">
              <a:avLst/>
            </a:prstGeom>
          </p:spPr>
        </p:pic>
        <p:pic>
          <p:nvPicPr>
            <p:cNvPr id="20" name="Picture SoftUni Svetlina Logo" descr="SoftUni Svetlina logo">
              <a:extLst>
                <a:ext uri="{FF2B5EF4-FFF2-40B4-BE49-F238E27FC236}">
                  <a16:creationId xmlns:a16="http://schemas.microsoft.com/office/drawing/2014/main" id="{827D15FD-4C66-4B85-98E6-7826AA8F61C6}"/>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735029" y="3776293"/>
              <a:ext cx="1166400" cy="1402229"/>
            </a:xfrm>
            <a:prstGeom prst="rect">
              <a:avLst/>
            </a:prstGeom>
          </p:spPr>
        </p:pic>
        <p:pic>
          <p:nvPicPr>
            <p:cNvPr id="25" name="Picture Software University Logo" descr="Software University logo">
              <a:extLst>
                <a:ext uri="{FF2B5EF4-FFF2-40B4-BE49-F238E27FC236}">
                  <a16:creationId xmlns:a16="http://schemas.microsoft.com/office/drawing/2014/main" id="{C74C190C-5856-41B9-8819-AE8DE0E10980}"/>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332216" y="3776295"/>
              <a:ext cx="1164654" cy="1440000"/>
            </a:xfrm>
            <a:prstGeom prst="rect">
              <a:avLst/>
            </a:prstGeom>
          </p:spPr>
        </p:pic>
        <p:cxnSp>
          <p:nvCxnSpPr>
            <p:cNvPr id="33" name="Straight Connector 6">
              <a:extLst>
                <a:ext uri="{FF2B5EF4-FFF2-40B4-BE49-F238E27FC236}">
                  <a16:creationId xmlns:a16="http://schemas.microsoft.com/office/drawing/2014/main" id="{5C63D1E8-4A92-4691-8A24-A2FC7E8008E5}"/>
                </a:ext>
              </a:extLst>
            </p:cNvPr>
            <p:cNvCxnSpPr>
              <a:cxnSpLocks/>
            </p:cNvCxnSpPr>
            <p:nvPr userDrawn="1"/>
          </p:nvCxnSpPr>
          <p:spPr>
            <a:xfrm>
              <a:off x="11077113" y="3335565"/>
              <a:ext cx="0" cy="23622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32" name="Straight Connector 5">
              <a:extLst>
                <a:ext uri="{FF2B5EF4-FFF2-40B4-BE49-F238E27FC236}">
                  <a16:creationId xmlns:a16="http://schemas.microsoft.com/office/drawing/2014/main" id="{6E91D320-3732-40B8-864D-142D0A277ED1}"/>
                </a:ext>
              </a:extLst>
            </p:cNvPr>
            <p:cNvCxnSpPr>
              <a:cxnSpLocks/>
            </p:cNvCxnSpPr>
            <p:nvPr userDrawn="1"/>
          </p:nvCxnSpPr>
          <p:spPr>
            <a:xfrm>
              <a:off x="9637113" y="3329215"/>
              <a:ext cx="0" cy="23622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31" name="Straight Connector 4">
              <a:extLst>
                <a:ext uri="{FF2B5EF4-FFF2-40B4-BE49-F238E27FC236}">
                  <a16:creationId xmlns:a16="http://schemas.microsoft.com/office/drawing/2014/main" id="{299ABE09-E33C-46B7-A80D-7BF4A6956211}"/>
                </a:ext>
              </a:extLst>
            </p:cNvPr>
            <p:cNvCxnSpPr/>
            <p:nvPr userDrawn="1"/>
          </p:nvCxnSpPr>
          <p:spPr>
            <a:xfrm>
              <a:off x="8197113" y="3329215"/>
              <a:ext cx="0" cy="23622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30" name="Straight Connector 3">
              <a:extLst>
                <a:ext uri="{FF2B5EF4-FFF2-40B4-BE49-F238E27FC236}">
                  <a16:creationId xmlns:a16="http://schemas.microsoft.com/office/drawing/2014/main" id="{93DDBF37-0764-47AA-94E3-9A44F3ED8FB5}"/>
                </a:ext>
              </a:extLst>
            </p:cNvPr>
            <p:cNvCxnSpPr/>
            <p:nvPr userDrawn="1"/>
          </p:nvCxnSpPr>
          <p:spPr>
            <a:xfrm>
              <a:off x="6757113" y="3329215"/>
              <a:ext cx="0" cy="23622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9" name="Straight Connector 2">
              <a:extLst>
                <a:ext uri="{FF2B5EF4-FFF2-40B4-BE49-F238E27FC236}">
                  <a16:creationId xmlns:a16="http://schemas.microsoft.com/office/drawing/2014/main" id="{72BFE2F3-0845-4E5B-9375-E9D4027DD675}"/>
                </a:ext>
              </a:extLst>
            </p:cNvPr>
            <p:cNvCxnSpPr/>
            <p:nvPr userDrawn="1"/>
          </p:nvCxnSpPr>
          <p:spPr>
            <a:xfrm>
              <a:off x="5309913" y="3335565"/>
              <a:ext cx="0" cy="23622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8" name="Straight Connector 1">
              <a:extLst>
                <a:ext uri="{FF2B5EF4-FFF2-40B4-BE49-F238E27FC236}">
                  <a16:creationId xmlns:a16="http://schemas.microsoft.com/office/drawing/2014/main" id="{D4E5982E-3110-47E1-A5BB-91B7BECC3093}"/>
                </a:ext>
              </a:extLst>
            </p:cNvPr>
            <p:cNvCxnSpPr/>
            <p:nvPr userDrawn="1"/>
          </p:nvCxnSpPr>
          <p:spPr>
            <a:xfrm>
              <a:off x="3915327" y="3335565"/>
              <a:ext cx="0" cy="23622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7" name="Straight Connector Horizontal">
              <a:extLst>
                <a:ext uri="{FF2B5EF4-FFF2-40B4-BE49-F238E27FC236}">
                  <a16:creationId xmlns:a16="http://schemas.microsoft.com/office/drawing/2014/main" id="{5F62FB7C-BD6E-4383-98C1-2CF30F34CAFD}"/>
                </a:ext>
              </a:extLst>
            </p:cNvPr>
            <p:cNvCxnSpPr>
              <a:cxnSpLocks/>
            </p:cNvCxnSpPr>
            <p:nvPr userDrawn="1"/>
          </p:nvCxnSpPr>
          <p:spPr>
            <a:xfrm>
              <a:off x="3915327" y="3335565"/>
              <a:ext cx="7161786"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34" name="Straight Connector 0">
              <a:extLst>
                <a:ext uri="{FF2B5EF4-FFF2-40B4-BE49-F238E27FC236}">
                  <a16:creationId xmlns:a16="http://schemas.microsoft.com/office/drawing/2014/main" id="{C84A0FE1-723D-4682-8682-77BAD950EE15}"/>
                </a:ext>
              </a:extLst>
            </p:cNvPr>
            <p:cNvCxnSpPr/>
            <p:nvPr userDrawn="1"/>
          </p:nvCxnSpPr>
          <p:spPr>
            <a:xfrm>
              <a:off x="7496220" y="3092995"/>
              <a:ext cx="0" cy="236220"/>
            </a:xfrm>
            <a:prstGeom prst="line">
              <a:avLst/>
            </a:prstGeom>
            <a:ln w="25400"/>
          </p:spPr>
          <p:style>
            <a:lnRef idx="1">
              <a:schemeClr val="accent1"/>
            </a:lnRef>
            <a:fillRef idx="0">
              <a:schemeClr val="accent1"/>
            </a:fillRef>
            <a:effectRef idx="0">
              <a:schemeClr val="accent1"/>
            </a:effectRef>
            <a:fontRef idx="minor">
              <a:schemeClr val="tx1"/>
            </a:fontRef>
          </p:style>
        </p:cxnSp>
        <p:pic>
          <p:nvPicPr>
            <p:cNvPr id="18" name="Picture SoftUni Logo" descr="SoftUni logo">
              <a:extLst>
                <a:ext uri="{FF2B5EF4-FFF2-40B4-BE49-F238E27FC236}">
                  <a16:creationId xmlns:a16="http://schemas.microsoft.com/office/drawing/2014/main" id="{A0675455-B7FA-4569-A5FD-A3B0F20B2A26}"/>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6896770" y="1702473"/>
              <a:ext cx="1198901" cy="1198901"/>
            </a:xfrm>
            <a:prstGeom prst="rect">
              <a:avLst/>
            </a:prstGeom>
          </p:spPr>
        </p:pic>
      </p:grpSp>
      <p:sp>
        <p:nvSpPr>
          <p:cNvPr id="19" name="Slide Title">
            <a:extLst>
              <a:ext uri="{FF2B5EF4-FFF2-40B4-BE49-F238E27FC236}">
                <a16:creationId xmlns:a16="http://schemas.microsoft.com/office/drawing/2014/main" id="{7CFDBB16-985C-4CC7-B6DB-B81B36037922}"/>
              </a:ext>
            </a:extLst>
          </p:cNvPr>
          <p:cNvSpPr>
            <a:spLocks noGrp="1"/>
          </p:cNvSpPr>
          <p:nvPr>
            <p:ph type="title"/>
          </p:nvPr>
        </p:nvSpPr>
        <p:spPr>
          <a:xfrm>
            <a:off x="809628" y="703244"/>
            <a:ext cx="5916372" cy="1033303"/>
          </a:xfrm>
          <a:prstGeom prst="rect">
            <a:avLst/>
          </a:prstGeom>
        </p:spPr>
        <p:txBody>
          <a:bodyPr wrap="none" lIns="0" tIns="0" rIns="0" bIns="0" anchor="ctr" anchorCtr="0">
            <a:noAutofit/>
            <a:scene3d>
              <a:camera prst="orthographicFront"/>
              <a:lightRig rig="soft" dir="t">
                <a:rot lat="0" lon="0" rev="10800000"/>
              </a:lightRig>
            </a:scene3d>
            <a:sp3d>
              <a:bevelT w="27940" h="12700"/>
              <a:contourClr>
                <a:srgbClr val="DDDDDD"/>
              </a:contourClr>
            </a:sp3d>
          </a:bodyPr>
          <a:lstStyle/>
          <a:p>
            <a:pPr marL="0" marR="0" lvl="0" indent="0" algn="l" defTabSz="913852" rtl="0" eaLnBrk="0" fontAlgn="auto" latinLnBrk="0" hangingPunct="0">
              <a:lnSpc>
                <a:spcPct val="100000"/>
              </a:lnSpc>
              <a:spcBef>
                <a:spcPts val="0"/>
              </a:spcBef>
              <a:spcAft>
                <a:spcPts val="0"/>
              </a:spcAft>
              <a:buClr>
                <a:srgbClr val="67748E">
                  <a:lumMod val="40000"/>
                  <a:lumOff val="60000"/>
                </a:srgbClr>
              </a:buClr>
              <a:buSzPct val="70000"/>
              <a:buFont typeface="Wingdings 2" pitchFamily="18" charset="2"/>
              <a:buNone/>
              <a:tabLst/>
              <a:defRPr/>
            </a:pPr>
            <a:r>
              <a:rPr kumimoji="0" lang="en-US" sz="8797" b="1" i="0" u="none" strike="noStrike" kern="1200" cap="none" spc="0" normalizeH="0" baseline="0" noProof="0" dirty="0">
                <a:ln>
                  <a:noFill/>
                </a:ln>
                <a:solidFill>
                  <a:srgbClr val="234465"/>
                </a:solidFill>
                <a:effectLst/>
                <a:uLnTx/>
                <a:uFillTx/>
                <a:latin typeface="Calibri" panose="020F0502020204030204"/>
                <a:ea typeface="+mn-ea"/>
                <a:cs typeface="+mn-cs"/>
              </a:rPr>
              <a:t>Questions?</a:t>
            </a:r>
            <a:endParaRPr kumimoji="0" lang="en-US" sz="8797" b="1" i="0" u="none" strike="noStrike" kern="1200" cap="none" spc="150" normalizeH="0" baseline="0" noProof="0" dirty="0">
              <a:ln w="11430"/>
              <a:solidFill>
                <a:srgbClr val="234465"/>
              </a:solidFill>
              <a:effectLst>
                <a:outerShdw blurRad="25400" algn="tl" rotWithShape="0">
                  <a:srgbClr val="000000">
                    <a:alpha val="43000"/>
                  </a:srgbClr>
                </a:outerShdw>
              </a:effectLst>
              <a:uLnTx/>
              <a:uFillTx/>
              <a:latin typeface="Calibri" panose="020F0502020204030204"/>
              <a:ea typeface="+mn-ea"/>
              <a:cs typeface="+mn-cs"/>
            </a:endParaRPr>
          </a:p>
        </p:txBody>
      </p:sp>
      <p:pic>
        <p:nvPicPr>
          <p:cNvPr id="36" name="Logo Software University" descr="Software University logo">
            <a:extLst>
              <a:ext uri="{FF2B5EF4-FFF2-40B4-BE49-F238E27FC236}">
                <a16:creationId xmlns:a16="http://schemas.microsoft.com/office/drawing/2014/main" id="{67FC4D2E-913D-432A-B658-F0D82839FA5E}"/>
              </a:ext>
            </a:extLst>
          </p:cNvPr>
          <p:cNvPicPr>
            <a:picLocks noChangeAspect="1"/>
          </p:cNvPicPr>
          <p:nvPr userDrawn="1"/>
        </p:nvPicPr>
        <p:blipFill>
          <a:blip r:embed="rId11"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008761" y="190267"/>
            <a:ext cx="2013336" cy="690975"/>
          </a:xfrm>
          <a:prstGeom prst="rect">
            <a:avLst/>
          </a:prstGeom>
        </p:spPr>
      </p:pic>
    </p:spTree>
    <p:extLst>
      <p:ext uri="{BB962C8B-B14F-4D97-AF65-F5344CB8AC3E}">
        <p14:creationId xmlns:p14="http://schemas.microsoft.com/office/powerpoint/2010/main" val="4192061223"/>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bout Slide">
    <p:spTree>
      <p:nvGrpSpPr>
        <p:cNvPr id="1" name=""/>
        <p:cNvGrpSpPr/>
        <p:nvPr/>
      </p:nvGrpSpPr>
      <p:grpSpPr>
        <a:xfrm>
          <a:off x="0" y="0"/>
          <a:ext cx="0" cy="0"/>
          <a:chOff x="0" y="0"/>
          <a:chExt cx="0" cy="0"/>
        </a:xfrm>
      </p:grpSpPr>
      <p:sp>
        <p:nvSpPr>
          <p:cNvPr id="13" name="Slide Number">
            <a:extLst>
              <a:ext uri="{FF2B5EF4-FFF2-40B4-BE49-F238E27FC236}">
                <a16:creationId xmlns:a16="http://schemas.microsoft.com/office/drawing/2014/main" id="{5B8761D8-B42F-4A70-A0CE-682CEB2AE31B}"/>
              </a:ext>
            </a:extLst>
          </p:cNvPr>
          <p:cNvSpPr>
            <a:spLocks noGrp="1"/>
          </p:cNvSpPr>
          <p:nvPr>
            <p:ph type="sldNum" sz="quarter" idx="4"/>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a:t>
            </a:fld>
            <a:endParaRPr lang="en-US" noProof="0" dirty="0"/>
          </a:p>
        </p:txBody>
      </p:sp>
      <p:pic>
        <p:nvPicPr>
          <p:cNvPr id="17" name="Picture Logo FB" descr="Facebook logo">
            <a:hlinkClick r:id="rId2" tooltip="Software University @ Facebook"/>
            <a:extLst>
              <a:ext uri="{FF2B5EF4-FFF2-40B4-BE49-F238E27FC236}">
                <a16:creationId xmlns:a16="http://schemas.microsoft.com/office/drawing/2014/main" id="{6B2C510E-5EF2-49F6-B926-2BD74CD3C7F8}"/>
              </a:ext>
            </a:extLst>
          </p:cNvPr>
          <p:cNvPicPr>
            <a:picLocks noChangeAspect="1" noChangeArrowheads="1"/>
          </p:cNvPicPr>
          <p:nvPr userDrawn="1"/>
        </p:nvPicPr>
        <p:blipFill rotWithShape="1">
          <a:blip r:embed="rId3" cstate="print">
            <a:extLst>
              <a:ext uri="{28A0092B-C50C-407E-A947-70E740481C1C}">
                <a14:useLocalDpi xmlns:a14="http://schemas.microsoft.com/office/drawing/2010/main"/>
              </a:ext>
            </a:extLst>
          </a:blip>
          <a:srcRect/>
          <a:stretch/>
        </p:blipFill>
        <p:spPr bwMode="auto">
          <a:xfrm>
            <a:off x="10507451" y="4239000"/>
            <a:ext cx="1003954" cy="1017562"/>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Logo SoftUni Right" descr="Software University logo">
            <a:hlinkClick r:id="rId4"/>
            <a:extLst>
              <a:ext uri="{FF2B5EF4-FFF2-40B4-BE49-F238E27FC236}">
                <a16:creationId xmlns:a16="http://schemas.microsoft.com/office/drawing/2014/main" id="{F4604840-E810-44B7-9FF1-3B28CD68B758}"/>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413401" y="1674000"/>
            <a:ext cx="1192055" cy="1473880"/>
          </a:xfrm>
          <a:prstGeom prst="rect">
            <a:avLst/>
          </a:prstGeom>
        </p:spPr>
      </p:pic>
      <p:pic>
        <p:nvPicPr>
          <p:cNvPr id="16" name="Picture SoftUni Mascot" descr="SoftUni mascot">
            <a:hlinkClick r:id="rId6"/>
            <a:extLst>
              <a:ext uri="{FF2B5EF4-FFF2-40B4-BE49-F238E27FC236}">
                <a16:creationId xmlns:a16="http://schemas.microsoft.com/office/drawing/2014/main" id="{07C965FA-A87E-4824-AFA8-C67AF548A76A}"/>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p:blipFill>
        <p:spPr>
          <a:xfrm>
            <a:off x="7181957" y="2584289"/>
            <a:ext cx="2732955" cy="3630993"/>
          </a:xfrm>
          <a:prstGeom prst="rect">
            <a:avLst/>
          </a:prstGeom>
        </p:spPr>
      </p:pic>
      <p:sp>
        <p:nvSpPr>
          <p:cNvPr id="12" name="Slide Body Text">
            <a:extLst>
              <a:ext uri="{FF2B5EF4-FFF2-40B4-BE49-F238E27FC236}">
                <a16:creationId xmlns:a16="http://schemas.microsoft.com/office/drawing/2014/main" id="{0C1F9416-8B6E-46DE-973C-777785E27A26}"/>
              </a:ext>
            </a:extLst>
          </p:cNvPr>
          <p:cNvSpPr>
            <a:spLocks noGrp="1"/>
          </p:cNvSpPr>
          <p:nvPr>
            <p:ph idx="4294967295" hasCustomPrompt="1"/>
          </p:nvPr>
        </p:nvSpPr>
        <p:spPr>
          <a:xfrm>
            <a:off x="152410" y="1186307"/>
            <a:ext cx="8688590" cy="5496127"/>
          </a:xfrm>
        </p:spPr>
        <p:txBody>
          <a:bodyPr wrap="square">
            <a:noAutofit/>
          </a:bodyPr>
          <a:lstStyle>
            <a:lvl1pPr latinLnBrk="0">
              <a:buClr>
                <a:schemeClr val="tx1"/>
              </a:buClr>
              <a:defRPr sz="2798"/>
            </a:lvl1pPr>
            <a:lvl2pPr marL="989981" marR="0" indent="-380762" algn="l" defTabSz="1218438" rtl="0" eaLnBrk="1" fontAlgn="auto" latinLnBrk="1" hangingPunct="1">
              <a:lnSpc>
                <a:spcPct val="100000"/>
              </a:lnSpc>
              <a:spcBef>
                <a:spcPts val="600"/>
              </a:spcBef>
              <a:spcAft>
                <a:spcPts val="600"/>
              </a:spcAft>
              <a:buClrTx/>
              <a:buSzTx/>
              <a:buFont typeface="Wingdings" panose="05000000000000000000" pitchFamily="2" charset="2"/>
              <a:buChar char="§"/>
              <a:tabLst>
                <a:tab pos="282405" algn="l"/>
              </a:tabLst>
              <a:defRPr sz="2800"/>
            </a:lvl2pPr>
            <a:lvl3pPr>
              <a:buClr>
                <a:schemeClr val="tx1"/>
              </a:buClr>
              <a:defRPr/>
            </a:lvl3pPr>
          </a:lstStyle>
          <a:p>
            <a:r>
              <a:rPr lang="en-US" sz="3000" noProof="0" dirty="0"/>
              <a:t>Software University – High-Quality Education, Profession and Job for Software Developers</a:t>
            </a:r>
          </a:p>
          <a:p>
            <a:pPr lvl="1"/>
            <a:r>
              <a:rPr lang="en-US" noProof="1">
                <a:hlinkClick r:id="rId6"/>
              </a:rPr>
              <a:t>softuni.bg</a:t>
            </a:r>
            <a:endParaRPr lang="en-US" noProof="1"/>
          </a:p>
          <a:p>
            <a:r>
              <a:rPr lang="en-US" sz="3000" noProof="0" dirty="0"/>
              <a:t>Software University Foundation</a:t>
            </a:r>
          </a:p>
          <a:p>
            <a:pPr lvl="1"/>
            <a:r>
              <a:rPr lang="en-US" noProof="1">
                <a:hlinkClick r:id="rId8"/>
              </a:rPr>
              <a:t>softuni.foundation</a:t>
            </a:r>
            <a:endParaRPr lang="en-US" noProof="1"/>
          </a:p>
          <a:p>
            <a:r>
              <a:rPr lang="en-US" sz="3000" noProof="0" dirty="0"/>
              <a:t>Software University @ Facebook</a:t>
            </a:r>
          </a:p>
          <a:p>
            <a:pPr lvl="1"/>
            <a:r>
              <a:rPr lang="en-US" noProof="1">
                <a:hlinkClick r:id="rId2"/>
              </a:rPr>
              <a:t>facebook.com/SoftwareUniversity</a:t>
            </a:r>
            <a:endParaRPr lang="en-US" noProof="1"/>
          </a:p>
        </p:txBody>
      </p:sp>
      <p:sp>
        <p:nvSpPr>
          <p:cNvPr id="10" name="Rectangle Top">
            <a:extLst>
              <a:ext uri="{FF2B5EF4-FFF2-40B4-BE49-F238E27FC236}">
                <a16:creationId xmlns:a16="http://schemas.microsoft.com/office/drawing/2014/main" id="{86646B95-5E3B-4DE8-9118-031C2C296D8C}"/>
              </a:ext>
            </a:extLst>
          </p:cNvPr>
          <p:cNvSpPr/>
          <p:nvPr userDrawn="1"/>
        </p:nvSpPr>
        <p:spPr>
          <a:xfrm>
            <a:off x="0" y="0"/>
            <a:ext cx="12195176" cy="109537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dirty="0">
              <a:ln>
                <a:noFill/>
              </a:ln>
              <a:solidFill>
                <a:srgbClr val="F7C86D"/>
              </a:solidFill>
              <a:effectLst/>
              <a:uLnTx/>
              <a:uFillTx/>
              <a:latin typeface="Calibri" panose="020F0502020204030204"/>
              <a:ea typeface="맑은 고딕" panose="020B0503020000020004" pitchFamily="34" charset="-127"/>
              <a:cs typeface="+mn-cs"/>
            </a:endParaRPr>
          </a:p>
        </p:txBody>
      </p:sp>
      <p:pic>
        <p:nvPicPr>
          <p:cNvPr id="11" name="Logo Software University" descr="Software University logo">
            <a:extLst>
              <a:ext uri="{FF2B5EF4-FFF2-40B4-BE49-F238E27FC236}">
                <a16:creationId xmlns:a16="http://schemas.microsoft.com/office/drawing/2014/main" id="{58AB1944-B146-4E89-B2D9-426EB610F319}"/>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0067957" y="253936"/>
            <a:ext cx="1915704" cy="559235"/>
          </a:xfrm>
          <a:prstGeom prst="rect">
            <a:avLst/>
          </a:prstGeom>
        </p:spPr>
      </p:pic>
      <p:sp>
        <p:nvSpPr>
          <p:cNvPr id="18" name="Slide Title">
            <a:extLst>
              <a:ext uri="{FF2B5EF4-FFF2-40B4-BE49-F238E27FC236}">
                <a16:creationId xmlns:a16="http://schemas.microsoft.com/office/drawing/2014/main" id="{AE87ED9C-76E1-4D85-9B06-3AF44AABB668}"/>
              </a:ext>
            </a:extLst>
          </p:cNvPr>
          <p:cNvSpPr>
            <a:spLocks noGrp="1"/>
          </p:cNvSpPr>
          <p:nvPr>
            <p:ph type="title" hasCustomPrompt="1"/>
          </p:nvPr>
        </p:nvSpPr>
        <p:spPr>
          <a:xfrm>
            <a:off x="172286" y="108873"/>
            <a:ext cx="9742626" cy="882654"/>
          </a:xfrm>
        </p:spPr>
        <p:txBody>
          <a:bodyPr/>
          <a:lstStyle>
            <a:lvl1pPr latinLnBrk="0">
              <a:defRPr>
                <a:solidFill>
                  <a:schemeClr val="bg2"/>
                </a:solidFill>
              </a:defRPr>
            </a:lvl1pPr>
          </a:lstStyle>
          <a:p>
            <a:r>
              <a:rPr lang="en-US" noProof="0" dirty="0"/>
              <a:t>Trainings @ Software University (SoftUni)</a:t>
            </a:r>
          </a:p>
        </p:txBody>
      </p:sp>
    </p:spTree>
    <p:extLst>
      <p:ext uri="{BB962C8B-B14F-4D97-AF65-F5344CB8AC3E}">
        <p14:creationId xmlns:p14="http://schemas.microsoft.com/office/powerpoint/2010/main" val="2196466322"/>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Presentation Title Slide">
    <p:spTree>
      <p:nvGrpSpPr>
        <p:cNvPr id="1" name=""/>
        <p:cNvGrpSpPr/>
        <p:nvPr/>
      </p:nvGrpSpPr>
      <p:grpSpPr>
        <a:xfrm>
          <a:off x="0" y="0"/>
          <a:ext cx="0" cy="0"/>
          <a:chOff x="0" y="0"/>
          <a:chExt cx="0" cy="0"/>
        </a:xfrm>
      </p:grpSpPr>
      <p:pic>
        <p:nvPicPr>
          <p:cNvPr id="22" name="Picture Logo Software University" descr="Software University logo">
            <a:hlinkClick r:id="rId2"/>
            <a:extLst>
              <a:ext uri="{FF2B5EF4-FFF2-40B4-BE49-F238E27FC236}">
                <a16:creationId xmlns:a16="http://schemas.microsoft.com/office/drawing/2014/main" id="{F2315EB3-3FE4-4D3B-921E-5F209CEC13CB}"/>
              </a:ext>
            </a:extLst>
          </p:cNvPr>
          <p:cNvPicPr>
            <a:picLocks noChangeAspect="1"/>
          </p:cNvPicPr>
          <p:nvPr userDrawn="1"/>
        </p:nvPicPr>
        <p:blipFill>
          <a:blip r:embed="rId3" cstate="hq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475695" y="269393"/>
            <a:ext cx="1470305" cy="504607"/>
          </a:xfrm>
          <a:prstGeom prst="rect">
            <a:avLst/>
          </a:prstGeom>
        </p:spPr>
      </p:pic>
      <p:sp>
        <p:nvSpPr>
          <p:cNvPr id="43" name="Presentation Subtitle">
            <a:extLst>
              <a:ext uri="{FF2B5EF4-FFF2-40B4-BE49-F238E27FC236}">
                <a16:creationId xmlns:a16="http://schemas.microsoft.com/office/drawing/2014/main" id="{37BDB812-1395-4B02-ABCF-6A331EEE23E5}"/>
              </a:ext>
            </a:extLst>
          </p:cNvPr>
          <p:cNvSpPr>
            <a:spLocks noGrp="1"/>
          </p:cNvSpPr>
          <p:nvPr>
            <p:ph type="subTitle" idx="1" hasCustomPrompt="1"/>
          </p:nvPr>
        </p:nvSpPr>
        <p:spPr>
          <a:xfrm>
            <a:off x="246000" y="1260770"/>
            <a:ext cx="11083636" cy="1315728"/>
          </a:xfrm>
        </p:spPr>
        <p:txBody>
          <a:bodyPr anchor="t" anchorCtr="0">
            <a:normAutofit/>
          </a:bodyPr>
          <a:lstStyle>
            <a:lvl1pPr marL="0" indent="0" algn="l" latinLnBrk="0">
              <a:buNone/>
              <a:defRPr sz="3598" baseline="0">
                <a:solidFill>
                  <a:schemeClr val="tx1"/>
                </a:solidFill>
                <a:latin typeface="Lato" panose="020F0502020204030203" pitchFamily="34" charset="77"/>
              </a:defRPr>
            </a:lvl1pPr>
          </a:lstStyle>
          <a:p>
            <a:r>
              <a:rPr lang="en-US" noProof="0" dirty="0"/>
              <a:t>Presentation Subtitle</a:t>
            </a:r>
          </a:p>
        </p:txBody>
      </p:sp>
      <p:sp>
        <p:nvSpPr>
          <p:cNvPr id="2" name="Presentation Title">
            <a:extLst>
              <a:ext uri="{FF2B5EF4-FFF2-40B4-BE49-F238E27FC236}">
                <a16:creationId xmlns:a16="http://schemas.microsoft.com/office/drawing/2014/main" id="{A4DF3AB8-E6E3-4FCE-8A4A-ECD147720A5D}"/>
              </a:ext>
            </a:extLst>
          </p:cNvPr>
          <p:cNvSpPr>
            <a:spLocks noGrp="1"/>
          </p:cNvSpPr>
          <p:nvPr>
            <p:ph type="title" hasCustomPrompt="1"/>
          </p:nvPr>
        </p:nvSpPr>
        <p:spPr>
          <a:xfrm>
            <a:off x="246000" y="324000"/>
            <a:ext cx="11083636" cy="882654"/>
          </a:xfrm>
        </p:spPr>
        <p:txBody>
          <a:bodyPr/>
          <a:lstStyle>
            <a:lvl1pPr algn="l" latinLnBrk="0">
              <a:defRPr sz="4798" baseline="0">
                <a:latin typeface="Lato" panose="020F0502020204030203" pitchFamily="34" charset="77"/>
              </a:defRPr>
            </a:lvl1pPr>
          </a:lstStyle>
          <a:p>
            <a:r>
              <a:rPr lang="en-US" noProof="0" dirty="0"/>
              <a:t>Presentation Title</a:t>
            </a:r>
          </a:p>
        </p:txBody>
      </p:sp>
      <p:sp>
        <p:nvSpPr>
          <p:cNvPr id="3" name="Slide Number">
            <a:extLst>
              <a:ext uri="{FF2B5EF4-FFF2-40B4-BE49-F238E27FC236}">
                <a16:creationId xmlns:a16="http://schemas.microsoft.com/office/drawing/2014/main" id="{C6482195-4AB2-23BA-0ABE-6BE6507609D1}"/>
              </a:ext>
            </a:extLst>
          </p:cNvPr>
          <p:cNvSpPr>
            <a:spLocks noGrp="1"/>
          </p:cNvSpPr>
          <p:nvPr>
            <p:ph type="sldNum" sz="quarter" idx="4"/>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a:t>
            </a:fld>
            <a:endParaRPr lang="en-US" noProof="0" dirty="0"/>
          </a:p>
        </p:txBody>
      </p:sp>
    </p:spTree>
    <p:extLst>
      <p:ext uri="{BB962C8B-B14F-4D97-AF65-F5344CB8AC3E}">
        <p14:creationId xmlns:p14="http://schemas.microsoft.com/office/powerpoint/2010/main" val="2472724667"/>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Pr>
        <a:solidFill>
          <a:schemeClr val="bg2"/>
        </a:solidFill>
        <a:effectLst/>
      </p:bgPr>
    </p:bg>
    <p:spTree>
      <p:nvGrpSpPr>
        <p:cNvPr id="1" name=""/>
        <p:cNvGrpSpPr/>
        <p:nvPr/>
      </p:nvGrpSpPr>
      <p:grpSpPr>
        <a:xfrm>
          <a:off x="0" y="0"/>
          <a:ext cx="0" cy="0"/>
          <a:chOff x="0" y="0"/>
          <a:chExt cx="0" cy="0"/>
        </a:xfrm>
      </p:grpSpPr>
      <p:pic>
        <p:nvPicPr>
          <p:cNvPr id="4" name="Picture Background" descr="SoftUni Background">
            <a:extLst>
              <a:ext uri="{FF2B5EF4-FFF2-40B4-BE49-F238E27FC236}">
                <a16:creationId xmlns:a16="http://schemas.microsoft.com/office/drawing/2014/main" id="{5BE90A63-DDD9-4B3B-A234-DF69B9BC812F}"/>
              </a:ext>
            </a:extLst>
          </p:cNvPr>
          <p:cNvPicPr>
            <a:picLocks noChangeAspect="1"/>
          </p:cNvPicPr>
          <p:nvPr userDrawn="1"/>
        </p:nvPicPr>
        <p:blipFill rotWithShape="1">
          <a:blip r:embed="rId14" cstate="print"/>
          <a:srcRect b="1672"/>
          <a:stretch/>
        </p:blipFill>
        <p:spPr>
          <a:xfrm>
            <a:off x="0" y="1"/>
            <a:ext cx="12192000" cy="6857999"/>
          </a:xfrm>
          <a:prstGeom prst="rect">
            <a:avLst/>
          </a:prstGeom>
        </p:spPr>
      </p:pic>
      <p:sp>
        <p:nvSpPr>
          <p:cNvPr id="11" name="Slide Body Text">
            <a:extLst>
              <a:ext uri="{FF2B5EF4-FFF2-40B4-BE49-F238E27FC236}">
                <a16:creationId xmlns:a16="http://schemas.microsoft.com/office/drawing/2014/main" id="{90CBFB32-9F46-4F2F-8A54-9EE8BED27855}"/>
              </a:ext>
            </a:extLst>
          </p:cNvPr>
          <p:cNvSpPr>
            <a:spLocks noGrp="1"/>
          </p:cNvSpPr>
          <p:nvPr>
            <p:ph type="body" idx="1"/>
          </p:nvPr>
        </p:nvSpPr>
        <p:spPr>
          <a:xfrm>
            <a:off x="190404" y="1138844"/>
            <a:ext cx="11804830" cy="5530156"/>
          </a:xfrm>
          <a:prstGeom prst="rect">
            <a:avLst/>
          </a:prstGeom>
        </p:spPr>
        <p:txBody>
          <a:bodyPr vert="horz" lIns="108000" tIns="36000" rIns="108000" bIns="36000" rtlCol="0">
            <a:normAutofit/>
          </a:body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10" name="Slide Title">
            <a:extLst>
              <a:ext uri="{FF2B5EF4-FFF2-40B4-BE49-F238E27FC236}">
                <a16:creationId xmlns:a16="http://schemas.microsoft.com/office/drawing/2014/main" id="{B770C392-3003-4C35-9625-BB041F8257BA}"/>
              </a:ext>
            </a:extLst>
          </p:cNvPr>
          <p:cNvSpPr>
            <a:spLocks noGrp="1"/>
          </p:cNvSpPr>
          <p:nvPr>
            <p:ph type="title"/>
          </p:nvPr>
        </p:nvSpPr>
        <p:spPr>
          <a:xfrm>
            <a:off x="190405" y="100750"/>
            <a:ext cx="11804829" cy="882654"/>
          </a:xfrm>
          <a:prstGeom prst="rect">
            <a:avLst/>
          </a:prstGeom>
        </p:spPr>
        <p:txBody>
          <a:bodyPr vert="horz" lIns="108000" tIns="36000" rIns="108000" bIns="36000" rtlCol="0" anchor="ctr" anchorCtr="0">
            <a:normAutofit/>
          </a:bodyPr>
          <a:lstStyle/>
          <a:p>
            <a:r>
              <a:rPr lang="en-US" dirty="0"/>
              <a:t>Click to Edit Master Title Style</a:t>
            </a:r>
            <a:endParaRPr dirty="0"/>
          </a:p>
        </p:txBody>
      </p:sp>
    </p:spTree>
    <p:extLst>
      <p:ext uri="{BB962C8B-B14F-4D97-AF65-F5344CB8AC3E}">
        <p14:creationId xmlns:p14="http://schemas.microsoft.com/office/powerpoint/2010/main" val="156789181"/>
      </p:ext>
    </p:extLst>
  </p:cSld>
  <p:clrMap bg1="lt1" tx1="dk1" bg2="lt2" tx2="dk2" accent1="accent1" accent2="accent2" accent3="accent3" accent4="accent4" accent5="accent5" accent6="accent6" hlink="hlink" folHlink="folHlink"/>
  <p:sldLayoutIdLst>
    <p:sldLayoutId id="2147483676" r:id="rId1"/>
    <p:sldLayoutId id="2147483689" r:id="rId2"/>
    <p:sldLayoutId id="2147483681" r:id="rId3"/>
    <p:sldLayoutId id="2147483691" r:id="rId4"/>
    <p:sldLayoutId id="2147483680" r:id="rId5"/>
    <p:sldLayoutId id="2147483688" r:id="rId6"/>
    <p:sldLayoutId id="2147483684" r:id="rId7"/>
    <p:sldLayoutId id="2147483683" r:id="rId8"/>
    <p:sldLayoutId id="2147483685" r:id="rId9"/>
    <p:sldLayoutId id="2147483686" r:id="rId10"/>
    <p:sldLayoutId id="2147483687" r:id="rId11"/>
    <p:sldLayoutId id="2147483693" r:id="rId12"/>
  </p:sldLayoutIdLst>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hf hdr="0" ftr="0" dt="0"/>
  <p:txStyles>
    <p:titleStyle>
      <a:lvl1pPr algn="l" defTabSz="1218438" rtl="0" eaLnBrk="1" latinLnBrk="0" hangingPunct="1">
        <a:spcBef>
          <a:spcPct val="0"/>
        </a:spcBef>
        <a:buNone/>
        <a:defRPr sz="3998" b="1" kern="1200">
          <a:solidFill>
            <a:schemeClr val="tx1"/>
          </a:solidFill>
          <a:latin typeface="+mj-lt"/>
          <a:ea typeface="+mj-ea"/>
          <a:cs typeface="+mj-cs"/>
        </a:defRPr>
      </a:lvl1pPr>
    </p:titleStyle>
    <p:bodyStyle>
      <a:lvl1pPr marL="360363" indent="-360363" algn="l" defTabSz="1218438" rtl="0" eaLnBrk="1" latinLnBrk="0" hangingPunct="1">
        <a:lnSpc>
          <a:spcPct val="105000"/>
        </a:lnSpc>
        <a:spcBef>
          <a:spcPts val="600"/>
        </a:spcBef>
        <a:spcAft>
          <a:spcPts val="600"/>
        </a:spcAft>
        <a:buFont typeface="Wingdings" panose="05000000000000000000" pitchFamily="2" charset="2"/>
        <a:buChar char="§"/>
        <a:defRPr sz="3398" kern="1200">
          <a:solidFill>
            <a:schemeClr val="tx1"/>
          </a:solidFill>
          <a:latin typeface="+mn-lt"/>
          <a:ea typeface="+mn-ea"/>
          <a:cs typeface="+mn-cs"/>
        </a:defRPr>
      </a:lvl1pPr>
      <a:lvl2pPr marL="803275" indent="-360363" algn="l" defTabSz="1218438" rtl="0" eaLnBrk="1" latinLnBrk="0" hangingPunct="1">
        <a:lnSpc>
          <a:spcPct val="105000"/>
        </a:lnSpc>
        <a:spcBef>
          <a:spcPts val="600"/>
        </a:spcBef>
        <a:spcAft>
          <a:spcPts val="600"/>
        </a:spcAft>
        <a:buFont typeface="Wingdings" panose="05000000000000000000" pitchFamily="2" charset="2"/>
        <a:buChar char="§"/>
        <a:defRPr sz="3198" kern="1200">
          <a:solidFill>
            <a:schemeClr val="tx1"/>
          </a:solidFill>
          <a:latin typeface="+mn-lt"/>
          <a:ea typeface="+mn-ea"/>
          <a:cs typeface="+mn-cs"/>
        </a:defRPr>
      </a:lvl2pPr>
      <a:lvl3pPr marL="1255713" indent="-360363" algn="l" defTabSz="1218438" rtl="0" eaLnBrk="1" latinLnBrk="0" hangingPunct="1">
        <a:lnSpc>
          <a:spcPct val="105000"/>
        </a:lnSpc>
        <a:spcBef>
          <a:spcPts val="600"/>
        </a:spcBef>
        <a:spcAft>
          <a:spcPts val="600"/>
        </a:spcAft>
        <a:buFont typeface="Wingdings" panose="05000000000000000000" pitchFamily="2" charset="2"/>
        <a:buChar char="§"/>
        <a:defRPr sz="2998" kern="1200">
          <a:solidFill>
            <a:schemeClr val="tx1"/>
          </a:solidFill>
          <a:latin typeface="+mn-lt"/>
          <a:ea typeface="+mn-ea"/>
          <a:cs typeface="+mn-cs"/>
        </a:defRPr>
      </a:lvl3pPr>
      <a:lvl4pPr marL="1700213" indent="-352425" algn="l" defTabSz="1218438" rtl="0" eaLnBrk="1" latinLnBrk="0" hangingPunct="1">
        <a:lnSpc>
          <a:spcPct val="105000"/>
        </a:lnSpc>
        <a:spcBef>
          <a:spcPts val="600"/>
        </a:spcBef>
        <a:spcAft>
          <a:spcPts val="600"/>
        </a:spcAft>
        <a:buFont typeface="Wingdings" panose="05000000000000000000" pitchFamily="2" charset="2"/>
        <a:buChar char="§"/>
        <a:defRPr sz="2798" kern="1200">
          <a:solidFill>
            <a:schemeClr val="tx1"/>
          </a:solidFill>
          <a:latin typeface="+mn-lt"/>
          <a:ea typeface="+mn-ea"/>
          <a:cs typeface="+mn-cs"/>
        </a:defRPr>
      </a:lvl4pPr>
      <a:lvl5pPr marL="2058988" indent="-266700" algn="l" defTabSz="1218438" rtl="0" eaLnBrk="1" latinLnBrk="0" hangingPunct="1">
        <a:lnSpc>
          <a:spcPct val="105000"/>
        </a:lnSpc>
        <a:spcBef>
          <a:spcPts val="600"/>
        </a:spcBef>
        <a:spcAft>
          <a:spcPts val="600"/>
        </a:spcAft>
        <a:buFont typeface="Wingdings" panose="05000000000000000000" pitchFamily="2" charset="2"/>
        <a:buChar char="§"/>
        <a:defRPr sz="2598" kern="1200">
          <a:solidFill>
            <a:schemeClr val="tx1"/>
          </a:solidFill>
          <a:latin typeface="+mn-lt"/>
          <a:ea typeface="+mn-ea"/>
          <a:cs typeface="+mn-cs"/>
        </a:defRPr>
      </a:lvl5pPr>
      <a:lvl6pPr marL="3350704" indent="-304610" algn="l" defTabSz="1218438" rtl="0" eaLnBrk="1" latinLnBrk="1" hangingPunct="1">
        <a:spcBef>
          <a:spcPct val="20000"/>
        </a:spcBef>
        <a:buFont typeface="Arial" pitchFamily="34" charset="0"/>
        <a:buChar char="•"/>
        <a:defRPr sz="2665" kern="1200">
          <a:solidFill>
            <a:schemeClr val="tx1"/>
          </a:solidFill>
          <a:latin typeface="+mn-lt"/>
          <a:ea typeface="+mn-ea"/>
          <a:cs typeface="+mn-cs"/>
        </a:defRPr>
      </a:lvl6pPr>
      <a:lvl7pPr marL="3959924" indent="-304610" algn="l" defTabSz="1218438" rtl="0" eaLnBrk="1" latinLnBrk="1" hangingPunct="1">
        <a:spcBef>
          <a:spcPct val="20000"/>
        </a:spcBef>
        <a:buFont typeface="Arial" pitchFamily="34" charset="0"/>
        <a:buChar char="•"/>
        <a:defRPr sz="2665" kern="1200">
          <a:solidFill>
            <a:schemeClr val="tx1"/>
          </a:solidFill>
          <a:latin typeface="+mn-lt"/>
          <a:ea typeface="+mn-ea"/>
          <a:cs typeface="+mn-cs"/>
        </a:defRPr>
      </a:lvl7pPr>
      <a:lvl8pPr marL="4569143" indent="-304610" algn="l" defTabSz="1218438" rtl="0" eaLnBrk="1" latinLnBrk="1" hangingPunct="1">
        <a:spcBef>
          <a:spcPct val="20000"/>
        </a:spcBef>
        <a:buFont typeface="Arial" pitchFamily="34" charset="0"/>
        <a:buChar char="•"/>
        <a:defRPr sz="2665" kern="1200">
          <a:solidFill>
            <a:schemeClr val="tx1"/>
          </a:solidFill>
          <a:latin typeface="+mn-lt"/>
          <a:ea typeface="+mn-ea"/>
          <a:cs typeface="+mn-cs"/>
        </a:defRPr>
      </a:lvl8pPr>
      <a:lvl9pPr marL="5178362" indent="-304610" algn="l" defTabSz="1218438" rtl="0" eaLnBrk="1" latinLnBrk="1" hangingPunct="1">
        <a:spcBef>
          <a:spcPct val="20000"/>
        </a:spcBef>
        <a:buFont typeface="Arial" pitchFamily="34" charset="0"/>
        <a:buChar char="•"/>
        <a:defRPr sz="2665" kern="1200">
          <a:solidFill>
            <a:schemeClr val="tx1"/>
          </a:solidFill>
          <a:latin typeface="+mn-lt"/>
          <a:ea typeface="+mn-ea"/>
          <a:cs typeface="+mn-cs"/>
        </a:defRPr>
      </a:lvl9pPr>
    </p:bodyStyle>
    <p:otherStyle>
      <a:defPPr>
        <a:defRPr lang="ko-KR"/>
      </a:defPPr>
      <a:lvl1pPr marL="0" algn="l" defTabSz="1218438" rtl="0" eaLnBrk="1" latinLnBrk="1" hangingPunct="1">
        <a:defRPr sz="2398" kern="1200">
          <a:solidFill>
            <a:schemeClr val="tx1"/>
          </a:solidFill>
          <a:latin typeface="+mn-lt"/>
          <a:ea typeface="+mn-ea"/>
          <a:cs typeface="+mn-cs"/>
        </a:defRPr>
      </a:lvl1pPr>
      <a:lvl2pPr marL="609219" algn="l" defTabSz="1218438" rtl="0" eaLnBrk="1" latinLnBrk="1" hangingPunct="1">
        <a:defRPr sz="2398" kern="1200">
          <a:solidFill>
            <a:schemeClr val="tx1"/>
          </a:solidFill>
          <a:latin typeface="+mn-lt"/>
          <a:ea typeface="+mn-ea"/>
          <a:cs typeface="+mn-cs"/>
        </a:defRPr>
      </a:lvl2pPr>
      <a:lvl3pPr marL="1218438" algn="l" defTabSz="1218438" rtl="0" eaLnBrk="1" latinLnBrk="1" hangingPunct="1">
        <a:defRPr sz="2398" kern="1200">
          <a:solidFill>
            <a:schemeClr val="tx1"/>
          </a:solidFill>
          <a:latin typeface="+mn-lt"/>
          <a:ea typeface="+mn-ea"/>
          <a:cs typeface="+mn-cs"/>
        </a:defRPr>
      </a:lvl3pPr>
      <a:lvl4pPr marL="1827657" algn="l" defTabSz="1218438" rtl="0" eaLnBrk="1" latinLnBrk="1" hangingPunct="1">
        <a:defRPr sz="2398" kern="1200">
          <a:solidFill>
            <a:schemeClr val="tx1"/>
          </a:solidFill>
          <a:latin typeface="+mn-lt"/>
          <a:ea typeface="+mn-ea"/>
          <a:cs typeface="+mn-cs"/>
        </a:defRPr>
      </a:lvl4pPr>
      <a:lvl5pPr marL="2436876" algn="l" defTabSz="1218438" rtl="0" eaLnBrk="1" latinLnBrk="1" hangingPunct="1">
        <a:defRPr sz="2398" kern="1200">
          <a:solidFill>
            <a:schemeClr val="tx1"/>
          </a:solidFill>
          <a:latin typeface="+mn-lt"/>
          <a:ea typeface="+mn-ea"/>
          <a:cs typeface="+mn-cs"/>
        </a:defRPr>
      </a:lvl5pPr>
      <a:lvl6pPr marL="3046096" algn="l" defTabSz="1218438" rtl="0" eaLnBrk="1" latinLnBrk="1" hangingPunct="1">
        <a:defRPr sz="2398" kern="1200">
          <a:solidFill>
            <a:schemeClr val="tx1"/>
          </a:solidFill>
          <a:latin typeface="+mn-lt"/>
          <a:ea typeface="+mn-ea"/>
          <a:cs typeface="+mn-cs"/>
        </a:defRPr>
      </a:lvl6pPr>
      <a:lvl7pPr marL="3655315" algn="l" defTabSz="1218438" rtl="0" eaLnBrk="1" latinLnBrk="1" hangingPunct="1">
        <a:defRPr sz="2398" kern="1200">
          <a:solidFill>
            <a:schemeClr val="tx1"/>
          </a:solidFill>
          <a:latin typeface="+mn-lt"/>
          <a:ea typeface="+mn-ea"/>
          <a:cs typeface="+mn-cs"/>
        </a:defRPr>
      </a:lvl7pPr>
      <a:lvl8pPr marL="4264533" algn="l" defTabSz="1218438" rtl="0" eaLnBrk="1" latinLnBrk="1" hangingPunct="1">
        <a:defRPr sz="2398" kern="1200">
          <a:solidFill>
            <a:schemeClr val="tx1"/>
          </a:solidFill>
          <a:latin typeface="+mn-lt"/>
          <a:ea typeface="+mn-ea"/>
          <a:cs typeface="+mn-cs"/>
        </a:defRPr>
      </a:lvl8pPr>
      <a:lvl9pPr marL="4873752" algn="l" defTabSz="1218438" rtl="0" eaLnBrk="1" latinLnBrk="1" hangingPunct="1">
        <a:defRPr sz="239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1843">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hyperlink" Target="https://softuni.bg/"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developer.mozilla.org/en-US/docs/Learn/CSS/Building_blocks/The_box_model" TargetMode="Externa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hyperlink" Target="https://interactive-examples.mdn.mozilla.net/pages/css/width.html" TargetMode="External"/><Relationship Id="rId1" Type="http://schemas.openxmlformats.org/officeDocument/2006/relationships/slideLayout" Target="../slideLayouts/slideLayout3.xml"/><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hyperlink" Target="https://interactive-examples.mdn.mozilla.net/pages/css/height.html" TargetMode="Externa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hyperlink" Target="https://interactive-examples.mdn.mozilla.net/pages/css/margin.html" TargetMode="Externa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hyperlink" Target="https://interactive-examples.mdn.mozilla.net/pages/css/padding.html" TargetMode="Externa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4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hyperlink" Target="https://interactive-examples.mdn.mozilla.net/pages/css/border.html" TargetMode="Externa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image" Target="../media/image67.jpg"/><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hyperlink" Target="https://developer.mozilla.org/en-US/docs/Web/CSS/position" TargetMode="Externa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5.png"/><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3.xml"/><Relationship Id="rId4" Type="http://schemas.openxmlformats.org/officeDocument/2006/relationships/image" Target="../media/image78.png"/></Relationships>
</file>

<file path=ppt/slides/_rels/slide70.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hyperlink" Target="https://interactive-examples.mdn.mozilla.net/pages/css/z-index.html" TargetMode="Externa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3" Type="http://schemas.openxmlformats.org/officeDocument/2006/relationships/hyperlink" Target="https://developer.mozilla.org/en-US/docs/Web/CSS/display" TargetMode="External"/><Relationship Id="rId7" Type="http://schemas.openxmlformats.org/officeDocument/2006/relationships/hyperlink" Target="https://www.paulirish.com/2012/box-sizing-border-box-ftw/" TargetMode="External"/><Relationship Id="rId2" Type="http://schemas.openxmlformats.org/officeDocument/2006/relationships/hyperlink" Target="https://developer.mozilla.org/en-US/docs/Web/CSS/CSS_Box_Model" TargetMode="External"/><Relationship Id="rId1" Type="http://schemas.openxmlformats.org/officeDocument/2006/relationships/slideLayout" Target="../slideLayouts/slideLayout3.xml"/><Relationship Id="rId6" Type="http://schemas.openxmlformats.org/officeDocument/2006/relationships/hyperlink" Target="https://css-tricks.com/box-sizing" TargetMode="External"/><Relationship Id="rId5" Type="http://schemas.openxmlformats.org/officeDocument/2006/relationships/hyperlink" Target="https://css-tricks.com/the-css-box-model" TargetMode="External"/><Relationship Id="rId4" Type="http://schemas.openxmlformats.org/officeDocument/2006/relationships/hyperlink" Target="https://developer.mozilla.org/en-US/docs/Web/CSS/box-sizing" TargetMode="External"/></Relationships>
</file>

<file path=ppt/slides/_rels/slide80.xml.rels><?xml version="1.0" encoding="UTF-8" standalone="yes"?>
<Relationships xmlns="http://schemas.openxmlformats.org/package/2006/relationships"><Relationship Id="rId8" Type="http://schemas.openxmlformats.org/officeDocument/2006/relationships/hyperlink" Target="https://css-tricks.com/position-sticky-2/" TargetMode="External"/><Relationship Id="rId3" Type="http://schemas.openxmlformats.org/officeDocument/2006/relationships/hyperlink" Target="https://developer.mozilla.org/en-US/docs/Web/CSS/z-index" TargetMode="External"/><Relationship Id="rId7" Type="http://schemas.openxmlformats.org/officeDocument/2006/relationships/hyperlink" Target="https://css-tricks.com/almanac/properties/p/position/" TargetMode="External"/><Relationship Id="rId2" Type="http://schemas.openxmlformats.org/officeDocument/2006/relationships/hyperlink" Target="https://developer.mozilla.org/en-US/docs/Web/CSS/position" TargetMode="External"/><Relationship Id="rId1" Type="http://schemas.openxmlformats.org/officeDocument/2006/relationships/slideLayout" Target="../slideLayouts/slideLayout3.xml"/><Relationship Id="rId6" Type="http://schemas.openxmlformats.org/officeDocument/2006/relationships/hyperlink" Target="https://css-tricks.com/video-screencasts/198-about-the-position-property/" TargetMode="External"/><Relationship Id="rId5" Type="http://schemas.openxmlformats.org/officeDocument/2006/relationships/hyperlink" Target="https://interactive-examples.mdn.mozilla.net/pages/css/position.html" TargetMode="External"/><Relationship Id="rId4" Type="http://schemas.openxmlformats.org/officeDocument/2006/relationships/hyperlink" Target="https://developer.mozilla.org/en-US/docs/Web/CSS/CSS_positioned_layout/Understanding_z-index" TargetMode="External"/></Relationships>
</file>

<file path=ppt/slides/_rels/slide81.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3" Type="http://schemas.openxmlformats.org/officeDocument/2006/relationships/hyperlink" Target="https://softuni.bg/" TargetMode="External"/><Relationship Id="rId2" Type="http://schemas.openxmlformats.org/officeDocument/2006/relationships/notesSlide" Target="../notesSlides/notesSlide5.xml"/><Relationship Id="rId1" Type="http://schemas.openxmlformats.org/officeDocument/2006/relationships/slideLayout" Target="../slideLayouts/slideLayout11.xml"/><Relationship Id="rId6" Type="http://schemas.openxmlformats.org/officeDocument/2006/relationships/hyperlink" Target="https://www.facebook.com/SoftwareUniversity" TargetMode="External"/><Relationship Id="rId5" Type="http://schemas.openxmlformats.org/officeDocument/2006/relationships/hyperlink" Target="https://softuni.foundation/" TargetMode="External"/><Relationship Id="rId4" Type="http://schemas.openxmlformats.org/officeDocument/2006/relationships/hyperlink" Target="https://about.softuni.bg/" TargetMode="External"/></Relationships>
</file>

<file path=ppt/slides/_rels/slide83.xml.rels><?xml version="1.0" encoding="UTF-8" standalone="yes"?>
<Relationships xmlns="http://schemas.openxmlformats.org/package/2006/relationships"><Relationship Id="rId3" Type="http://schemas.openxmlformats.org/officeDocument/2006/relationships/hyperlink" Target="https://about.softuni.bg/" TargetMode="External"/><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87.png"/><Relationship Id="rId4" Type="http://schemas.openxmlformats.org/officeDocument/2006/relationships/hyperlink" Target="https://softuni.b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8"/>
          </p:nvPr>
        </p:nvSpPr>
        <p:spPr/>
        <p:txBody>
          <a:bodyPr/>
          <a:lstStyle/>
          <a:p>
            <a:r>
              <a:rPr lang="en-US" dirty="0">
                <a:hlinkClick r:id="rId2"/>
              </a:rPr>
              <a:t>https://softuni.bg</a:t>
            </a:r>
            <a:endParaRPr lang="en-US" dirty="0"/>
          </a:p>
        </p:txBody>
      </p:sp>
      <p:sp>
        <p:nvSpPr>
          <p:cNvPr id="5" name="Text Placeholder 4"/>
          <p:cNvSpPr>
            <a:spLocks noGrp="1"/>
          </p:cNvSpPr>
          <p:nvPr>
            <p:ph type="body" sz="quarter" idx="17"/>
          </p:nvPr>
        </p:nvSpPr>
        <p:spPr/>
        <p:txBody>
          <a:bodyPr/>
          <a:lstStyle/>
          <a:p>
            <a:r>
              <a:rPr lang="en-US" dirty="0"/>
              <a:t>Software University</a:t>
            </a:r>
          </a:p>
        </p:txBody>
      </p:sp>
      <p:sp>
        <p:nvSpPr>
          <p:cNvPr id="8" name="Text Placeholder 7"/>
          <p:cNvSpPr>
            <a:spLocks noGrp="1"/>
          </p:cNvSpPr>
          <p:nvPr>
            <p:ph type="body" sz="quarter" idx="20"/>
          </p:nvPr>
        </p:nvSpPr>
        <p:spPr/>
        <p:txBody>
          <a:bodyPr/>
          <a:lstStyle/>
          <a:p>
            <a:r>
              <a:rPr lang="en-US" dirty="0"/>
              <a:t>Technical Trainers</a:t>
            </a:r>
          </a:p>
        </p:txBody>
      </p:sp>
      <p:sp>
        <p:nvSpPr>
          <p:cNvPr id="7" name="Text Placeholder 6"/>
          <p:cNvSpPr>
            <a:spLocks noGrp="1"/>
          </p:cNvSpPr>
          <p:nvPr>
            <p:ph type="body" sz="quarter" idx="19"/>
          </p:nvPr>
        </p:nvSpPr>
        <p:spPr/>
        <p:txBody>
          <a:bodyPr/>
          <a:lstStyle/>
          <a:p>
            <a:r>
              <a:rPr lang="en-US" dirty="0" err="1"/>
              <a:t>SoftUni</a:t>
            </a:r>
            <a:r>
              <a:rPr lang="en-US" dirty="0"/>
              <a:t> Team</a:t>
            </a:r>
          </a:p>
        </p:txBody>
      </p:sp>
      <p:sp>
        <p:nvSpPr>
          <p:cNvPr id="4" name="Title 3"/>
          <p:cNvSpPr>
            <a:spLocks noGrp="1"/>
          </p:cNvSpPr>
          <p:nvPr>
            <p:ph type="title"/>
          </p:nvPr>
        </p:nvSpPr>
        <p:spPr/>
        <p:txBody>
          <a:bodyPr/>
          <a:lstStyle/>
          <a:p>
            <a:r>
              <a:rPr lang="en-US" dirty="0"/>
              <a:t>CSS Box Model</a:t>
            </a:r>
            <a:r>
              <a:rPr lang="bg-BG" dirty="0"/>
              <a:t> </a:t>
            </a:r>
            <a:r>
              <a:rPr lang="en-US" dirty="0"/>
              <a:t>and Position</a:t>
            </a:r>
          </a:p>
        </p:txBody>
      </p:sp>
      <p:pic>
        <p:nvPicPr>
          <p:cNvPr id="2" name="Picture 7">
            <a:extLst>
              <a:ext uri="{FF2B5EF4-FFF2-40B4-BE49-F238E27FC236}">
                <a16:creationId xmlns:a16="http://schemas.microsoft.com/office/drawing/2014/main" id="{42E7C280-8C43-DEFF-C6E7-E75E98EEDD8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3082" y="2537949"/>
            <a:ext cx="3889830" cy="2239894"/>
          </a:xfrm>
          <a:prstGeom prst="rect">
            <a:avLst/>
          </a:prstGeom>
        </p:spPr>
      </p:pic>
    </p:spTree>
    <p:extLst>
      <p:ext uri="{BB962C8B-B14F-4D97-AF65-F5344CB8AC3E}">
        <p14:creationId xmlns:p14="http://schemas.microsoft.com/office/powerpoint/2010/main" val="2941212786"/>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phic 2" descr="Packing Box Open">
            <a:extLst>
              <a:ext uri="{FF2B5EF4-FFF2-40B4-BE49-F238E27FC236}">
                <a16:creationId xmlns:a16="http://schemas.microsoft.com/office/drawing/2014/main" id="{6D87839A-D04B-498B-A8CC-6A9EEF67395B}"/>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530450" y="1089000"/>
            <a:ext cx="3131100" cy="3131100"/>
          </a:xfrm>
          <a:prstGeom prst="rect">
            <a:avLst/>
          </a:prstGeom>
        </p:spPr>
      </p:pic>
      <p:sp>
        <p:nvSpPr>
          <p:cNvPr id="5" name="Title 4">
            <a:extLst>
              <a:ext uri="{FF2B5EF4-FFF2-40B4-BE49-F238E27FC236}">
                <a16:creationId xmlns:a16="http://schemas.microsoft.com/office/drawing/2014/main" id="{53EA3EF1-F667-4E64-B00E-60F18E5A1099}"/>
              </a:ext>
            </a:extLst>
          </p:cNvPr>
          <p:cNvSpPr>
            <a:spLocks noGrp="1"/>
          </p:cNvSpPr>
          <p:nvPr>
            <p:ph type="title" sz="quarter" idx="10"/>
          </p:nvPr>
        </p:nvSpPr>
        <p:spPr/>
        <p:txBody>
          <a:bodyPr/>
          <a:lstStyle/>
          <a:p>
            <a:r>
              <a:rPr lang="en-GB" dirty="0"/>
              <a:t>What is Box Model?</a:t>
            </a:r>
          </a:p>
        </p:txBody>
      </p:sp>
    </p:spTree>
    <p:extLst>
      <p:ext uri="{BB962C8B-B14F-4D97-AF65-F5344CB8AC3E}">
        <p14:creationId xmlns:p14="http://schemas.microsoft.com/office/powerpoint/2010/main" val="2023951688"/>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ов контейнер 1">
            <a:extLst>
              <a:ext uri="{FF2B5EF4-FFF2-40B4-BE49-F238E27FC236}">
                <a16:creationId xmlns:a16="http://schemas.microsoft.com/office/drawing/2014/main" id="{360ABA1F-7AF9-F449-3C08-847BE5FB8877}"/>
              </a:ext>
            </a:extLst>
          </p:cNvPr>
          <p:cNvSpPr>
            <a:spLocks noGrp="1"/>
          </p:cNvSpPr>
          <p:nvPr>
            <p:ph type="body" sz="quarter" idx="10"/>
          </p:nvPr>
        </p:nvSpPr>
        <p:spPr>
          <a:xfrm>
            <a:off x="190402" y="1196125"/>
            <a:ext cx="8465771" cy="5528766"/>
          </a:xfrm>
        </p:spPr>
        <p:txBody>
          <a:bodyPr>
            <a:normAutofit lnSpcReduction="10000"/>
          </a:bodyPr>
          <a:lstStyle/>
          <a:p>
            <a:pPr>
              <a:lnSpc>
                <a:spcPct val="110000"/>
              </a:lnSpc>
            </a:pPr>
            <a:r>
              <a:rPr lang="en-US" sz="3600" b="0" dirty="0"/>
              <a:t>When laying out a document, the browser's rendering engine represents </a:t>
            </a:r>
            <a:r>
              <a:rPr lang="en-US" sz="3600" b="1" dirty="0">
                <a:solidFill>
                  <a:schemeClr val="bg1"/>
                </a:solidFill>
              </a:rPr>
              <a:t>each element </a:t>
            </a:r>
            <a:r>
              <a:rPr lang="en-US" sz="3600" b="0" dirty="0"/>
              <a:t>as a </a:t>
            </a:r>
            <a:r>
              <a:rPr lang="en-US" sz="3600" b="1" dirty="0">
                <a:solidFill>
                  <a:schemeClr val="bg1"/>
                </a:solidFill>
              </a:rPr>
              <a:t>rectangular box </a:t>
            </a:r>
            <a:r>
              <a:rPr lang="en-US" sz="3600" b="0" dirty="0"/>
              <a:t>according to the standard CSS basic </a:t>
            </a:r>
            <a:br>
              <a:rPr lang="en-US" sz="3600" b="0" dirty="0"/>
            </a:br>
            <a:r>
              <a:rPr lang="en-US" sz="3600" b="0" dirty="0"/>
              <a:t>box model</a:t>
            </a:r>
            <a:endParaRPr lang="en-US" sz="3600" dirty="0"/>
          </a:p>
          <a:p>
            <a:pPr>
              <a:lnSpc>
                <a:spcPct val="110000"/>
              </a:lnSpc>
            </a:pPr>
            <a:r>
              <a:rPr lang="en-US" sz="3600" b="0" dirty="0"/>
              <a:t>CSS determines the </a:t>
            </a:r>
            <a:r>
              <a:rPr lang="en-US" sz="3600" b="1" dirty="0">
                <a:solidFill>
                  <a:schemeClr val="bg1"/>
                </a:solidFill>
              </a:rPr>
              <a:t>size</a:t>
            </a:r>
            <a:r>
              <a:rPr lang="en-US" sz="3600" b="0" dirty="0"/>
              <a:t>, </a:t>
            </a:r>
            <a:r>
              <a:rPr lang="en-US" sz="3600" b="1" dirty="0">
                <a:solidFill>
                  <a:schemeClr val="bg1"/>
                </a:solidFill>
              </a:rPr>
              <a:t>position</a:t>
            </a:r>
            <a:r>
              <a:rPr lang="en-US" sz="3600" b="0" dirty="0"/>
              <a:t>, and </a:t>
            </a:r>
            <a:r>
              <a:rPr lang="en-US" sz="3600" b="1" dirty="0">
                <a:solidFill>
                  <a:schemeClr val="bg1"/>
                </a:solidFill>
              </a:rPr>
              <a:t>properties</a:t>
            </a:r>
            <a:r>
              <a:rPr lang="en-US" sz="3600" b="0" dirty="0"/>
              <a:t> (color, background, border size, etc.) of these boxes</a:t>
            </a:r>
          </a:p>
          <a:p>
            <a:pPr>
              <a:lnSpc>
                <a:spcPct val="110000"/>
              </a:lnSpc>
            </a:pPr>
            <a:r>
              <a:rPr lang="en-US" sz="3600" i="1" dirty="0">
                <a:hlinkClick r:id="rId2"/>
              </a:rPr>
              <a:t>Reference Documentation</a:t>
            </a:r>
            <a:endParaRPr lang="en-US" sz="3600" b="0" i="1" dirty="0"/>
          </a:p>
        </p:txBody>
      </p:sp>
      <p:sp>
        <p:nvSpPr>
          <p:cNvPr id="4" name="Title 3">
            <a:extLst>
              <a:ext uri="{FF2B5EF4-FFF2-40B4-BE49-F238E27FC236}">
                <a16:creationId xmlns:a16="http://schemas.microsoft.com/office/drawing/2014/main" id="{E9A1DA41-F15A-4A36-BC07-5ABC6728BF4B}"/>
              </a:ext>
            </a:extLst>
          </p:cNvPr>
          <p:cNvSpPr>
            <a:spLocks noGrp="1"/>
          </p:cNvSpPr>
          <p:nvPr>
            <p:ph type="title"/>
          </p:nvPr>
        </p:nvSpPr>
        <p:spPr/>
        <p:txBody>
          <a:bodyPr>
            <a:normAutofit/>
          </a:bodyPr>
          <a:lstStyle/>
          <a:p>
            <a:r>
              <a:rPr lang="en-US" sz="4000" dirty="0"/>
              <a:t>CSS Basic Box Model</a:t>
            </a:r>
            <a:endParaRPr lang="en-GB" sz="4000" dirty="0"/>
          </a:p>
        </p:txBody>
      </p:sp>
      <p:pic>
        <p:nvPicPr>
          <p:cNvPr id="7" name="Picture 2" descr="What is the difference between padding and margins?">
            <a:extLst>
              <a:ext uri="{FF2B5EF4-FFF2-40B4-BE49-F238E27FC236}">
                <a16:creationId xmlns:a16="http://schemas.microsoft.com/office/drawing/2014/main" id="{2AC38879-61C6-4C4C-BA7B-B4FA3148E9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56173" y="2017654"/>
            <a:ext cx="3223000" cy="282269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3" name="Slide Number">
            <a:extLst>
              <a:ext uri="{FF2B5EF4-FFF2-40B4-BE49-F238E27FC236}">
                <a16:creationId xmlns:a16="http://schemas.microsoft.com/office/drawing/2014/main" id="{0C44C754-CD98-0374-1F5C-9697F4C384FD}"/>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3</a:t>
            </a:fld>
            <a:endParaRPr lang="en-US" noProof="0" dirty="0"/>
          </a:p>
        </p:txBody>
      </p:sp>
    </p:spTree>
    <p:extLst>
      <p:ext uri="{BB962C8B-B14F-4D97-AF65-F5344CB8AC3E}">
        <p14:creationId xmlns:p14="http://schemas.microsoft.com/office/powerpoint/2010/main" val="2530881550"/>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9A1DA41-F15A-4A36-BC07-5ABC6728BF4B}"/>
              </a:ext>
            </a:extLst>
          </p:cNvPr>
          <p:cNvSpPr>
            <a:spLocks noGrp="1"/>
          </p:cNvSpPr>
          <p:nvPr>
            <p:ph type="title"/>
          </p:nvPr>
        </p:nvSpPr>
        <p:spPr/>
        <p:txBody>
          <a:bodyPr/>
          <a:lstStyle/>
          <a:p>
            <a:r>
              <a:rPr lang="en-US" sz="4400" dirty="0"/>
              <a:t>Box Model – CSS Properties</a:t>
            </a:r>
            <a:endParaRPr lang="en-GB" sz="4400" dirty="0"/>
          </a:p>
        </p:txBody>
      </p:sp>
      <p:pic>
        <p:nvPicPr>
          <p:cNvPr id="5" name="Picture 4">
            <a:extLst>
              <a:ext uri="{FF2B5EF4-FFF2-40B4-BE49-F238E27FC236}">
                <a16:creationId xmlns:a16="http://schemas.microsoft.com/office/drawing/2014/main" id="{2784BB3A-3B72-C180-9825-FF9D41D72840}"/>
              </a:ext>
            </a:extLst>
          </p:cNvPr>
          <p:cNvPicPr>
            <a:picLocks noChangeAspect="1"/>
          </p:cNvPicPr>
          <p:nvPr/>
        </p:nvPicPr>
        <p:blipFill>
          <a:blip r:embed="rId2"/>
          <a:stretch>
            <a:fillRect/>
          </a:stretch>
        </p:blipFill>
        <p:spPr>
          <a:xfrm>
            <a:off x="2833500" y="1449000"/>
            <a:ext cx="6525000" cy="4893750"/>
          </a:xfrm>
          <a:prstGeom prst="rect">
            <a:avLst/>
          </a:prstGeom>
          <a:ln>
            <a:noFill/>
          </a:ln>
          <a:effectLst>
            <a:outerShdw blurRad="292100" dist="139700" dir="2700000" algn="tl" rotWithShape="0">
              <a:srgbClr val="333333">
                <a:alpha val="65000"/>
              </a:srgbClr>
            </a:outerShdw>
          </a:effectLst>
        </p:spPr>
      </p:pic>
      <p:sp>
        <p:nvSpPr>
          <p:cNvPr id="2" name="Slide Number">
            <a:extLst>
              <a:ext uri="{FF2B5EF4-FFF2-40B4-BE49-F238E27FC236}">
                <a16:creationId xmlns:a16="http://schemas.microsoft.com/office/drawing/2014/main" id="{EDB1A8D8-015C-6F8A-B0C1-BDCBE314C961}"/>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4</a:t>
            </a:fld>
            <a:endParaRPr lang="en-US" noProof="0" dirty="0"/>
          </a:p>
        </p:txBody>
      </p:sp>
    </p:spTree>
    <p:extLst>
      <p:ext uri="{BB962C8B-B14F-4D97-AF65-F5344CB8AC3E}">
        <p14:creationId xmlns:p14="http://schemas.microsoft.com/office/powerpoint/2010/main" val="3620893656"/>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Текстов контейнер 6">
            <a:extLst>
              <a:ext uri="{FF2B5EF4-FFF2-40B4-BE49-F238E27FC236}">
                <a16:creationId xmlns:a16="http://schemas.microsoft.com/office/drawing/2014/main" id="{D2C33E0F-8C15-E906-E067-78579E72296E}"/>
              </a:ext>
            </a:extLst>
          </p:cNvPr>
          <p:cNvSpPr>
            <a:spLocks noGrp="1"/>
          </p:cNvSpPr>
          <p:nvPr>
            <p:ph type="body" sz="quarter" idx="10"/>
          </p:nvPr>
        </p:nvSpPr>
        <p:spPr/>
        <p:txBody>
          <a:bodyPr/>
          <a:lstStyle/>
          <a:p>
            <a:r>
              <a:rPr lang="en-US" sz="3400" b="0" dirty="0"/>
              <a:t>The display CSS property defines the display type of an element, which consists of the two basic qualities of </a:t>
            </a:r>
            <a:r>
              <a:rPr lang="en-US" sz="3400" b="1" dirty="0"/>
              <a:t>how an element generates boxes </a:t>
            </a:r>
            <a:r>
              <a:rPr lang="en-US" sz="3400" b="0" dirty="0"/>
              <a:t>— the </a:t>
            </a:r>
            <a:r>
              <a:rPr lang="en-US" sz="3400" b="1" dirty="0">
                <a:solidFill>
                  <a:schemeClr val="bg1"/>
                </a:solidFill>
              </a:rPr>
              <a:t>outer</a:t>
            </a:r>
            <a:r>
              <a:rPr lang="en-US" sz="3400" b="0" dirty="0"/>
              <a:t> display type defining how the </a:t>
            </a:r>
            <a:r>
              <a:rPr lang="en-US" sz="3400" b="1" dirty="0">
                <a:solidFill>
                  <a:schemeClr val="bg1"/>
                </a:solidFill>
              </a:rPr>
              <a:t>box participates in flow layout </a:t>
            </a:r>
            <a:r>
              <a:rPr lang="en-US" sz="3400" b="0" dirty="0"/>
              <a:t>, and the </a:t>
            </a:r>
            <a:r>
              <a:rPr lang="en-US" sz="3400" b="1" dirty="0">
                <a:solidFill>
                  <a:schemeClr val="bg1"/>
                </a:solidFill>
              </a:rPr>
              <a:t>inner</a:t>
            </a:r>
            <a:r>
              <a:rPr lang="en-US" sz="3400" b="0" dirty="0"/>
              <a:t> display type defining </a:t>
            </a:r>
            <a:r>
              <a:rPr lang="en-US" sz="3400" b="1" dirty="0">
                <a:solidFill>
                  <a:schemeClr val="bg1"/>
                </a:solidFill>
              </a:rPr>
              <a:t>how the children of the box are laid out</a:t>
            </a:r>
            <a:endParaRPr lang="en-US" sz="3400" b="0" dirty="0"/>
          </a:p>
        </p:txBody>
      </p:sp>
      <p:sp>
        <p:nvSpPr>
          <p:cNvPr id="4" name="Title 3">
            <a:extLst>
              <a:ext uri="{FF2B5EF4-FFF2-40B4-BE49-F238E27FC236}">
                <a16:creationId xmlns:a16="http://schemas.microsoft.com/office/drawing/2014/main" id="{E9A1DA41-F15A-4A36-BC07-5ABC6728BF4B}"/>
              </a:ext>
            </a:extLst>
          </p:cNvPr>
          <p:cNvSpPr>
            <a:spLocks noGrp="1"/>
          </p:cNvSpPr>
          <p:nvPr>
            <p:ph type="title"/>
          </p:nvPr>
        </p:nvSpPr>
        <p:spPr/>
        <p:txBody>
          <a:bodyPr/>
          <a:lstStyle/>
          <a:p>
            <a:r>
              <a:rPr lang="en-GB" sz="4400" b="1" dirty="0"/>
              <a:t>Display</a:t>
            </a:r>
            <a:endParaRPr lang="en-GB" sz="4400" dirty="0"/>
          </a:p>
        </p:txBody>
      </p:sp>
      <p:pic>
        <p:nvPicPr>
          <p:cNvPr id="2" name="Picture 1">
            <a:extLst>
              <a:ext uri="{FF2B5EF4-FFF2-40B4-BE49-F238E27FC236}">
                <a16:creationId xmlns:a16="http://schemas.microsoft.com/office/drawing/2014/main" id="{A52BFE9C-58D7-EA81-0366-4558EE6BD75E}"/>
              </a:ext>
            </a:extLst>
          </p:cNvPr>
          <p:cNvPicPr>
            <a:picLocks noChangeAspect="1"/>
          </p:cNvPicPr>
          <p:nvPr/>
        </p:nvPicPr>
        <p:blipFill>
          <a:blip r:embed="rId2"/>
          <a:stretch>
            <a:fillRect/>
          </a:stretch>
        </p:blipFill>
        <p:spPr>
          <a:xfrm>
            <a:off x="3377100" y="4149000"/>
            <a:ext cx="5437800" cy="2521879"/>
          </a:xfrm>
          <a:prstGeom prst="rect">
            <a:avLst/>
          </a:prstGeom>
          <a:ln>
            <a:noFill/>
          </a:ln>
          <a:effectLst>
            <a:outerShdw blurRad="292100" dist="139700" dir="2700000" algn="tl" rotWithShape="0">
              <a:srgbClr val="333333">
                <a:alpha val="65000"/>
              </a:srgbClr>
            </a:outerShdw>
          </a:effectLst>
        </p:spPr>
      </p:pic>
      <p:sp>
        <p:nvSpPr>
          <p:cNvPr id="3" name="Slide Number">
            <a:extLst>
              <a:ext uri="{FF2B5EF4-FFF2-40B4-BE49-F238E27FC236}">
                <a16:creationId xmlns:a16="http://schemas.microsoft.com/office/drawing/2014/main" id="{6475C2A4-14D5-A38B-104B-43F29E6CC86A}"/>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5</a:t>
            </a:fld>
            <a:endParaRPr lang="en-US" noProof="0" dirty="0"/>
          </a:p>
        </p:txBody>
      </p:sp>
    </p:spTree>
    <p:extLst>
      <p:ext uri="{BB962C8B-B14F-4D97-AF65-F5344CB8AC3E}">
        <p14:creationId xmlns:p14="http://schemas.microsoft.com/office/powerpoint/2010/main" val="2652312765"/>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Текстов контейнер 4">
            <a:extLst>
              <a:ext uri="{FF2B5EF4-FFF2-40B4-BE49-F238E27FC236}">
                <a16:creationId xmlns:a16="http://schemas.microsoft.com/office/drawing/2014/main" id="{B5FD969D-CC64-5409-DDFB-AEB4213035B1}"/>
              </a:ext>
            </a:extLst>
          </p:cNvPr>
          <p:cNvSpPr>
            <a:spLocks noGrp="1"/>
          </p:cNvSpPr>
          <p:nvPr>
            <p:ph type="body" sz="quarter" idx="10"/>
          </p:nvPr>
        </p:nvSpPr>
        <p:spPr>
          <a:xfrm>
            <a:off x="150700" y="1584000"/>
            <a:ext cx="11890599" cy="5635891"/>
          </a:xfrm>
        </p:spPr>
        <p:txBody>
          <a:bodyPr>
            <a:noAutofit/>
          </a:bodyPr>
          <a:lstStyle/>
          <a:p>
            <a:pPr>
              <a:lnSpc>
                <a:spcPct val="120000"/>
              </a:lnSpc>
            </a:pPr>
            <a:r>
              <a:rPr lang="en-US" sz="3000" b="0" dirty="0"/>
              <a:t>HTML elements historically were categorized as either "block-level" elements or "inline" elements. By default, a block-level element </a:t>
            </a:r>
            <a:r>
              <a:rPr lang="en-US" sz="3000" b="1" dirty="0">
                <a:solidFill>
                  <a:schemeClr val="bg1"/>
                </a:solidFill>
              </a:rPr>
              <a:t>occupies the entire space</a:t>
            </a:r>
            <a:r>
              <a:rPr lang="en-US" sz="3000" b="0" dirty="0"/>
              <a:t> of its parent element (container), thereby </a:t>
            </a:r>
            <a:br>
              <a:rPr lang="bg-BG" sz="3000" b="0" dirty="0"/>
            </a:br>
            <a:r>
              <a:rPr lang="en-US" sz="3000" b="0" dirty="0"/>
              <a:t>creating a "block</a:t>
            </a:r>
            <a:r>
              <a:rPr lang="bg-BG" sz="3000" dirty="0"/>
              <a:t>"</a:t>
            </a:r>
          </a:p>
          <a:p>
            <a:pPr marL="0" indent="0">
              <a:lnSpc>
                <a:spcPct val="120000"/>
              </a:lnSpc>
              <a:buNone/>
            </a:pPr>
            <a:endParaRPr lang="en-US" sz="3000" b="0" dirty="0"/>
          </a:p>
        </p:txBody>
      </p:sp>
      <p:sp>
        <p:nvSpPr>
          <p:cNvPr id="4" name="Title 3">
            <a:extLst>
              <a:ext uri="{FF2B5EF4-FFF2-40B4-BE49-F238E27FC236}">
                <a16:creationId xmlns:a16="http://schemas.microsoft.com/office/drawing/2014/main" id="{E9A1DA41-F15A-4A36-BC07-5ABC6728BF4B}"/>
              </a:ext>
            </a:extLst>
          </p:cNvPr>
          <p:cNvSpPr>
            <a:spLocks noGrp="1"/>
          </p:cNvSpPr>
          <p:nvPr>
            <p:ph type="title"/>
          </p:nvPr>
        </p:nvSpPr>
        <p:spPr/>
        <p:txBody>
          <a:bodyPr/>
          <a:lstStyle/>
          <a:p>
            <a:r>
              <a:rPr lang="en-US" sz="4400" dirty="0"/>
              <a:t>Display - block</a:t>
            </a:r>
            <a:endParaRPr lang="en-GB" sz="4400" dirty="0"/>
          </a:p>
        </p:txBody>
      </p:sp>
      <p:sp>
        <p:nvSpPr>
          <p:cNvPr id="8" name="Текстово поле 10">
            <a:extLst>
              <a:ext uri="{FF2B5EF4-FFF2-40B4-BE49-F238E27FC236}">
                <a16:creationId xmlns:a16="http://schemas.microsoft.com/office/drawing/2014/main" id="{6722E900-7323-7267-3FA5-8D60A3CFCFFC}"/>
              </a:ext>
            </a:extLst>
          </p:cNvPr>
          <p:cNvSpPr txBox="1"/>
          <p:nvPr/>
        </p:nvSpPr>
        <p:spPr>
          <a:xfrm>
            <a:off x="4116000" y="4639413"/>
            <a:ext cx="3559799" cy="1416522"/>
          </a:xfrm>
          <a:prstGeom prst="rect">
            <a:avLst/>
          </a:prstGeom>
          <a:solidFill>
            <a:schemeClr val="accent6">
              <a:lumMod val="75000"/>
              <a:alpha val="15000"/>
            </a:schemeClr>
          </a:solidFill>
          <a:ln w="12700">
            <a:solidFill>
              <a:schemeClr val="tx1">
                <a:lumMod val="75000"/>
              </a:schemeClr>
            </a:solidFill>
          </a:ln>
        </p:spPr>
        <p:txBody>
          <a:bodyPr vert="horz" wrap="square" lIns="143963" tIns="107972" rIns="143963" bIns="107972" rtlCol="0">
            <a:spAutoFit/>
          </a:bodyPr>
          <a:lstStyle/>
          <a:p>
            <a:pPr eaLnBrk="0" hangingPunct="0">
              <a:lnSpc>
                <a:spcPct val="110000"/>
              </a:lnSpc>
              <a:buClr>
                <a:schemeClr val="accent5">
                  <a:lumMod val="40000"/>
                  <a:lumOff val="60000"/>
                </a:schemeClr>
              </a:buClr>
              <a:buSzPct val="70000"/>
            </a:pPr>
            <a:r>
              <a:rPr lang="en-US" sz="2400" b="1" dirty="0">
                <a:latin typeface="Consolas" panose="020B0609020204030204" pitchFamily="49" charset="0"/>
              </a:rPr>
              <a:t>.box {</a:t>
            </a:r>
          </a:p>
          <a:p>
            <a:pPr eaLnBrk="0" hangingPunct="0">
              <a:lnSpc>
                <a:spcPct val="110000"/>
              </a:lnSpc>
              <a:buClr>
                <a:schemeClr val="accent5">
                  <a:lumMod val="40000"/>
                  <a:lumOff val="60000"/>
                </a:schemeClr>
              </a:buClr>
              <a:buSzPct val="70000"/>
            </a:pPr>
            <a:r>
              <a:rPr lang="en-US" sz="2400" b="1" dirty="0">
                <a:latin typeface="Consolas" panose="020B0609020204030204" pitchFamily="49" charset="0"/>
              </a:rPr>
              <a:t>  display: block;</a:t>
            </a:r>
          </a:p>
          <a:p>
            <a:pPr eaLnBrk="0" hangingPunct="0">
              <a:lnSpc>
                <a:spcPct val="110000"/>
              </a:lnSpc>
              <a:buClr>
                <a:schemeClr val="accent5">
                  <a:lumMod val="40000"/>
                  <a:lumOff val="60000"/>
                </a:schemeClr>
              </a:buClr>
              <a:buSzPct val="70000"/>
            </a:pPr>
            <a:r>
              <a:rPr lang="en-US" sz="2400" b="1" dirty="0">
                <a:latin typeface="Consolas" panose="020B0609020204030204" pitchFamily="49" charset="0"/>
              </a:rPr>
              <a:t>}</a:t>
            </a:r>
          </a:p>
        </p:txBody>
      </p:sp>
      <p:sp>
        <p:nvSpPr>
          <p:cNvPr id="2" name="Slide Number">
            <a:extLst>
              <a:ext uri="{FF2B5EF4-FFF2-40B4-BE49-F238E27FC236}">
                <a16:creationId xmlns:a16="http://schemas.microsoft.com/office/drawing/2014/main" id="{3C3B2D0D-6FCC-F8A6-C5E0-1365FBDE653D}"/>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6</a:t>
            </a:fld>
            <a:endParaRPr lang="en-US" noProof="0" dirty="0"/>
          </a:p>
        </p:txBody>
      </p:sp>
    </p:spTree>
    <p:extLst>
      <p:ext uri="{BB962C8B-B14F-4D97-AF65-F5344CB8AC3E}">
        <p14:creationId xmlns:p14="http://schemas.microsoft.com/office/powerpoint/2010/main" val="3850919103"/>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7BC606-D062-093F-3748-A3221B796F9D}"/>
            </a:ext>
          </a:extLst>
        </p:cNvPr>
        <p:cNvGrpSpPr/>
        <p:nvPr/>
      </p:nvGrpSpPr>
      <p:grpSpPr>
        <a:xfrm>
          <a:off x="0" y="0"/>
          <a:ext cx="0" cy="0"/>
          <a:chOff x="0" y="0"/>
          <a:chExt cx="0" cy="0"/>
        </a:xfrm>
      </p:grpSpPr>
      <p:sp>
        <p:nvSpPr>
          <p:cNvPr id="5" name="Текстов контейнер 4">
            <a:extLst>
              <a:ext uri="{FF2B5EF4-FFF2-40B4-BE49-F238E27FC236}">
                <a16:creationId xmlns:a16="http://schemas.microsoft.com/office/drawing/2014/main" id="{83A70981-78ED-BEB0-368B-02C2A8C02371}"/>
              </a:ext>
            </a:extLst>
          </p:cNvPr>
          <p:cNvSpPr>
            <a:spLocks noGrp="1"/>
          </p:cNvSpPr>
          <p:nvPr>
            <p:ph type="body" sz="quarter" idx="10"/>
          </p:nvPr>
        </p:nvSpPr>
        <p:spPr>
          <a:xfrm>
            <a:off x="291000" y="1449000"/>
            <a:ext cx="8920599" cy="5140891"/>
          </a:xfrm>
        </p:spPr>
        <p:txBody>
          <a:bodyPr>
            <a:noAutofit/>
          </a:bodyPr>
          <a:lstStyle/>
          <a:p>
            <a:pPr>
              <a:lnSpc>
                <a:spcPct val="120000"/>
              </a:lnSpc>
            </a:pPr>
            <a:r>
              <a:rPr lang="en-US" sz="3000" b="0" dirty="0"/>
              <a:t>Browsers typically display the block-level element with a </a:t>
            </a:r>
            <a:r>
              <a:rPr lang="en-US" sz="3000" b="1" dirty="0">
                <a:solidFill>
                  <a:schemeClr val="bg1"/>
                </a:solidFill>
              </a:rPr>
              <a:t>newline</a:t>
            </a:r>
            <a:r>
              <a:rPr lang="en-US" sz="3000" b="0" dirty="0"/>
              <a:t> both </a:t>
            </a:r>
            <a:r>
              <a:rPr lang="en-US" sz="3000" b="1" dirty="0">
                <a:solidFill>
                  <a:schemeClr val="bg1"/>
                </a:solidFill>
              </a:rPr>
              <a:t>before</a:t>
            </a:r>
            <a:r>
              <a:rPr lang="en-US" sz="3000" b="0" dirty="0"/>
              <a:t> and </a:t>
            </a:r>
            <a:r>
              <a:rPr lang="en-US" sz="3000" b="1" dirty="0">
                <a:solidFill>
                  <a:schemeClr val="bg1"/>
                </a:solidFill>
              </a:rPr>
              <a:t>after</a:t>
            </a:r>
            <a:r>
              <a:rPr lang="en-US" sz="3000" b="0" dirty="0"/>
              <a:t> the element. You can visualize them as a stack of boxes</a:t>
            </a:r>
            <a:endParaRPr lang="bg-BG" sz="3000" b="0" dirty="0"/>
          </a:p>
          <a:p>
            <a:pPr>
              <a:buClr>
                <a:schemeClr val="tx1"/>
              </a:buClr>
            </a:pPr>
            <a:r>
              <a:rPr lang="en-US" sz="3000" b="1" dirty="0">
                <a:solidFill>
                  <a:schemeClr val="bg1"/>
                </a:solidFill>
                <a:latin typeface="Consolas" panose="020B0609020204030204" pitchFamily="49" charset="0"/>
              </a:rPr>
              <a:t>main</a:t>
            </a:r>
            <a:r>
              <a:rPr lang="en-US" sz="3000" dirty="0"/>
              <a:t>, </a:t>
            </a:r>
            <a:r>
              <a:rPr lang="en-US" sz="3000" b="1" dirty="0">
                <a:solidFill>
                  <a:schemeClr val="bg1"/>
                </a:solidFill>
                <a:latin typeface="Consolas" panose="020B0609020204030204" pitchFamily="49" charset="0"/>
              </a:rPr>
              <a:t>header</a:t>
            </a:r>
            <a:r>
              <a:rPr lang="en-US" sz="3000" dirty="0"/>
              <a:t> , </a:t>
            </a:r>
            <a:r>
              <a:rPr lang="en-US" sz="3000" b="1" dirty="0">
                <a:solidFill>
                  <a:schemeClr val="bg1"/>
                </a:solidFill>
                <a:latin typeface="Consolas" panose="020B0609020204030204" pitchFamily="49" charset="0"/>
              </a:rPr>
              <a:t>article</a:t>
            </a:r>
            <a:r>
              <a:rPr lang="en-US" sz="3000" dirty="0"/>
              <a:t> , </a:t>
            </a:r>
            <a:r>
              <a:rPr lang="en-US" sz="3000" b="1" dirty="0">
                <a:solidFill>
                  <a:schemeClr val="bg1"/>
                </a:solidFill>
                <a:latin typeface="Consolas" panose="020B0609020204030204" pitchFamily="49" charset="0"/>
              </a:rPr>
              <a:t>section</a:t>
            </a:r>
            <a:r>
              <a:rPr lang="en-US" sz="3000" dirty="0"/>
              <a:t> , </a:t>
            </a:r>
            <a:r>
              <a:rPr lang="en-US" sz="3000" b="1" dirty="0" err="1">
                <a:solidFill>
                  <a:schemeClr val="bg1"/>
                </a:solidFill>
                <a:latin typeface="Consolas" panose="020B0609020204030204" pitchFamily="49" charset="0"/>
              </a:rPr>
              <a:t>fieldset</a:t>
            </a:r>
            <a:r>
              <a:rPr lang="en-US" sz="3000" dirty="0"/>
              <a:t> , </a:t>
            </a:r>
            <a:r>
              <a:rPr lang="en-US" sz="3000" b="1" dirty="0">
                <a:solidFill>
                  <a:schemeClr val="bg1"/>
                </a:solidFill>
                <a:latin typeface="Consolas" panose="020B0609020204030204" pitchFamily="49" charset="0"/>
              </a:rPr>
              <a:t>nav</a:t>
            </a:r>
            <a:r>
              <a:rPr lang="en-US" sz="3000" dirty="0"/>
              <a:t> , </a:t>
            </a:r>
            <a:r>
              <a:rPr lang="en-US" sz="3000" b="1" dirty="0" err="1">
                <a:solidFill>
                  <a:schemeClr val="bg1"/>
                </a:solidFill>
                <a:latin typeface="Consolas" panose="020B0609020204030204" pitchFamily="49" charset="0"/>
              </a:rPr>
              <a:t>ul</a:t>
            </a:r>
            <a:r>
              <a:rPr lang="en-US" sz="3000" dirty="0"/>
              <a:t> , </a:t>
            </a:r>
            <a:r>
              <a:rPr lang="en-US" sz="3000" b="1" dirty="0" err="1">
                <a:solidFill>
                  <a:schemeClr val="bg1"/>
                </a:solidFill>
                <a:latin typeface="Consolas" panose="020B0609020204030204" pitchFamily="49" charset="0"/>
              </a:rPr>
              <a:t>ol</a:t>
            </a:r>
            <a:r>
              <a:rPr lang="en-US" sz="3000" dirty="0"/>
              <a:t> ,</a:t>
            </a:r>
            <a:r>
              <a:rPr lang="en-US" sz="3000" b="1" dirty="0">
                <a:solidFill>
                  <a:schemeClr val="bg1"/>
                </a:solidFill>
                <a:latin typeface="Consolas" panose="020B0609020204030204" pitchFamily="49" charset="0"/>
              </a:rPr>
              <a:t> li</a:t>
            </a:r>
            <a:r>
              <a:rPr lang="en-US" sz="3000" dirty="0"/>
              <a:t> , </a:t>
            </a:r>
            <a:r>
              <a:rPr lang="en-US" sz="3000" b="1" dirty="0">
                <a:solidFill>
                  <a:schemeClr val="bg1"/>
                </a:solidFill>
                <a:latin typeface="Consolas" panose="020B0609020204030204" pitchFamily="49" charset="0"/>
              </a:rPr>
              <a:t>form</a:t>
            </a:r>
            <a:r>
              <a:rPr lang="en-US" sz="3000" dirty="0"/>
              <a:t> , </a:t>
            </a:r>
            <a:r>
              <a:rPr lang="en-US" sz="3000" b="1" dirty="0">
                <a:solidFill>
                  <a:schemeClr val="bg1"/>
                </a:solidFill>
                <a:latin typeface="Consolas" panose="020B0609020204030204" pitchFamily="49" charset="0"/>
              </a:rPr>
              <a:t>h1-h6</a:t>
            </a:r>
            <a:r>
              <a:rPr lang="en-US" sz="3000" dirty="0"/>
              <a:t> , </a:t>
            </a:r>
            <a:r>
              <a:rPr lang="en-US" sz="3000" b="1" dirty="0">
                <a:solidFill>
                  <a:schemeClr val="bg1"/>
                </a:solidFill>
                <a:latin typeface="Consolas" panose="020B0609020204030204" pitchFamily="49" charset="0"/>
              </a:rPr>
              <a:t>p</a:t>
            </a:r>
            <a:r>
              <a:rPr lang="en-US" sz="3000" dirty="0"/>
              <a:t> , </a:t>
            </a:r>
            <a:r>
              <a:rPr lang="en-US" sz="3000" b="1" dirty="0">
                <a:solidFill>
                  <a:schemeClr val="bg1"/>
                </a:solidFill>
                <a:latin typeface="Consolas" panose="020B0609020204030204" pitchFamily="49" charset="0"/>
              </a:rPr>
              <a:t>div</a:t>
            </a:r>
          </a:p>
        </p:txBody>
      </p:sp>
      <p:sp>
        <p:nvSpPr>
          <p:cNvPr id="4" name="Title 3">
            <a:extLst>
              <a:ext uri="{FF2B5EF4-FFF2-40B4-BE49-F238E27FC236}">
                <a16:creationId xmlns:a16="http://schemas.microsoft.com/office/drawing/2014/main" id="{7390FCE7-3482-00CE-64B9-CAC1F43BC2A4}"/>
              </a:ext>
            </a:extLst>
          </p:cNvPr>
          <p:cNvSpPr>
            <a:spLocks noGrp="1"/>
          </p:cNvSpPr>
          <p:nvPr>
            <p:ph type="title"/>
          </p:nvPr>
        </p:nvSpPr>
        <p:spPr/>
        <p:txBody>
          <a:bodyPr/>
          <a:lstStyle/>
          <a:p>
            <a:r>
              <a:rPr lang="en-US" sz="4400" dirty="0"/>
              <a:t>Display - block</a:t>
            </a:r>
            <a:endParaRPr lang="en-GB" sz="4400" dirty="0"/>
          </a:p>
        </p:txBody>
      </p:sp>
      <p:sp>
        <p:nvSpPr>
          <p:cNvPr id="2" name="Slide Number">
            <a:extLst>
              <a:ext uri="{FF2B5EF4-FFF2-40B4-BE49-F238E27FC236}">
                <a16:creationId xmlns:a16="http://schemas.microsoft.com/office/drawing/2014/main" id="{CEF2FD18-F35B-78B2-9EFA-7C5F23AF9F8C}"/>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7</a:t>
            </a:fld>
            <a:endParaRPr lang="en-US" noProof="0" dirty="0"/>
          </a:p>
        </p:txBody>
      </p:sp>
    </p:spTree>
    <p:extLst>
      <p:ext uri="{BB962C8B-B14F-4D97-AF65-F5344CB8AC3E}">
        <p14:creationId xmlns:p14="http://schemas.microsoft.com/office/powerpoint/2010/main" val="1724284322"/>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a:xfrm>
            <a:off x="373904" y="1295400"/>
            <a:ext cx="11818096" cy="5201066"/>
          </a:xfrm>
        </p:spPr>
        <p:txBody>
          <a:bodyPr>
            <a:normAutofit/>
          </a:bodyPr>
          <a:lstStyle/>
          <a:p>
            <a:pPr>
              <a:buClr>
                <a:schemeClr val="tx1"/>
              </a:buClr>
            </a:pPr>
            <a:endParaRPr lang="en-US" dirty="0"/>
          </a:p>
          <a:p>
            <a:pPr>
              <a:buClr>
                <a:schemeClr val="tx1"/>
              </a:buClr>
            </a:pPr>
            <a:endParaRPr lang="en-US" dirty="0"/>
          </a:p>
          <a:p>
            <a:pPr>
              <a:buClr>
                <a:schemeClr val="tx1"/>
              </a:buClr>
            </a:pPr>
            <a:endParaRPr lang="en-US" dirty="0"/>
          </a:p>
          <a:p>
            <a:pPr>
              <a:buClr>
                <a:schemeClr val="tx1"/>
              </a:buClr>
            </a:pPr>
            <a:endParaRPr lang="en-US" dirty="0"/>
          </a:p>
          <a:p>
            <a:pPr>
              <a:buClr>
                <a:schemeClr val="tx1"/>
              </a:buClr>
            </a:pPr>
            <a:endParaRPr lang="en-US" dirty="0"/>
          </a:p>
          <a:p>
            <a:pPr>
              <a:buClr>
                <a:schemeClr val="tx1"/>
              </a:buClr>
            </a:pPr>
            <a:endParaRPr lang="en-US" dirty="0"/>
          </a:p>
        </p:txBody>
      </p:sp>
      <p:sp>
        <p:nvSpPr>
          <p:cNvPr id="4" name="Title 3"/>
          <p:cNvSpPr>
            <a:spLocks noGrp="1"/>
          </p:cNvSpPr>
          <p:nvPr>
            <p:ph type="title"/>
          </p:nvPr>
        </p:nvSpPr>
        <p:spPr/>
        <p:txBody>
          <a:bodyPr/>
          <a:lstStyle/>
          <a:p>
            <a:r>
              <a:rPr lang="en-US" dirty="0"/>
              <a:t>Block Elements – Example</a:t>
            </a:r>
          </a:p>
        </p:txBody>
      </p:sp>
      <p:sp>
        <p:nvSpPr>
          <p:cNvPr id="9" name="Slide Number">
            <a:extLst>
              <a:ext uri="{FF2B5EF4-FFF2-40B4-BE49-F238E27FC236}">
                <a16:creationId xmlns:a16="http://schemas.microsoft.com/office/drawing/2014/main" id="{D7D3A451-9D6F-4127-9791-7B38F8D01DA7}"/>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8</a:t>
            </a:fld>
            <a:endParaRPr lang="en-US" noProof="0" dirty="0"/>
          </a:p>
        </p:txBody>
      </p:sp>
      <p:sp>
        <p:nvSpPr>
          <p:cNvPr id="8" name="Rectangle 26">
            <a:extLst>
              <a:ext uri="{FF2B5EF4-FFF2-40B4-BE49-F238E27FC236}">
                <a16:creationId xmlns:a16="http://schemas.microsoft.com/office/drawing/2014/main" id="{1EE7616C-3FF8-44EB-95EC-9C029153A3FC}"/>
              </a:ext>
            </a:extLst>
          </p:cNvPr>
          <p:cNvSpPr>
            <a:spLocks noChangeArrowheads="1"/>
          </p:cNvSpPr>
          <p:nvPr/>
        </p:nvSpPr>
        <p:spPr bwMode="auto">
          <a:xfrm>
            <a:off x="372063" y="2388220"/>
            <a:ext cx="7382383" cy="3015425"/>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defRPr/>
            </a:pPr>
            <a:r>
              <a:rPr lang="en-US" sz="2999" b="1" noProof="1">
                <a:solidFill>
                  <a:schemeClr val="bg1"/>
                </a:solidFill>
                <a:latin typeface="Consolas" pitchFamily="49" charset="0"/>
                <a:cs typeface="Consolas" pitchFamily="49" charset="0"/>
              </a:rPr>
              <a:t>&lt;p style="</a:t>
            </a:r>
            <a:r>
              <a:rPr lang="en-US" sz="2999" b="1" noProof="1">
                <a:latin typeface="Consolas" pitchFamily="49" charset="0"/>
                <a:cs typeface="Consolas" pitchFamily="49" charset="0"/>
              </a:rPr>
              <a:t>border:1px solid red; text-align:center</a:t>
            </a:r>
            <a:r>
              <a:rPr lang="en-US" sz="2999" b="1" noProof="1">
                <a:solidFill>
                  <a:schemeClr val="bg1"/>
                </a:solidFill>
                <a:latin typeface="Consolas" pitchFamily="49" charset="0"/>
                <a:cs typeface="Consolas" pitchFamily="49" charset="0"/>
              </a:rPr>
              <a:t>"&gt;</a:t>
            </a:r>
            <a:r>
              <a:rPr lang="en-US" sz="2999" b="1" noProof="1">
                <a:latin typeface="Consolas" pitchFamily="49" charset="0"/>
                <a:cs typeface="Consolas" pitchFamily="49" charset="0"/>
              </a:rPr>
              <a:t>centered</a:t>
            </a:r>
            <a:r>
              <a:rPr lang="en-US" sz="2999" b="1" noProof="1">
                <a:solidFill>
                  <a:schemeClr val="bg1"/>
                </a:solidFill>
                <a:latin typeface="Consolas" pitchFamily="49" charset="0"/>
                <a:cs typeface="Consolas" pitchFamily="49" charset="0"/>
              </a:rPr>
              <a:t>&lt;/p&gt;</a:t>
            </a:r>
          </a:p>
          <a:p>
            <a:pPr eaLnBrk="0" hangingPunct="0">
              <a:spcBef>
                <a:spcPts val="600"/>
              </a:spcBef>
              <a:buClr>
                <a:schemeClr val="accent5">
                  <a:lumMod val="40000"/>
                  <a:lumOff val="60000"/>
                </a:schemeClr>
              </a:buClr>
              <a:buSzPct val="70000"/>
              <a:defRPr/>
            </a:pPr>
            <a:r>
              <a:rPr lang="en-US" sz="2999" b="1" noProof="1">
                <a:solidFill>
                  <a:schemeClr val="bg1"/>
                </a:solidFill>
                <a:latin typeface="Consolas" pitchFamily="49" charset="0"/>
                <a:cs typeface="Consolas" pitchFamily="49" charset="0"/>
              </a:rPr>
              <a:t>&lt;div style="</a:t>
            </a:r>
            <a:r>
              <a:rPr lang="en-US" sz="2999" b="1" noProof="1">
                <a:latin typeface="Consolas" pitchFamily="49" charset="0"/>
                <a:cs typeface="Consolas" pitchFamily="49" charset="0"/>
              </a:rPr>
              <a:t>border:1px solid blue</a:t>
            </a:r>
            <a:r>
              <a:rPr lang="en-US" sz="2999" b="1" noProof="1">
                <a:solidFill>
                  <a:schemeClr val="bg1"/>
                </a:solidFill>
                <a:latin typeface="Consolas" pitchFamily="49" charset="0"/>
                <a:cs typeface="Consolas" pitchFamily="49" charset="0"/>
              </a:rPr>
              <a:t>"&gt;</a:t>
            </a:r>
            <a:r>
              <a:rPr lang="en-US" sz="2999" b="1" noProof="1">
                <a:latin typeface="Consolas" pitchFamily="49" charset="0"/>
                <a:cs typeface="Consolas" pitchFamily="49" charset="0"/>
              </a:rPr>
              <a:t>DIV</a:t>
            </a:r>
            <a:r>
              <a:rPr lang="en-US" sz="2999" b="1" noProof="1">
                <a:solidFill>
                  <a:schemeClr val="bg1"/>
                </a:solidFill>
                <a:latin typeface="Consolas" pitchFamily="49" charset="0"/>
                <a:cs typeface="Consolas" pitchFamily="49" charset="0"/>
              </a:rPr>
              <a:t>&lt;/div&gt;</a:t>
            </a:r>
          </a:p>
          <a:p>
            <a:pPr eaLnBrk="0" hangingPunct="0">
              <a:spcBef>
                <a:spcPts val="600"/>
              </a:spcBef>
              <a:buClr>
                <a:schemeClr val="accent5">
                  <a:lumMod val="40000"/>
                  <a:lumOff val="60000"/>
                </a:schemeClr>
              </a:buClr>
              <a:buSzPct val="70000"/>
              <a:defRPr/>
            </a:pPr>
            <a:r>
              <a:rPr lang="en-US" sz="2999" b="1" noProof="1">
                <a:solidFill>
                  <a:schemeClr val="bg1"/>
                </a:solidFill>
                <a:latin typeface="Consolas" pitchFamily="49" charset="0"/>
                <a:cs typeface="Consolas" pitchFamily="49" charset="0"/>
              </a:rPr>
              <a:t>&lt;p style="</a:t>
            </a:r>
            <a:r>
              <a:rPr lang="en-US" sz="2999" b="1" noProof="1">
                <a:latin typeface="Consolas" pitchFamily="49" charset="0"/>
                <a:cs typeface="Consolas" pitchFamily="49" charset="0"/>
              </a:rPr>
              <a:t>border:1px solid red; text-align:right</a:t>
            </a:r>
            <a:r>
              <a:rPr lang="en-US" sz="2999" b="1" noProof="1">
                <a:solidFill>
                  <a:schemeClr val="bg1"/>
                </a:solidFill>
                <a:latin typeface="Consolas" pitchFamily="49" charset="0"/>
                <a:cs typeface="Consolas" pitchFamily="49" charset="0"/>
              </a:rPr>
              <a:t>"&gt;</a:t>
            </a:r>
            <a:r>
              <a:rPr lang="en-US" sz="2999" b="1" noProof="1">
                <a:latin typeface="Consolas" pitchFamily="49" charset="0"/>
                <a:cs typeface="Consolas" pitchFamily="49" charset="0"/>
              </a:rPr>
              <a:t>right</a:t>
            </a:r>
            <a:r>
              <a:rPr lang="en-US" sz="2999" b="1" noProof="1">
                <a:solidFill>
                  <a:schemeClr val="bg1"/>
                </a:solidFill>
                <a:latin typeface="Consolas" pitchFamily="49" charset="0"/>
                <a:cs typeface="Consolas" pitchFamily="49" charset="0"/>
              </a:rPr>
              <a:t>&lt;/p&gt;</a:t>
            </a:r>
          </a:p>
        </p:txBody>
      </p:sp>
      <p:grpSp>
        <p:nvGrpSpPr>
          <p:cNvPr id="10" name="Group 25">
            <a:extLst>
              <a:ext uri="{FF2B5EF4-FFF2-40B4-BE49-F238E27FC236}">
                <a16:creationId xmlns:a16="http://schemas.microsoft.com/office/drawing/2014/main" id="{426E7000-6B2E-41ED-B2A4-E215EDBC8117}"/>
              </a:ext>
            </a:extLst>
          </p:cNvPr>
          <p:cNvGrpSpPr/>
          <p:nvPr/>
        </p:nvGrpSpPr>
        <p:grpSpPr>
          <a:xfrm>
            <a:off x="8076475" y="1344038"/>
            <a:ext cx="3428318" cy="4604962"/>
            <a:chOff x="7694401" y="1097835"/>
            <a:chExt cx="3429211" cy="4606162"/>
          </a:xfrm>
        </p:grpSpPr>
        <p:sp>
          <p:nvSpPr>
            <p:cNvPr id="11" name="Rounded Rectangle 4">
              <a:extLst>
                <a:ext uri="{FF2B5EF4-FFF2-40B4-BE49-F238E27FC236}">
                  <a16:creationId xmlns:a16="http://schemas.microsoft.com/office/drawing/2014/main" id="{738E6A50-8CD4-47D7-8529-C337FE5C0661}"/>
                </a:ext>
              </a:extLst>
            </p:cNvPr>
            <p:cNvSpPr/>
            <p:nvPr/>
          </p:nvSpPr>
          <p:spPr>
            <a:xfrm>
              <a:off x="7694402" y="1760719"/>
              <a:ext cx="3429210" cy="3943278"/>
            </a:xfrm>
            <a:prstGeom prst="roundRect">
              <a:avLst>
                <a:gd name="adj" fmla="val 903"/>
              </a:avLst>
            </a:prstGeom>
            <a:solidFill>
              <a:schemeClr val="accent1">
                <a:alpha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99" dirty="0"/>
            </a:p>
          </p:txBody>
        </p:sp>
        <p:sp>
          <p:nvSpPr>
            <p:cNvPr id="12" name="TextBox 5">
              <a:extLst>
                <a:ext uri="{FF2B5EF4-FFF2-40B4-BE49-F238E27FC236}">
                  <a16:creationId xmlns:a16="http://schemas.microsoft.com/office/drawing/2014/main" id="{09FA4FD0-12A0-4F75-B32C-78D89BE0F942}"/>
                </a:ext>
              </a:extLst>
            </p:cNvPr>
            <p:cNvSpPr txBox="1"/>
            <p:nvPr/>
          </p:nvSpPr>
          <p:spPr>
            <a:xfrm>
              <a:off x="7694401" y="1097835"/>
              <a:ext cx="3429211" cy="584775"/>
            </a:xfrm>
            <a:prstGeom prst="rect">
              <a:avLst/>
            </a:prstGeom>
            <a:noFill/>
          </p:spPr>
          <p:txBody>
            <a:bodyPr wrap="square" rtlCol="0">
              <a:spAutoFit/>
            </a:bodyPr>
            <a:lstStyle/>
            <a:p>
              <a:pPr algn="ctr"/>
              <a:r>
                <a:rPr lang="en-US" sz="3199" b="1" dirty="0">
                  <a:solidFill>
                    <a:schemeClr val="bg1"/>
                  </a:solidFill>
                </a:rPr>
                <a:t>display: block</a:t>
              </a:r>
              <a:endParaRPr lang="en-US" sz="1799" b="1" dirty="0">
                <a:solidFill>
                  <a:schemeClr val="bg1"/>
                </a:solidFill>
              </a:endParaRPr>
            </a:p>
          </p:txBody>
        </p:sp>
        <p:sp>
          <p:nvSpPr>
            <p:cNvPr id="13" name="Rounded Rectangle 6">
              <a:extLst>
                <a:ext uri="{FF2B5EF4-FFF2-40B4-BE49-F238E27FC236}">
                  <a16:creationId xmlns:a16="http://schemas.microsoft.com/office/drawing/2014/main" id="{FED938ED-4832-4CAC-B786-5640DCDFBD6D}"/>
                </a:ext>
              </a:extLst>
            </p:cNvPr>
            <p:cNvSpPr/>
            <p:nvPr/>
          </p:nvSpPr>
          <p:spPr>
            <a:xfrm>
              <a:off x="7859614" y="2611819"/>
              <a:ext cx="3113186" cy="1337107"/>
            </a:xfrm>
            <a:prstGeom prst="roundRect">
              <a:avLst>
                <a:gd name="adj" fmla="val 903"/>
              </a:avLst>
            </a:prstGeom>
            <a:solidFill>
              <a:schemeClr val="accent1">
                <a:alpha val="50000"/>
              </a:schemeClr>
            </a:solid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99" dirty="0"/>
            </a:p>
          </p:txBody>
        </p:sp>
        <p:sp>
          <p:nvSpPr>
            <p:cNvPr id="14" name="Rectangle 7">
              <a:extLst>
                <a:ext uri="{FF2B5EF4-FFF2-40B4-BE49-F238E27FC236}">
                  <a16:creationId xmlns:a16="http://schemas.microsoft.com/office/drawing/2014/main" id="{B56AB9F5-0E39-411F-8AC5-A32B611238ED}"/>
                </a:ext>
              </a:extLst>
            </p:cNvPr>
            <p:cNvSpPr/>
            <p:nvPr/>
          </p:nvSpPr>
          <p:spPr>
            <a:xfrm>
              <a:off x="7991509" y="2759074"/>
              <a:ext cx="2835206" cy="204501"/>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99" dirty="0"/>
            </a:p>
          </p:txBody>
        </p:sp>
        <p:sp>
          <p:nvSpPr>
            <p:cNvPr id="15" name="Rectangle 8">
              <a:extLst>
                <a:ext uri="{FF2B5EF4-FFF2-40B4-BE49-F238E27FC236}">
                  <a16:creationId xmlns:a16="http://schemas.microsoft.com/office/drawing/2014/main" id="{24CC670F-41E4-4DC3-B315-A940316A114D}"/>
                </a:ext>
              </a:extLst>
            </p:cNvPr>
            <p:cNvSpPr/>
            <p:nvPr/>
          </p:nvSpPr>
          <p:spPr>
            <a:xfrm>
              <a:off x="7991509" y="3035928"/>
              <a:ext cx="2835206" cy="204501"/>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99" dirty="0"/>
            </a:p>
          </p:txBody>
        </p:sp>
        <p:sp>
          <p:nvSpPr>
            <p:cNvPr id="16" name="Rectangle 9">
              <a:extLst>
                <a:ext uri="{FF2B5EF4-FFF2-40B4-BE49-F238E27FC236}">
                  <a16:creationId xmlns:a16="http://schemas.microsoft.com/office/drawing/2014/main" id="{2AC03A52-D447-4DD8-8FB1-9E1CB3D2E3C7}"/>
                </a:ext>
              </a:extLst>
            </p:cNvPr>
            <p:cNvSpPr/>
            <p:nvPr/>
          </p:nvSpPr>
          <p:spPr>
            <a:xfrm>
              <a:off x="7991509" y="3320041"/>
              <a:ext cx="2835206" cy="204501"/>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99" dirty="0"/>
            </a:p>
          </p:txBody>
        </p:sp>
        <p:sp>
          <p:nvSpPr>
            <p:cNvPr id="17" name="Rectangle 12">
              <a:extLst>
                <a:ext uri="{FF2B5EF4-FFF2-40B4-BE49-F238E27FC236}">
                  <a16:creationId xmlns:a16="http://schemas.microsoft.com/office/drawing/2014/main" id="{1981DA19-667E-41B3-A054-6417A64BFF1E}"/>
                </a:ext>
              </a:extLst>
            </p:cNvPr>
            <p:cNvSpPr/>
            <p:nvPr/>
          </p:nvSpPr>
          <p:spPr>
            <a:xfrm>
              <a:off x="7991509" y="5038482"/>
              <a:ext cx="2835206" cy="2045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99" dirty="0"/>
            </a:p>
          </p:txBody>
        </p:sp>
        <p:sp>
          <p:nvSpPr>
            <p:cNvPr id="18" name="Rectangle 13">
              <a:extLst>
                <a:ext uri="{FF2B5EF4-FFF2-40B4-BE49-F238E27FC236}">
                  <a16:creationId xmlns:a16="http://schemas.microsoft.com/office/drawing/2014/main" id="{87042BC3-61D8-401D-A30E-6235D17534F3}"/>
                </a:ext>
              </a:extLst>
            </p:cNvPr>
            <p:cNvSpPr/>
            <p:nvPr/>
          </p:nvSpPr>
          <p:spPr>
            <a:xfrm>
              <a:off x="7991509" y="5323606"/>
              <a:ext cx="2835206" cy="2045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99" dirty="0"/>
            </a:p>
          </p:txBody>
        </p:sp>
        <p:sp>
          <p:nvSpPr>
            <p:cNvPr id="19" name="Rectangle 14">
              <a:extLst>
                <a:ext uri="{FF2B5EF4-FFF2-40B4-BE49-F238E27FC236}">
                  <a16:creationId xmlns:a16="http://schemas.microsoft.com/office/drawing/2014/main" id="{C5BCC9D0-1D79-478F-BE97-9D01DA33F047}"/>
                </a:ext>
              </a:extLst>
            </p:cNvPr>
            <p:cNvSpPr/>
            <p:nvPr/>
          </p:nvSpPr>
          <p:spPr>
            <a:xfrm>
              <a:off x="7991509" y="1950130"/>
              <a:ext cx="2835206" cy="2045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99" dirty="0"/>
            </a:p>
          </p:txBody>
        </p:sp>
        <p:sp>
          <p:nvSpPr>
            <p:cNvPr id="20" name="Rectangle 15">
              <a:extLst>
                <a:ext uri="{FF2B5EF4-FFF2-40B4-BE49-F238E27FC236}">
                  <a16:creationId xmlns:a16="http://schemas.microsoft.com/office/drawing/2014/main" id="{B615C70B-3271-412F-B4FA-EF3CDDFE1A88}"/>
                </a:ext>
              </a:extLst>
            </p:cNvPr>
            <p:cNvSpPr/>
            <p:nvPr/>
          </p:nvSpPr>
          <p:spPr>
            <a:xfrm>
              <a:off x="7991403" y="2238224"/>
              <a:ext cx="2835206" cy="2045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99" dirty="0"/>
            </a:p>
          </p:txBody>
        </p:sp>
        <p:sp>
          <p:nvSpPr>
            <p:cNvPr id="21" name="Rounded Rectangle 21">
              <a:extLst>
                <a:ext uri="{FF2B5EF4-FFF2-40B4-BE49-F238E27FC236}">
                  <a16:creationId xmlns:a16="http://schemas.microsoft.com/office/drawing/2014/main" id="{E1069FEB-EDFE-4DB7-A9E1-B316A2CDF7AC}"/>
                </a:ext>
              </a:extLst>
            </p:cNvPr>
            <p:cNvSpPr/>
            <p:nvPr/>
          </p:nvSpPr>
          <p:spPr>
            <a:xfrm>
              <a:off x="7859614" y="4124817"/>
              <a:ext cx="3113186" cy="768115"/>
            </a:xfrm>
            <a:prstGeom prst="roundRect">
              <a:avLst>
                <a:gd name="adj" fmla="val 903"/>
              </a:avLst>
            </a:prstGeom>
            <a:solidFill>
              <a:schemeClr val="accent1">
                <a:alpha val="50000"/>
              </a:schemeClr>
            </a:solid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99" dirty="0"/>
            </a:p>
          </p:txBody>
        </p:sp>
        <p:sp>
          <p:nvSpPr>
            <p:cNvPr id="22" name="Rectangle 22">
              <a:extLst>
                <a:ext uri="{FF2B5EF4-FFF2-40B4-BE49-F238E27FC236}">
                  <a16:creationId xmlns:a16="http://schemas.microsoft.com/office/drawing/2014/main" id="{ADD5D61F-45D6-417F-9D1B-6E22B2757978}"/>
                </a:ext>
              </a:extLst>
            </p:cNvPr>
            <p:cNvSpPr/>
            <p:nvPr/>
          </p:nvSpPr>
          <p:spPr>
            <a:xfrm>
              <a:off x="7991509" y="4272071"/>
              <a:ext cx="2835206" cy="204501"/>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99" dirty="0"/>
            </a:p>
          </p:txBody>
        </p:sp>
        <p:sp>
          <p:nvSpPr>
            <p:cNvPr id="23" name="Rectangle 23">
              <a:extLst>
                <a:ext uri="{FF2B5EF4-FFF2-40B4-BE49-F238E27FC236}">
                  <a16:creationId xmlns:a16="http://schemas.microsoft.com/office/drawing/2014/main" id="{30860E12-2CCD-4C55-B044-BBF93ED49BE1}"/>
                </a:ext>
              </a:extLst>
            </p:cNvPr>
            <p:cNvSpPr/>
            <p:nvPr/>
          </p:nvSpPr>
          <p:spPr>
            <a:xfrm>
              <a:off x="7991509" y="4548925"/>
              <a:ext cx="2835206" cy="204501"/>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99" dirty="0"/>
            </a:p>
          </p:txBody>
        </p:sp>
        <p:sp>
          <p:nvSpPr>
            <p:cNvPr id="24" name="Rectangle 28">
              <a:extLst>
                <a:ext uri="{FF2B5EF4-FFF2-40B4-BE49-F238E27FC236}">
                  <a16:creationId xmlns:a16="http://schemas.microsoft.com/office/drawing/2014/main" id="{E8F05448-4394-43C3-81EA-93B66B0A5E67}"/>
                </a:ext>
              </a:extLst>
            </p:cNvPr>
            <p:cNvSpPr/>
            <p:nvPr/>
          </p:nvSpPr>
          <p:spPr>
            <a:xfrm>
              <a:off x="7991509" y="3600714"/>
              <a:ext cx="2835206" cy="204501"/>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99" dirty="0"/>
            </a:p>
          </p:txBody>
        </p:sp>
      </p:grpSp>
      <p:pic>
        <p:nvPicPr>
          <p:cNvPr id="25" name="Picture 27">
            <a:extLst>
              <a:ext uri="{FF2B5EF4-FFF2-40B4-BE49-F238E27FC236}">
                <a16:creationId xmlns:a16="http://schemas.microsoft.com/office/drawing/2014/main" id="{83BF1990-3D39-4A05-97DC-87244B10E85F}"/>
              </a:ext>
            </a:extLst>
          </p:cNvPr>
          <p:cNvPicPr>
            <a:picLocks noChangeAspect="1"/>
          </p:cNvPicPr>
          <p:nvPr/>
        </p:nvPicPr>
        <p:blipFill>
          <a:blip r:embed="rId2"/>
          <a:stretch>
            <a:fillRect/>
          </a:stretch>
        </p:blipFill>
        <p:spPr>
          <a:xfrm>
            <a:off x="8217042" y="2839439"/>
            <a:ext cx="3147183" cy="1385280"/>
          </a:xfrm>
          <a:prstGeom prst="roundRect">
            <a:avLst>
              <a:gd name="adj" fmla="val 1511"/>
            </a:avLst>
          </a:prstGeom>
        </p:spPr>
      </p:pic>
    </p:spTree>
    <p:extLst>
      <p:ext uri="{BB962C8B-B14F-4D97-AF65-F5344CB8AC3E}">
        <p14:creationId xmlns:p14="http://schemas.microsoft.com/office/powerpoint/2010/main" val="18990217"/>
      </p:ext>
    </p:extLst>
  </p:cSld>
  <p:clrMapOvr>
    <a:masterClrMapping/>
  </p:clrMapOvr>
  <mc:AlternateContent xmlns:mc="http://schemas.openxmlformats.org/markup-compatibility/2006" xmlns:p14="http://schemas.microsoft.com/office/powerpoint/2010/main">
    <mc:Choice Requires="p14">
      <p:transition p14:dur="0" advClick="0" advTm="5000"/>
    </mc:Choice>
    <mc:Fallback xmlns="">
      <p:transition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Текстов контейнер 4">
            <a:extLst>
              <a:ext uri="{FF2B5EF4-FFF2-40B4-BE49-F238E27FC236}">
                <a16:creationId xmlns:a16="http://schemas.microsoft.com/office/drawing/2014/main" id="{42181F94-2D22-FF06-76F3-992C694BC581}"/>
              </a:ext>
            </a:extLst>
          </p:cNvPr>
          <p:cNvSpPr>
            <a:spLocks noGrp="1"/>
          </p:cNvSpPr>
          <p:nvPr>
            <p:ph type="body" sz="quarter" idx="10"/>
          </p:nvPr>
        </p:nvSpPr>
        <p:spPr>
          <a:xfrm>
            <a:off x="190402" y="1196125"/>
            <a:ext cx="8830598" cy="5528766"/>
          </a:xfrm>
        </p:spPr>
        <p:txBody>
          <a:bodyPr>
            <a:noAutofit/>
          </a:bodyPr>
          <a:lstStyle/>
          <a:p>
            <a:r>
              <a:rPr lang="en-US" sz="3200" b="0" dirty="0"/>
              <a:t>Inline elements are those which only occupy the space bounded by the tags defining the element, instead of breaking the flow of the content.</a:t>
            </a:r>
          </a:p>
          <a:p>
            <a:pPr>
              <a:buClr>
                <a:schemeClr val="tx1"/>
              </a:buClr>
            </a:pPr>
            <a:r>
              <a:rPr lang="en-US" sz="3200" dirty="0"/>
              <a:t>Inline element: </a:t>
            </a:r>
            <a:r>
              <a:rPr lang="en-US" sz="3200" b="1" dirty="0">
                <a:solidFill>
                  <a:schemeClr val="bg1"/>
                </a:solidFill>
              </a:rPr>
              <a:t>don't start </a:t>
            </a:r>
            <a:r>
              <a:rPr lang="en-US" sz="3200" dirty="0"/>
              <a:t>on a new line. They appear on the same line as the content and tags beside them</a:t>
            </a:r>
          </a:p>
        </p:txBody>
      </p:sp>
      <p:sp>
        <p:nvSpPr>
          <p:cNvPr id="4" name="Title 3">
            <a:extLst>
              <a:ext uri="{FF2B5EF4-FFF2-40B4-BE49-F238E27FC236}">
                <a16:creationId xmlns:a16="http://schemas.microsoft.com/office/drawing/2014/main" id="{E9A1DA41-F15A-4A36-BC07-5ABC6728BF4B}"/>
              </a:ext>
            </a:extLst>
          </p:cNvPr>
          <p:cNvSpPr>
            <a:spLocks noGrp="1"/>
          </p:cNvSpPr>
          <p:nvPr>
            <p:ph type="title"/>
          </p:nvPr>
        </p:nvSpPr>
        <p:spPr/>
        <p:txBody>
          <a:bodyPr/>
          <a:lstStyle/>
          <a:p>
            <a:r>
              <a:rPr lang="en-US" sz="4400" dirty="0"/>
              <a:t>Display - inline</a:t>
            </a:r>
            <a:endParaRPr lang="en-GB" sz="4400" dirty="0"/>
          </a:p>
        </p:txBody>
      </p:sp>
      <p:sp>
        <p:nvSpPr>
          <p:cNvPr id="8" name="Текстово поле 10">
            <a:extLst>
              <a:ext uri="{FF2B5EF4-FFF2-40B4-BE49-F238E27FC236}">
                <a16:creationId xmlns:a16="http://schemas.microsoft.com/office/drawing/2014/main" id="{9B7AA23C-70FC-EF61-F24E-687BE816E68D}"/>
              </a:ext>
            </a:extLst>
          </p:cNvPr>
          <p:cNvSpPr txBox="1"/>
          <p:nvPr/>
        </p:nvSpPr>
        <p:spPr>
          <a:xfrm>
            <a:off x="4404442" y="4779000"/>
            <a:ext cx="3383116" cy="1416522"/>
          </a:xfrm>
          <a:prstGeom prst="rect">
            <a:avLst/>
          </a:prstGeom>
          <a:solidFill>
            <a:schemeClr val="accent6">
              <a:lumMod val="75000"/>
              <a:alpha val="15000"/>
            </a:schemeClr>
          </a:solidFill>
          <a:ln w="12700">
            <a:solidFill>
              <a:schemeClr val="tx1">
                <a:lumMod val="75000"/>
              </a:schemeClr>
            </a:solidFill>
          </a:ln>
        </p:spPr>
        <p:txBody>
          <a:bodyPr vert="horz" wrap="square" lIns="143963" tIns="107972" rIns="143963" bIns="107972" rtlCol="0">
            <a:spAutoFit/>
          </a:bodyPr>
          <a:lstStyle/>
          <a:p>
            <a:pPr eaLnBrk="0" hangingPunct="0">
              <a:lnSpc>
                <a:spcPct val="110000"/>
              </a:lnSpc>
              <a:buClr>
                <a:schemeClr val="accent5">
                  <a:lumMod val="40000"/>
                  <a:lumOff val="60000"/>
                </a:schemeClr>
              </a:buClr>
              <a:buSzPct val="70000"/>
            </a:pPr>
            <a:r>
              <a:rPr lang="en-US" sz="2400" b="1" dirty="0">
                <a:latin typeface="Consolas" panose="020B0609020204030204" pitchFamily="49" charset="0"/>
              </a:rPr>
              <a:t>.box {</a:t>
            </a:r>
          </a:p>
          <a:p>
            <a:pPr eaLnBrk="0" hangingPunct="0">
              <a:lnSpc>
                <a:spcPct val="110000"/>
              </a:lnSpc>
              <a:buClr>
                <a:schemeClr val="accent5">
                  <a:lumMod val="40000"/>
                  <a:lumOff val="60000"/>
                </a:schemeClr>
              </a:buClr>
              <a:buSzPct val="70000"/>
            </a:pPr>
            <a:r>
              <a:rPr lang="en-US" sz="2400" b="1" dirty="0">
                <a:latin typeface="Consolas" panose="020B0609020204030204" pitchFamily="49" charset="0"/>
              </a:rPr>
              <a:t>  display: inline;</a:t>
            </a:r>
          </a:p>
          <a:p>
            <a:pPr eaLnBrk="0" hangingPunct="0">
              <a:lnSpc>
                <a:spcPct val="110000"/>
              </a:lnSpc>
              <a:buClr>
                <a:schemeClr val="accent5">
                  <a:lumMod val="40000"/>
                  <a:lumOff val="60000"/>
                </a:schemeClr>
              </a:buClr>
              <a:buSzPct val="70000"/>
            </a:pPr>
            <a:r>
              <a:rPr lang="en-US" sz="2400" b="1" dirty="0">
                <a:latin typeface="Consolas" panose="020B0609020204030204" pitchFamily="49" charset="0"/>
              </a:rPr>
              <a:t>}</a:t>
            </a:r>
          </a:p>
        </p:txBody>
      </p:sp>
      <p:sp>
        <p:nvSpPr>
          <p:cNvPr id="2" name="Slide Number">
            <a:extLst>
              <a:ext uri="{FF2B5EF4-FFF2-40B4-BE49-F238E27FC236}">
                <a16:creationId xmlns:a16="http://schemas.microsoft.com/office/drawing/2014/main" id="{A9B033D9-C1F1-22B0-C623-CA8AB3593D52}"/>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9</a:t>
            </a:fld>
            <a:endParaRPr lang="en-US" noProof="0" dirty="0"/>
          </a:p>
        </p:txBody>
      </p:sp>
    </p:spTree>
    <p:extLst>
      <p:ext uri="{BB962C8B-B14F-4D97-AF65-F5344CB8AC3E}">
        <p14:creationId xmlns:p14="http://schemas.microsoft.com/office/powerpoint/2010/main" val="2564856920"/>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179C93-9B8B-85DB-51C6-99364C1CA234}"/>
            </a:ext>
          </a:extLst>
        </p:cNvPr>
        <p:cNvGrpSpPr/>
        <p:nvPr/>
      </p:nvGrpSpPr>
      <p:grpSpPr>
        <a:xfrm>
          <a:off x="0" y="0"/>
          <a:ext cx="0" cy="0"/>
          <a:chOff x="0" y="0"/>
          <a:chExt cx="0" cy="0"/>
        </a:xfrm>
      </p:grpSpPr>
      <p:sp>
        <p:nvSpPr>
          <p:cNvPr id="5" name="Текстов контейнер 4">
            <a:extLst>
              <a:ext uri="{FF2B5EF4-FFF2-40B4-BE49-F238E27FC236}">
                <a16:creationId xmlns:a16="http://schemas.microsoft.com/office/drawing/2014/main" id="{51C5C5CA-3CC8-18A4-09C7-79B418476069}"/>
              </a:ext>
            </a:extLst>
          </p:cNvPr>
          <p:cNvSpPr>
            <a:spLocks noGrp="1"/>
          </p:cNvSpPr>
          <p:nvPr>
            <p:ph type="body" sz="quarter" idx="10"/>
          </p:nvPr>
        </p:nvSpPr>
        <p:spPr>
          <a:xfrm>
            <a:off x="336000" y="1763999"/>
            <a:ext cx="8685000" cy="4960891"/>
          </a:xfrm>
        </p:spPr>
        <p:txBody>
          <a:bodyPr>
            <a:noAutofit/>
          </a:bodyPr>
          <a:lstStyle/>
          <a:p>
            <a:pPr>
              <a:buClr>
                <a:schemeClr val="tx1"/>
              </a:buClr>
            </a:pPr>
            <a:r>
              <a:rPr lang="en-US" sz="3200" dirty="0"/>
              <a:t>Display – inline</a:t>
            </a:r>
            <a:r>
              <a:rPr lang="bg-BG" sz="3200" dirty="0"/>
              <a:t> </a:t>
            </a:r>
            <a:r>
              <a:rPr lang="en-GB" sz="3200" dirty="0"/>
              <a:t>common use:</a:t>
            </a:r>
            <a:endParaRPr lang="bg-BG" sz="3200" b="1" dirty="0">
              <a:solidFill>
                <a:schemeClr val="bg1"/>
              </a:solidFill>
              <a:latin typeface="Consolas" panose="020B0609020204030204" pitchFamily="49" charset="0"/>
            </a:endParaRPr>
          </a:p>
          <a:p>
            <a:pPr lvl="1">
              <a:buClr>
                <a:schemeClr val="tx1"/>
              </a:buClr>
            </a:pPr>
            <a:r>
              <a:rPr lang="en-US" sz="3000" b="1" dirty="0">
                <a:solidFill>
                  <a:schemeClr val="bg1"/>
                </a:solidFill>
                <a:latin typeface="Consolas" panose="020B0609020204030204" pitchFamily="49" charset="0"/>
              </a:rPr>
              <a:t>a</a:t>
            </a:r>
            <a:r>
              <a:rPr lang="en-US" sz="3000" dirty="0"/>
              <a:t>, </a:t>
            </a:r>
            <a:r>
              <a:rPr lang="en-US" sz="3000" b="1" dirty="0">
                <a:solidFill>
                  <a:schemeClr val="bg1"/>
                </a:solidFill>
                <a:latin typeface="Consolas" panose="020B0609020204030204" pitchFamily="49" charset="0"/>
              </a:rPr>
              <a:t>label</a:t>
            </a:r>
            <a:r>
              <a:rPr lang="en-US" sz="3000" dirty="0"/>
              <a:t>, </a:t>
            </a:r>
            <a:r>
              <a:rPr lang="en-US" sz="3000" b="1" dirty="0">
                <a:solidFill>
                  <a:schemeClr val="bg1"/>
                </a:solidFill>
                <a:latin typeface="Consolas" panose="020B0609020204030204" pitchFamily="49" charset="0"/>
              </a:rPr>
              <a:t>map</a:t>
            </a:r>
            <a:r>
              <a:rPr lang="en-US" sz="3000" dirty="0"/>
              <a:t>, </a:t>
            </a:r>
            <a:r>
              <a:rPr lang="en-US" sz="3000" b="1" dirty="0">
                <a:solidFill>
                  <a:schemeClr val="bg1"/>
                </a:solidFill>
                <a:latin typeface="Consolas" panose="020B0609020204030204" pitchFamily="49" charset="0"/>
              </a:rPr>
              <a:t>span</a:t>
            </a:r>
            <a:r>
              <a:rPr lang="en-US" sz="3000" dirty="0"/>
              <a:t>, </a:t>
            </a:r>
            <a:r>
              <a:rPr lang="en-US" sz="3000" b="1" dirty="0">
                <a:solidFill>
                  <a:schemeClr val="bg1"/>
                </a:solidFill>
                <a:latin typeface="Consolas" panose="020B0609020204030204" pitchFamily="49" charset="0"/>
              </a:rPr>
              <a:t>strong</a:t>
            </a:r>
            <a:r>
              <a:rPr lang="en-US" sz="3000" dirty="0"/>
              <a:t>, </a:t>
            </a:r>
            <a:r>
              <a:rPr lang="en-US" sz="3000" b="1" dirty="0" err="1">
                <a:solidFill>
                  <a:schemeClr val="bg1"/>
                </a:solidFill>
                <a:latin typeface="Consolas" panose="020B0609020204030204" pitchFamily="49" charset="0"/>
              </a:rPr>
              <a:t>em</a:t>
            </a:r>
            <a:r>
              <a:rPr lang="en-US" sz="3000" dirty="0"/>
              <a:t>, </a:t>
            </a:r>
            <a:r>
              <a:rPr lang="en-US" sz="3000" b="1" dirty="0" err="1">
                <a:solidFill>
                  <a:schemeClr val="bg1"/>
                </a:solidFill>
                <a:latin typeface="Consolas" panose="020B0609020204030204" pitchFamily="49" charset="0"/>
              </a:rPr>
              <a:t>i</a:t>
            </a:r>
            <a:r>
              <a:rPr lang="en-US" sz="3000" dirty="0"/>
              <a:t>, </a:t>
            </a:r>
            <a:r>
              <a:rPr lang="en-US" sz="3000" b="1" dirty="0" err="1">
                <a:solidFill>
                  <a:schemeClr val="bg1"/>
                </a:solidFill>
                <a:latin typeface="Consolas" panose="020B0609020204030204" pitchFamily="49" charset="0"/>
              </a:rPr>
              <a:t>img</a:t>
            </a:r>
            <a:r>
              <a:rPr lang="en-US" sz="3000" dirty="0"/>
              <a:t>, </a:t>
            </a:r>
            <a:r>
              <a:rPr lang="en-US" sz="3000" b="1" dirty="0" err="1">
                <a:solidFill>
                  <a:schemeClr val="bg1"/>
                </a:solidFill>
                <a:latin typeface="Consolas" panose="020B0609020204030204" pitchFamily="49" charset="0"/>
              </a:rPr>
              <a:t>textarea</a:t>
            </a:r>
            <a:r>
              <a:rPr lang="en-US" sz="3000" dirty="0"/>
              <a:t>, </a:t>
            </a:r>
            <a:r>
              <a:rPr lang="en-US" sz="3000" b="1" dirty="0">
                <a:solidFill>
                  <a:schemeClr val="bg1"/>
                </a:solidFill>
                <a:latin typeface="Consolas" panose="020B0609020204030204" pitchFamily="49" charset="0"/>
              </a:rPr>
              <a:t>input</a:t>
            </a:r>
            <a:r>
              <a:rPr lang="en-US" sz="3000" dirty="0"/>
              <a:t>, </a:t>
            </a:r>
            <a:r>
              <a:rPr lang="en-US" sz="3000" b="1" dirty="0">
                <a:solidFill>
                  <a:schemeClr val="bg1"/>
                </a:solidFill>
                <a:latin typeface="Consolas" panose="020B0609020204030204" pitchFamily="49" charset="0"/>
              </a:rPr>
              <a:t>button</a:t>
            </a:r>
            <a:r>
              <a:rPr lang="en-US" sz="3000" dirty="0"/>
              <a:t>, </a:t>
            </a:r>
            <a:r>
              <a:rPr lang="en-US" sz="3000" b="1" dirty="0">
                <a:solidFill>
                  <a:schemeClr val="bg1"/>
                </a:solidFill>
                <a:latin typeface="Consolas" panose="020B0609020204030204" pitchFamily="49" charset="0"/>
              </a:rPr>
              <a:t>select</a:t>
            </a:r>
          </a:p>
          <a:p>
            <a:pPr>
              <a:buClr>
                <a:schemeClr val="tx1"/>
              </a:buClr>
            </a:pPr>
            <a:r>
              <a:rPr lang="en-US" sz="3200" dirty="0"/>
              <a:t>You can add margins</a:t>
            </a:r>
            <a:r>
              <a:rPr lang="en-US" sz="3200" dirty="0">
                <a:solidFill>
                  <a:schemeClr val="bg1"/>
                </a:solidFill>
              </a:rPr>
              <a:t> </a:t>
            </a:r>
            <a:r>
              <a:rPr lang="en-US" sz="3200" dirty="0"/>
              <a:t>and padding</a:t>
            </a:r>
            <a:r>
              <a:rPr lang="en-US" sz="3200" dirty="0">
                <a:solidFill>
                  <a:schemeClr val="bg1"/>
                </a:solidFill>
              </a:rPr>
              <a:t> </a:t>
            </a:r>
            <a:r>
              <a:rPr lang="en-US" sz="3200" dirty="0"/>
              <a:t>just</a:t>
            </a:r>
            <a:r>
              <a:rPr lang="en-US" sz="3200" dirty="0">
                <a:solidFill>
                  <a:schemeClr val="bg1"/>
                </a:solidFill>
              </a:rPr>
              <a:t> </a:t>
            </a:r>
            <a:r>
              <a:rPr lang="en-US" sz="3200" dirty="0"/>
              <a:t>on </a:t>
            </a:r>
            <a:r>
              <a:rPr lang="en-US" sz="3200" b="1" dirty="0">
                <a:solidFill>
                  <a:schemeClr val="bg1"/>
                </a:solidFill>
              </a:rPr>
              <a:t>right</a:t>
            </a:r>
            <a:r>
              <a:rPr lang="en-US" sz="3200" dirty="0">
                <a:solidFill>
                  <a:schemeClr val="bg1"/>
                </a:solidFill>
              </a:rPr>
              <a:t> </a:t>
            </a:r>
            <a:r>
              <a:rPr lang="en-US" sz="3200" dirty="0"/>
              <a:t>and </a:t>
            </a:r>
            <a:r>
              <a:rPr lang="en-US" sz="3200" b="1" dirty="0">
                <a:solidFill>
                  <a:schemeClr val="bg1"/>
                </a:solidFill>
              </a:rPr>
              <a:t>left</a:t>
            </a:r>
            <a:r>
              <a:rPr lang="en-US" sz="3200" dirty="0">
                <a:solidFill>
                  <a:schemeClr val="bg1"/>
                </a:solidFill>
              </a:rPr>
              <a:t> </a:t>
            </a:r>
            <a:r>
              <a:rPr lang="en-US" sz="3200" dirty="0"/>
              <a:t>sides of any inline element</a:t>
            </a:r>
            <a:endParaRPr lang="en-US" sz="3200" b="0" dirty="0"/>
          </a:p>
        </p:txBody>
      </p:sp>
      <p:sp>
        <p:nvSpPr>
          <p:cNvPr id="4" name="Title 3">
            <a:extLst>
              <a:ext uri="{FF2B5EF4-FFF2-40B4-BE49-F238E27FC236}">
                <a16:creationId xmlns:a16="http://schemas.microsoft.com/office/drawing/2014/main" id="{631CF171-42FE-9F1F-ACA4-BB25A84E8B71}"/>
              </a:ext>
            </a:extLst>
          </p:cNvPr>
          <p:cNvSpPr>
            <a:spLocks noGrp="1"/>
          </p:cNvSpPr>
          <p:nvPr>
            <p:ph type="title"/>
          </p:nvPr>
        </p:nvSpPr>
        <p:spPr/>
        <p:txBody>
          <a:bodyPr/>
          <a:lstStyle/>
          <a:p>
            <a:r>
              <a:rPr lang="en-US" sz="4400" dirty="0"/>
              <a:t>Display - inline</a:t>
            </a:r>
            <a:endParaRPr lang="en-GB" sz="4400" dirty="0"/>
          </a:p>
        </p:txBody>
      </p:sp>
      <p:sp>
        <p:nvSpPr>
          <p:cNvPr id="2" name="Slide Number">
            <a:extLst>
              <a:ext uri="{FF2B5EF4-FFF2-40B4-BE49-F238E27FC236}">
                <a16:creationId xmlns:a16="http://schemas.microsoft.com/office/drawing/2014/main" id="{186B018F-FCED-E21F-3CA1-7E6B85A53BCD}"/>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10</a:t>
            </a:fld>
            <a:endParaRPr lang="en-US" noProof="0" dirty="0"/>
          </a:p>
        </p:txBody>
      </p:sp>
    </p:spTree>
    <p:extLst>
      <p:ext uri="{BB962C8B-B14F-4D97-AF65-F5344CB8AC3E}">
        <p14:creationId xmlns:p14="http://schemas.microsoft.com/office/powerpoint/2010/main" val="995639059"/>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Inline Elements – Example</a:t>
            </a:r>
          </a:p>
        </p:txBody>
      </p:sp>
      <p:sp>
        <p:nvSpPr>
          <p:cNvPr id="3" name="Text Placeholder 2"/>
          <p:cNvSpPr>
            <a:spLocks noGrp="1"/>
          </p:cNvSpPr>
          <p:nvPr>
            <p:ph type="body" sz="quarter" idx="10"/>
          </p:nvPr>
        </p:nvSpPr>
        <p:spPr/>
        <p:txBody>
          <a:bodyPr>
            <a:normAutofit/>
          </a:bodyPr>
          <a:lstStyle/>
          <a:p>
            <a:pPr>
              <a:buClr>
                <a:schemeClr val="tx1"/>
              </a:buClr>
            </a:pPr>
            <a:endParaRPr lang="en-US" dirty="0"/>
          </a:p>
          <a:p>
            <a:pPr>
              <a:buClr>
                <a:schemeClr val="tx1"/>
              </a:buClr>
            </a:pPr>
            <a:endParaRPr lang="en-US" dirty="0"/>
          </a:p>
          <a:p>
            <a:pPr>
              <a:buClr>
                <a:schemeClr val="tx1"/>
              </a:buClr>
            </a:pPr>
            <a:endParaRPr lang="en-US" dirty="0"/>
          </a:p>
          <a:p>
            <a:pPr>
              <a:buClr>
                <a:schemeClr val="tx1"/>
              </a:buClr>
            </a:pPr>
            <a:endParaRPr lang="en-US" dirty="0"/>
          </a:p>
          <a:p>
            <a:pPr>
              <a:buClr>
                <a:schemeClr val="tx1"/>
              </a:buClr>
            </a:pPr>
            <a:endParaRPr lang="en-US" dirty="0"/>
          </a:p>
          <a:p>
            <a:pPr>
              <a:buClr>
                <a:schemeClr val="tx1"/>
              </a:buClr>
            </a:pPr>
            <a:endParaRPr lang="en-US" dirty="0"/>
          </a:p>
        </p:txBody>
      </p:sp>
      <p:sp>
        <p:nvSpPr>
          <p:cNvPr id="10" name="Slide Number">
            <a:extLst>
              <a:ext uri="{FF2B5EF4-FFF2-40B4-BE49-F238E27FC236}">
                <a16:creationId xmlns:a16="http://schemas.microsoft.com/office/drawing/2014/main" id="{30794A4B-5C75-4A40-8AA6-A9C2451C7B5A}"/>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11</a:t>
            </a:fld>
            <a:endParaRPr lang="en-US" noProof="0" dirty="0"/>
          </a:p>
        </p:txBody>
      </p:sp>
      <p:sp>
        <p:nvSpPr>
          <p:cNvPr id="9" name="Rectangle 26">
            <a:extLst>
              <a:ext uri="{FF2B5EF4-FFF2-40B4-BE49-F238E27FC236}">
                <a16:creationId xmlns:a16="http://schemas.microsoft.com/office/drawing/2014/main" id="{D631A3F9-F68C-400D-9C2C-9144BBB344B7}"/>
              </a:ext>
            </a:extLst>
          </p:cNvPr>
          <p:cNvSpPr>
            <a:spLocks noChangeArrowheads="1"/>
          </p:cNvSpPr>
          <p:nvPr/>
        </p:nvSpPr>
        <p:spPr bwMode="auto">
          <a:xfrm>
            <a:off x="336000" y="2268923"/>
            <a:ext cx="7709045" cy="3383170"/>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lnSpc>
                <a:spcPct val="110000"/>
              </a:lnSpc>
              <a:buClr>
                <a:schemeClr val="accent5">
                  <a:lumMod val="40000"/>
                  <a:lumOff val="60000"/>
                </a:schemeClr>
              </a:buClr>
              <a:buSzPct val="70000"/>
            </a:pPr>
            <a:r>
              <a:rPr lang="en-US" sz="2799" b="1" noProof="1">
                <a:solidFill>
                  <a:schemeClr val="bg1"/>
                </a:solidFill>
                <a:latin typeface="Consolas" pitchFamily="49" charset="0"/>
                <a:cs typeface="Consolas" pitchFamily="49" charset="0"/>
              </a:rPr>
              <a:t>&lt;p style="</a:t>
            </a:r>
            <a:r>
              <a:rPr lang="en-US" sz="2799" b="1" noProof="1">
                <a:latin typeface="Consolas" pitchFamily="49" charset="0"/>
                <a:cs typeface="Consolas" pitchFamily="49" charset="0"/>
              </a:rPr>
              <a:t>text-align:justify</a:t>
            </a:r>
            <a:r>
              <a:rPr lang="en-US" sz="2799" b="1" noProof="1">
                <a:solidFill>
                  <a:schemeClr val="bg1"/>
                </a:solidFill>
                <a:latin typeface="Consolas" pitchFamily="49" charset="0"/>
                <a:cs typeface="Consolas" pitchFamily="49" charset="0"/>
              </a:rPr>
              <a:t>"&gt;</a:t>
            </a:r>
            <a:r>
              <a:rPr lang="en-US" sz="2799" b="1" noProof="1">
                <a:latin typeface="Consolas" pitchFamily="49" charset="0"/>
                <a:cs typeface="Consolas" pitchFamily="49" charset="0"/>
              </a:rPr>
              <a:t> Welcome </a:t>
            </a:r>
          </a:p>
          <a:p>
            <a:pPr eaLnBrk="0" hangingPunct="0">
              <a:lnSpc>
                <a:spcPct val="110000"/>
              </a:lnSpc>
              <a:buClr>
                <a:schemeClr val="accent5">
                  <a:lumMod val="40000"/>
                  <a:lumOff val="60000"/>
                </a:schemeClr>
              </a:buClr>
              <a:buSzPct val="70000"/>
            </a:pPr>
            <a:r>
              <a:rPr lang="en-US" sz="2799" b="1" noProof="1">
                <a:solidFill>
                  <a:schemeClr val="bg1"/>
                </a:solidFill>
                <a:latin typeface="Consolas" pitchFamily="49" charset="0"/>
                <a:cs typeface="Consolas" pitchFamily="49" charset="0"/>
              </a:rPr>
              <a:t>&lt;span style="</a:t>
            </a:r>
            <a:r>
              <a:rPr lang="en-US" sz="2799" b="1" noProof="1">
                <a:latin typeface="Consolas" pitchFamily="49" charset="0"/>
                <a:cs typeface="Consolas" pitchFamily="49" charset="0"/>
              </a:rPr>
              <a:t>color:white; background:blue; padding-right:3px; padding-left:3px;</a:t>
            </a:r>
            <a:r>
              <a:rPr lang="en-US" sz="2799" b="1" noProof="1">
                <a:solidFill>
                  <a:schemeClr val="bg1"/>
                </a:solidFill>
                <a:latin typeface="Consolas" pitchFamily="49" charset="0"/>
                <a:cs typeface="Consolas" pitchFamily="49" charset="0"/>
              </a:rPr>
              <a:t>"&gt;</a:t>
            </a:r>
          </a:p>
          <a:p>
            <a:pPr eaLnBrk="0" hangingPunct="0">
              <a:lnSpc>
                <a:spcPct val="110000"/>
              </a:lnSpc>
              <a:buClr>
                <a:schemeClr val="accent5">
                  <a:lumMod val="40000"/>
                  <a:lumOff val="60000"/>
                </a:schemeClr>
              </a:buClr>
              <a:buSzPct val="70000"/>
            </a:pPr>
            <a:r>
              <a:rPr lang="en-US" sz="2799" b="1" noProof="1">
                <a:latin typeface="Consolas" pitchFamily="49" charset="0"/>
                <a:cs typeface="Consolas" pitchFamily="49" charset="0"/>
              </a:rPr>
              <a:t>to the Software University (SoftUni) in Sofia (Bulgaria)</a:t>
            </a:r>
            <a:r>
              <a:rPr lang="en-US" sz="2799" b="1" noProof="1">
                <a:solidFill>
                  <a:schemeClr val="bg1"/>
                </a:solidFill>
                <a:latin typeface="Consolas" pitchFamily="49" charset="0"/>
                <a:cs typeface="Consolas" pitchFamily="49" charset="0"/>
              </a:rPr>
              <a:t>&lt;/span&gt;</a:t>
            </a:r>
            <a:r>
              <a:rPr lang="en-US" sz="2799" b="1" noProof="1">
                <a:latin typeface="Consolas" pitchFamily="49" charset="0"/>
                <a:cs typeface="Consolas" pitchFamily="49" charset="0"/>
              </a:rPr>
              <a:t>, good luck!</a:t>
            </a:r>
            <a:r>
              <a:rPr lang="en-US" sz="2799" b="1" noProof="1">
                <a:solidFill>
                  <a:schemeClr val="bg1"/>
                </a:solidFill>
                <a:latin typeface="Consolas" pitchFamily="49" charset="0"/>
                <a:cs typeface="Consolas" pitchFamily="49" charset="0"/>
              </a:rPr>
              <a:t>&lt;/p&gt;</a:t>
            </a:r>
          </a:p>
        </p:txBody>
      </p:sp>
      <p:grpSp>
        <p:nvGrpSpPr>
          <p:cNvPr id="11" name="Групиране 10">
            <a:extLst>
              <a:ext uri="{FF2B5EF4-FFF2-40B4-BE49-F238E27FC236}">
                <a16:creationId xmlns:a16="http://schemas.microsoft.com/office/drawing/2014/main" id="{71002EE9-4CC6-424D-A120-3A30449C8681}"/>
              </a:ext>
            </a:extLst>
          </p:cNvPr>
          <p:cNvGrpSpPr/>
          <p:nvPr/>
        </p:nvGrpSpPr>
        <p:grpSpPr>
          <a:xfrm>
            <a:off x="8284308" y="2006749"/>
            <a:ext cx="3428317" cy="3942251"/>
            <a:chOff x="8282719" y="2402609"/>
            <a:chExt cx="3428317" cy="3942251"/>
          </a:xfrm>
        </p:grpSpPr>
        <p:sp>
          <p:nvSpPr>
            <p:cNvPr id="12" name="Rounded Rectangle 41">
              <a:extLst>
                <a:ext uri="{FF2B5EF4-FFF2-40B4-BE49-F238E27FC236}">
                  <a16:creationId xmlns:a16="http://schemas.microsoft.com/office/drawing/2014/main" id="{1465D06A-F6A1-4D1A-8EE6-7B4A74AAB88C}"/>
                </a:ext>
              </a:extLst>
            </p:cNvPr>
            <p:cNvSpPr/>
            <p:nvPr/>
          </p:nvSpPr>
          <p:spPr>
            <a:xfrm>
              <a:off x="8282719" y="2402609"/>
              <a:ext cx="3428317" cy="3942251"/>
            </a:xfrm>
            <a:prstGeom prst="roundRect">
              <a:avLst>
                <a:gd name="adj" fmla="val 903"/>
              </a:avLst>
            </a:prstGeom>
            <a:solidFill>
              <a:schemeClr val="accent1">
                <a:alpha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99" dirty="0"/>
            </a:p>
          </p:txBody>
        </p:sp>
        <p:sp>
          <p:nvSpPr>
            <p:cNvPr id="13" name="Rectangle 12">
              <a:extLst>
                <a:ext uri="{FF2B5EF4-FFF2-40B4-BE49-F238E27FC236}">
                  <a16:creationId xmlns:a16="http://schemas.microsoft.com/office/drawing/2014/main" id="{B0B034C6-B3CC-432F-9A0F-F1B4D74028CB}"/>
                </a:ext>
              </a:extLst>
            </p:cNvPr>
            <p:cNvSpPr/>
            <p:nvPr/>
          </p:nvSpPr>
          <p:spPr>
            <a:xfrm>
              <a:off x="8579749" y="5679520"/>
              <a:ext cx="2834468" cy="2044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99" dirty="0"/>
            </a:p>
          </p:txBody>
        </p:sp>
        <p:sp>
          <p:nvSpPr>
            <p:cNvPr id="14" name="Rectangle 13">
              <a:extLst>
                <a:ext uri="{FF2B5EF4-FFF2-40B4-BE49-F238E27FC236}">
                  <a16:creationId xmlns:a16="http://schemas.microsoft.com/office/drawing/2014/main" id="{5287F715-CBC7-4EFA-90CC-F087CB2F3AB1}"/>
                </a:ext>
              </a:extLst>
            </p:cNvPr>
            <p:cNvSpPr/>
            <p:nvPr/>
          </p:nvSpPr>
          <p:spPr>
            <a:xfrm>
              <a:off x="8579749" y="5964570"/>
              <a:ext cx="2834468" cy="2044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99" dirty="0"/>
            </a:p>
          </p:txBody>
        </p:sp>
        <p:sp>
          <p:nvSpPr>
            <p:cNvPr id="15" name="Rectangle 14">
              <a:extLst>
                <a:ext uri="{FF2B5EF4-FFF2-40B4-BE49-F238E27FC236}">
                  <a16:creationId xmlns:a16="http://schemas.microsoft.com/office/drawing/2014/main" id="{8AF02F93-1414-433A-954A-8E219DCC0A5D}"/>
                </a:ext>
              </a:extLst>
            </p:cNvPr>
            <p:cNvSpPr/>
            <p:nvPr/>
          </p:nvSpPr>
          <p:spPr>
            <a:xfrm>
              <a:off x="8579749" y="2591972"/>
              <a:ext cx="2834468" cy="2044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99" dirty="0"/>
            </a:p>
          </p:txBody>
        </p:sp>
        <p:sp>
          <p:nvSpPr>
            <p:cNvPr id="16" name="Rectangle 15">
              <a:extLst>
                <a:ext uri="{FF2B5EF4-FFF2-40B4-BE49-F238E27FC236}">
                  <a16:creationId xmlns:a16="http://schemas.microsoft.com/office/drawing/2014/main" id="{F5AB5320-58D8-4F90-AA86-6E9B93E20914}"/>
                </a:ext>
              </a:extLst>
            </p:cNvPr>
            <p:cNvSpPr/>
            <p:nvPr/>
          </p:nvSpPr>
          <p:spPr>
            <a:xfrm>
              <a:off x="8579749" y="2876011"/>
              <a:ext cx="2834468" cy="2044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99" dirty="0"/>
            </a:p>
          </p:txBody>
        </p:sp>
        <p:pic>
          <p:nvPicPr>
            <p:cNvPr id="17" name="Picture 37">
              <a:extLst>
                <a:ext uri="{FF2B5EF4-FFF2-40B4-BE49-F238E27FC236}">
                  <a16:creationId xmlns:a16="http://schemas.microsoft.com/office/drawing/2014/main" id="{5FCA16C3-D863-44D0-8760-6FB84A285C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27045" y="3260874"/>
              <a:ext cx="3154063" cy="1248285"/>
            </a:xfrm>
            <a:prstGeom prst="rect">
              <a:avLst/>
            </a:prstGeom>
          </p:spPr>
        </p:pic>
        <p:pic>
          <p:nvPicPr>
            <p:cNvPr id="18" name="Picture 40">
              <a:extLst>
                <a:ext uri="{FF2B5EF4-FFF2-40B4-BE49-F238E27FC236}">
                  <a16:creationId xmlns:a16="http://schemas.microsoft.com/office/drawing/2014/main" id="{E44C5985-42CA-4DD5-B218-F44FE52D2B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61049" y="4678079"/>
              <a:ext cx="2881005" cy="826171"/>
            </a:xfrm>
            <a:prstGeom prst="rect">
              <a:avLst/>
            </a:prstGeom>
          </p:spPr>
        </p:pic>
        <p:pic>
          <p:nvPicPr>
            <p:cNvPr id="19" name="Picture 43">
              <a:extLst>
                <a:ext uri="{FF2B5EF4-FFF2-40B4-BE49-F238E27FC236}">
                  <a16:creationId xmlns:a16="http://schemas.microsoft.com/office/drawing/2014/main" id="{E4B5E23F-6441-4314-832B-08CDAF5BD7CE}"/>
                </a:ext>
              </a:extLst>
            </p:cNvPr>
            <p:cNvPicPr>
              <a:picLocks noChangeAspect="1"/>
            </p:cNvPicPr>
            <p:nvPr/>
          </p:nvPicPr>
          <p:blipFill>
            <a:blip r:embed="rId4"/>
            <a:stretch>
              <a:fillRect/>
            </a:stretch>
          </p:blipFill>
          <p:spPr>
            <a:xfrm>
              <a:off x="8427044" y="3255729"/>
              <a:ext cx="3154064" cy="1246506"/>
            </a:xfrm>
            <a:prstGeom prst="roundRect">
              <a:avLst>
                <a:gd name="adj" fmla="val 1511"/>
              </a:avLst>
            </a:prstGeom>
          </p:spPr>
        </p:pic>
      </p:grpSp>
      <p:sp>
        <p:nvSpPr>
          <p:cNvPr id="20" name="TextBox 5">
            <a:extLst>
              <a:ext uri="{FF2B5EF4-FFF2-40B4-BE49-F238E27FC236}">
                <a16:creationId xmlns:a16="http://schemas.microsoft.com/office/drawing/2014/main" id="{CCB46B9E-A73B-4D29-A469-30E7D45E0FAF}"/>
              </a:ext>
            </a:extLst>
          </p:cNvPr>
          <p:cNvSpPr txBox="1"/>
          <p:nvPr/>
        </p:nvSpPr>
        <p:spPr>
          <a:xfrm>
            <a:off x="8284306" y="1344039"/>
            <a:ext cx="3428318" cy="584623"/>
          </a:xfrm>
          <a:prstGeom prst="rect">
            <a:avLst/>
          </a:prstGeom>
          <a:noFill/>
        </p:spPr>
        <p:txBody>
          <a:bodyPr wrap="square" rtlCol="0">
            <a:spAutoFit/>
          </a:bodyPr>
          <a:lstStyle/>
          <a:p>
            <a:pPr algn="ctr"/>
            <a:r>
              <a:rPr lang="en-US" sz="3199" b="1" dirty="0">
                <a:solidFill>
                  <a:schemeClr val="bg1"/>
                </a:solidFill>
              </a:rPr>
              <a:t>display: inline</a:t>
            </a:r>
            <a:endParaRPr lang="en-US" sz="1799" b="1" dirty="0">
              <a:solidFill>
                <a:schemeClr val="bg1"/>
              </a:solidFill>
            </a:endParaRPr>
          </a:p>
        </p:txBody>
      </p:sp>
    </p:spTree>
    <p:extLst>
      <p:ext uri="{BB962C8B-B14F-4D97-AF65-F5344CB8AC3E}">
        <p14:creationId xmlns:p14="http://schemas.microsoft.com/office/powerpoint/2010/main" val="1155787272"/>
      </p:ext>
    </p:extLst>
  </p:cSld>
  <p:clrMapOvr>
    <a:masterClrMapping/>
  </p:clrMapOvr>
  <mc:AlternateContent xmlns:mc="http://schemas.openxmlformats.org/markup-compatibility/2006" xmlns:p14="http://schemas.microsoft.com/office/powerpoint/2010/main">
    <mc:Choice Requires="p14">
      <p:transition p14:dur="0" advClick="0" advTm="5000"/>
    </mc:Choice>
    <mc:Fallback xmlns="">
      <p:transition advClick="0" advTm="500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Текстов контейнер 4">
            <a:extLst>
              <a:ext uri="{FF2B5EF4-FFF2-40B4-BE49-F238E27FC236}">
                <a16:creationId xmlns:a16="http://schemas.microsoft.com/office/drawing/2014/main" id="{E9FD4D35-137A-8387-2D1C-A53A4421C8DC}"/>
              </a:ext>
            </a:extLst>
          </p:cNvPr>
          <p:cNvSpPr>
            <a:spLocks noGrp="1"/>
          </p:cNvSpPr>
          <p:nvPr>
            <p:ph type="body" sz="quarter" idx="10"/>
          </p:nvPr>
        </p:nvSpPr>
        <p:spPr/>
        <p:txBody>
          <a:bodyPr>
            <a:normAutofit/>
          </a:bodyPr>
          <a:lstStyle/>
          <a:p>
            <a:pPr>
              <a:lnSpc>
                <a:spcPct val="110000"/>
              </a:lnSpc>
            </a:pPr>
            <a:r>
              <a:rPr lang="en-US" sz="3600" b="0" dirty="0"/>
              <a:t>Gives us the ability to use vertical padding and margin on inline elements as well as adding width and height</a:t>
            </a:r>
          </a:p>
          <a:p>
            <a:pPr>
              <a:lnSpc>
                <a:spcPct val="110000"/>
              </a:lnSpc>
              <a:buClr>
                <a:schemeClr val="tx1"/>
              </a:buClr>
            </a:pPr>
            <a:r>
              <a:rPr lang="en-US" dirty="0"/>
              <a:t>One common use for using inline-block is for creating navigation links horizontally</a:t>
            </a:r>
            <a:endParaRPr lang="en-US" sz="3400" b="0" dirty="0"/>
          </a:p>
        </p:txBody>
      </p:sp>
      <p:sp>
        <p:nvSpPr>
          <p:cNvPr id="4" name="Title 3">
            <a:extLst>
              <a:ext uri="{FF2B5EF4-FFF2-40B4-BE49-F238E27FC236}">
                <a16:creationId xmlns:a16="http://schemas.microsoft.com/office/drawing/2014/main" id="{E9A1DA41-F15A-4A36-BC07-5ABC6728BF4B}"/>
              </a:ext>
            </a:extLst>
          </p:cNvPr>
          <p:cNvSpPr>
            <a:spLocks noGrp="1"/>
          </p:cNvSpPr>
          <p:nvPr>
            <p:ph type="title"/>
          </p:nvPr>
        </p:nvSpPr>
        <p:spPr/>
        <p:txBody>
          <a:bodyPr/>
          <a:lstStyle/>
          <a:p>
            <a:r>
              <a:rPr lang="en-US" sz="4400" dirty="0"/>
              <a:t>Display – inline-block</a:t>
            </a:r>
            <a:endParaRPr lang="en-GB" sz="4400" dirty="0"/>
          </a:p>
        </p:txBody>
      </p:sp>
      <p:sp>
        <p:nvSpPr>
          <p:cNvPr id="8" name="Текстово поле 10">
            <a:extLst>
              <a:ext uri="{FF2B5EF4-FFF2-40B4-BE49-F238E27FC236}">
                <a16:creationId xmlns:a16="http://schemas.microsoft.com/office/drawing/2014/main" id="{00423003-198C-138C-9723-C2F5DBBC0FB3}"/>
              </a:ext>
            </a:extLst>
          </p:cNvPr>
          <p:cNvSpPr txBox="1"/>
          <p:nvPr/>
        </p:nvSpPr>
        <p:spPr>
          <a:xfrm>
            <a:off x="3631050" y="4554000"/>
            <a:ext cx="4929900" cy="1414471"/>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defPPr>
              <a:defRPr lang="en-US"/>
            </a:defPPr>
            <a:lvl1pPr eaLnBrk="0" hangingPunct="0">
              <a:lnSpc>
                <a:spcPct val="105000"/>
              </a:lnSpc>
              <a:buClr>
                <a:schemeClr val="accent5">
                  <a:lumMod val="40000"/>
                  <a:lumOff val="60000"/>
                </a:schemeClr>
              </a:buClr>
              <a:buSzPct val="70000"/>
              <a:defRPr sz="2599" b="1">
                <a:solidFill>
                  <a:schemeClr val="bg1"/>
                </a:solidFill>
                <a:latin typeface="Consolas" pitchFamily="49" charset="0"/>
                <a:cs typeface="Consolas" pitchFamily="49" charset="0"/>
              </a:defRPr>
            </a:lvl1pPr>
            <a:lvl2pPr marL="452302" lvl="1" eaLnBrk="0" hangingPunct="0">
              <a:lnSpc>
                <a:spcPct val="105000"/>
              </a:lnSpc>
              <a:spcBef>
                <a:spcPts val="600"/>
              </a:spcBef>
              <a:buClr>
                <a:schemeClr val="accent5">
                  <a:lumMod val="40000"/>
                  <a:lumOff val="60000"/>
                </a:schemeClr>
              </a:buClr>
              <a:buSzPct val="70000"/>
              <a:defRPr sz="2599" b="1">
                <a:solidFill>
                  <a:schemeClr val="bg1"/>
                </a:solidFill>
                <a:latin typeface="Consolas" pitchFamily="49" charset="0"/>
                <a:cs typeface="Consolas" pitchFamily="49" charset="0"/>
              </a:defRPr>
            </a:lvl2pPr>
          </a:lstStyle>
          <a:p>
            <a:r>
              <a:rPr lang="en-US" dirty="0">
                <a:solidFill>
                  <a:schemeClr val="tx1"/>
                </a:solidFill>
              </a:rPr>
              <a:t>.box {</a:t>
            </a:r>
          </a:p>
          <a:p>
            <a:r>
              <a:rPr lang="en-US" dirty="0">
                <a:solidFill>
                  <a:schemeClr val="tx1"/>
                </a:solidFill>
              </a:rPr>
              <a:t>  display: inline-block;</a:t>
            </a:r>
          </a:p>
          <a:p>
            <a:r>
              <a:rPr lang="en-US" dirty="0">
                <a:solidFill>
                  <a:schemeClr val="tx1"/>
                </a:solidFill>
              </a:rPr>
              <a:t>}</a:t>
            </a:r>
          </a:p>
        </p:txBody>
      </p:sp>
      <p:sp>
        <p:nvSpPr>
          <p:cNvPr id="2" name="Slide Number">
            <a:extLst>
              <a:ext uri="{FF2B5EF4-FFF2-40B4-BE49-F238E27FC236}">
                <a16:creationId xmlns:a16="http://schemas.microsoft.com/office/drawing/2014/main" id="{53F72FED-20BF-D896-B37C-D6FB86F2CEE4}"/>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12</a:t>
            </a:fld>
            <a:endParaRPr lang="en-US" noProof="0" dirty="0"/>
          </a:p>
        </p:txBody>
      </p:sp>
    </p:spTree>
    <p:extLst>
      <p:ext uri="{BB962C8B-B14F-4D97-AF65-F5344CB8AC3E}">
        <p14:creationId xmlns:p14="http://schemas.microsoft.com/office/powerpoint/2010/main" val="1897807414"/>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Inline-Block Elements – Example</a:t>
            </a:r>
          </a:p>
        </p:txBody>
      </p:sp>
      <p:sp>
        <p:nvSpPr>
          <p:cNvPr id="3" name="Text Placeholder 2"/>
          <p:cNvSpPr>
            <a:spLocks noGrp="1"/>
          </p:cNvSpPr>
          <p:nvPr>
            <p:ph type="body" sz="quarter" idx="10"/>
          </p:nvPr>
        </p:nvSpPr>
        <p:spPr/>
        <p:txBody>
          <a:bodyPr>
            <a:normAutofit/>
          </a:bodyPr>
          <a:lstStyle/>
          <a:p>
            <a:pPr>
              <a:buClr>
                <a:schemeClr val="tx1"/>
              </a:buClr>
            </a:pPr>
            <a:endParaRPr lang="en-US" dirty="0"/>
          </a:p>
          <a:p>
            <a:pPr>
              <a:buClr>
                <a:schemeClr val="tx1"/>
              </a:buClr>
            </a:pPr>
            <a:endParaRPr lang="en-US" dirty="0"/>
          </a:p>
          <a:p>
            <a:pPr>
              <a:buClr>
                <a:schemeClr val="tx1"/>
              </a:buClr>
            </a:pPr>
            <a:endParaRPr lang="en-US" dirty="0"/>
          </a:p>
          <a:p>
            <a:pPr>
              <a:buClr>
                <a:schemeClr val="tx1"/>
              </a:buClr>
            </a:pPr>
            <a:endParaRPr lang="en-US" dirty="0"/>
          </a:p>
          <a:p>
            <a:pPr>
              <a:buClr>
                <a:schemeClr val="tx1"/>
              </a:buClr>
            </a:pPr>
            <a:endParaRPr lang="en-US" dirty="0"/>
          </a:p>
          <a:p>
            <a:pPr>
              <a:buClr>
                <a:schemeClr val="tx1"/>
              </a:buClr>
            </a:pPr>
            <a:endParaRPr lang="en-US" dirty="0"/>
          </a:p>
        </p:txBody>
      </p:sp>
      <p:sp>
        <p:nvSpPr>
          <p:cNvPr id="9" name="Slide Number">
            <a:extLst>
              <a:ext uri="{FF2B5EF4-FFF2-40B4-BE49-F238E27FC236}">
                <a16:creationId xmlns:a16="http://schemas.microsoft.com/office/drawing/2014/main" id="{9915FB23-3393-4CE3-A60E-A2928A063219}"/>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13</a:t>
            </a:fld>
            <a:endParaRPr lang="en-US" noProof="0" dirty="0"/>
          </a:p>
        </p:txBody>
      </p:sp>
      <p:sp>
        <p:nvSpPr>
          <p:cNvPr id="11" name="Rectangle 26">
            <a:extLst>
              <a:ext uri="{FF2B5EF4-FFF2-40B4-BE49-F238E27FC236}">
                <a16:creationId xmlns:a16="http://schemas.microsoft.com/office/drawing/2014/main" id="{2C3774CC-D601-4EFD-B0FD-2580C495D52D}"/>
              </a:ext>
            </a:extLst>
          </p:cNvPr>
          <p:cNvSpPr>
            <a:spLocks noChangeArrowheads="1"/>
          </p:cNvSpPr>
          <p:nvPr/>
        </p:nvSpPr>
        <p:spPr bwMode="auto">
          <a:xfrm>
            <a:off x="183502" y="1563078"/>
            <a:ext cx="7130821" cy="5112938"/>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lnSpc>
                <a:spcPct val="105000"/>
              </a:lnSpc>
              <a:buClr>
                <a:schemeClr val="accent5">
                  <a:lumMod val="40000"/>
                  <a:lumOff val="60000"/>
                </a:schemeClr>
              </a:buClr>
              <a:buSzPct val="70000"/>
            </a:pPr>
            <a:r>
              <a:rPr lang="en-GB" sz="2599" b="1" dirty="0">
                <a:solidFill>
                  <a:schemeClr val="bg1"/>
                </a:solidFill>
                <a:latin typeface="Consolas" pitchFamily="49" charset="0"/>
              </a:rPr>
              <a:t>&lt;div style="</a:t>
            </a:r>
            <a:r>
              <a:rPr lang="en-GB" sz="2599" b="1" dirty="0">
                <a:latin typeface="Consolas" pitchFamily="49" charset="0"/>
              </a:rPr>
              <a:t>text-align:justify</a:t>
            </a:r>
            <a:r>
              <a:rPr lang="en-GB" sz="2599" b="1" dirty="0">
                <a:solidFill>
                  <a:schemeClr val="bg1"/>
                </a:solidFill>
                <a:latin typeface="Consolas" pitchFamily="49" charset="0"/>
              </a:rPr>
              <a:t>;"&gt;</a:t>
            </a:r>
          </a:p>
          <a:p>
            <a:pPr eaLnBrk="0" hangingPunct="0">
              <a:lnSpc>
                <a:spcPct val="105000"/>
              </a:lnSpc>
              <a:buClr>
                <a:schemeClr val="accent5">
                  <a:lumMod val="40000"/>
                  <a:lumOff val="60000"/>
                </a:schemeClr>
              </a:buClr>
              <a:buSzPct val="70000"/>
            </a:pPr>
            <a:r>
              <a:rPr lang="en-GB" sz="2599" b="1" dirty="0">
                <a:solidFill>
                  <a:schemeClr val="bg1"/>
                </a:solidFill>
                <a:latin typeface="Consolas" pitchFamily="49" charset="0"/>
              </a:rPr>
              <a:t>  &lt;div style="display: </a:t>
            </a:r>
            <a:r>
              <a:rPr lang="en-GB" sz="2599" b="1" dirty="0">
                <a:latin typeface="Consolas" pitchFamily="49" charset="0"/>
              </a:rPr>
              <a:t>inline-block</a:t>
            </a:r>
            <a:r>
              <a:rPr lang="en-GB" sz="2599" b="1" dirty="0">
                <a:solidFill>
                  <a:schemeClr val="bg1"/>
                </a:solidFill>
                <a:latin typeface="Consolas" pitchFamily="49" charset="0"/>
              </a:rPr>
              <a:t>; 	background: </a:t>
            </a:r>
            <a:r>
              <a:rPr lang="en-GB" sz="2599" b="1" dirty="0">
                <a:latin typeface="Consolas" pitchFamily="49" charset="0"/>
              </a:rPr>
              <a:t>green</a:t>
            </a:r>
            <a:r>
              <a:rPr lang="en-GB" sz="2599" b="1" dirty="0">
                <a:solidFill>
                  <a:schemeClr val="bg1"/>
                </a:solidFill>
                <a:latin typeface="Consolas" pitchFamily="49" charset="0"/>
              </a:rPr>
              <a:t>; width: </a:t>
            </a:r>
            <a:r>
              <a:rPr lang="en-GB" sz="2599" b="1" dirty="0">
                <a:latin typeface="Consolas" pitchFamily="49" charset="0"/>
              </a:rPr>
              <a:t>50px</a:t>
            </a:r>
            <a:r>
              <a:rPr lang="en-GB" sz="2599" b="1" dirty="0">
                <a:solidFill>
                  <a:schemeClr val="bg1"/>
                </a:solidFill>
                <a:latin typeface="Consolas" pitchFamily="49" charset="0"/>
              </a:rPr>
              <a:t>;</a:t>
            </a:r>
            <a:br>
              <a:rPr lang="en-GB" sz="2599" b="1" dirty="0">
                <a:solidFill>
                  <a:schemeClr val="bg1"/>
                </a:solidFill>
                <a:latin typeface="Consolas" pitchFamily="49" charset="0"/>
              </a:rPr>
            </a:br>
            <a:r>
              <a:rPr lang="en-GB" sz="2599" b="1" dirty="0">
                <a:solidFill>
                  <a:schemeClr val="bg1"/>
                </a:solidFill>
                <a:latin typeface="Consolas" pitchFamily="49" charset="0"/>
              </a:rPr>
              <a:t> 	height: </a:t>
            </a:r>
            <a:r>
              <a:rPr lang="en-GB" sz="2599" b="1" dirty="0">
                <a:latin typeface="Consolas" pitchFamily="49" charset="0"/>
              </a:rPr>
              <a:t>50px</a:t>
            </a:r>
            <a:r>
              <a:rPr lang="en-GB" sz="2599" b="1" dirty="0">
                <a:solidFill>
                  <a:schemeClr val="bg1"/>
                </a:solidFill>
                <a:latin typeface="Consolas" pitchFamily="49" charset="0"/>
              </a:rPr>
              <a:t>; "&gt;Green&lt;/div&gt;</a:t>
            </a:r>
          </a:p>
          <a:p>
            <a:pPr eaLnBrk="0" hangingPunct="0">
              <a:lnSpc>
                <a:spcPct val="105000"/>
              </a:lnSpc>
              <a:buClr>
                <a:schemeClr val="accent5">
                  <a:lumMod val="40000"/>
                  <a:lumOff val="60000"/>
                </a:schemeClr>
              </a:buClr>
              <a:buSzPct val="70000"/>
            </a:pPr>
            <a:r>
              <a:rPr lang="en-GB" sz="2599" b="1" dirty="0">
                <a:solidFill>
                  <a:schemeClr val="bg1"/>
                </a:solidFill>
                <a:latin typeface="Consolas" pitchFamily="49" charset="0"/>
              </a:rPr>
              <a:t>  &lt;div style="display: </a:t>
            </a:r>
            <a:r>
              <a:rPr lang="en-GB" sz="2599" b="1" dirty="0">
                <a:latin typeface="Consolas" pitchFamily="49" charset="0"/>
              </a:rPr>
              <a:t>inline-block</a:t>
            </a:r>
            <a:r>
              <a:rPr lang="en-GB" sz="2599" b="1" dirty="0">
                <a:solidFill>
                  <a:schemeClr val="bg1"/>
                </a:solidFill>
                <a:latin typeface="Consolas" pitchFamily="49" charset="0"/>
              </a:rPr>
              <a:t>; 	background: </a:t>
            </a:r>
            <a:r>
              <a:rPr lang="en-GB" sz="2599" b="1" dirty="0">
                <a:latin typeface="Consolas" pitchFamily="49" charset="0"/>
              </a:rPr>
              <a:t>red</a:t>
            </a:r>
            <a:r>
              <a:rPr lang="en-GB" sz="2599" b="1" dirty="0">
                <a:solidFill>
                  <a:schemeClr val="bg1"/>
                </a:solidFill>
                <a:latin typeface="Consolas" pitchFamily="49" charset="0"/>
              </a:rPr>
              <a:t>;"&gt;Red&lt;/div&gt;</a:t>
            </a:r>
          </a:p>
          <a:p>
            <a:pPr eaLnBrk="0" hangingPunct="0">
              <a:lnSpc>
                <a:spcPct val="105000"/>
              </a:lnSpc>
              <a:buClr>
                <a:schemeClr val="accent5">
                  <a:lumMod val="40000"/>
                  <a:lumOff val="60000"/>
                </a:schemeClr>
              </a:buClr>
              <a:buSzPct val="70000"/>
            </a:pPr>
            <a:r>
              <a:rPr lang="en-GB" sz="2599" b="1" dirty="0">
                <a:solidFill>
                  <a:schemeClr val="bg1"/>
                </a:solidFill>
                <a:latin typeface="Consolas" pitchFamily="49" charset="0"/>
              </a:rPr>
              <a:t>  &lt;div style="display: </a:t>
            </a:r>
            <a:r>
              <a:rPr lang="en-GB" sz="2599" b="1" dirty="0">
                <a:latin typeface="Consolas" pitchFamily="49" charset="0"/>
              </a:rPr>
              <a:t>inline-block</a:t>
            </a:r>
            <a:r>
              <a:rPr lang="en-GB" sz="2599" b="1" dirty="0">
                <a:solidFill>
                  <a:schemeClr val="bg1"/>
                </a:solidFill>
                <a:latin typeface="Consolas" pitchFamily="49" charset="0"/>
              </a:rPr>
              <a:t>; 	background: </a:t>
            </a:r>
            <a:r>
              <a:rPr lang="en-GB" sz="2599" b="1" dirty="0">
                <a:latin typeface="Consolas" pitchFamily="49" charset="0"/>
              </a:rPr>
              <a:t>blue</a:t>
            </a:r>
            <a:r>
              <a:rPr lang="en-GB" sz="2599" b="1" dirty="0">
                <a:solidFill>
                  <a:schemeClr val="bg1"/>
                </a:solidFill>
                <a:latin typeface="Consolas" pitchFamily="49" charset="0"/>
              </a:rPr>
              <a:t>; </a:t>
            </a:r>
            <a:r>
              <a:rPr lang="en-GB" sz="2599" b="1" dirty="0" err="1">
                <a:solidFill>
                  <a:schemeClr val="bg1"/>
                </a:solidFill>
                <a:latin typeface="Consolas" pitchFamily="49" charset="0"/>
              </a:rPr>
              <a:t>color</a:t>
            </a:r>
            <a:r>
              <a:rPr lang="en-GB" sz="2599" b="1" dirty="0">
                <a:solidFill>
                  <a:schemeClr val="bg1"/>
                </a:solidFill>
                <a:latin typeface="Consolas" pitchFamily="49" charset="0"/>
              </a:rPr>
              <a:t>: </a:t>
            </a:r>
            <a:r>
              <a:rPr lang="en-GB" sz="2599" b="1" dirty="0">
                <a:latin typeface="Consolas" pitchFamily="49" charset="0"/>
              </a:rPr>
              <a:t>white</a:t>
            </a:r>
            <a:r>
              <a:rPr lang="en-GB" sz="2599" b="1" dirty="0">
                <a:solidFill>
                  <a:schemeClr val="bg1"/>
                </a:solidFill>
                <a:latin typeface="Consolas" pitchFamily="49" charset="0"/>
              </a:rPr>
              <a:t>; </a:t>
            </a:r>
          </a:p>
          <a:p>
            <a:pPr eaLnBrk="0" hangingPunct="0">
              <a:lnSpc>
                <a:spcPct val="105000"/>
              </a:lnSpc>
              <a:buClr>
                <a:schemeClr val="accent5">
                  <a:lumMod val="40000"/>
                  <a:lumOff val="60000"/>
                </a:schemeClr>
              </a:buClr>
              <a:buSzPct val="70000"/>
            </a:pPr>
            <a:r>
              <a:rPr lang="en-GB" sz="2599" b="1" dirty="0">
                <a:solidFill>
                  <a:schemeClr val="bg1"/>
                </a:solidFill>
                <a:latin typeface="Consolas" pitchFamily="49" charset="0"/>
              </a:rPr>
              <a:t>	padding: </a:t>
            </a:r>
            <a:r>
              <a:rPr lang="en-GB" sz="2599" b="1" dirty="0">
                <a:latin typeface="Consolas" pitchFamily="49" charset="0"/>
              </a:rPr>
              <a:t>10px</a:t>
            </a:r>
            <a:r>
              <a:rPr lang="en-GB" sz="2599" b="1" dirty="0">
                <a:solidFill>
                  <a:schemeClr val="bg1"/>
                </a:solidFill>
                <a:latin typeface="Consolas" pitchFamily="49" charset="0"/>
              </a:rPr>
              <a:t>; </a:t>
            </a:r>
          </a:p>
          <a:p>
            <a:pPr eaLnBrk="0" hangingPunct="0">
              <a:lnSpc>
                <a:spcPct val="105000"/>
              </a:lnSpc>
              <a:buClr>
                <a:schemeClr val="accent5">
                  <a:lumMod val="40000"/>
                  <a:lumOff val="60000"/>
                </a:schemeClr>
              </a:buClr>
              <a:buSzPct val="70000"/>
            </a:pPr>
            <a:r>
              <a:rPr lang="en-GB" sz="2599" b="1" dirty="0">
                <a:solidFill>
                  <a:schemeClr val="bg1"/>
                </a:solidFill>
                <a:latin typeface="Consolas" pitchFamily="49" charset="0"/>
              </a:rPr>
              <a:t>	margin-top: </a:t>
            </a:r>
            <a:r>
              <a:rPr lang="en-GB" sz="2599" b="1" dirty="0">
                <a:latin typeface="Consolas" pitchFamily="49" charset="0"/>
              </a:rPr>
              <a:t>20px</a:t>
            </a:r>
            <a:r>
              <a:rPr lang="en-GB" sz="2599" b="1" dirty="0">
                <a:solidFill>
                  <a:schemeClr val="bg1"/>
                </a:solidFill>
                <a:latin typeface="Consolas" pitchFamily="49" charset="0"/>
              </a:rPr>
              <a:t>;"&gt;Blue&lt;/div&gt;</a:t>
            </a:r>
          </a:p>
          <a:p>
            <a:pPr eaLnBrk="0" hangingPunct="0">
              <a:lnSpc>
                <a:spcPct val="105000"/>
              </a:lnSpc>
              <a:buClr>
                <a:schemeClr val="accent5">
                  <a:lumMod val="40000"/>
                  <a:lumOff val="60000"/>
                </a:schemeClr>
              </a:buClr>
              <a:buSzPct val="70000"/>
            </a:pPr>
            <a:r>
              <a:rPr lang="en-GB" sz="2599" b="1" dirty="0">
                <a:solidFill>
                  <a:schemeClr val="bg1"/>
                </a:solidFill>
                <a:latin typeface="Consolas" pitchFamily="49" charset="0"/>
              </a:rPr>
              <a:t>&lt;/div&gt;</a:t>
            </a:r>
          </a:p>
          <a:p>
            <a:pPr eaLnBrk="0" hangingPunct="0">
              <a:lnSpc>
                <a:spcPct val="105000"/>
              </a:lnSpc>
              <a:buClr>
                <a:schemeClr val="accent5">
                  <a:lumMod val="40000"/>
                  <a:lumOff val="60000"/>
                </a:schemeClr>
              </a:buClr>
              <a:buSzPct val="70000"/>
            </a:pPr>
            <a:endParaRPr lang="en-US" sz="2599" b="1" noProof="1">
              <a:solidFill>
                <a:schemeClr val="bg1"/>
              </a:solidFill>
              <a:latin typeface="Consolas" pitchFamily="49" charset="0"/>
              <a:cs typeface="Consolas" pitchFamily="49" charset="0"/>
            </a:endParaRPr>
          </a:p>
        </p:txBody>
      </p:sp>
      <p:sp>
        <p:nvSpPr>
          <p:cNvPr id="14" name="TextBox 5">
            <a:extLst>
              <a:ext uri="{FF2B5EF4-FFF2-40B4-BE49-F238E27FC236}">
                <a16:creationId xmlns:a16="http://schemas.microsoft.com/office/drawing/2014/main" id="{4A48CF3B-4273-4E1B-87A5-1037D6117A37}"/>
              </a:ext>
            </a:extLst>
          </p:cNvPr>
          <p:cNvSpPr txBox="1"/>
          <p:nvPr/>
        </p:nvSpPr>
        <p:spPr>
          <a:xfrm>
            <a:off x="7847934" y="1359000"/>
            <a:ext cx="3885398" cy="584623"/>
          </a:xfrm>
          <a:prstGeom prst="rect">
            <a:avLst/>
          </a:prstGeom>
          <a:noFill/>
        </p:spPr>
        <p:txBody>
          <a:bodyPr wrap="square" rtlCol="0">
            <a:spAutoFit/>
          </a:bodyPr>
          <a:lstStyle/>
          <a:p>
            <a:pPr algn="ctr"/>
            <a:r>
              <a:rPr lang="en-US" sz="3199" b="1" dirty="0">
                <a:solidFill>
                  <a:schemeClr val="tx2">
                    <a:lumMod val="75000"/>
                  </a:schemeClr>
                </a:solidFill>
              </a:rPr>
              <a:t>display: inline-block</a:t>
            </a:r>
            <a:endParaRPr lang="en-US" sz="1799" b="1" dirty="0">
              <a:solidFill>
                <a:schemeClr val="tx2">
                  <a:lumMod val="75000"/>
                </a:schemeClr>
              </a:solidFill>
            </a:endParaRPr>
          </a:p>
        </p:txBody>
      </p:sp>
      <p:sp>
        <p:nvSpPr>
          <p:cNvPr id="15" name="Rounded Rectangle 41">
            <a:extLst>
              <a:ext uri="{FF2B5EF4-FFF2-40B4-BE49-F238E27FC236}">
                <a16:creationId xmlns:a16="http://schemas.microsoft.com/office/drawing/2014/main" id="{0406A78F-66D8-40EB-B9A4-8E42627FC657}"/>
              </a:ext>
            </a:extLst>
          </p:cNvPr>
          <p:cNvSpPr/>
          <p:nvPr/>
        </p:nvSpPr>
        <p:spPr>
          <a:xfrm>
            <a:off x="8076475" y="2021710"/>
            <a:ext cx="3428317" cy="3942251"/>
          </a:xfrm>
          <a:prstGeom prst="roundRect">
            <a:avLst>
              <a:gd name="adj" fmla="val 903"/>
            </a:avLst>
          </a:prstGeom>
          <a:solidFill>
            <a:schemeClr val="accent1">
              <a:alpha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99" dirty="0"/>
          </a:p>
        </p:txBody>
      </p:sp>
      <p:sp>
        <p:nvSpPr>
          <p:cNvPr id="16" name="Rectangle 14">
            <a:extLst>
              <a:ext uri="{FF2B5EF4-FFF2-40B4-BE49-F238E27FC236}">
                <a16:creationId xmlns:a16="http://schemas.microsoft.com/office/drawing/2014/main" id="{D44EE5B0-C049-4F2A-85B6-7646A7B83446}"/>
              </a:ext>
            </a:extLst>
          </p:cNvPr>
          <p:cNvSpPr/>
          <p:nvPr/>
        </p:nvSpPr>
        <p:spPr>
          <a:xfrm>
            <a:off x="8373504" y="2211072"/>
            <a:ext cx="2834468" cy="2044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99" dirty="0"/>
          </a:p>
        </p:txBody>
      </p:sp>
      <p:sp>
        <p:nvSpPr>
          <p:cNvPr id="17" name="Rectangle 15">
            <a:extLst>
              <a:ext uri="{FF2B5EF4-FFF2-40B4-BE49-F238E27FC236}">
                <a16:creationId xmlns:a16="http://schemas.microsoft.com/office/drawing/2014/main" id="{38EAF1BD-0807-4910-BE00-A70A578CEFF1}"/>
              </a:ext>
            </a:extLst>
          </p:cNvPr>
          <p:cNvSpPr/>
          <p:nvPr/>
        </p:nvSpPr>
        <p:spPr>
          <a:xfrm>
            <a:off x="8373504" y="2495111"/>
            <a:ext cx="2834468" cy="2044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99" dirty="0"/>
          </a:p>
        </p:txBody>
      </p:sp>
      <p:sp>
        <p:nvSpPr>
          <p:cNvPr id="19" name="Rectangle 44">
            <a:extLst>
              <a:ext uri="{FF2B5EF4-FFF2-40B4-BE49-F238E27FC236}">
                <a16:creationId xmlns:a16="http://schemas.microsoft.com/office/drawing/2014/main" id="{89D48D85-393B-478F-BABA-E31A60E4FD5D}"/>
              </a:ext>
            </a:extLst>
          </p:cNvPr>
          <p:cNvSpPr/>
          <p:nvPr/>
        </p:nvSpPr>
        <p:spPr>
          <a:xfrm>
            <a:off x="8373504" y="4728916"/>
            <a:ext cx="2834468" cy="2044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99" dirty="0"/>
          </a:p>
        </p:txBody>
      </p:sp>
      <p:sp>
        <p:nvSpPr>
          <p:cNvPr id="20" name="Rectangle 42">
            <a:extLst>
              <a:ext uri="{FF2B5EF4-FFF2-40B4-BE49-F238E27FC236}">
                <a16:creationId xmlns:a16="http://schemas.microsoft.com/office/drawing/2014/main" id="{B5CE5F79-5429-4245-BACF-D7B96E16E953}"/>
              </a:ext>
            </a:extLst>
          </p:cNvPr>
          <p:cNvSpPr/>
          <p:nvPr/>
        </p:nvSpPr>
        <p:spPr>
          <a:xfrm>
            <a:off x="8373504" y="5014581"/>
            <a:ext cx="2834468" cy="2044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99" dirty="0"/>
          </a:p>
        </p:txBody>
      </p:sp>
      <p:sp>
        <p:nvSpPr>
          <p:cNvPr id="21" name="Rectangle 12">
            <a:extLst>
              <a:ext uri="{FF2B5EF4-FFF2-40B4-BE49-F238E27FC236}">
                <a16:creationId xmlns:a16="http://schemas.microsoft.com/office/drawing/2014/main" id="{8EA08FA1-81F5-4A34-9702-0B7DEE7B8911}"/>
              </a:ext>
            </a:extLst>
          </p:cNvPr>
          <p:cNvSpPr/>
          <p:nvPr/>
        </p:nvSpPr>
        <p:spPr>
          <a:xfrm>
            <a:off x="8373504" y="5298620"/>
            <a:ext cx="2834468" cy="2044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99" dirty="0"/>
          </a:p>
        </p:txBody>
      </p:sp>
      <p:sp>
        <p:nvSpPr>
          <p:cNvPr id="23" name="Rectangle 13">
            <a:extLst>
              <a:ext uri="{FF2B5EF4-FFF2-40B4-BE49-F238E27FC236}">
                <a16:creationId xmlns:a16="http://schemas.microsoft.com/office/drawing/2014/main" id="{D1D8118B-23FE-41E8-AB45-562F86C07A74}"/>
              </a:ext>
            </a:extLst>
          </p:cNvPr>
          <p:cNvSpPr/>
          <p:nvPr/>
        </p:nvSpPr>
        <p:spPr>
          <a:xfrm>
            <a:off x="8373504" y="5583670"/>
            <a:ext cx="2834468" cy="2044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99" dirty="0"/>
          </a:p>
        </p:txBody>
      </p:sp>
      <p:grpSp>
        <p:nvGrpSpPr>
          <p:cNvPr id="24" name="Group 4">
            <a:extLst>
              <a:ext uri="{FF2B5EF4-FFF2-40B4-BE49-F238E27FC236}">
                <a16:creationId xmlns:a16="http://schemas.microsoft.com/office/drawing/2014/main" id="{19650711-A1BA-4535-B2C3-3DFB4AFCC41B}"/>
              </a:ext>
            </a:extLst>
          </p:cNvPr>
          <p:cNvGrpSpPr/>
          <p:nvPr/>
        </p:nvGrpSpPr>
        <p:grpSpPr>
          <a:xfrm>
            <a:off x="8394518" y="2936415"/>
            <a:ext cx="1136756" cy="400696"/>
            <a:chOff x="8860388" y="4181361"/>
            <a:chExt cx="1137052" cy="400800"/>
          </a:xfrm>
        </p:grpSpPr>
        <p:sp>
          <p:nvSpPr>
            <p:cNvPr id="25" name="Rounded Rectangle 19">
              <a:extLst>
                <a:ext uri="{FF2B5EF4-FFF2-40B4-BE49-F238E27FC236}">
                  <a16:creationId xmlns:a16="http://schemas.microsoft.com/office/drawing/2014/main" id="{FDF18A6E-B61D-4B7A-8AE8-A84C4584F091}"/>
                </a:ext>
              </a:extLst>
            </p:cNvPr>
            <p:cNvSpPr/>
            <p:nvPr/>
          </p:nvSpPr>
          <p:spPr>
            <a:xfrm>
              <a:off x="8860388" y="4181361"/>
              <a:ext cx="1137052" cy="400800"/>
            </a:xfrm>
            <a:prstGeom prst="roundRect">
              <a:avLst>
                <a:gd name="adj" fmla="val 903"/>
              </a:avLst>
            </a:prstGeom>
            <a:solidFill>
              <a:schemeClr val="accent1">
                <a:alpha val="50000"/>
              </a:schemeClr>
            </a:solid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99" dirty="0"/>
            </a:p>
          </p:txBody>
        </p:sp>
        <p:sp>
          <p:nvSpPr>
            <p:cNvPr id="26" name="Rectangle 16">
              <a:extLst>
                <a:ext uri="{FF2B5EF4-FFF2-40B4-BE49-F238E27FC236}">
                  <a16:creationId xmlns:a16="http://schemas.microsoft.com/office/drawing/2014/main" id="{0C60134B-0273-4690-8882-96FA1AB9F314}"/>
                </a:ext>
              </a:extLst>
            </p:cNvPr>
            <p:cNvSpPr/>
            <p:nvPr/>
          </p:nvSpPr>
          <p:spPr>
            <a:xfrm>
              <a:off x="8964862" y="4277985"/>
              <a:ext cx="922303" cy="204501"/>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99" dirty="0"/>
            </a:p>
          </p:txBody>
        </p:sp>
      </p:grpSp>
      <p:grpSp>
        <p:nvGrpSpPr>
          <p:cNvPr id="27" name="Group 20">
            <a:extLst>
              <a:ext uri="{FF2B5EF4-FFF2-40B4-BE49-F238E27FC236}">
                <a16:creationId xmlns:a16="http://schemas.microsoft.com/office/drawing/2014/main" id="{D4EAF60C-976F-438F-AC74-F35076314857}"/>
              </a:ext>
            </a:extLst>
          </p:cNvPr>
          <p:cNvGrpSpPr/>
          <p:nvPr/>
        </p:nvGrpSpPr>
        <p:grpSpPr>
          <a:xfrm>
            <a:off x="9830928" y="2936415"/>
            <a:ext cx="1363513" cy="400696"/>
            <a:chOff x="8860388" y="4181361"/>
            <a:chExt cx="1137052" cy="400800"/>
          </a:xfrm>
        </p:grpSpPr>
        <p:sp>
          <p:nvSpPr>
            <p:cNvPr id="28" name="Rounded Rectangle 21">
              <a:extLst>
                <a:ext uri="{FF2B5EF4-FFF2-40B4-BE49-F238E27FC236}">
                  <a16:creationId xmlns:a16="http://schemas.microsoft.com/office/drawing/2014/main" id="{0D68380F-ACC0-4C6D-B4DB-DD946007D1FA}"/>
                </a:ext>
              </a:extLst>
            </p:cNvPr>
            <p:cNvSpPr/>
            <p:nvPr/>
          </p:nvSpPr>
          <p:spPr>
            <a:xfrm>
              <a:off x="8860388" y="4181361"/>
              <a:ext cx="1137052" cy="400800"/>
            </a:xfrm>
            <a:prstGeom prst="roundRect">
              <a:avLst>
                <a:gd name="adj" fmla="val 903"/>
              </a:avLst>
            </a:prstGeom>
            <a:solidFill>
              <a:schemeClr val="accent1">
                <a:alpha val="50000"/>
              </a:schemeClr>
            </a:solid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99" dirty="0"/>
            </a:p>
          </p:txBody>
        </p:sp>
        <p:sp>
          <p:nvSpPr>
            <p:cNvPr id="29" name="Rectangle 22">
              <a:extLst>
                <a:ext uri="{FF2B5EF4-FFF2-40B4-BE49-F238E27FC236}">
                  <a16:creationId xmlns:a16="http://schemas.microsoft.com/office/drawing/2014/main" id="{57721506-FCFD-4EC4-B615-A449A8918459}"/>
                </a:ext>
              </a:extLst>
            </p:cNvPr>
            <p:cNvSpPr/>
            <p:nvPr/>
          </p:nvSpPr>
          <p:spPr>
            <a:xfrm>
              <a:off x="8952155" y="4277985"/>
              <a:ext cx="953435" cy="204501"/>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99" dirty="0"/>
            </a:p>
          </p:txBody>
        </p:sp>
      </p:grpSp>
      <p:grpSp>
        <p:nvGrpSpPr>
          <p:cNvPr id="30" name="Group 23">
            <a:extLst>
              <a:ext uri="{FF2B5EF4-FFF2-40B4-BE49-F238E27FC236}">
                <a16:creationId xmlns:a16="http://schemas.microsoft.com/office/drawing/2014/main" id="{511CA0ED-2A50-43DB-834A-B810A9E2A00A}"/>
              </a:ext>
            </a:extLst>
          </p:cNvPr>
          <p:cNvGrpSpPr/>
          <p:nvPr/>
        </p:nvGrpSpPr>
        <p:grpSpPr>
          <a:xfrm>
            <a:off x="8394520" y="3513936"/>
            <a:ext cx="1760045" cy="400696"/>
            <a:chOff x="8860388" y="4181361"/>
            <a:chExt cx="1137052" cy="400800"/>
          </a:xfrm>
        </p:grpSpPr>
        <p:sp>
          <p:nvSpPr>
            <p:cNvPr id="31" name="Rounded Rectangle 24">
              <a:extLst>
                <a:ext uri="{FF2B5EF4-FFF2-40B4-BE49-F238E27FC236}">
                  <a16:creationId xmlns:a16="http://schemas.microsoft.com/office/drawing/2014/main" id="{BAE3CD18-3DEA-4C03-B55E-69071391FA48}"/>
                </a:ext>
              </a:extLst>
            </p:cNvPr>
            <p:cNvSpPr/>
            <p:nvPr/>
          </p:nvSpPr>
          <p:spPr>
            <a:xfrm>
              <a:off x="8860388" y="4181361"/>
              <a:ext cx="1137052" cy="400800"/>
            </a:xfrm>
            <a:prstGeom prst="roundRect">
              <a:avLst>
                <a:gd name="adj" fmla="val 903"/>
              </a:avLst>
            </a:prstGeom>
            <a:solidFill>
              <a:schemeClr val="accent1">
                <a:alpha val="50000"/>
              </a:schemeClr>
            </a:solid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99" dirty="0"/>
            </a:p>
          </p:txBody>
        </p:sp>
        <p:sp>
          <p:nvSpPr>
            <p:cNvPr id="32" name="Rectangle 25">
              <a:extLst>
                <a:ext uri="{FF2B5EF4-FFF2-40B4-BE49-F238E27FC236}">
                  <a16:creationId xmlns:a16="http://schemas.microsoft.com/office/drawing/2014/main" id="{A0396950-79BA-48A8-B909-A63AC3EFDF35}"/>
                </a:ext>
              </a:extLst>
            </p:cNvPr>
            <p:cNvSpPr/>
            <p:nvPr/>
          </p:nvSpPr>
          <p:spPr>
            <a:xfrm>
              <a:off x="8932052" y="4277985"/>
              <a:ext cx="994165" cy="204501"/>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99" dirty="0"/>
            </a:p>
          </p:txBody>
        </p:sp>
      </p:grpSp>
      <p:grpSp>
        <p:nvGrpSpPr>
          <p:cNvPr id="33" name="Group 27">
            <a:extLst>
              <a:ext uri="{FF2B5EF4-FFF2-40B4-BE49-F238E27FC236}">
                <a16:creationId xmlns:a16="http://schemas.microsoft.com/office/drawing/2014/main" id="{66409FF1-2CB7-4805-B688-A05BF5E8588C}"/>
              </a:ext>
            </a:extLst>
          </p:cNvPr>
          <p:cNvGrpSpPr/>
          <p:nvPr/>
        </p:nvGrpSpPr>
        <p:grpSpPr>
          <a:xfrm>
            <a:off x="10341486" y="3508858"/>
            <a:ext cx="845451" cy="400696"/>
            <a:chOff x="8860388" y="4181361"/>
            <a:chExt cx="1137052" cy="400800"/>
          </a:xfrm>
        </p:grpSpPr>
        <p:sp>
          <p:nvSpPr>
            <p:cNvPr id="34" name="Rounded Rectangle 28">
              <a:extLst>
                <a:ext uri="{FF2B5EF4-FFF2-40B4-BE49-F238E27FC236}">
                  <a16:creationId xmlns:a16="http://schemas.microsoft.com/office/drawing/2014/main" id="{D4659A17-47BC-4B43-961B-5EE2599B6B3D}"/>
                </a:ext>
              </a:extLst>
            </p:cNvPr>
            <p:cNvSpPr/>
            <p:nvPr/>
          </p:nvSpPr>
          <p:spPr>
            <a:xfrm>
              <a:off x="8860388" y="4181361"/>
              <a:ext cx="1137052" cy="400800"/>
            </a:xfrm>
            <a:prstGeom prst="roundRect">
              <a:avLst>
                <a:gd name="adj" fmla="val 903"/>
              </a:avLst>
            </a:prstGeom>
            <a:solidFill>
              <a:schemeClr val="accent1">
                <a:alpha val="50000"/>
              </a:schemeClr>
            </a:solid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99" dirty="0"/>
            </a:p>
          </p:txBody>
        </p:sp>
        <p:sp>
          <p:nvSpPr>
            <p:cNvPr id="35" name="Rectangle 29">
              <a:extLst>
                <a:ext uri="{FF2B5EF4-FFF2-40B4-BE49-F238E27FC236}">
                  <a16:creationId xmlns:a16="http://schemas.microsoft.com/office/drawing/2014/main" id="{604735D5-7BED-4F19-B601-326B47ABA5BC}"/>
                </a:ext>
              </a:extLst>
            </p:cNvPr>
            <p:cNvSpPr/>
            <p:nvPr/>
          </p:nvSpPr>
          <p:spPr>
            <a:xfrm>
              <a:off x="8988684" y="4277985"/>
              <a:ext cx="857499" cy="204501"/>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99" dirty="0"/>
            </a:p>
          </p:txBody>
        </p:sp>
      </p:grpSp>
      <p:grpSp>
        <p:nvGrpSpPr>
          <p:cNvPr id="36" name="Group 36">
            <a:extLst>
              <a:ext uri="{FF2B5EF4-FFF2-40B4-BE49-F238E27FC236}">
                <a16:creationId xmlns:a16="http://schemas.microsoft.com/office/drawing/2014/main" id="{FABF4CE9-8B5C-47FC-8C7C-942E3F91878B}"/>
              </a:ext>
            </a:extLst>
          </p:cNvPr>
          <p:cNvGrpSpPr/>
          <p:nvPr/>
        </p:nvGrpSpPr>
        <p:grpSpPr>
          <a:xfrm>
            <a:off x="8394518" y="4103935"/>
            <a:ext cx="758696" cy="400696"/>
            <a:chOff x="8860388" y="4181361"/>
            <a:chExt cx="1137052" cy="400800"/>
          </a:xfrm>
        </p:grpSpPr>
        <p:sp>
          <p:nvSpPr>
            <p:cNvPr id="37" name="Rounded Rectangle 38">
              <a:extLst>
                <a:ext uri="{FF2B5EF4-FFF2-40B4-BE49-F238E27FC236}">
                  <a16:creationId xmlns:a16="http://schemas.microsoft.com/office/drawing/2014/main" id="{F80030E7-BE69-4626-9302-A48374ACD05C}"/>
                </a:ext>
              </a:extLst>
            </p:cNvPr>
            <p:cNvSpPr/>
            <p:nvPr/>
          </p:nvSpPr>
          <p:spPr>
            <a:xfrm>
              <a:off x="8860388" y="4181361"/>
              <a:ext cx="1137052" cy="400800"/>
            </a:xfrm>
            <a:prstGeom prst="roundRect">
              <a:avLst>
                <a:gd name="adj" fmla="val 903"/>
              </a:avLst>
            </a:prstGeom>
            <a:solidFill>
              <a:schemeClr val="accent1">
                <a:alpha val="50000"/>
              </a:schemeClr>
            </a:solid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99" dirty="0"/>
            </a:p>
          </p:txBody>
        </p:sp>
        <p:sp>
          <p:nvSpPr>
            <p:cNvPr id="38" name="Rectangle 39">
              <a:extLst>
                <a:ext uri="{FF2B5EF4-FFF2-40B4-BE49-F238E27FC236}">
                  <a16:creationId xmlns:a16="http://schemas.microsoft.com/office/drawing/2014/main" id="{E093A9DD-7912-4F44-972C-43DB49FE525F}"/>
                </a:ext>
              </a:extLst>
            </p:cNvPr>
            <p:cNvSpPr/>
            <p:nvPr/>
          </p:nvSpPr>
          <p:spPr>
            <a:xfrm>
              <a:off x="8988684" y="4277985"/>
              <a:ext cx="857499" cy="204501"/>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99" dirty="0"/>
            </a:p>
          </p:txBody>
        </p:sp>
      </p:grpSp>
      <p:grpSp>
        <p:nvGrpSpPr>
          <p:cNvPr id="39" name="Group 33">
            <a:extLst>
              <a:ext uri="{FF2B5EF4-FFF2-40B4-BE49-F238E27FC236}">
                <a16:creationId xmlns:a16="http://schemas.microsoft.com/office/drawing/2014/main" id="{D11D7C76-273D-4EBF-B0E4-728CC31FB20A}"/>
              </a:ext>
            </a:extLst>
          </p:cNvPr>
          <p:cNvGrpSpPr/>
          <p:nvPr/>
        </p:nvGrpSpPr>
        <p:grpSpPr>
          <a:xfrm>
            <a:off x="9352194" y="4103935"/>
            <a:ext cx="451577" cy="400696"/>
            <a:chOff x="8860388" y="4181361"/>
            <a:chExt cx="1137052" cy="400800"/>
          </a:xfrm>
        </p:grpSpPr>
        <p:sp>
          <p:nvSpPr>
            <p:cNvPr id="40" name="Rounded Rectangle 34">
              <a:extLst>
                <a:ext uri="{FF2B5EF4-FFF2-40B4-BE49-F238E27FC236}">
                  <a16:creationId xmlns:a16="http://schemas.microsoft.com/office/drawing/2014/main" id="{70D0D2BC-DE6D-41DE-B877-652DBBF6F9F1}"/>
                </a:ext>
              </a:extLst>
            </p:cNvPr>
            <p:cNvSpPr/>
            <p:nvPr/>
          </p:nvSpPr>
          <p:spPr>
            <a:xfrm>
              <a:off x="8860388" y="4181361"/>
              <a:ext cx="1137052" cy="400800"/>
            </a:xfrm>
            <a:prstGeom prst="roundRect">
              <a:avLst>
                <a:gd name="adj" fmla="val 903"/>
              </a:avLst>
            </a:prstGeom>
            <a:solidFill>
              <a:schemeClr val="accent1">
                <a:alpha val="50000"/>
              </a:schemeClr>
            </a:solid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99" dirty="0"/>
            </a:p>
          </p:txBody>
        </p:sp>
        <p:sp>
          <p:nvSpPr>
            <p:cNvPr id="41" name="Rectangle 35">
              <a:extLst>
                <a:ext uri="{FF2B5EF4-FFF2-40B4-BE49-F238E27FC236}">
                  <a16:creationId xmlns:a16="http://schemas.microsoft.com/office/drawing/2014/main" id="{8D968D06-789D-488D-99A7-A492B2AEA616}"/>
                </a:ext>
              </a:extLst>
            </p:cNvPr>
            <p:cNvSpPr/>
            <p:nvPr/>
          </p:nvSpPr>
          <p:spPr>
            <a:xfrm>
              <a:off x="9064350" y="4277985"/>
              <a:ext cx="705101" cy="204501"/>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99" dirty="0"/>
            </a:p>
          </p:txBody>
        </p:sp>
      </p:grpSp>
      <p:grpSp>
        <p:nvGrpSpPr>
          <p:cNvPr id="42" name="Group 30">
            <a:extLst>
              <a:ext uri="{FF2B5EF4-FFF2-40B4-BE49-F238E27FC236}">
                <a16:creationId xmlns:a16="http://schemas.microsoft.com/office/drawing/2014/main" id="{B9C1581D-8CC7-4E52-B1E1-DD96EBF431A3}"/>
              </a:ext>
            </a:extLst>
          </p:cNvPr>
          <p:cNvGrpSpPr/>
          <p:nvPr/>
        </p:nvGrpSpPr>
        <p:grpSpPr>
          <a:xfrm>
            <a:off x="10004877" y="4103935"/>
            <a:ext cx="1182058" cy="400696"/>
            <a:chOff x="8860388" y="4181361"/>
            <a:chExt cx="1137052" cy="400800"/>
          </a:xfrm>
        </p:grpSpPr>
        <p:sp>
          <p:nvSpPr>
            <p:cNvPr id="43" name="Rounded Rectangle 31">
              <a:extLst>
                <a:ext uri="{FF2B5EF4-FFF2-40B4-BE49-F238E27FC236}">
                  <a16:creationId xmlns:a16="http://schemas.microsoft.com/office/drawing/2014/main" id="{524C1B78-5638-4762-BBB1-9FD5E7A69023}"/>
                </a:ext>
              </a:extLst>
            </p:cNvPr>
            <p:cNvSpPr/>
            <p:nvPr/>
          </p:nvSpPr>
          <p:spPr>
            <a:xfrm>
              <a:off x="8860388" y="4181361"/>
              <a:ext cx="1137052" cy="400800"/>
            </a:xfrm>
            <a:prstGeom prst="roundRect">
              <a:avLst>
                <a:gd name="adj" fmla="val 903"/>
              </a:avLst>
            </a:prstGeom>
            <a:solidFill>
              <a:schemeClr val="accent1">
                <a:alpha val="50000"/>
              </a:schemeClr>
            </a:solid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99" dirty="0"/>
            </a:p>
          </p:txBody>
        </p:sp>
        <p:sp>
          <p:nvSpPr>
            <p:cNvPr id="44" name="Rectangle 32">
              <a:extLst>
                <a:ext uri="{FF2B5EF4-FFF2-40B4-BE49-F238E27FC236}">
                  <a16:creationId xmlns:a16="http://schemas.microsoft.com/office/drawing/2014/main" id="{C5B9A28C-9C12-4627-A6E2-A0FF7B1B1286}"/>
                </a:ext>
              </a:extLst>
            </p:cNvPr>
            <p:cNvSpPr/>
            <p:nvPr/>
          </p:nvSpPr>
          <p:spPr>
            <a:xfrm>
              <a:off x="8988684" y="4277985"/>
              <a:ext cx="857499" cy="204501"/>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99" dirty="0"/>
            </a:p>
          </p:txBody>
        </p:sp>
      </p:grpSp>
      <p:pic>
        <p:nvPicPr>
          <p:cNvPr id="45" name="Picture 50">
            <a:extLst>
              <a:ext uri="{FF2B5EF4-FFF2-40B4-BE49-F238E27FC236}">
                <a16:creationId xmlns:a16="http://schemas.microsoft.com/office/drawing/2014/main" id="{29B0F79E-3F5D-4868-BB40-17403184FC8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150729" y="2888650"/>
            <a:ext cx="3279807" cy="1651174"/>
          </a:xfrm>
          <a:prstGeom prst="rect">
            <a:avLst/>
          </a:prstGeom>
          <a:ln>
            <a:solidFill>
              <a:schemeClr val="bg1"/>
            </a:solidFill>
          </a:ln>
        </p:spPr>
      </p:pic>
    </p:spTree>
    <p:extLst>
      <p:ext uri="{BB962C8B-B14F-4D97-AF65-F5344CB8AC3E}">
        <p14:creationId xmlns:p14="http://schemas.microsoft.com/office/powerpoint/2010/main" val="3118153351"/>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a:xfrm>
            <a:off x="191940" y="1196707"/>
            <a:ext cx="5049060" cy="5426462"/>
          </a:xfrm>
        </p:spPr>
        <p:txBody>
          <a:bodyPr>
            <a:normAutofit lnSpcReduction="10000"/>
          </a:bodyPr>
          <a:lstStyle/>
          <a:p>
            <a:pPr>
              <a:buClr>
                <a:schemeClr val="tx1"/>
              </a:buClr>
            </a:pPr>
            <a:r>
              <a:rPr lang="en-US" sz="3499" b="1" dirty="0">
                <a:solidFill>
                  <a:schemeClr val="bg1"/>
                </a:solidFill>
              </a:rPr>
              <a:t>Defines the width of the element</a:t>
            </a:r>
            <a:endParaRPr lang="en-US" b="1" dirty="0">
              <a:solidFill>
                <a:schemeClr val="bg1"/>
              </a:solidFill>
            </a:endParaRPr>
          </a:p>
          <a:p>
            <a:r>
              <a:rPr lang="en-US" sz="3400" b="0" dirty="0"/>
              <a:t>The </a:t>
            </a:r>
            <a:r>
              <a:rPr lang="en-US" sz="3400" b="1" dirty="0">
                <a:solidFill>
                  <a:schemeClr val="bg1"/>
                </a:solidFill>
              </a:rPr>
              <a:t>width CSS property </a:t>
            </a:r>
            <a:r>
              <a:rPr lang="en-US" sz="3400" b="0" dirty="0"/>
              <a:t>sets an element's width. By </a:t>
            </a:r>
            <a:r>
              <a:rPr lang="en-US" sz="3400" dirty="0"/>
              <a:t>default</a:t>
            </a:r>
            <a:r>
              <a:rPr lang="en-US" sz="3400" b="0" dirty="0"/>
              <a:t>, it sets the width of the content area, but if </a:t>
            </a:r>
            <a:r>
              <a:rPr lang="en-US" sz="3400" dirty="0"/>
              <a:t>box-sizing</a:t>
            </a:r>
            <a:r>
              <a:rPr lang="en-US" sz="3400" b="0" dirty="0"/>
              <a:t> is set to border-box, it sets the width of the border</a:t>
            </a:r>
          </a:p>
          <a:p>
            <a:r>
              <a:rPr lang="en-US" sz="3400" i="1" dirty="0">
                <a:hlinkClick r:id="rId2"/>
              </a:rPr>
              <a:t>Example</a:t>
            </a:r>
            <a:endParaRPr lang="bg-BG" i="1" dirty="0"/>
          </a:p>
        </p:txBody>
      </p:sp>
      <p:sp>
        <p:nvSpPr>
          <p:cNvPr id="4" name="Title 3"/>
          <p:cNvSpPr>
            <a:spLocks noGrp="1"/>
          </p:cNvSpPr>
          <p:nvPr>
            <p:ph type="title"/>
          </p:nvPr>
        </p:nvSpPr>
        <p:spPr/>
        <p:txBody>
          <a:bodyPr/>
          <a:lstStyle/>
          <a:p>
            <a:r>
              <a:rPr lang="en-US" dirty="0"/>
              <a:t>Width</a:t>
            </a:r>
          </a:p>
        </p:txBody>
      </p:sp>
      <p:pic>
        <p:nvPicPr>
          <p:cNvPr id="6" name="Picture 5"/>
          <p:cNvPicPr>
            <a:picLocks noChangeAspect="1"/>
          </p:cNvPicPr>
          <p:nvPr/>
        </p:nvPicPr>
        <p:blipFill>
          <a:blip r:embed="rId3">
            <a:clrChange>
              <a:clrFrom>
                <a:srgbClr val="FFFFFF"/>
              </a:clrFrom>
              <a:clrTo>
                <a:srgbClr val="FFFFFF">
                  <a:alpha val="0"/>
                </a:srgbClr>
              </a:clrTo>
            </a:clrChange>
          </a:blip>
          <a:stretch>
            <a:fillRect/>
          </a:stretch>
        </p:blipFill>
        <p:spPr>
          <a:xfrm>
            <a:off x="5399761" y="4566304"/>
            <a:ext cx="2998741" cy="1495631"/>
          </a:xfrm>
          <a:prstGeom prst="rect">
            <a:avLst/>
          </a:prstGeom>
          <a:ln>
            <a:noFill/>
          </a:ln>
          <a:effectLst>
            <a:outerShdw blurRad="292100" dist="139700" dir="2700000" algn="tl" rotWithShape="0">
              <a:srgbClr val="333333">
                <a:alpha val="65000"/>
              </a:srgbClr>
            </a:outerShdw>
          </a:effectLst>
        </p:spPr>
      </p:pic>
      <p:sp>
        <p:nvSpPr>
          <p:cNvPr id="10" name="Текстово поле 10"/>
          <p:cNvSpPr txBox="1"/>
          <p:nvPr/>
        </p:nvSpPr>
        <p:spPr>
          <a:xfrm>
            <a:off x="5328427" y="2856120"/>
            <a:ext cx="2866124" cy="1326048"/>
          </a:xfrm>
          <a:prstGeom prst="rect">
            <a:avLst/>
          </a:prstGeom>
          <a:solidFill>
            <a:schemeClr val="accent6">
              <a:lumMod val="75000"/>
              <a:alpha val="15000"/>
            </a:schemeClr>
          </a:solidFill>
          <a:ln w="12700">
            <a:solidFill>
              <a:schemeClr val="tx1">
                <a:lumMod val="75000"/>
              </a:schemeClr>
            </a:solidFill>
          </a:ln>
        </p:spPr>
        <p:txBody>
          <a:bodyPr vert="horz" wrap="square" lIns="143963" tIns="107972" rIns="143963" bIns="107972" rtlCol="0">
            <a:spAutoFit/>
          </a:bodyPr>
          <a:lstStyle/>
          <a:p>
            <a:pPr>
              <a:lnSpc>
                <a:spcPct val="90000"/>
              </a:lnSpc>
            </a:pPr>
            <a:r>
              <a:rPr lang="en-GB" sz="2000" b="1" dirty="0">
                <a:solidFill>
                  <a:srgbClr val="800000"/>
                </a:solidFill>
                <a:latin typeface="Consolas" panose="020B0609020204030204" pitchFamily="49" charset="0"/>
              </a:rPr>
              <a:t>article</a:t>
            </a:r>
            <a:r>
              <a:rPr lang="en-GB" sz="2000" b="1" dirty="0">
                <a:solidFill>
                  <a:srgbClr val="000000"/>
                </a:solidFill>
                <a:latin typeface="Consolas" panose="020B0609020204030204" pitchFamily="49" charset="0"/>
              </a:rPr>
              <a:t> {</a:t>
            </a:r>
          </a:p>
          <a:p>
            <a:pPr>
              <a:lnSpc>
                <a:spcPct val="90000"/>
              </a:lnSpc>
            </a:pPr>
            <a:r>
              <a:rPr lang="en-GB" sz="2000" b="1" dirty="0">
                <a:solidFill>
                  <a:srgbClr val="000000"/>
                </a:solidFill>
                <a:latin typeface="Consolas" panose="020B0609020204030204" pitchFamily="49" charset="0"/>
              </a:rPr>
              <a:t>  </a:t>
            </a:r>
            <a:r>
              <a:rPr lang="en-GB" sz="2000" b="1" dirty="0">
                <a:solidFill>
                  <a:srgbClr val="FF0000"/>
                </a:solidFill>
                <a:latin typeface="Consolas" panose="020B0609020204030204" pitchFamily="49" charset="0"/>
              </a:rPr>
              <a:t>width</a:t>
            </a:r>
            <a:r>
              <a:rPr lang="en-GB" sz="2000" b="1" dirty="0">
                <a:solidFill>
                  <a:srgbClr val="000000"/>
                </a:solidFill>
                <a:latin typeface="Consolas" panose="020B0609020204030204" pitchFamily="49" charset="0"/>
              </a:rPr>
              <a:t>:</a:t>
            </a:r>
            <a:r>
              <a:rPr lang="en-GB" sz="2000" b="1" dirty="0">
                <a:solidFill>
                  <a:srgbClr val="000000"/>
                </a:solidFill>
              </a:rPr>
              <a:t> </a:t>
            </a:r>
            <a:r>
              <a:rPr lang="en-GB" sz="2000" b="1" dirty="0">
                <a:solidFill>
                  <a:srgbClr val="098658"/>
                </a:solidFill>
                <a:latin typeface="Consolas" panose="020B0609020204030204" pitchFamily="49" charset="0"/>
              </a:rPr>
              <a:t>240px</a:t>
            </a:r>
            <a:r>
              <a:rPr lang="en-GB" sz="2000" b="1" dirty="0">
                <a:solidFill>
                  <a:srgbClr val="000000"/>
                </a:solidFill>
                <a:latin typeface="Consolas" panose="020B0609020204030204" pitchFamily="49" charset="0"/>
              </a:rPr>
              <a:t>;</a:t>
            </a:r>
          </a:p>
          <a:p>
            <a:pPr>
              <a:lnSpc>
                <a:spcPct val="90000"/>
              </a:lnSpc>
            </a:pPr>
            <a:r>
              <a:rPr lang="en-GB" sz="2000" b="1" dirty="0">
                <a:solidFill>
                  <a:srgbClr val="FF0000"/>
                </a:solidFill>
                <a:latin typeface="Consolas" panose="020B0609020204030204" pitchFamily="49" charset="0"/>
              </a:rPr>
              <a:t>  background</a:t>
            </a:r>
            <a:r>
              <a:rPr lang="en-GB" sz="2000" b="1" dirty="0">
                <a:solidFill>
                  <a:srgbClr val="000000"/>
                </a:solidFill>
                <a:latin typeface="Consolas" panose="020B0609020204030204" pitchFamily="49" charset="0"/>
              </a:rPr>
              <a:t>:</a:t>
            </a:r>
            <a:r>
              <a:rPr lang="en-GB" sz="2000" b="1" dirty="0">
                <a:solidFill>
                  <a:srgbClr val="000000"/>
                </a:solidFill>
              </a:rPr>
              <a:t> </a:t>
            </a:r>
            <a:r>
              <a:rPr lang="en-GB" sz="2000" b="1" dirty="0">
                <a:solidFill>
                  <a:srgbClr val="0451A5"/>
                </a:solidFill>
                <a:latin typeface="Consolas" panose="020B0609020204030204" pitchFamily="49" charset="0"/>
              </a:rPr>
              <a:t>#8ce</a:t>
            </a:r>
            <a:r>
              <a:rPr lang="en-GB" sz="2000" b="1" dirty="0">
                <a:solidFill>
                  <a:srgbClr val="000000"/>
                </a:solidFill>
                <a:latin typeface="Consolas" panose="020B0609020204030204" pitchFamily="49" charset="0"/>
              </a:rPr>
              <a:t>;</a:t>
            </a:r>
          </a:p>
          <a:p>
            <a:pPr>
              <a:lnSpc>
                <a:spcPct val="90000"/>
              </a:lnSpc>
            </a:pPr>
            <a:r>
              <a:rPr lang="en-GB" sz="2000" b="1" dirty="0">
                <a:solidFill>
                  <a:srgbClr val="000000"/>
                </a:solidFill>
                <a:latin typeface="Consolas" panose="020B0609020204030204" pitchFamily="49" charset="0"/>
              </a:rPr>
              <a:t>}</a:t>
            </a:r>
          </a:p>
        </p:txBody>
      </p:sp>
      <p:sp>
        <p:nvSpPr>
          <p:cNvPr id="16" name="Text Placeholder 2"/>
          <p:cNvSpPr txBox="1">
            <a:spLocks/>
          </p:cNvSpPr>
          <p:nvPr/>
        </p:nvSpPr>
        <p:spPr>
          <a:xfrm>
            <a:off x="5109261" y="1404000"/>
            <a:ext cx="3298828" cy="913941"/>
          </a:xfrm>
          <a:prstGeom prst="rect">
            <a:avLst/>
          </a:prstGeom>
        </p:spPr>
        <p:txBody>
          <a:bodyPr vert="horz" wrap="square" lIns="107972" tIns="35991" rIns="107972" bIns="35991" rtlCol="0">
            <a:spAutoFit/>
          </a:bodyPr>
          <a:lstStyle>
            <a:lvl1pPr marL="360363" indent="-360363" algn="l" defTabSz="1218438" rtl="0" eaLnBrk="1" latinLnBrk="0" hangingPunct="1">
              <a:lnSpc>
                <a:spcPct val="105000"/>
              </a:lnSpc>
              <a:spcBef>
                <a:spcPts val="600"/>
              </a:spcBef>
              <a:spcAft>
                <a:spcPts val="600"/>
              </a:spcAft>
              <a:buFont typeface="Wingdings" panose="05000000000000000000" pitchFamily="2" charset="2"/>
              <a:buChar char="§"/>
              <a:defRPr sz="3398" kern="1200">
                <a:solidFill>
                  <a:schemeClr val="tx1"/>
                </a:solidFill>
                <a:latin typeface="+mn-lt"/>
                <a:ea typeface="+mn-ea"/>
                <a:cs typeface="+mn-cs"/>
              </a:defRPr>
            </a:lvl1pPr>
            <a:lvl2pPr marL="803275" indent="-360363" algn="l" defTabSz="1218438" rtl="0" eaLnBrk="1" latinLnBrk="0" hangingPunct="1">
              <a:lnSpc>
                <a:spcPct val="105000"/>
              </a:lnSpc>
              <a:spcBef>
                <a:spcPts val="600"/>
              </a:spcBef>
              <a:spcAft>
                <a:spcPts val="600"/>
              </a:spcAft>
              <a:buFont typeface="Wingdings" panose="05000000000000000000" pitchFamily="2" charset="2"/>
              <a:buChar char="§"/>
              <a:defRPr sz="3198" kern="1200">
                <a:solidFill>
                  <a:schemeClr val="tx1"/>
                </a:solidFill>
                <a:latin typeface="+mn-lt"/>
                <a:ea typeface="+mn-ea"/>
                <a:cs typeface="+mn-cs"/>
              </a:defRPr>
            </a:lvl2pPr>
            <a:lvl3pPr marL="1255713" indent="-360363" algn="l" defTabSz="1218438" rtl="0" eaLnBrk="1" latinLnBrk="0" hangingPunct="1">
              <a:lnSpc>
                <a:spcPct val="105000"/>
              </a:lnSpc>
              <a:spcBef>
                <a:spcPts val="600"/>
              </a:spcBef>
              <a:spcAft>
                <a:spcPts val="600"/>
              </a:spcAft>
              <a:buFont typeface="Wingdings" panose="05000000000000000000" pitchFamily="2" charset="2"/>
              <a:buChar char="§"/>
              <a:defRPr sz="2998" kern="1200">
                <a:solidFill>
                  <a:schemeClr val="tx1"/>
                </a:solidFill>
                <a:latin typeface="+mn-lt"/>
                <a:ea typeface="+mn-ea"/>
                <a:cs typeface="+mn-cs"/>
              </a:defRPr>
            </a:lvl3pPr>
            <a:lvl4pPr marL="1700213" indent="-352425" algn="l" defTabSz="1218438" rtl="0" eaLnBrk="1" latinLnBrk="0" hangingPunct="1">
              <a:lnSpc>
                <a:spcPct val="105000"/>
              </a:lnSpc>
              <a:spcBef>
                <a:spcPts val="600"/>
              </a:spcBef>
              <a:spcAft>
                <a:spcPts val="600"/>
              </a:spcAft>
              <a:buFont typeface="Wingdings" panose="05000000000000000000" pitchFamily="2" charset="2"/>
              <a:buChar char="§"/>
              <a:defRPr sz="2798" kern="1200">
                <a:solidFill>
                  <a:schemeClr val="tx1"/>
                </a:solidFill>
                <a:latin typeface="+mn-lt"/>
                <a:ea typeface="+mn-ea"/>
                <a:cs typeface="+mn-cs"/>
              </a:defRPr>
            </a:lvl4pPr>
            <a:lvl5pPr marL="2058988" indent="-266700" algn="l" defTabSz="1218438" rtl="0" eaLnBrk="1" latinLnBrk="0" hangingPunct="1">
              <a:lnSpc>
                <a:spcPct val="105000"/>
              </a:lnSpc>
              <a:spcBef>
                <a:spcPts val="600"/>
              </a:spcBef>
              <a:spcAft>
                <a:spcPts val="600"/>
              </a:spcAft>
              <a:buFont typeface="Wingdings" panose="05000000000000000000" pitchFamily="2" charset="2"/>
              <a:buChar char="§"/>
              <a:defRPr sz="2598" kern="1200">
                <a:solidFill>
                  <a:schemeClr val="tx1"/>
                </a:solidFill>
                <a:latin typeface="+mn-lt"/>
                <a:ea typeface="+mn-ea"/>
                <a:cs typeface="+mn-cs"/>
              </a:defRPr>
            </a:lvl5pPr>
            <a:lvl6pPr marL="3350704" indent="-304610" algn="l" defTabSz="1218438" rtl="0" eaLnBrk="1" latinLnBrk="1" hangingPunct="1">
              <a:spcBef>
                <a:spcPct val="20000"/>
              </a:spcBef>
              <a:buFont typeface="Arial" pitchFamily="34" charset="0"/>
              <a:buChar char="•"/>
              <a:defRPr sz="2665" kern="1200">
                <a:solidFill>
                  <a:schemeClr val="tx1"/>
                </a:solidFill>
                <a:latin typeface="+mn-lt"/>
                <a:ea typeface="+mn-ea"/>
                <a:cs typeface="+mn-cs"/>
              </a:defRPr>
            </a:lvl6pPr>
            <a:lvl7pPr marL="3959924" indent="-304610" algn="l" defTabSz="1218438" rtl="0" eaLnBrk="1" latinLnBrk="1" hangingPunct="1">
              <a:spcBef>
                <a:spcPct val="20000"/>
              </a:spcBef>
              <a:buFont typeface="Arial" pitchFamily="34" charset="0"/>
              <a:buChar char="•"/>
              <a:defRPr sz="2665" kern="1200">
                <a:solidFill>
                  <a:schemeClr val="tx1"/>
                </a:solidFill>
                <a:latin typeface="+mn-lt"/>
                <a:ea typeface="+mn-ea"/>
                <a:cs typeface="+mn-cs"/>
              </a:defRPr>
            </a:lvl7pPr>
            <a:lvl8pPr marL="4569143" indent="-304610" algn="l" defTabSz="1218438" rtl="0" eaLnBrk="1" latinLnBrk="1" hangingPunct="1">
              <a:spcBef>
                <a:spcPct val="20000"/>
              </a:spcBef>
              <a:buFont typeface="Arial" pitchFamily="34" charset="0"/>
              <a:buChar char="•"/>
              <a:defRPr sz="2665" kern="1200">
                <a:solidFill>
                  <a:schemeClr val="tx1"/>
                </a:solidFill>
                <a:latin typeface="+mn-lt"/>
                <a:ea typeface="+mn-ea"/>
                <a:cs typeface="+mn-cs"/>
              </a:defRPr>
            </a:lvl8pPr>
            <a:lvl9pPr marL="5178362" indent="-304610" algn="l" defTabSz="1218438" rtl="0" eaLnBrk="1" latinLnBrk="1" hangingPunct="1">
              <a:spcBef>
                <a:spcPct val="20000"/>
              </a:spcBef>
              <a:buFont typeface="Arial" pitchFamily="34" charset="0"/>
              <a:buChar char="•"/>
              <a:defRPr sz="2665" kern="1200">
                <a:solidFill>
                  <a:schemeClr val="tx1"/>
                </a:solidFill>
                <a:latin typeface="+mn-lt"/>
                <a:ea typeface="+mn-ea"/>
                <a:cs typeface="+mn-cs"/>
              </a:defRPr>
            </a:lvl9pPr>
          </a:lstStyle>
          <a:p>
            <a:pPr>
              <a:lnSpc>
                <a:spcPct val="100000"/>
              </a:lnSpc>
              <a:spcBef>
                <a:spcPts val="400"/>
              </a:spcBef>
              <a:spcAft>
                <a:spcPts val="400"/>
              </a:spcAft>
              <a:buClr>
                <a:schemeClr val="tx1"/>
              </a:buClr>
            </a:pPr>
            <a:r>
              <a:rPr lang="en-US" sz="2400" b="1" noProof="1">
                <a:solidFill>
                  <a:schemeClr val="bg1"/>
                </a:solidFill>
              </a:rPr>
              <a:t>pixels</a:t>
            </a:r>
            <a:r>
              <a:rPr lang="en-US" sz="2400" noProof="1"/>
              <a:t> / </a:t>
            </a:r>
            <a:r>
              <a:rPr lang="en-US" sz="2400" b="1" noProof="1">
                <a:solidFill>
                  <a:schemeClr val="bg1"/>
                </a:solidFill>
              </a:rPr>
              <a:t>em </a:t>
            </a:r>
            <a:r>
              <a:rPr lang="en-US" sz="2400" noProof="1"/>
              <a:t>/ </a:t>
            </a:r>
            <a:r>
              <a:rPr lang="en-US" sz="2400" b="1" noProof="1">
                <a:solidFill>
                  <a:schemeClr val="bg1"/>
                </a:solidFill>
              </a:rPr>
              <a:t>rem</a:t>
            </a:r>
          </a:p>
          <a:p>
            <a:pPr>
              <a:lnSpc>
                <a:spcPct val="100000"/>
              </a:lnSpc>
              <a:spcBef>
                <a:spcPts val="400"/>
              </a:spcBef>
              <a:spcAft>
                <a:spcPts val="400"/>
              </a:spcAft>
              <a:buClr>
                <a:schemeClr val="tx1"/>
              </a:buClr>
            </a:pPr>
            <a:r>
              <a:rPr lang="en-US" sz="2400" dirty="0"/>
              <a:t>Fixed width</a:t>
            </a:r>
            <a:endParaRPr lang="en-US" sz="2400" noProof="1"/>
          </a:p>
        </p:txBody>
      </p:sp>
      <p:pic>
        <p:nvPicPr>
          <p:cNvPr id="17" name="Picture 16"/>
          <p:cNvPicPr>
            <a:picLocks noChangeAspect="1"/>
          </p:cNvPicPr>
          <p:nvPr/>
        </p:nvPicPr>
        <p:blipFill>
          <a:blip r:embed="rId4"/>
          <a:stretch>
            <a:fillRect/>
          </a:stretch>
        </p:blipFill>
        <p:spPr>
          <a:xfrm>
            <a:off x="8804845" y="4554000"/>
            <a:ext cx="2998741" cy="1496790"/>
          </a:xfrm>
          <a:prstGeom prst="rect">
            <a:avLst/>
          </a:prstGeom>
          <a:ln>
            <a:noFill/>
          </a:ln>
          <a:effectLst>
            <a:outerShdw blurRad="292100" dist="139700" dir="2700000" algn="tl" rotWithShape="0">
              <a:srgbClr val="333333">
                <a:alpha val="65000"/>
              </a:srgbClr>
            </a:outerShdw>
          </a:effectLst>
        </p:spPr>
      </p:pic>
      <p:sp>
        <p:nvSpPr>
          <p:cNvPr id="18" name="Text Placeholder 2"/>
          <p:cNvSpPr txBox="1">
            <a:spLocks/>
          </p:cNvSpPr>
          <p:nvPr/>
        </p:nvSpPr>
        <p:spPr>
          <a:xfrm>
            <a:off x="8408934" y="1434017"/>
            <a:ext cx="3586146" cy="1283273"/>
          </a:xfrm>
          <a:prstGeom prst="rect">
            <a:avLst/>
          </a:prstGeom>
        </p:spPr>
        <p:txBody>
          <a:bodyPr vert="horz" wrap="square" lIns="107972" tIns="35991" rIns="107972" bIns="35991" rtlCol="0">
            <a:spAutoFit/>
          </a:bodyPr>
          <a:lstStyle>
            <a:lvl1pPr marL="360363" indent="-360363" algn="l" defTabSz="1218438" rtl="0" eaLnBrk="1" latinLnBrk="0" hangingPunct="1">
              <a:lnSpc>
                <a:spcPct val="105000"/>
              </a:lnSpc>
              <a:spcBef>
                <a:spcPts val="600"/>
              </a:spcBef>
              <a:spcAft>
                <a:spcPts val="600"/>
              </a:spcAft>
              <a:buFont typeface="Wingdings" panose="05000000000000000000" pitchFamily="2" charset="2"/>
              <a:buChar char="§"/>
              <a:defRPr sz="3398" kern="1200">
                <a:solidFill>
                  <a:schemeClr val="tx1"/>
                </a:solidFill>
                <a:latin typeface="+mn-lt"/>
                <a:ea typeface="+mn-ea"/>
                <a:cs typeface="+mn-cs"/>
              </a:defRPr>
            </a:lvl1pPr>
            <a:lvl2pPr marL="803275" indent="-360363" algn="l" defTabSz="1218438" rtl="0" eaLnBrk="1" latinLnBrk="0" hangingPunct="1">
              <a:lnSpc>
                <a:spcPct val="105000"/>
              </a:lnSpc>
              <a:spcBef>
                <a:spcPts val="600"/>
              </a:spcBef>
              <a:spcAft>
                <a:spcPts val="600"/>
              </a:spcAft>
              <a:buFont typeface="Wingdings" panose="05000000000000000000" pitchFamily="2" charset="2"/>
              <a:buChar char="§"/>
              <a:defRPr sz="3198" kern="1200">
                <a:solidFill>
                  <a:schemeClr val="tx1"/>
                </a:solidFill>
                <a:latin typeface="+mn-lt"/>
                <a:ea typeface="+mn-ea"/>
                <a:cs typeface="+mn-cs"/>
              </a:defRPr>
            </a:lvl2pPr>
            <a:lvl3pPr marL="1255713" indent="-360363" algn="l" defTabSz="1218438" rtl="0" eaLnBrk="1" latinLnBrk="0" hangingPunct="1">
              <a:lnSpc>
                <a:spcPct val="105000"/>
              </a:lnSpc>
              <a:spcBef>
                <a:spcPts val="600"/>
              </a:spcBef>
              <a:spcAft>
                <a:spcPts val="600"/>
              </a:spcAft>
              <a:buFont typeface="Wingdings" panose="05000000000000000000" pitchFamily="2" charset="2"/>
              <a:buChar char="§"/>
              <a:defRPr sz="2998" kern="1200">
                <a:solidFill>
                  <a:schemeClr val="tx1"/>
                </a:solidFill>
                <a:latin typeface="+mn-lt"/>
                <a:ea typeface="+mn-ea"/>
                <a:cs typeface="+mn-cs"/>
              </a:defRPr>
            </a:lvl3pPr>
            <a:lvl4pPr marL="1700213" indent="-352425" algn="l" defTabSz="1218438" rtl="0" eaLnBrk="1" latinLnBrk="0" hangingPunct="1">
              <a:lnSpc>
                <a:spcPct val="105000"/>
              </a:lnSpc>
              <a:spcBef>
                <a:spcPts val="600"/>
              </a:spcBef>
              <a:spcAft>
                <a:spcPts val="600"/>
              </a:spcAft>
              <a:buFont typeface="Wingdings" panose="05000000000000000000" pitchFamily="2" charset="2"/>
              <a:buChar char="§"/>
              <a:defRPr sz="2798" kern="1200">
                <a:solidFill>
                  <a:schemeClr val="tx1"/>
                </a:solidFill>
                <a:latin typeface="+mn-lt"/>
                <a:ea typeface="+mn-ea"/>
                <a:cs typeface="+mn-cs"/>
              </a:defRPr>
            </a:lvl4pPr>
            <a:lvl5pPr marL="2058988" indent="-266700" algn="l" defTabSz="1218438" rtl="0" eaLnBrk="1" latinLnBrk="0" hangingPunct="1">
              <a:lnSpc>
                <a:spcPct val="105000"/>
              </a:lnSpc>
              <a:spcBef>
                <a:spcPts val="600"/>
              </a:spcBef>
              <a:spcAft>
                <a:spcPts val="600"/>
              </a:spcAft>
              <a:buFont typeface="Wingdings" panose="05000000000000000000" pitchFamily="2" charset="2"/>
              <a:buChar char="§"/>
              <a:defRPr sz="2598" kern="1200">
                <a:solidFill>
                  <a:schemeClr val="tx1"/>
                </a:solidFill>
                <a:latin typeface="+mn-lt"/>
                <a:ea typeface="+mn-ea"/>
                <a:cs typeface="+mn-cs"/>
              </a:defRPr>
            </a:lvl5pPr>
            <a:lvl6pPr marL="3350704" indent="-304610" algn="l" defTabSz="1218438" rtl="0" eaLnBrk="1" latinLnBrk="1" hangingPunct="1">
              <a:spcBef>
                <a:spcPct val="20000"/>
              </a:spcBef>
              <a:buFont typeface="Arial" pitchFamily="34" charset="0"/>
              <a:buChar char="•"/>
              <a:defRPr sz="2665" kern="1200">
                <a:solidFill>
                  <a:schemeClr val="tx1"/>
                </a:solidFill>
                <a:latin typeface="+mn-lt"/>
                <a:ea typeface="+mn-ea"/>
                <a:cs typeface="+mn-cs"/>
              </a:defRPr>
            </a:lvl6pPr>
            <a:lvl7pPr marL="3959924" indent="-304610" algn="l" defTabSz="1218438" rtl="0" eaLnBrk="1" latinLnBrk="1" hangingPunct="1">
              <a:spcBef>
                <a:spcPct val="20000"/>
              </a:spcBef>
              <a:buFont typeface="Arial" pitchFamily="34" charset="0"/>
              <a:buChar char="•"/>
              <a:defRPr sz="2665" kern="1200">
                <a:solidFill>
                  <a:schemeClr val="tx1"/>
                </a:solidFill>
                <a:latin typeface="+mn-lt"/>
                <a:ea typeface="+mn-ea"/>
                <a:cs typeface="+mn-cs"/>
              </a:defRPr>
            </a:lvl7pPr>
            <a:lvl8pPr marL="4569143" indent="-304610" algn="l" defTabSz="1218438" rtl="0" eaLnBrk="1" latinLnBrk="1" hangingPunct="1">
              <a:spcBef>
                <a:spcPct val="20000"/>
              </a:spcBef>
              <a:buFont typeface="Arial" pitchFamily="34" charset="0"/>
              <a:buChar char="•"/>
              <a:defRPr sz="2665" kern="1200">
                <a:solidFill>
                  <a:schemeClr val="tx1"/>
                </a:solidFill>
                <a:latin typeface="+mn-lt"/>
                <a:ea typeface="+mn-ea"/>
                <a:cs typeface="+mn-cs"/>
              </a:defRPr>
            </a:lvl8pPr>
            <a:lvl9pPr marL="5178362" indent="-304610" algn="l" defTabSz="1218438" rtl="0" eaLnBrk="1" latinLnBrk="1" hangingPunct="1">
              <a:spcBef>
                <a:spcPct val="20000"/>
              </a:spcBef>
              <a:buFont typeface="Arial" pitchFamily="34" charset="0"/>
              <a:buChar char="•"/>
              <a:defRPr sz="2665" kern="1200">
                <a:solidFill>
                  <a:schemeClr val="tx1"/>
                </a:solidFill>
                <a:latin typeface="+mn-lt"/>
                <a:ea typeface="+mn-ea"/>
                <a:cs typeface="+mn-cs"/>
              </a:defRPr>
            </a:lvl9pPr>
          </a:lstStyle>
          <a:p>
            <a:pPr>
              <a:lnSpc>
                <a:spcPct val="100000"/>
              </a:lnSpc>
              <a:spcBef>
                <a:spcPts val="400"/>
              </a:spcBef>
              <a:spcAft>
                <a:spcPts val="400"/>
              </a:spcAft>
              <a:buClr>
                <a:schemeClr val="tx1"/>
              </a:buClr>
            </a:pPr>
            <a:r>
              <a:rPr lang="en-US" sz="2400" b="1" dirty="0">
                <a:solidFill>
                  <a:schemeClr val="bg1"/>
                </a:solidFill>
              </a:rPr>
              <a:t>percentages</a:t>
            </a:r>
          </a:p>
          <a:p>
            <a:pPr>
              <a:lnSpc>
                <a:spcPct val="100000"/>
              </a:lnSpc>
              <a:spcBef>
                <a:spcPts val="400"/>
              </a:spcBef>
              <a:spcAft>
                <a:spcPts val="400"/>
              </a:spcAft>
              <a:buClr>
                <a:schemeClr val="tx1"/>
              </a:buClr>
            </a:pPr>
            <a:r>
              <a:rPr lang="en-US" sz="2400" dirty="0"/>
              <a:t>Relative to container's width</a:t>
            </a:r>
          </a:p>
        </p:txBody>
      </p:sp>
      <p:sp>
        <p:nvSpPr>
          <p:cNvPr id="19" name="Текстово поле 10"/>
          <p:cNvSpPr txBox="1"/>
          <p:nvPr/>
        </p:nvSpPr>
        <p:spPr>
          <a:xfrm>
            <a:off x="8626198" y="2856120"/>
            <a:ext cx="3151618" cy="1326048"/>
          </a:xfrm>
          <a:prstGeom prst="rect">
            <a:avLst/>
          </a:prstGeom>
          <a:solidFill>
            <a:schemeClr val="accent6">
              <a:lumMod val="75000"/>
              <a:alpha val="15000"/>
            </a:schemeClr>
          </a:solidFill>
          <a:ln w="12700">
            <a:solidFill>
              <a:schemeClr val="tx1">
                <a:lumMod val="75000"/>
              </a:schemeClr>
            </a:solidFill>
          </a:ln>
        </p:spPr>
        <p:txBody>
          <a:bodyPr vert="horz" wrap="square" lIns="143963" tIns="107972" rIns="143963" bIns="107972" rtlCol="0">
            <a:spAutoFit/>
          </a:bodyPr>
          <a:lstStyle/>
          <a:p>
            <a:pPr>
              <a:lnSpc>
                <a:spcPct val="90000"/>
              </a:lnSpc>
            </a:pPr>
            <a:r>
              <a:rPr lang="en-GB" sz="2000" b="1" dirty="0">
                <a:solidFill>
                  <a:srgbClr val="800000"/>
                </a:solidFill>
                <a:latin typeface="Consolas" panose="020B0609020204030204" pitchFamily="49" charset="0"/>
              </a:rPr>
              <a:t>article</a:t>
            </a:r>
            <a:r>
              <a:rPr lang="en-GB" sz="2000" b="1" dirty="0">
                <a:solidFill>
                  <a:srgbClr val="000000"/>
                </a:solidFill>
                <a:latin typeface="Consolas" panose="020B0609020204030204" pitchFamily="49" charset="0"/>
              </a:rPr>
              <a:t> {</a:t>
            </a:r>
          </a:p>
          <a:p>
            <a:pPr>
              <a:lnSpc>
                <a:spcPct val="90000"/>
              </a:lnSpc>
            </a:pPr>
            <a:r>
              <a:rPr lang="en-GB" sz="2000" b="1" dirty="0">
                <a:solidFill>
                  <a:srgbClr val="000000"/>
                </a:solidFill>
                <a:latin typeface="Consolas" panose="020B0609020204030204" pitchFamily="49" charset="0"/>
              </a:rPr>
              <a:t>  </a:t>
            </a:r>
            <a:r>
              <a:rPr lang="en-GB" sz="2000" b="1" dirty="0">
                <a:solidFill>
                  <a:srgbClr val="FF0000"/>
                </a:solidFill>
                <a:latin typeface="Consolas" panose="020B0609020204030204" pitchFamily="49" charset="0"/>
              </a:rPr>
              <a:t>width</a:t>
            </a:r>
            <a:r>
              <a:rPr lang="en-GB" sz="2000" b="1" dirty="0">
                <a:solidFill>
                  <a:srgbClr val="000000"/>
                </a:solidFill>
                <a:latin typeface="Consolas" panose="020B0609020204030204" pitchFamily="49" charset="0"/>
              </a:rPr>
              <a:t>:</a:t>
            </a:r>
            <a:r>
              <a:rPr lang="en-GB" sz="2000" b="1" dirty="0">
                <a:solidFill>
                  <a:srgbClr val="000000"/>
                </a:solidFill>
              </a:rPr>
              <a:t> </a:t>
            </a:r>
            <a:r>
              <a:rPr lang="en-GB" sz="2000" b="1" dirty="0">
                <a:solidFill>
                  <a:srgbClr val="098658"/>
                </a:solidFill>
                <a:latin typeface="Consolas" panose="020B0609020204030204" pitchFamily="49" charset="0"/>
              </a:rPr>
              <a:t>50%</a:t>
            </a:r>
            <a:r>
              <a:rPr lang="en-GB" sz="2000" b="1" dirty="0">
                <a:solidFill>
                  <a:srgbClr val="000000"/>
                </a:solidFill>
                <a:latin typeface="Consolas" panose="020B0609020204030204" pitchFamily="49" charset="0"/>
              </a:rPr>
              <a:t>;</a:t>
            </a:r>
          </a:p>
          <a:p>
            <a:pPr>
              <a:lnSpc>
                <a:spcPct val="90000"/>
              </a:lnSpc>
            </a:pPr>
            <a:r>
              <a:rPr lang="en-GB" sz="2000" b="1" dirty="0">
                <a:solidFill>
                  <a:srgbClr val="FF0000"/>
                </a:solidFill>
                <a:latin typeface="Consolas" panose="020B0609020204030204" pitchFamily="49" charset="0"/>
              </a:rPr>
              <a:t>  background</a:t>
            </a:r>
            <a:r>
              <a:rPr lang="en-GB" sz="2000" b="1" dirty="0">
                <a:solidFill>
                  <a:srgbClr val="000000"/>
                </a:solidFill>
                <a:latin typeface="Consolas" panose="020B0609020204030204" pitchFamily="49" charset="0"/>
              </a:rPr>
              <a:t>:</a:t>
            </a:r>
            <a:r>
              <a:rPr lang="en-GB" sz="2000" b="1" dirty="0">
                <a:solidFill>
                  <a:srgbClr val="000000"/>
                </a:solidFill>
              </a:rPr>
              <a:t> </a:t>
            </a:r>
            <a:r>
              <a:rPr lang="en-GB" sz="2000" b="1" dirty="0">
                <a:solidFill>
                  <a:srgbClr val="0451A5"/>
                </a:solidFill>
                <a:latin typeface="Consolas" panose="020B0609020204030204" pitchFamily="49" charset="0"/>
              </a:rPr>
              <a:t>#8ce</a:t>
            </a:r>
            <a:r>
              <a:rPr lang="en-GB" sz="2000" b="1" dirty="0">
                <a:solidFill>
                  <a:srgbClr val="000000"/>
                </a:solidFill>
                <a:latin typeface="Consolas" panose="020B0609020204030204" pitchFamily="49" charset="0"/>
              </a:rPr>
              <a:t>;</a:t>
            </a:r>
          </a:p>
          <a:p>
            <a:pPr>
              <a:lnSpc>
                <a:spcPct val="90000"/>
              </a:lnSpc>
            </a:pPr>
            <a:r>
              <a:rPr lang="en-GB" sz="2000" b="1" dirty="0">
                <a:solidFill>
                  <a:srgbClr val="000000"/>
                </a:solidFill>
                <a:latin typeface="Consolas" panose="020B0609020204030204" pitchFamily="49" charset="0"/>
              </a:rPr>
              <a:t>}</a:t>
            </a:r>
          </a:p>
        </p:txBody>
      </p:sp>
      <p:sp>
        <p:nvSpPr>
          <p:cNvPr id="20" name="Slide Number">
            <a:extLst>
              <a:ext uri="{FF2B5EF4-FFF2-40B4-BE49-F238E27FC236}">
                <a16:creationId xmlns:a16="http://schemas.microsoft.com/office/drawing/2014/main" id="{ABF73689-07A3-4A8B-BCB3-676DCF4EADC9}"/>
              </a:ext>
            </a:extLst>
          </p:cNvPr>
          <p:cNvSpPr>
            <a:spLocks noGrp="1"/>
          </p:cNvSpPr>
          <p:nvPr>
            <p:ph type="sldNum" sz="quarter" idx="5"/>
          </p:nvPr>
        </p:nvSpPr>
        <p:spPr>
          <a:xfrm>
            <a:off x="11803586"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14</a:t>
            </a:fld>
            <a:endParaRPr lang="en-US" noProof="0" dirty="0"/>
          </a:p>
        </p:txBody>
      </p:sp>
    </p:spTree>
    <p:extLst>
      <p:ext uri="{BB962C8B-B14F-4D97-AF65-F5344CB8AC3E}">
        <p14:creationId xmlns:p14="http://schemas.microsoft.com/office/powerpoint/2010/main" val="2363534780"/>
      </p:ext>
    </p:extLst>
  </p:cSld>
  <p:clrMapOvr>
    <a:masterClrMapping/>
  </p:clrMapOvr>
  <mc:AlternateContent xmlns:mc="http://schemas.openxmlformats.org/markup-compatibility/2006" xmlns:p14="http://schemas.microsoft.com/office/powerpoint/2010/main">
    <mc:Choice Requires="p14">
      <p:transition p14:dur="0" advClick="0" advTm="5000"/>
    </mc:Choice>
    <mc:Fallback xmlns="">
      <p:transition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6" grpId="0"/>
      <p:bldP spid="18" grpId="0"/>
      <p:bldP spid="1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Текстов контейнер 4">
            <a:extLst>
              <a:ext uri="{FF2B5EF4-FFF2-40B4-BE49-F238E27FC236}">
                <a16:creationId xmlns:a16="http://schemas.microsoft.com/office/drawing/2014/main" id="{270A72FB-C47B-B278-C3C3-71E05980FC9A}"/>
              </a:ext>
            </a:extLst>
          </p:cNvPr>
          <p:cNvSpPr>
            <a:spLocks noGrp="1"/>
          </p:cNvSpPr>
          <p:nvPr>
            <p:ph type="body" sz="quarter" idx="10"/>
          </p:nvPr>
        </p:nvSpPr>
        <p:spPr>
          <a:xfrm>
            <a:off x="190402" y="1196125"/>
            <a:ext cx="7570598" cy="5528766"/>
          </a:xfrm>
        </p:spPr>
        <p:txBody>
          <a:bodyPr>
            <a:normAutofit fontScale="92500"/>
          </a:bodyPr>
          <a:lstStyle/>
          <a:p>
            <a:pPr>
              <a:buClr>
                <a:schemeClr val="tx1"/>
              </a:buClr>
            </a:pPr>
            <a:r>
              <a:rPr lang="en-GB" sz="3600" b="1" dirty="0">
                <a:solidFill>
                  <a:schemeClr val="bg1"/>
                </a:solidFill>
              </a:rPr>
              <a:t>Default width of block elements</a:t>
            </a:r>
          </a:p>
          <a:p>
            <a:pPr lvl="1"/>
            <a:r>
              <a:rPr lang="en-GB" sz="3600" dirty="0"/>
              <a:t>If a box has no set width, it automatically stretches to fill the available space, and padding/border stay inside the box</a:t>
            </a:r>
          </a:p>
          <a:p>
            <a:pPr lvl="1"/>
            <a:r>
              <a:rPr lang="en-GB" sz="3600" dirty="0"/>
              <a:t>But if you manually set </a:t>
            </a:r>
            <a:r>
              <a:rPr lang="en-GB" dirty="0"/>
              <a:t>width: 100%</a:t>
            </a:r>
            <a:r>
              <a:rPr lang="en-GB" sz="3600" dirty="0"/>
              <a:t>, the padding and border are added on top of that width, so the element can become wider than its container</a:t>
            </a:r>
            <a:endParaRPr lang="en-US" dirty="0"/>
          </a:p>
        </p:txBody>
      </p:sp>
      <p:sp>
        <p:nvSpPr>
          <p:cNvPr id="4" name="Title 3">
            <a:extLst>
              <a:ext uri="{FF2B5EF4-FFF2-40B4-BE49-F238E27FC236}">
                <a16:creationId xmlns:a16="http://schemas.microsoft.com/office/drawing/2014/main" id="{E9A1DA41-F15A-4A36-BC07-5ABC6728BF4B}"/>
              </a:ext>
            </a:extLst>
          </p:cNvPr>
          <p:cNvSpPr>
            <a:spLocks noGrp="1"/>
          </p:cNvSpPr>
          <p:nvPr>
            <p:ph type="title"/>
          </p:nvPr>
        </p:nvSpPr>
        <p:spPr/>
        <p:txBody>
          <a:bodyPr>
            <a:normAutofit/>
          </a:bodyPr>
          <a:lstStyle/>
          <a:p>
            <a:r>
              <a:rPr lang="en-US" sz="4000" dirty="0"/>
              <a:t>Width</a:t>
            </a:r>
            <a:endParaRPr lang="en-GB" sz="4000" dirty="0"/>
          </a:p>
        </p:txBody>
      </p:sp>
      <p:sp>
        <p:nvSpPr>
          <p:cNvPr id="15" name="Text Placeholder 2"/>
          <p:cNvSpPr txBox="1">
            <a:spLocks/>
          </p:cNvSpPr>
          <p:nvPr/>
        </p:nvSpPr>
        <p:spPr>
          <a:xfrm>
            <a:off x="7806175" y="1674000"/>
            <a:ext cx="4199650" cy="1036800"/>
          </a:xfrm>
          <a:prstGeom prst="rect">
            <a:avLst/>
          </a:prstGeom>
        </p:spPr>
        <p:txBody>
          <a:bodyPr vert="horz" lIns="107972" tIns="35991" rIns="107972" bIns="35991" rtlCol="0">
            <a:spAutoFit/>
          </a:bodyPr>
          <a:lstStyle>
            <a:lvl1pPr marL="360363" indent="-360363" algn="l" defTabSz="1218438" rtl="0" eaLnBrk="1" latinLnBrk="0" hangingPunct="1">
              <a:lnSpc>
                <a:spcPct val="105000"/>
              </a:lnSpc>
              <a:spcBef>
                <a:spcPts val="600"/>
              </a:spcBef>
              <a:spcAft>
                <a:spcPts val="600"/>
              </a:spcAft>
              <a:buFont typeface="Wingdings" panose="05000000000000000000" pitchFamily="2" charset="2"/>
              <a:buChar char="§"/>
              <a:defRPr sz="3398" kern="1200">
                <a:solidFill>
                  <a:schemeClr val="tx1"/>
                </a:solidFill>
                <a:latin typeface="+mn-lt"/>
                <a:ea typeface="+mn-ea"/>
                <a:cs typeface="+mn-cs"/>
              </a:defRPr>
            </a:lvl1pPr>
            <a:lvl2pPr marL="803275" indent="-360363" algn="l" defTabSz="1218438" rtl="0" eaLnBrk="1" latinLnBrk="0" hangingPunct="1">
              <a:lnSpc>
                <a:spcPct val="105000"/>
              </a:lnSpc>
              <a:spcBef>
                <a:spcPts val="600"/>
              </a:spcBef>
              <a:spcAft>
                <a:spcPts val="600"/>
              </a:spcAft>
              <a:buFont typeface="Wingdings" panose="05000000000000000000" pitchFamily="2" charset="2"/>
              <a:buChar char="§"/>
              <a:defRPr sz="3198" kern="1200">
                <a:solidFill>
                  <a:schemeClr val="tx1"/>
                </a:solidFill>
                <a:latin typeface="+mn-lt"/>
                <a:ea typeface="+mn-ea"/>
                <a:cs typeface="+mn-cs"/>
              </a:defRPr>
            </a:lvl2pPr>
            <a:lvl3pPr marL="1255713" indent="-360363" algn="l" defTabSz="1218438" rtl="0" eaLnBrk="1" latinLnBrk="0" hangingPunct="1">
              <a:lnSpc>
                <a:spcPct val="105000"/>
              </a:lnSpc>
              <a:spcBef>
                <a:spcPts val="600"/>
              </a:spcBef>
              <a:spcAft>
                <a:spcPts val="600"/>
              </a:spcAft>
              <a:buFont typeface="Wingdings" panose="05000000000000000000" pitchFamily="2" charset="2"/>
              <a:buChar char="§"/>
              <a:defRPr sz="2998" kern="1200">
                <a:solidFill>
                  <a:schemeClr val="tx1"/>
                </a:solidFill>
                <a:latin typeface="+mn-lt"/>
                <a:ea typeface="+mn-ea"/>
                <a:cs typeface="+mn-cs"/>
              </a:defRPr>
            </a:lvl3pPr>
            <a:lvl4pPr marL="1700213" indent="-352425" algn="l" defTabSz="1218438" rtl="0" eaLnBrk="1" latinLnBrk="0" hangingPunct="1">
              <a:lnSpc>
                <a:spcPct val="105000"/>
              </a:lnSpc>
              <a:spcBef>
                <a:spcPts val="600"/>
              </a:spcBef>
              <a:spcAft>
                <a:spcPts val="600"/>
              </a:spcAft>
              <a:buFont typeface="Wingdings" panose="05000000000000000000" pitchFamily="2" charset="2"/>
              <a:buChar char="§"/>
              <a:defRPr sz="2798" kern="1200">
                <a:solidFill>
                  <a:schemeClr val="tx1"/>
                </a:solidFill>
                <a:latin typeface="+mn-lt"/>
                <a:ea typeface="+mn-ea"/>
                <a:cs typeface="+mn-cs"/>
              </a:defRPr>
            </a:lvl4pPr>
            <a:lvl5pPr marL="2058988" indent="-266700" algn="l" defTabSz="1218438" rtl="0" eaLnBrk="1" latinLnBrk="0" hangingPunct="1">
              <a:lnSpc>
                <a:spcPct val="105000"/>
              </a:lnSpc>
              <a:spcBef>
                <a:spcPts val="600"/>
              </a:spcBef>
              <a:spcAft>
                <a:spcPts val="600"/>
              </a:spcAft>
              <a:buFont typeface="Wingdings" panose="05000000000000000000" pitchFamily="2" charset="2"/>
              <a:buChar char="§"/>
              <a:defRPr sz="2598" kern="1200">
                <a:solidFill>
                  <a:schemeClr val="tx1"/>
                </a:solidFill>
                <a:latin typeface="+mn-lt"/>
                <a:ea typeface="+mn-ea"/>
                <a:cs typeface="+mn-cs"/>
              </a:defRPr>
            </a:lvl5pPr>
            <a:lvl6pPr marL="3350704" indent="-304610" algn="l" defTabSz="1218438" rtl="0" eaLnBrk="1" latinLnBrk="1" hangingPunct="1">
              <a:spcBef>
                <a:spcPct val="20000"/>
              </a:spcBef>
              <a:buFont typeface="Arial" pitchFamily="34" charset="0"/>
              <a:buChar char="•"/>
              <a:defRPr sz="2665" kern="1200">
                <a:solidFill>
                  <a:schemeClr val="tx1"/>
                </a:solidFill>
                <a:latin typeface="+mn-lt"/>
                <a:ea typeface="+mn-ea"/>
                <a:cs typeface="+mn-cs"/>
              </a:defRPr>
            </a:lvl6pPr>
            <a:lvl7pPr marL="3959924" indent="-304610" algn="l" defTabSz="1218438" rtl="0" eaLnBrk="1" latinLnBrk="1" hangingPunct="1">
              <a:spcBef>
                <a:spcPct val="20000"/>
              </a:spcBef>
              <a:buFont typeface="Arial" pitchFamily="34" charset="0"/>
              <a:buChar char="•"/>
              <a:defRPr sz="2665" kern="1200">
                <a:solidFill>
                  <a:schemeClr val="tx1"/>
                </a:solidFill>
                <a:latin typeface="+mn-lt"/>
                <a:ea typeface="+mn-ea"/>
                <a:cs typeface="+mn-cs"/>
              </a:defRPr>
            </a:lvl7pPr>
            <a:lvl8pPr marL="4569143" indent="-304610" algn="l" defTabSz="1218438" rtl="0" eaLnBrk="1" latinLnBrk="1" hangingPunct="1">
              <a:spcBef>
                <a:spcPct val="20000"/>
              </a:spcBef>
              <a:buFont typeface="Arial" pitchFamily="34" charset="0"/>
              <a:buChar char="•"/>
              <a:defRPr sz="2665" kern="1200">
                <a:solidFill>
                  <a:schemeClr val="tx1"/>
                </a:solidFill>
                <a:latin typeface="+mn-lt"/>
                <a:ea typeface="+mn-ea"/>
                <a:cs typeface="+mn-cs"/>
              </a:defRPr>
            </a:lvl8pPr>
            <a:lvl9pPr marL="5178362" indent="-304610" algn="l" defTabSz="1218438" rtl="0" eaLnBrk="1" latinLnBrk="1" hangingPunct="1">
              <a:spcBef>
                <a:spcPct val="20000"/>
              </a:spcBef>
              <a:buFont typeface="Arial" pitchFamily="34" charset="0"/>
              <a:buChar char="•"/>
              <a:defRPr sz="2665" kern="1200">
                <a:solidFill>
                  <a:schemeClr val="tx1"/>
                </a:solidFill>
                <a:latin typeface="+mn-lt"/>
                <a:ea typeface="+mn-ea"/>
                <a:cs typeface="+mn-cs"/>
              </a:defRPr>
            </a:lvl9pPr>
          </a:lstStyle>
          <a:p>
            <a:pPr lvl="1">
              <a:lnSpc>
                <a:spcPct val="100000"/>
              </a:lnSpc>
              <a:spcBef>
                <a:spcPts val="400"/>
              </a:spcBef>
              <a:spcAft>
                <a:spcPts val="400"/>
              </a:spcAft>
              <a:buClr>
                <a:schemeClr val="tx1"/>
              </a:buClr>
            </a:pPr>
            <a:r>
              <a:rPr lang="en-US" sz="2799" b="1" dirty="0">
                <a:solidFill>
                  <a:schemeClr val="bg1"/>
                </a:solidFill>
                <a:latin typeface="Consolas" panose="020B0609020204030204" pitchFamily="49" charset="0"/>
              </a:rPr>
              <a:t>auto</a:t>
            </a:r>
            <a:r>
              <a:rPr lang="en-US" sz="2799" dirty="0"/>
              <a:t> (default)</a:t>
            </a:r>
          </a:p>
          <a:p>
            <a:pPr lvl="1">
              <a:lnSpc>
                <a:spcPct val="100000"/>
              </a:lnSpc>
              <a:spcBef>
                <a:spcPts val="400"/>
              </a:spcBef>
              <a:spcAft>
                <a:spcPts val="400"/>
              </a:spcAft>
              <a:buClr>
                <a:schemeClr val="tx1"/>
              </a:buClr>
            </a:pPr>
            <a:r>
              <a:rPr lang="en-US" sz="2799" dirty="0"/>
              <a:t>Auto-calculated width</a:t>
            </a:r>
            <a:endParaRPr lang="bg-BG" sz="2799" dirty="0"/>
          </a:p>
        </p:txBody>
      </p:sp>
      <p:sp>
        <p:nvSpPr>
          <p:cNvPr id="2" name="Текстово поле 10">
            <a:extLst>
              <a:ext uri="{FF2B5EF4-FFF2-40B4-BE49-F238E27FC236}">
                <a16:creationId xmlns:a16="http://schemas.microsoft.com/office/drawing/2014/main" id="{AA34CE53-02DD-E635-A512-F4C2D118673E}"/>
              </a:ext>
            </a:extLst>
          </p:cNvPr>
          <p:cNvSpPr txBox="1"/>
          <p:nvPr/>
        </p:nvSpPr>
        <p:spPr>
          <a:xfrm>
            <a:off x="8419681" y="3069000"/>
            <a:ext cx="3559799" cy="1547301"/>
          </a:xfrm>
          <a:prstGeom prst="rect">
            <a:avLst/>
          </a:prstGeom>
          <a:solidFill>
            <a:schemeClr val="accent6">
              <a:lumMod val="75000"/>
              <a:alpha val="15000"/>
            </a:schemeClr>
          </a:solidFill>
          <a:ln w="12700">
            <a:solidFill>
              <a:schemeClr val="tx1">
                <a:lumMod val="75000"/>
              </a:schemeClr>
            </a:solidFill>
          </a:ln>
        </p:spPr>
        <p:txBody>
          <a:bodyPr vert="horz" wrap="square" lIns="143963" tIns="107972" rIns="143963" bIns="107972" rtlCol="0">
            <a:spAutoFit/>
          </a:bodyPr>
          <a:lstStyle/>
          <a:p>
            <a:pPr>
              <a:lnSpc>
                <a:spcPct val="90000"/>
              </a:lnSpc>
            </a:pPr>
            <a:r>
              <a:rPr lang="en-GB" sz="2399" b="1" dirty="0">
                <a:solidFill>
                  <a:srgbClr val="800000"/>
                </a:solidFill>
                <a:latin typeface="Consolas" panose="020B0609020204030204" pitchFamily="49" charset="0"/>
              </a:rPr>
              <a:t>article</a:t>
            </a:r>
            <a:r>
              <a:rPr lang="en-GB" sz="2399" b="1" dirty="0">
                <a:solidFill>
                  <a:srgbClr val="000000"/>
                </a:solidFill>
                <a:latin typeface="Consolas" panose="020B0609020204030204" pitchFamily="49" charset="0"/>
              </a:rPr>
              <a:t> {</a:t>
            </a:r>
          </a:p>
          <a:p>
            <a:pPr>
              <a:lnSpc>
                <a:spcPct val="90000"/>
              </a:lnSpc>
            </a:pPr>
            <a:r>
              <a:rPr lang="en-GB" sz="2399" b="1" dirty="0">
                <a:solidFill>
                  <a:srgbClr val="000000"/>
                </a:solidFill>
                <a:latin typeface="Consolas" panose="020B0609020204030204" pitchFamily="49" charset="0"/>
              </a:rPr>
              <a:t>  </a:t>
            </a:r>
            <a:r>
              <a:rPr lang="en-GB" sz="2399" b="1" dirty="0">
                <a:solidFill>
                  <a:srgbClr val="FF0000"/>
                </a:solidFill>
                <a:latin typeface="Consolas" panose="020B0609020204030204" pitchFamily="49" charset="0"/>
              </a:rPr>
              <a:t>width</a:t>
            </a:r>
            <a:r>
              <a:rPr lang="en-GB" sz="2399" b="1" dirty="0">
                <a:solidFill>
                  <a:srgbClr val="000000"/>
                </a:solidFill>
                <a:latin typeface="Consolas" panose="020B0609020204030204" pitchFamily="49" charset="0"/>
              </a:rPr>
              <a:t>:</a:t>
            </a:r>
            <a:r>
              <a:rPr lang="en-GB" sz="2399" b="1" dirty="0">
                <a:solidFill>
                  <a:srgbClr val="000000"/>
                </a:solidFill>
              </a:rPr>
              <a:t> </a:t>
            </a:r>
            <a:r>
              <a:rPr lang="en-GB" sz="2399" b="1" dirty="0">
                <a:solidFill>
                  <a:srgbClr val="098658"/>
                </a:solidFill>
                <a:latin typeface="Consolas" panose="020B0609020204030204" pitchFamily="49" charset="0"/>
              </a:rPr>
              <a:t>auto</a:t>
            </a:r>
            <a:r>
              <a:rPr lang="en-GB" sz="2399" b="1" dirty="0">
                <a:solidFill>
                  <a:srgbClr val="000000"/>
                </a:solidFill>
                <a:latin typeface="Consolas" panose="020B0609020204030204" pitchFamily="49" charset="0"/>
              </a:rPr>
              <a:t>;</a:t>
            </a:r>
          </a:p>
          <a:p>
            <a:pPr>
              <a:lnSpc>
                <a:spcPct val="90000"/>
              </a:lnSpc>
            </a:pPr>
            <a:r>
              <a:rPr lang="en-GB" sz="2399" b="1" dirty="0">
                <a:solidFill>
                  <a:srgbClr val="FF0000"/>
                </a:solidFill>
                <a:latin typeface="Consolas" panose="020B0609020204030204" pitchFamily="49" charset="0"/>
              </a:rPr>
              <a:t>  background</a:t>
            </a:r>
            <a:r>
              <a:rPr lang="en-GB" sz="2399" b="1" dirty="0">
                <a:solidFill>
                  <a:srgbClr val="000000"/>
                </a:solidFill>
                <a:latin typeface="Consolas" panose="020B0609020204030204" pitchFamily="49" charset="0"/>
              </a:rPr>
              <a:t>:</a:t>
            </a:r>
            <a:r>
              <a:rPr lang="en-GB" sz="2399" b="1" dirty="0">
                <a:solidFill>
                  <a:srgbClr val="000000"/>
                </a:solidFill>
              </a:rPr>
              <a:t> </a:t>
            </a:r>
            <a:r>
              <a:rPr lang="en-GB" sz="2399" b="1" dirty="0">
                <a:solidFill>
                  <a:srgbClr val="0451A5"/>
                </a:solidFill>
                <a:latin typeface="Consolas" panose="020B0609020204030204" pitchFamily="49" charset="0"/>
              </a:rPr>
              <a:t>#8ce</a:t>
            </a:r>
            <a:r>
              <a:rPr lang="en-GB" sz="2399" b="1" dirty="0">
                <a:solidFill>
                  <a:srgbClr val="000000"/>
                </a:solidFill>
                <a:latin typeface="Consolas" panose="020B0609020204030204" pitchFamily="49" charset="0"/>
              </a:rPr>
              <a:t>;</a:t>
            </a:r>
          </a:p>
          <a:p>
            <a:pPr>
              <a:lnSpc>
                <a:spcPct val="90000"/>
              </a:lnSpc>
            </a:pPr>
            <a:r>
              <a:rPr lang="en-GB" sz="2399" b="1" dirty="0">
                <a:solidFill>
                  <a:srgbClr val="000000"/>
                </a:solidFill>
                <a:latin typeface="Consolas" panose="020B0609020204030204" pitchFamily="49" charset="0"/>
              </a:rPr>
              <a:t>}</a:t>
            </a:r>
          </a:p>
        </p:txBody>
      </p:sp>
      <p:pic>
        <p:nvPicPr>
          <p:cNvPr id="3" name="Picture 4"/>
          <p:cNvPicPr>
            <a:picLocks noChangeAspect="1"/>
          </p:cNvPicPr>
          <p:nvPr/>
        </p:nvPicPr>
        <p:blipFill>
          <a:blip r:embed="rId2">
            <a:clrChange>
              <a:clrFrom>
                <a:srgbClr val="FFFFFF"/>
              </a:clrFrom>
              <a:clrTo>
                <a:srgbClr val="FFFFFF">
                  <a:alpha val="0"/>
                </a:srgbClr>
              </a:clrTo>
            </a:clrChange>
          </a:blip>
          <a:stretch>
            <a:fillRect/>
          </a:stretch>
        </p:blipFill>
        <p:spPr>
          <a:xfrm>
            <a:off x="7652435" y="5184000"/>
            <a:ext cx="4349163" cy="631850"/>
          </a:xfrm>
          <a:prstGeom prst="rect">
            <a:avLst/>
          </a:prstGeom>
          <a:ln>
            <a:noFill/>
          </a:ln>
          <a:effectLst>
            <a:outerShdw blurRad="292100" dist="139700" dir="2700000" algn="tl" rotWithShape="0">
              <a:srgbClr val="333333">
                <a:alpha val="65000"/>
              </a:srgbClr>
            </a:outerShdw>
          </a:effectLst>
        </p:spPr>
      </p:pic>
      <p:sp>
        <p:nvSpPr>
          <p:cNvPr id="6" name="Slide Number">
            <a:extLst>
              <a:ext uri="{FF2B5EF4-FFF2-40B4-BE49-F238E27FC236}">
                <a16:creationId xmlns:a16="http://schemas.microsoft.com/office/drawing/2014/main" id="{983B1B83-38BD-9E56-A6B9-D3704D6EB593}"/>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15</a:t>
            </a:fld>
            <a:endParaRPr lang="en-US" noProof="0" dirty="0"/>
          </a:p>
        </p:txBody>
      </p:sp>
    </p:spTree>
    <p:extLst>
      <p:ext uri="{BB962C8B-B14F-4D97-AF65-F5344CB8AC3E}">
        <p14:creationId xmlns:p14="http://schemas.microsoft.com/office/powerpoint/2010/main" val="1120303891"/>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Min-width</a:t>
            </a:r>
          </a:p>
        </p:txBody>
      </p:sp>
      <p:sp>
        <p:nvSpPr>
          <p:cNvPr id="3" name="Text Placeholder 2"/>
          <p:cNvSpPr>
            <a:spLocks noGrp="1"/>
          </p:cNvSpPr>
          <p:nvPr>
            <p:ph type="body" sz="quarter" idx="10"/>
          </p:nvPr>
        </p:nvSpPr>
        <p:spPr>
          <a:xfrm>
            <a:off x="190402" y="1196125"/>
            <a:ext cx="11844494" cy="5528766"/>
          </a:xfrm>
        </p:spPr>
        <p:txBody>
          <a:bodyPr>
            <a:normAutofit/>
          </a:bodyPr>
          <a:lstStyle/>
          <a:p>
            <a:pPr>
              <a:buClr>
                <a:schemeClr val="tx1"/>
              </a:buClr>
            </a:pPr>
            <a:r>
              <a:rPr lang="en-US" dirty="0"/>
              <a:t>Min-width - defines the </a:t>
            </a:r>
            <a:r>
              <a:rPr lang="en-GB" b="1" dirty="0">
                <a:solidFill>
                  <a:schemeClr val="bg1"/>
                </a:solidFill>
              </a:rPr>
              <a:t>minimum</a:t>
            </a:r>
            <a:r>
              <a:rPr lang="en-GB" dirty="0"/>
              <a:t> </a:t>
            </a:r>
            <a:r>
              <a:rPr lang="en-US" dirty="0"/>
              <a:t>width of the element </a:t>
            </a:r>
            <a:endParaRPr lang="en-US" b="1" dirty="0">
              <a:solidFill>
                <a:schemeClr val="bg1"/>
              </a:solidFill>
            </a:endParaRPr>
          </a:p>
          <a:p>
            <a:pPr lvl="1">
              <a:buClr>
                <a:schemeClr val="tx1"/>
              </a:buClr>
            </a:pPr>
            <a:r>
              <a:rPr lang="en-US" b="1" dirty="0">
                <a:solidFill>
                  <a:schemeClr val="bg1"/>
                </a:solidFill>
                <a:latin typeface="Consolas" panose="020B0609020204030204" pitchFamily="49" charset="0"/>
              </a:rPr>
              <a:t>min-width:</a:t>
            </a:r>
            <a:r>
              <a:rPr lang="en-US" b="1" dirty="0"/>
              <a:t> </a:t>
            </a:r>
            <a:r>
              <a:rPr lang="en-US" b="1" dirty="0">
                <a:solidFill>
                  <a:schemeClr val="bg1"/>
                </a:solidFill>
                <a:latin typeface="Consolas" panose="020B0609020204030204" pitchFamily="49" charset="0"/>
              </a:rPr>
              <a:t>300px;</a:t>
            </a:r>
            <a:r>
              <a:rPr lang="en-US" b="1" dirty="0"/>
              <a:t> </a:t>
            </a:r>
            <a:r>
              <a:rPr lang="en-US" dirty="0"/>
              <a:t>-</a:t>
            </a:r>
            <a:r>
              <a:rPr lang="en-US" b="1" dirty="0"/>
              <a:t> </a:t>
            </a:r>
            <a:r>
              <a:rPr lang="en-US" dirty="0"/>
              <a:t>if the </a:t>
            </a:r>
            <a:r>
              <a:rPr lang="en-US" b="1" dirty="0">
                <a:solidFill>
                  <a:schemeClr val="bg1"/>
                </a:solidFill>
              </a:rPr>
              <a:t>minimum</a:t>
            </a:r>
            <a:r>
              <a:rPr lang="en-US" dirty="0"/>
              <a:t> width is </a:t>
            </a:r>
            <a:r>
              <a:rPr lang="en-US" b="1" dirty="0">
                <a:solidFill>
                  <a:schemeClr val="bg1"/>
                </a:solidFill>
              </a:rPr>
              <a:t>larger</a:t>
            </a:r>
            <a:r>
              <a:rPr lang="en-US" dirty="0"/>
              <a:t> than the element's </a:t>
            </a:r>
            <a:r>
              <a:rPr lang="en-US" b="1" dirty="0">
                <a:solidFill>
                  <a:schemeClr val="bg1"/>
                </a:solidFill>
              </a:rPr>
              <a:t>actual</a:t>
            </a:r>
            <a:r>
              <a:rPr lang="en-US" dirty="0"/>
              <a:t> width, the min width will be applied</a:t>
            </a:r>
            <a:endParaRPr lang="bg-BG" dirty="0"/>
          </a:p>
          <a:p>
            <a:pPr>
              <a:buClr>
                <a:schemeClr val="tx1"/>
              </a:buClr>
            </a:pPr>
            <a:r>
              <a:rPr lang="en-US" sz="3400" dirty="0"/>
              <a:t>If the </a:t>
            </a:r>
            <a:r>
              <a:rPr lang="en-US" sz="3400" b="1" dirty="0">
                <a:solidFill>
                  <a:schemeClr val="bg1"/>
                </a:solidFill>
              </a:rPr>
              <a:t>minimum</a:t>
            </a:r>
            <a:r>
              <a:rPr lang="en-US" sz="3400" dirty="0"/>
              <a:t> width is </a:t>
            </a:r>
            <a:r>
              <a:rPr lang="en-US" sz="3400" b="1" dirty="0">
                <a:solidFill>
                  <a:schemeClr val="bg1"/>
                </a:solidFill>
              </a:rPr>
              <a:t>smaller</a:t>
            </a:r>
            <a:r>
              <a:rPr lang="en-US" sz="3400" dirty="0"/>
              <a:t> than the element's </a:t>
            </a:r>
            <a:r>
              <a:rPr lang="en-US" sz="3400" b="1" dirty="0">
                <a:solidFill>
                  <a:schemeClr val="bg1"/>
                </a:solidFill>
              </a:rPr>
              <a:t>actual</a:t>
            </a:r>
            <a:r>
              <a:rPr lang="en-US" sz="3400" dirty="0"/>
              <a:t>  width, the min width has </a:t>
            </a:r>
            <a:r>
              <a:rPr lang="en-US" sz="3400" b="1" dirty="0">
                <a:solidFill>
                  <a:schemeClr val="bg1"/>
                </a:solidFill>
              </a:rPr>
              <a:t>no effect </a:t>
            </a:r>
            <a:r>
              <a:rPr lang="en-US" sz="3400" dirty="0"/>
              <a:t>-</a:t>
            </a:r>
            <a:r>
              <a:rPr lang="en-US" sz="3400" b="1" dirty="0">
                <a:solidFill>
                  <a:schemeClr val="bg1"/>
                </a:solidFill>
              </a:rPr>
              <a:t> </a:t>
            </a:r>
            <a:r>
              <a:rPr lang="en-US" sz="3400" b="1" dirty="0">
                <a:solidFill>
                  <a:schemeClr val="bg1"/>
                </a:solidFill>
                <a:latin typeface="Consolas" panose="020B0609020204030204" pitchFamily="49" charset="0"/>
              </a:rPr>
              <a:t>min-width:</a:t>
            </a:r>
            <a:r>
              <a:rPr lang="en-US" sz="3400" dirty="0"/>
              <a:t> </a:t>
            </a:r>
            <a:r>
              <a:rPr lang="en-US" sz="3400" b="1" dirty="0">
                <a:solidFill>
                  <a:schemeClr val="bg1"/>
                </a:solidFill>
                <a:latin typeface="Consolas" panose="020B0609020204030204" pitchFamily="49" charset="0"/>
              </a:rPr>
              <a:t>5px;</a:t>
            </a:r>
            <a:endParaRPr lang="bg-BG" dirty="0"/>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000" y="4915100"/>
            <a:ext cx="5915629" cy="1493550"/>
          </a:xfrm>
          <a:prstGeom prst="rect">
            <a:avLst/>
          </a:prstGeom>
          <a:ln>
            <a:noFill/>
          </a:ln>
          <a:effectLst>
            <a:outerShdw blurRad="292100" dist="139700" dir="2700000" algn="tl" rotWithShape="0">
              <a:srgbClr val="333333">
                <a:alpha val="65000"/>
              </a:srgbClr>
            </a:outerShdw>
          </a:effectLst>
        </p:spPr>
      </p:pic>
      <p:sp>
        <p:nvSpPr>
          <p:cNvPr id="7" name="Slide Number">
            <a:extLst>
              <a:ext uri="{FF2B5EF4-FFF2-40B4-BE49-F238E27FC236}">
                <a16:creationId xmlns:a16="http://schemas.microsoft.com/office/drawing/2014/main" id="{C2E1541E-E02A-4B18-944D-657D418FECDE}"/>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16</a:t>
            </a:fld>
            <a:endParaRPr lang="en-US" noProof="0" dirty="0"/>
          </a:p>
        </p:txBody>
      </p:sp>
      <p:pic>
        <p:nvPicPr>
          <p:cNvPr id="6" name="Picture 5">
            <a:extLst>
              <a:ext uri="{FF2B5EF4-FFF2-40B4-BE49-F238E27FC236}">
                <a16:creationId xmlns:a16="http://schemas.microsoft.com/office/drawing/2014/main" id="{906AF883-2CE1-4BC5-9FA8-BF7993CA548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19529" y="4321530"/>
            <a:ext cx="5379776" cy="134494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776573764"/>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Max-width</a:t>
            </a:r>
          </a:p>
        </p:txBody>
      </p:sp>
      <p:sp>
        <p:nvSpPr>
          <p:cNvPr id="3" name="Text Placeholder 2"/>
          <p:cNvSpPr>
            <a:spLocks noGrp="1"/>
          </p:cNvSpPr>
          <p:nvPr>
            <p:ph type="body" sz="quarter" idx="10"/>
          </p:nvPr>
        </p:nvSpPr>
        <p:spPr>
          <a:xfrm>
            <a:off x="190402" y="1196125"/>
            <a:ext cx="7300598" cy="5528766"/>
          </a:xfrm>
        </p:spPr>
        <p:txBody>
          <a:bodyPr>
            <a:normAutofit fontScale="85000" lnSpcReduction="20000"/>
          </a:bodyPr>
          <a:lstStyle/>
          <a:p>
            <a:pPr>
              <a:lnSpc>
                <a:spcPct val="120000"/>
              </a:lnSpc>
              <a:buClr>
                <a:schemeClr val="tx1"/>
              </a:buClr>
            </a:pPr>
            <a:r>
              <a:rPr lang="en-US" sz="3500" dirty="0"/>
              <a:t>Max-width - defines the </a:t>
            </a:r>
            <a:r>
              <a:rPr lang="en-US" sz="3500" b="1" dirty="0">
                <a:solidFill>
                  <a:schemeClr val="bg1"/>
                </a:solidFill>
              </a:rPr>
              <a:t>maximum</a:t>
            </a:r>
            <a:r>
              <a:rPr lang="en-US" sz="3500" dirty="0">
                <a:solidFill>
                  <a:schemeClr val="bg1"/>
                </a:solidFill>
              </a:rPr>
              <a:t> </a:t>
            </a:r>
            <a:r>
              <a:rPr lang="en-US" sz="3500" dirty="0"/>
              <a:t>width the element can be</a:t>
            </a:r>
          </a:p>
          <a:p>
            <a:pPr lvl="1">
              <a:lnSpc>
                <a:spcPct val="120000"/>
              </a:lnSpc>
              <a:buClr>
                <a:schemeClr val="tx1"/>
              </a:buClr>
            </a:pPr>
            <a:r>
              <a:rPr lang="en-US" sz="3300" b="1" dirty="0">
                <a:solidFill>
                  <a:schemeClr val="bg1"/>
                </a:solidFill>
                <a:latin typeface="Consolas" panose="020B0609020204030204" pitchFamily="49" charset="0"/>
              </a:rPr>
              <a:t>max-width:</a:t>
            </a:r>
            <a:r>
              <a:rPr lang="en-US" sz="3300" b="1" dirty="0">
                <a:solidFill>
                  <a:schemeClr val="bg1"/>
                </a:solidFill>
              </a:rPr>
              <a:t> </a:t>
            </a:r>
            <a:r>
              <a:rPr lang="en-US" sz="3300" b="1" dirty="0">
                <a:solidFill>
                  <a:schemeClr val="bg1"/>
                </a:solidFill>
                <a:latin typeface="Consolas" panose="020B0609020204030204" pitchFamily="49" charset="0"/>
              </a:rPr>
              <a:t>none;</a:t>
            </a:r>
            <a:r>
              <a:rPr lang="en-US" sz="3300" b="1" dirty="0">
                <a:solidFill>
                  <a:schemeClr val="bg1"/>
                </a:solidFill>
              </a:rPr>
              <a:t> </a:t>
            </a:r>
            <a:r>
              <a:rPr lang="en-US" sz="3300" dirty="0"/>
              <a:t>-</a:t>
            </a:r>
            <a:r>
              <a:rPr lang="en-US" sz="3300" b="1" dirty="0">
                <a:solidFill>
                  <a:schemeClr val="bg1"/>
                </a:solidFill>
              </a:rPr>
              <a:t> </a:t>
            </a:r>
            <a:r>
              <a:rPr lang="en-US" sz="3300" dirty="0"/>
              <a:t>the element has </a:t>
            </a:r>
            <a:r>
              <a:rPr lang="en-US" sz="3300" b="1" dirty="0">
                <a:solidFill>
                  <a:schemeClr val="bg1"/>
                </a:solidFill>
              </a:rPr>
              <a:t>no limit</a:t>
            </a:r>
            <a:r>
              <a:rPr lang="en-US" sz="3300" dirty="0"/>
              <a:t> in terms of width</a:t>
            </a:r>
            <a:endParaRPr lang="en-US" sz="3300" b="1" dirty="0">
              <a:solidFill>
                <a:schemeClr val="bg1"/>
              </a:solidFill>
            </a:endParaRPr>
          </a:p>
          <a:p>
            <a:pPr lvl="1">
              <a:lnSpc>
                <a:spcPct val="120000"/>
              </a:lnSpc>
              <a:buClr>
                <a:schemeClr val="tx1"/>
              </a:buClr>
            </a:pPr>
            <a:r>
              <a:rPr lang="en-US" sz="3300" b="1" dirty="0">
                <a:solidFill>
                  <a:schemeClr val="bg1"/>
                </a:solidFill>
                <a:latin typeface="Consolas" panose="020B0609020204030204" pitchFamily="49" charset="0"/>
              </a:rPr>
              <a:t>max-width: 150px;</a:t>
            </a:r>
            <a:endParaRPr lang="bg-BG" sz="3300" b="1" dirty="0">
              <a:solidFill>
                <a:schemeClr val="bg1"/>
              </a:solidFill>
              <a:latin typeface="Consolas" panose="020B0609020204030204" pitchFamily="49" charset="0"/>
            </a:endParaRPr>
          </a:p>
          <a:p>
            <a:pPr lvl="1">
              <a:lnSpc>
                <a:spcPct val="120000"/>
              </a:lnSpc>
              <a:buClr>
                <a:schemeClr val="tx1"/>
              </a:buClr>
            </a:pPr>
            <a:r>
              <a:rPr lang="en-US" sz="3300" b="1" dirty="0">
                <a:solidFill>
                  <a:schemeClr val="bg1"/>
                </a:solidFill>
                <a:latin typeface="Consolas" panose="020B0609020204030204" pitchFamily="49" charset="0"/>
              </a:rPr>
              <a:t>max-width:</a:t>
            </a:r>
            <a:r>
              <a:rPr lang="en-US" sz="3300" b="1" dirty="0">
                <a:solidFill>
                  <a:schemeClr val="bg1"/>
                </a:solidFill>
              </a:rPr>
              <a:t> </a:t>
            </a:r>
            <a:r>
              <a:rPr lang="en-US" sz="3300" b="1" dirty="0">
                <a:solidFill>
                  <a:schemeClr val="bg1"/>
                </a:solidFill>
                <a:latin typeface="Consolas" panose="020B0609020204030204" pitchFamily="49" charset="0"/>
              </a:rPr>
              <a:t>2000px;</a:t>
            </a:r>
            <a:r>
              <a:rPr lang="en-US" sz="3300" b="1" dirty="0">
                <a:solidFill>
                  <a:schemeClr val="bg1"/>
                </a:solidFill>
              </a:rPr>
              <a:t> </a:t>
            </a:r>
            <a:r>
              <a:rPr lang="en-US" sz="3300" dirty="0"/>
              <a:t>-</a:t>
            </a:r>
            <a:r>
              <a:rPr lang="en-US" sz="3300" b="1" dirty="0">
                <a:solidFill>
                  <a:schemeClr val="bg1"/>
                </a:solidFill>
              </a:rPr>
              <a:t> </a:t>
            </a:r>
            <a:r>
              <a:rPr lang="en-US" sz="3300" dirty="0"/>
              <a:t>you can use numeric values like </a:t>
            </a:r>
            <a:r>
              <a:rPr lang="en-US" sz="3300" b="1" dirty="0">
                <a:solidFill>
                  <a:schemeClr val="bg1"/>
                </a:solidFill>
              </a:rPr>
              <a:t>pixels</a:t>
            </a:r>
            <a:r>
              <a:rPr lang="en-US" sz="3300" dirty="0"/>
              <a:t>, </a:t>
            </a:r>
            <a:r>
              <a:rPr lang="en-US" sz="3300" b="1" dirty="0">
                <a:solidFill>
                  <a:schemeClr val="bg1"/>
                </a:solidFill>
              </a:rPr>
              <a:t>(r)</a:t>
            </a:r>
            <a:r>
              <a:rPr lang="en-US" sz="3300" b="1" dirty="0" err="1">
                <a:solidFill>
                  <a:schemeClr val="bg1"/>
                </a:solidFill>
              </a:rPr>
              <a:t>em</a:t>
            </a:r>
            <a:r>
              <a:rPr lang="en-US" sz="3300" dirty="0"/>
              <a:t>, </a:t>
            </a:r>
            <a:r>
              <a:rPr lang="en-US" sz="3300" b="1" dirty="0">
                <a:solidFill>
                  <a:schemeClr val="bg1"/>
                </a:solidFill>
              </a:rPr>
              <a:t>percentages</a:t>
            </a:r>
            <a:r>
              <a:rPr lang="en-US" sz="3300" dirty="0">
                <a:solidFill>
                  <a:schemeClr val="bg1"/>
                </a:solidFill>
              </a:rPr>
              <a:t>...</a:t>
            </a:r>
          </a:p>
          <a:p>
            <a:pPr>
              <a:lnSpc>
                <a:spcPct val="120000"/>
              </a:lnSpc>
              <a:buClr>
                <a:schemeClr val="tx1"/>
              </a:buClr>
            </a:pPr>
            <a:r>
              <a:rPr lang="en-US" sz="3500" dirty="0"/>
              <a:t>If the </a:t>
            </a:r>
            <a:r>
              <a:rPr lang="en-US" sz="3500" b="1" dirty="0">
                <a:solidFill>
                  <a:schemeClr val="bg1"/>
                </a:solidFill>
              </a:rPr>
              <a:t>maximum</a:t>
            </a:r>
            <a:r>
              <a:rPr lang="en-US" sz="3500" dirty="0"/>
              <a:t> width is </a:t>
            </a:r>
            <a:r>
              <a:rPr lang="en-US" sz="3500" b="1" dirty="0">
                <a:solidFill>
                  <a:schemeClr val="bg1"/>
                </a:solidFill>
              </a:rPr>
              <a:t>larger</a:t>
            </a:r>
            <a:r>
              <a:rPr lang="en-US" sz="3500" dirty="0"/>
              <a:t> than the element's </a:t>
            </a:r>
            <a:r>
              <a:rPr lang="en-US" sz="3500" b="1" dirty="0">
                <a:solidFill>
                  <a:schemeClr val="bg1"/>
                </a:solidFill>
              </a:rPr>
              <a:t>actual</a:t>
            </a:r>
            <a:r>
              <a:rPr lang="en-US" sz="3500" dirty="0"/>
              <a:t> width, the max width has </a:t>
            </a:r>
            <a:br>
              <a:rPr lang="en-US" sz="3500" dirty="0"/>
            </a:br>
            <a:r>
              <a:rPr lang="en-US" sz="3500" b="1" dirty="0">
                <a:solidFill>
                  <a:schemeClr val="bg1"/>
                </a:solidFill>
              </a:rPr>
              <a:t>no effect</a:t>
            </a:r>
            <a:endParaRPr lang="bg-BG" sz="3500"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00999" y="1719000"/>
            <a:ext cx="3488559" cy="4414810"/>
          </a:xfrm>
          <a:prstGeom prst="rect">
            <a:avLst/>
          </a:prstGeom>
          <a:ln>
            <a:noFill/>
          </a:ln>
          <a:effectLst>
            <a:outerShdw blurRad="292100" dist="139700" dir="2700000" algn="tl" rotWithShape="0">
              <a:srgbClr val="333333">
                <a:alpha val="65000"/>
              </a:srgbClr>
            </a:outerShdw>
          </a:effectLst>
        </p:spPr>
      </p:pic>
      <p:sp>
        <p:nvSpPr>
          <p:cNvPr id="7" name="Slide Number">
            <a:extLst>
              <a:ext uri="{FF2B5EF4-FFF2-40B4-BE49-F238E27FC236}">
                <a16:creationId xmlns:a16="http://schemas.microsoft.com/office/drawing/2014/main" id="{395FA01F-589D-444A-BD68-FF8F4FAB10C1}"/>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17</a:t>
            </a:fld>
            <a:endParaRPr lang="en-US" noProof="0" dirty="0"/>
          </a:p>
        </p:txBody>
      </p:sp>
      <p:pic>
        <p:nvPicPr>
          <p:cNvPr id="8" name="Picture 4">
            <a:extLst>
              <a:ext uri="{FF2B5EF4-FFF2-40B4-BE49-F238E27FC236}">
                <a16:creationId xmlns:a16="http://schemas.microsoft.com/office/drawing/2014/main" id="{2F77A7CD-6A31-46A7-A392-6D034BCB69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953544" y="1817779"/>
            <a:ext cx="3217456" cy="1752080"/>
          </a:xfrm>
          <a:prstGeom prst="rect">
            <a:avLst/>
          </a:prstGeom>
          <a:ln>
            <a:noFill/>
          </a:ln>
          <a:effectLst>
            <a:outerShdw blurRad="292100" dist="139700" dir="2700000" algn="tl" rotWithShape="0">
              <a:srgbClr val="333333">
                <a:alpha val="65000"/>
              </a:srgbClr>
            </a:outerShdw>
          </a:effectLst>
        </p:spPr>
      </p:pic>
      <p:pic>
        <p:nvPicPr>
          <p:cNvPr id="9" name="Picture 4">
            <a:extLst>
              <a:ext uri="{FF2B5EF4-FFF2-40B4-BE49-F238E27FC236}">
                <a16:creationId xmlns:a16="http://schemas.microsoft.com/office/drawing/2014/main" id="{99F3E01F-74C2-48C4-81E1-C00BEFEC526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096564" y="4305455"/>
            <a:ext cx="2968988" cy="161677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893850570"/>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Width – Example </a:t>
            </a:r>
          </a:p>
        </p:txBody>
      </p:sp>
      <p:sp>
        <p:nvSpPr>
          <p:cNvPr id="3" name="Text Placeholder 2"/>
          <p:cNvSpPr>
            <a:spLocks noGrp="1"/>
          </p:cNvSpPr>
          <p:nvPr>
            <p:ph type="body" sz="quarter" idx="10"/>
          </p:nvPr>
        </p:nvSpPr>
        <p:spPr>
          <a:xfrm>
            <a:off x="190403" y="1196125"/>
            <a:ext cx="11844494" cy="5528766"/>
          </a:xfrm>
        </p:spPr>
        <p:txBody>
          <a:bodyPr>
            <a:normAutofit/>
          </a:bodyPr>
          <a:lstStyle/>
          <a:p>
            <a:pPr lvl="1">
              <a:buClr>
                <a:schemeClr val="tx1"/>
              </a:buClr>
              <a:buNone/>
            </a:pPr>
            <a:endParaRPr lang="en-US" b="1" dirty="0">
              <a:solidFill>
                <a:schemeClr val="bg1"/>
              </a:solidFill>
            </a:endParaRPr>
          </a:p>
          <a:p>
            <a:pPr lvl="1">
              <a:buClr>
                <a:schemeClr val="tx1"/>
              </a:buClr>
            </a:pPr>
            <a:endParaRPr lang="en-US" b="1" dirty="0">
              <a:solidFill>
                <a:schemeClr val="bg1"/>
              </a:solidFill>
            </a:endParaRPr>
          </a:p>
          <a:p>
            <a:pPr>
              <a:buClr>
                <a:schemeClr val="tx1"/>
              </a:buClr>
            </a:pPr>
            <a:endParaRPr lang="en-US" dirty="0"/>
          </a:p>
          <a:p>
            <a:pPr lvl="1">
              <a:buClr>
                <a:schemeClr val="tx1"/>
              </a:buClr>
            </a:pPr>
            <a:endParaRPr lang="en-US" dirty="0"/>
          </a:p>
          <a:p>
            <a:pPr lvl="1">
              <a:buClr>
                <a:schemeClr val="tx1"/>
              </a:buClr>
            </a:pPr>
            <a:endParaRPr lang="en-US" dirty="0"/>
          </a:p>
          <a:p>
            <a:pPr lvl="1">
              <a:buClr>
                <a:schemeClr val="tx1"/>
              </a:buClr>
            </a:pPr>
            <a:endParaRPr lang="en-US" dirty="0"/>
          </a:p>
          <a:p>
            <a:pPr lvl="1">
              <a:buClr>
                <a:schemeClr val="tx1"/>
              </a:buClr>
            </a:pPr>
            <a:endParaRPr lang="bg-BG" dirty="0"/>
          </a:p>
        </p:txBody>
      </p:sp>
      <p:sp>
        <p:nvSpPr>
          <p:cNvPr id="9" name="Текстово поле 10"/>
          <p:cNvSpPr txBox="1"/>
          <p:nvPr/>
        </p:nvSpPr>
        <p:spPr>
          <a:xfrm>
            <a:off x="382793" y="1772368"/>
            <a:ext cx="11441746" cy="2434101"/>
          </a:xfrm>
          <a:prstGeom prst="rect">
            <a:avLst/>
          </a:prstGeom>
          <a:solidFill>
            <a:schemeClr val="accent6">
              <a:lumMod val="75000"/>
              <a:alpha val="15000"/>
            </a:schemeClr>
          </a:solidFill>
          <a:ln w="12700">
            <a:solidFill>
              <a:schemeClr val="tx1">
                <a:lumMod val="75000"/>
              </a:schemeClr>
            </a:solidFill>
          </a:ln>
        </p:spPr>
        <p:txBody>
          <a:bodyPr vert="horz" wrap="square" lIns="144000" tIns="108000" rIns="144000" bIns="108000" rtlCol="0">
            <a:spAutoFit/>
          </a:bodyPr>
          <a:lstStyle/>
          <a:p>
            <a:r>
              <a:rPr lang="en-GB" sz="2400" b="1" dirty="0">
                <a:solidFill>
                  <a:srgbClr val="800000"/>
                </a:solidFill>
                <a:latin typeface="Consolas" panose="020B0609020204030204" pitchFamily="49" charset="0"/>
              </a:rPr>
              <a:t>&lt;body&gt;</a:t>
            </a:r>
            <a:endParaRPr lang="en-GB" sz="2400" b="1" dirty="0">
              <a:solidFill>
                <a:srgbClr val="000000"/>
              </a:solidFill>
              <a:latin typeface="Consolas" panose="020B0609020204030204" pitchFamily="49" charset="0"/>
            </a:endParaRPr>
          </a:p>
          <a:p>
            <a:r>
              <a:rPr lang="en-GB" sz="2400" b="1" dirty="0">
                <a:solidFill>
                  <a:srgbClr val="000000"/>
                </a:solidFill>
                <a:latin typeface="Consolas" panose="020B0609020204030204" pitchFamily="49" charset="0"/>
              </a:rPr>
              <a:t>    </a:t>
            </a:r>
            <a:r>
              <a:rPr lang="en-GB" sz="2400" b="1" dirty="0">
                <a:solidFill>
                  <a:srgbClr val="800000"/>
                </a:solidFill>
                <a:latin typeface="Consolas" panose="020B0609020204030204" pitchFamily="49" charset="0"/>
              </a:rPr>
              <a:t>&lt;div&gt;</a:t>
            </a:r>
            <a:endParaRPr lang="en-GB" sz="2400" b="1" dirty="0">
              <a:solidFill>
                <a:srgbClr val="000000"/>
              </a:solidFill>
              <a:latin typeface="Consolas" panose="020B0609020204030204" pitchFamily="49" charset="0"/>
            </a:endParaRPr>
          </a:p>
          <a:p>
            <a:r>
              <a:rPr lang="en-GB" sz="2400" b="1" dirty="0">
                <a:solidFill>
                  <a:srgbClr val="000000"/>
                </a:solidFill>
                <a:latin typeface="Consolas" panose="020B0609020204030204" pitchFamily="49" charset="0"/>
              </a:rPr>
              <a:t>        I am block element. My width is 200px.</a:t>
            </a:r>
          </a:p>
          <a:p>
            <a:r>
              <a:rPr lang="en-GB" sz="2400" b="1" dirty="0">
                <a:solidFill>
                  <a:srgbClr val="000000"/>
                </a:solidFill>
                <a:latin typeface="Consolas" panose="020B0609020204030204" pitchFamily="49" charset="0"/>
              </a:rPr>
              <a:t>    </a:t>
            </a:r>
            <a:r>
              <a:rPr lang="en-GB" sz="2400" b="1" dirty="0">
                <a:solidFill>
                  <a:srgbClr val="800000"/>
                </a:solidFill>
                <a:latin typeface="Consolas" panose="020B0609020204030204" pitchFamily="49" charset="0"/>
              </a:rPr>
              <a:t>&lt;/div&gt;</a:t>
            </a:r>
            <a:endParaRPr lang="en-GB" sz="2400" b="1" dirty="0">
              <a:solidFill>
                <a:srgbClr val="000000"/>
              </a:solidFill>
              <a:latin typeface="Consolas" panose="020B0609020204030204" pitchFamily="49" charset="0"/>
            </a:endParaRPr>
          </a:p>
          <a:p>
            <a:r>
              <a:rPr lang="en-GB" sz="2400" b="1" dirty="0">
                <a:solidFill>
                  <a:srgbClr val="000000"/>
                </a:solidFill>
                <a:latin typeface="Consolas" panose="020B0609020204030204" pitchFamily="49" charset="0"/>
              </a:rPr>
              <a:t>    </a:t>
            </a:r>
            <a:r>
              <a:rPr lang="en-GB" sz="2400" b="1" dirty="0">
                <a:solidFill>
                  <a:srgbClr val="800000"/>
                </a:solidFill>
                <a:latin typeface="Consolas" panose="020B0609020204030204" pitchFamily="49" charset="0"/>
              </a:rPr>
              <a:t>&lt;span&gt;</a:t>
            </a:r>
            <a:r>
              <a:rPr lang="en-GB" sz="2400" b="1" dirty="0">
                <a:solidFill>
                  <a:srgbClr val="000000"/>
                </a:solidFill>
                <a:latin typeface="Consolas" panose="020B0609020204030204" pitchFamily="49" charset="0"/>
              </a:rPr>
              <a:t>I am span. My width is the width of my content.</a:t>
            </a:r>
            <a:r>
              <a:rPr lang="en-GB" sz="2400" b="1" dirty="0">
                <a:solidFill>
                  <a:srgbClr val="800000"/>
                </a:solidFill>
                <a:latin typeface="Consolas" panose="020B0609020204030204" pitchFamily="49" charset="0"/>
              </a:rPr>
              <a:t>&lt;/span&gt;</a:t>
            </a:r>
            <a:endParaRPr lang="en-GB" sz="2400" b="1" dirty="0">
              <a:solidFill>
                <a:srgbClr val="000000"/>
              </a:solidFill>
              <a:latin typeface="Consolas" panose="020B0609020204030204" pitchFamily="49" charset="0"/>
            </a:endParaRPr>
          </a:p>
          <a:p>
            <a:r>
              <a:rPr lang="en-GB" sz="2400" b="1" dirty="0">
                <a:solidFill>
                  <a:srgbClr val="800000"/>
                </a:solidFill>
                <a:latin typeface="Consolas" panose="020B0609020204030204" pitchFamily="49" charset="0"/>
              </a:rPr>
              <a:t>&lt;/body&gt;</a:t>
            </a:r>
            <a:endParaRPr lang="en-GB" sz="2400" b="1" dirty="0">
              <a:solidFill>
                <a:srgbClr val="000000"/>
              </a:solidFill>
              <a:latin typeface="Consolas" panose="020B0609020204030204" pitchFamily="49" charset="0"/>
            </a:endParaRPr>
          </a:p>
        </p:txBody>
      </p:sp>
      <p:sp>
        <p:nvSpPr>
          <p:cNvPr id="11" name="Текстово поле 10"/>
          <p:cNvSpPr txBox="1"/>
          <p:nvPr/>
        </p:nvSpPr>
        <p:spPr>
          <a:xfrm>
            <a:off x="371858" y="4447274"/>
            <a:ext cx="6408802" cy="1695437"/>
          </a:xfrm>
          <a:prstGeom prst="rect">
            <a:avLst/>
          </a:prstGeom>
          <a:solidFill>
            <a:schemeClr val="accent6">
              <a:lumMod val="75000"/>
              <a:alpha val="15000"/>
            </a:schemeClr>
          </a:solidFill>
          <a:ln w="12700">
            <a:solidFill>
              <a:schemeClr val="tx1">
                <a:lumMod val="75000"/>
              </a:schemeClr>
            </a:solidFill>
          </a:ln>
        </p:spPr>
        <p:txBody>
          <a:bodyPr vert="horz" wrap="square" lIns="144000" tIns="108000" rIns="144000" bIns="108000" rtlCol="0">
            <a:spAutoFit/>
          </a:bodyPr>
          <a:lstStyle/>
          <a:p>
            <a:r>
              <a:rPr lang="en-GB" sz="2400" b="1" dirty="0">
                <a:solidFill>
                  <a:srgbClr val="800000"/>
                </a:solidFill>
                <a:latin typeface="Consolas" panose="020B0609020204030204" pitchFamily="49" charset="0"/>
              </a:rPr>
              <a:t>div</a:t>
            </a:r>
            <a:r>
              <a:rPr lang="en-GB" sz="2400" b="1" dirty="0">
                <a:solidFill>
                  <a:srgbClr val="000000"/>
                </a:solidFill>
                <a:latin typeface="Consolas" panose="020B0609020204030204" pitchFamily="49" charset="0"/>
              </a:rPr>
              <a:t>, </a:t>
            </a:r>
            <a:r>
              <a:rPr lang="en-GB" sz="2400" b="1" dirty="0">
                <a:solidFill>
                  <a:srgbClr val="800000"/>
                </a:solidFill>
                <a:latin typeface="Consolas" panose="020B0609020204030204" pitchFamily="49" charset="0"/>
              </a:rPr>
              <a:t>span</a:t>
            </a:r>
            <a:r>
              <a:rPr lang="en-GB" sz="2400" b="1" dirty="0">
                <a:solidFill>
                  <a:srgbClr val="000000"/>
                </a:solidFill>
                <a:latin typeface="Consolas" panose="020B0609020204030204" pitchFamily="49" charset="0"/>
              </a:rPr>
              <a:t> {</a:t>
            </a:r>
          </a:p>
          <a:p>
            <a:r>
              <a:rPr lang="en-GB" sz="2400" b="1" dirty="0">
                <a:solidFill>
                  <a:srgbClr val="000000"/>
                </a:solidFill>
                <a:latin typeface="Consolas" panose="020B0609020204030204" pitchFamily="49" charset="0"/>
              </a:rPr>
              <a:t>    </a:t>
            </a:r>
            <a:r>
              <a:rPr lang="en-GB" sz="2400" b="1" dirty="0">
                <a:solidFill>
                  <a:srgbClr val="FF0000"/>
                </a:solidFill>
                <a:latin typeface="Consolas" panose="020B0609020204030204" pitchFamily="49" charset="0"/>
              </a:rPr>
              <a:t>width</a:t>
            </a:r>
            <a:r>
              <a:rPr lang="en-GB" sz="2400" b="1" dirty="0">
                <a:solidFill>
                  <a:srgbClr val="000000"/>
                </a:solidFill>
                <a:latin typeface="Consolas" panose="020B0609020204030204" pitchFamily="49" charset="0"/>
              </a:rPr>
              <a:t>: </a:t>
            </a:r>
            <a:r>
              <a:rPr lang="en-GB" sz="2400" b="1" dirty="0">
                <a:solidFill>
                  <a:srgbClr val="098658"/>
                </a:solidFill>
                <a:latin typeface="Consolas" panose="020B0609020204030204" pitchFamily="49" charset="0"/>
              </a:rPr>
              <a:t>200px</a:t>
            </a:r>
            <a:r>
              <a:rPr lang="en-GB" sz="2400" b="1" dirty="0">
                <a:solidFill>
                  <a:srgbClr val="000000"/>
                </a:solidFill>
                <a:latin typeface="Consolas" panose="020B0609020204030204" pitchFamily="49" charset="0"/>
              </a:rPr>
              <a:t>;</a:t>
            </a:r>
          </a:p>
          <a:p>
            <a:r>
              <a:rPr lang="en-GB" sz="2400" b="1" dirty="0">
                <a:solidFill>
                  <a:srgbClr val="000000"/>
                </a:solidFill>
                <a:latin typeface="Consolas" panose="020B0609020204030204" pitchFamily="49" charset="0"/>
              </a:rPr>
              <a:t>    </a:t>
            </a:r>
            <a:r>
              <a:rPr lang="en-GB" sz="2400" b="1" dirty="0">
                <a:solidFill>
                  <a:srgbClr val="FF0000"/>
                </a:solidFill>
                <a:latin typeface="Consolas" panose="020B0609020204030204" pitchFamily="49" charset="0"/>
              </a:rPr>
              <a:t>background-</a:t>
            </a:r>
            <a:r>
              <a:rPr lang="en-GB" sz="2400" b="1" dirty="0" err="1">
                <a:solidFill>
                  <a:srgbClr val="FF0000"/>
                </a:solidFill>
                <a:latin typeface="Consolas" panose="020B0609020204030204" pitchFamily="49" charset="0"/>
              </a:rPr>
              <a:t>color</a:t>
            </a:r>
            <a:r>
              <a:rPr lang="en-GB" sz="2400" b="1" dirty="0">
                <a:solidFill>
                  <a:srgbClr val="000000"/>
                </a:solidFill>
                <a:latin typeface="Consolas" panose="020B0609020204030204" pitchFamily="49" charset="0"/>
              </a:rPr>
              <a:t>: </a:t>
            </a:r>
            <a:r>
              <a:rPr lang="en-GB" sz="2400" b="1" dirty="0" err="1">
                <a:solidFill>
                  <a:srgbClr val="0451A5"/>
                </a:solidFill>
                <a:latin typeface="Consolas" panose="020B0609020204030204" pitchFamily="49" charset="0"/>
              </a:rPr>
              <a:t>lightgreen</a:t>
            </a:r>
            <a:r>
              <a:rPr lang="en-GB" sz="2400" b="1" dirty="0">
                <a:solidFill>
                  <a:srgbClr val="000000"/>
                </a:solidFill>
                <a:latin typeface="Consolas" panose="020B0609020204030204" pitchFamily="49" charset="0"/>
              </a:rPr>
              <a:t>; </a:t>
            </a:r>
          </a:p>
          <a:p>
            <a:r>
              <a:rPr lang="en-GB" sz="2400" b="1" dirty="0">
                <a:solidFill>
                  <a:srgbClr val="000000"/>
                </a:solidFill>
                <a:latin typeface="Consolas" panose="020B0609020204030204" pitchFamily="49" charset="0"/>
              </a:rPr>
              <a:t>}</a:t>
            </a: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61000" y="4464000"/>
            <a:ext cx="4963539" cy="1655869"/>
          </a:xfrm>
          <a:prstGeom prst="rect">
            <a:avLst/>
          </a:prstGeom>
          <a:ln>
            <a:noFill/>
          </a:ln>
          <a:effectLst>
            <a:outerShdw blurRad="292100" dist="139700" dir="2700000" algn="tl" rotWithShape="0">
              <a:srgbClr val="333333">
                <a:alpha val="65000"/>
              </a:srgbClr>
            </a:outerShdw>
          </a:effectLst>
        </p:spPr>
      </p:pic>
      <p:sp>
        <p:nvSpPr>
          <p:cNvPr id="10" name="Slide Number">
            <a:extLst>
              <a:ext uri="{FF2B5EF4-FFF2-40B4-BE49-F238E27FC236}">
                <a16:creationId xmlns:a16="http://schemas.microsoft.com/office/drawing/2014/main" id="{B5EB8589-076E-415E-81DF-101A473E95FB}"/>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18</a:t>
            </a:fld>
            <a:endParaRPr lang="en-US" noProof="0" dirty="0"/>
          </a:p>
        </p:txBody>
      </p:sp>
    </p:spTree>
    <p:extLst>
      <p:ext uri="{BB962C8B-B14F-4D97-AF65-F5344CB8AC3E}">
        <p14:creationId xmlns:p14="http://schemas.microsoft.com/office/powerpoint/2010/main" val="1238810914"/>
      </p:ext>
    </p:extLst>
  </p:cSld>
  <p:clrMapOvr>
    <a:masterClrMapping/>
  </p:clrMapOvr>
  <mc:AlternateContent xmlns:mc="http://schemas.openxmlformats.org/markup-compatibility/2006" xmlns:p14="http://schemas.microsoft.com/office/powerpoint/2010/main">
    <mc:Choice Requires="p14">
      <p:transition p14:dur="0" advClick="0" advTm="5000"/>
    </mc:Choice>
    <mc:Fallback xmlns="">
      <p:transition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Текстов контейнер 4">
            <a:extLst>
              <a:ext uri="{FF2B5EF4-FFF2-40B4-BE49-F238E27FC236}">
                <a16:creationId xmlns:a16="http://schemas.microsoft.com/office/drawing/2014/main" id="{C1D9161D-F1FC-5279-7B49-1B3FF561C165}"/>
              </a:ext>
            </a:extLst>
          </p:cNvPr>
          <p:cNvSpPr>
            <a:spLocks noGrp="1"/>
          </p:cNvSpPr>
          <p:nvPr>
            <p:ph type="body" sz="quarter" idx="10"/>
          </p:nvPr>
        </p:nvSpPr>
        <p:spPr>
          <a:xfrm>
            <a:off x="190402" y="1196125"/>
            <a:ext cx="11890598" cy="5528766"/>
          </a:xfrm>
        </p:spPr>
        <p:txBody>
          <a:bodyPr>
            <a:normAutofit/>
          </a:bodyPr>
          <a:lstStyle/>
          <a:p>
            <a:r>
              <a:rPr lang="en-US" sz="3600" b="0" dirty="0"/>
              <a:t>The height CSS property specifies the height of an element. By default, the property defines the height of the content area. If box-sizing is set to border-box, however, it instead determines the height of the border area</a:t>
            </a:r>
          </a:p>
          <a:p>
            <a:r>
              <a:rPr lang="en-US" sz="3600" i="1" dirty="0">
                <a:hlinkClick r:id="rId2"/>
              </a:rPr>
              <a:t>Example</a:t>
            </a:r>
            <a:endParaRPr lang="en-US" sz="3600" b="0" i="1" dirty="0"/>
          </a:p>
        </p:txBody>
      </p:sp>
      <p:sp>
        <p:nvSpPr>
          <p:cNvPr id="4" name="Title 3">
            <a:extLst>
              <a:ext uri="{FF2B5EF4-FFF2-40B4-BE49-F238E27FC236}">
                <a16:creationId xmlns:a16="http://schemas.microsoft.com/office/drawing/2014/main" id="{E9A1DA41-F15A-4A36-BC07-5ABC6728BF4B}"/>
              </a:ext>
            </a:extLst>
          </p:cNvPr>
          <p:cNvSpPr>
            <a:spLocks noGrp="1"/>
          </p:cNvSpPr>
          <p:nvPr>
            <p:ph type="title"/>
          </p:nvPr>
        </p:nvSpPr>
        <p:spPr/>
        <p:txBody>
          <a:bodyPr/>
          <a:lstStyle/>
          <a:p>
            <a:r>
              <a:rPr lang="en-US" sz="4400" dirty="0"/>
              <a:t>Height</a:t>
            </a:r>
            <a:endParaRPr lang="en-GB" sz="4400" dirty="0"/>
          </a:p>
        </p:txBody>
      </p:sp>
      <p:sp>
        <p:nvSpPr>
          <p:cNvPr id="2" name="Текстово поле 10">
            <a:extLst>
              <a:ext uri="{FF2B5EF4-FFF2-40B4-BE49-F238E27FC236}">
                <a16:creationId xmlns:a16="http://schemas.microsoft.com/office/drawing/2014/main" id="{B1DAF3D1-9E18-9F51-9CA3-0A17F737E367}"/>
              </a:ext>
            </a:extLst>
          </p:cNvPr>
          <p:cNvSpPr txBox="1"/>
          <p:nvPr/>
        </p:nvSpPr>
        <p:spPr>
          <a:xfrm>
            <a:off x="3783251" y="4644000"/>
            <a:ext cx="4704900" cy="1414471"/>
          </a:xfrm>
          <a:prstGeom prst="rect">
            <a:avLst/>
          </a:prstGeom>
          <a:solidFill>
            <a:schemeClr val="accent6">
              <a:lumMod val="75000"/>
              <a:alpha val="15000"/>
            </a:schemeClr>
          </a:solidFill>
          <a:ln w="12700">
            <a:solidFill>
              <a:schemeClr val="tx1">
                <a:lumMod val="75000"/>
              </a:schemeClr>
            </a:solidFill>
          </a:ln>
        </p:spPr>
        <p:txBody>
          <a:bodyPr vert="horz" wrap="square" lIns="143963" tIns="107972" rIns="143963" bIns="107972" rtlCol="0">
            <a:spAutoFit/>
          </a:bodyPr>
          <a:lstStyle/>
          <a:p>
            <a:pPr eaLnBrk="0" hangingPunct="0">
              <a:lnSpc>
                <a:spcPct val="110000"/>
              </a:lnSpc>
              <a:buClr>
                <a:schemeClr val="accent5">
                  <a:lumMod val="40000"/>
                  <a:lumOff val="60000"/>
                </a:schemeClr>
              </a:buClr>
              <a:buSzPct val="70000"/>
            </a:pPr>
            <a:r>
              <a:rPr lang="en-US" sz="2400" b="1" dirty="0">
                <a:latin typeface="Consolas" panose="020B0609020204030204" pitchFamily="49" charset="0"/>
              </a:rPr>
              <a:t>.box {</a:t>
            </a:r>
          </a:p>
          <a:p>
            <a:pPr eaLnBrk="0" hangingPunct="0">
              <a:lnSpc>
                <a:spcPct val="110000"/>
              </a:lnSpc>
              <a:buClr>
                <a:schemeClr val="accent5">
                  <a:lumMod val="40000"/>
                  <a:lumOff val="60000"/>
                </a:schemeClr>
              </a:buClr>
              <a:buSzPct val="70000"/>
            </a:pPr>
            <a:r>
              <a:rPr lang="en-US" sz="2400" b="1" dirty="0">
                <a:latin typeface="Consolas" panose="020B0609020204030204" pitchFamily="49" charset="0"/>
              </a:rPr>
              <a:t>   height: 150px;</a:t>
            </a:r>
          </a:p>
          <a:p>
            <a:pPr eaLnBrk="0" hangingPunct="0">
              <a:lnSpc>
                <a:spcPct val="110000"/>
              </a:lnSpc>
              <a:buClr>
                <a:schemeClr val="accent5">
                  <a:lumMod val="40000"/>
                  <a:lumOff val="60000"/>
                </a:schemeClr>
              </a:buClr>
              <a:buSzPct val="70000"/>
            </a:pPr>
            <a:r>
              <a:rPr lang="en-US" sz="2400" b="1" dirty="0">
                <a:latin typeface="Consolas" panose="020B0609020204030204" pitchFamily="49" charset="0"/>
              </a:rPr>
              <a:t>}</a:t>
            </a:r>
          </a:p>
        </p:txBody>
      </p:sp>
      <p:sp>
        <p:nvSpPr>
          <p:cNvPr id="3" name="Slide Number">
            <a:extLst>
              <a:ext uri="{FF2B5EF4-FFF2-40B4-BE49-F238E27FC236}">
                <a16:creationId xmlns:a16="http://schemas.microsoft.com/office/drawing/2014/main" id="{25745EFC-1B73-AF69-2A95-D2C1C40E6FC7}"/>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19</a:t>
            </a:fld>
            <a:endParaRPr lang="en-US" noProof="0" dirty="0"/>
          </a:p>
        </p:txBody>
      </p:sp>
    </p:spTree>
    <p:extLst>
      <p:ext uri="{BB962C8B-B14F-4D97-AF65-F5344CB8AC3E}">
        <p14:creationId xmlns:p14="http://schemas.microsoft.com/office/powerpoint/2010/main" val="34453999"/>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sz="4400" dirty="0"/>
              <a:t>Height</a:t>
            </a:r>
          </a:p>
        </p:txBody>
      </p:sp>
      <p:pic>
        <p:nvPicPr>
          <p:cNvPr id="7" name="Picture 6"/>
          <p:cNvPicPr>
            <a:picLocks noChangeAspect="1"/>
          </p:cNvPicPr>
          <p:nvPr/>
        </p:nvPicPr>
        <p:blipFill>
          <a:blip r:embed="rId2">
            <a:clrChange>
              <a:clrFrom>
                <a:srgbClr val="FFFFFF"/>
              </a:clrFrom>
              <a:clrTo>
                <a:srgbClr val="FFFFFF">
                  <a:alpha val="0"/>
                </a:srgbClr>
              </a:clrTo>
            </a:clrChange>
          </a:blip>
          <a:stretch>
            <a:fillRect/>
          </a:stretch>
        </p:blipFill>
        <p:spPr>
          <a:xfrm>
            <a:off x="579802" y="4539190"/>
            <a:ext cx="5831116" cy="1095156"/>
          </a:xfrm>
          <a:prstGeom prst="rect">
            <a:avLst/>
          </a:prstGeom>
          <a:ln>
            <a:noFill/>
          </a:ln>
          <a:effectLst>
            <a:outerShdw blurRad="292100" dist="139700" dir="2700000" algn="tl" rotWithShape="0">
              <a:srgbClr val="333333">
                <a:alpha val="65000"/>
              </a:srgbClr>
            </a:outerShdw>
          </a:effectLst>
        </p:spPr>
      </p:pic>
      <p:sp>
        <p:nvSpPr>
          <p:cNvPr id="8" name="Текстово поле 10"/>
          <p:cNvSpPr txBox="1"/>
          <p:nvPr/>
        </p:nvSpPr>
        <p:spPr>
          <a:xfrm>
            <a:off x="609139" y="2782180"/>
            <a:ext cx="5742435" cy="1547301"/>
          </a:xfrm>
          <a:prstGeom prst="rect">
            <a:avLst/>
          </a:prstGeom>
          <a:solidFill>
            <a:schemeClr val="accent6">
              <a:lumMod val="75000"/>
              <a:alpha val="15000"/>
            </a:schemeClr>
          </a:solidFill>
          <a:ln w="12700">
            <a:solidFill>
              <a:schemeClr val="tx1">
                <a:lumMod val="75000"/>
              </a:schemeClr>
            </a:solidFill>
          </a:ln>
        </p:spPr>
        <p:txBody>
          <a:bodyPr vert="horz" wrap="square" lIns="143963" tIns="107972" rIns="143963" bIns="107972" rtlCol="0">
            <a:spAutoFit/>
          </a:bodyPr>
          <a:lstStyle/>
          <a:p>
            <a:pPr>
              <a:lnSpc>
                <a:spcPct val="90000"/>
              </a:lnSpc>
            </a:pPr>
            <a:r>
              <a:rPr lang="en-GB" sz="2399" b="1" dirty="0">
                <a:solidFill>
                  <a:srgbClr val="800000"/>
                </a:solidFill>
                <a:latin typeface="Consolas" panose="020B0609020204030204" pitchFamily="49" charset="0"/>
              </a:rPr>
              <a:t>article</a:t>
            </a:r>
            <a:r>
              <a:rPr lang="en-GB" sz="2399" b="1" dirty="0">
                <a:solidFill>
                  <a:srgbClr val="000000"/>
                </a:solidFill>
                <a:latin typeface="Consolas" panose="020B0609020204030204" pitchFamily="49" charset="0"/>
              </a:rPr>
              <a:t> {</a:t>
            </a:r>
          </a:p>
          <a:p>
            <a:pPr>
              <a:lnSpc>
                <a:spcPct val="90000"/>
              </a:lnSpc>
            </a:pPr>
            <a:r>
              <a:rPr lang="en-GB" sz="2399" b="1" dirty="0">
                <a:solidFill>
                  <a:srgbClr val="000000"/>
                </a:solidFill>
                <a:latin typeface="Consolas" panose="020B0609020204030204" pitchFamily="49" charset="0"/>
              </a:rPr>
              <a:t>  </a:t>
            </a:r>
            <a:r>
              <a:rPr lang="en-GB" sz="2399" b="1" dirty="0">
                <a:solidFill>
                  <a:srgbClr val="FF0000"/>
                </a:solidFill>
                <a:latin typeface="Consolas" panose="020B0609020204030204" pitchFamily="49" charset="0"/>
              </a:rPr>
              <a:t>height</a:t>
            </a:r>
            <a:r>
              <a:rPr lang="en-GB" sz="2399" b="1" dirty="0">
                <a:solidFill>
                  <a:srgbClr val="000000"/>
                </a:solidFill>
                <a:latin typeface="Consolas" panose="020B0609020204030204" pitchFamily="49" charset="0"/>
              </a:rPr>
              <a:t>: </a:t>
            </a:r>
            <a:r>
              <a:rPr lang="en-GB" sz="2399" b="1" dirty="0">
                <a:solidFill>
                  <a:srgbClr val="098658"/>
                </a:solidFill>
                <a:latin typeface="Consolas" panose="020B0609020204030204" pitchFamily="49" charset="0"/>
              </a:rPr>
              <a:t>auto</a:t>
            </a:r>
            <a:r>
              <a:rPr lang="en-GB" sz="2399" b="1" dirty="0">
                <a:solidFill>
                  <a:srgbClr val="000000"/>
                </a:solidFill>
                <a:latin typeface="Consolas" panose="020B0609020204030204" pitchFamily="49" charset="0"/>
              </a:rPr>
              <a:t>;</a:t>
            </a:r>
          </a:p>
          <a:p>
            <a:pPr>
              <a:lnSpc>
                <a:spcPct val="90000"/>
              </a:lnSpc>
            </a:pPr>
            <a:r>
              <a:rPr lang="en-GB" sz="2399" b="1" dirty="0">
                <a:solidFill>
                  <a:srgbClr val="FF0000"/>
                </a:solidFill>
                <a:latin typeface="Consolas" panose="020B0609020204030204" pitchFamily="49" charset="0"/>
              </a:rPr>
              <a:t>  background</a:t>
            </a:r>
            <a:r>
              <a:rPr lang="en-GB" sz="2399" b="1" dirty="0">
                <a:solidFill>
                  <a:srgbClr val="000000"/>
                </a:solidFill>
                <a:latin typeface="Consolas" panose="020B0609020204030204" pitchFamily="49" charset="0"/>
              </a:rPr>
              <a:t>: </a:t>
            </a:r>
            <a:r>
              <a:rPr lang="en-GB" sz="2399" b="1" dirty="0">
                <a:solidFill>
                  <a:srgbClr val="0451A5"/>
                </a:solidFill>
                <a:latin typeface="Consolas" panose="020B0609020204030204" pitchFamily="49" charset="0"/>
              </a:rPr>
              <a:t>#8ce</a:t>
            </a:r>
            <a:r>
              <a:rPr lang="en-GB" sz="2399" b="1" dirty="0">
                <a:solidFill>
                  <a:srgbClr val="000000"/>
                </a:solidFill>
                <a:latin typeface="Consolas" panose="020B0609020204030204" pitchFamily="49" charset="0"/>
              </a:rPr>
              <a:t>;</a:t>
            </a:r>
          </a:p>
          <a:p>
            <a:pPr>
              <a:lnSpc>
                <a:spcPct val="90000"/>
              </a:lnSpc>
            </a:pPr>
            <a:r>
              <a:rPr lang="en-GB" sz="2399" b="1" dirty="0">
                <a:solidFill>
                  <a:srgbClr val="000000"/>
                </a:solidFill>
                <a:latin typeface="Consolas" panose="020B0609020204030204" pitchFamily="49" charset="0"/>
              </a:rPr>
              <a:t>}</a:t>
            </a:r>
          </a:p>
        </p:txBody>
      </p:sp>
      <p:pic>
        <p:nvPicPr>
          <p:cNvPr id="9" name="Picture 8"/>
          <p:cNvPicPr>
            <a:picLocks noChangeAspect="1"/>
          </p:cNvPicPr>
          <p:nvPr/>
        </p:nvPicPr>
        <p:blipFill>
          <a:blip r:embed="rId3"/>
          <a:stretch>
            <a:fillRect/>
          </a:stretch>
        </p:blipFill>
        <p:spPr>
          <a:xfrm>
            <a:off x="6844303" y="4519280"/>
            <a:ext cx="4031780" cy="1654720"/>
          </a:xfrm>
          <a:prstGeom prst="rect">
            <a:avLst/>
          </a:prstGeom>
          <a:ln>
            <a:noFill/>
          </a:ln>
          <a:effectLst>
            <a:outerShdw blurRad="292100" dist="139700" dir="2700000" algn="tl" rotWithShape="0">
              <a:srgbClr val="333333">
                <a:alpha val="65000"/>
              </a:srgbClr>
            </a:outerShdw>
          </a:effectLst>
        </p:spPr>
      </p:pic>
      <p:sp>
        <p:nvSpPr>
          <p:cNvPr id="10" name="Текстово поле 10"/>
          <p:cNvSpPr txBox="1"/>
          <p:nvPr/>
        </p:nvSpPr>
        <p:spPr>
          <a:xfrm>
            <a:off x="6872141" y="2782180"/>
            <a:ext cx="3961773" cy="1547301"/>
          </a:xfrm>
          <a:prstGeom prst="rect">
            <a:avLst/>
          </a:prstGeom>
          <a:solidFill>
            <a:schemeClr val="accent6">
              <a:lumMod val="75000"/>
              <a:alpha val="15000"/>
            </a:schemeClr>
          </a:solidFill>
          <a:ln w="12700">
            <a:solidFill>
              <a:schemeClr val="tx1">
                <a:lumMod val="75000"/>
              </a:schemeClr>
            </a:solidFill>
          </a:ln>
        </p:spPr>
        <p:txBody>
          <a:bodyPr vert="horz" wrap="square" lIns="143963" tIns="107972" rIns="143963" bIns="107972" rtlCol="0">
            <a:spAutoFit/>
          </a:bodyPr>
          <a:lstStyle/>
          <a:p>
            <a:pPr>
              <a:lnSpc>
                <a:spcPct val="90000"/>
              </a:lnSpc>
            </a:pPr>
            <a:r>
              <a:rPr lang="en-GB" sz="2399" b="1" dirty="0">
                <a:solidFill>
                  <a:srgbClr val="800000"/>
                </a:solidFill>
                <a:latin typeface="Consolas" panose="020B0609020204030204" pitchFamily="49" charset="0"/>
              </a:rPr>
              <a:t>article</a:t>
            </a:r>
            <a:r>
              <a:rPr lang="en-GB" sz="2399" b="1" dirty="0">
                <a:solidFill>
                  <a:srgbClr val="000000"/>
                </a:solidFill>
                <a:latin typeface="Consolas" panose="020B0609020204030204" pitchFamily="49" charset="0"/>
              </a:rPr>
              <a:t> {</a:t>
            </a:r>
          </a:p>
          <a:p>
            <a:pPr>
              <a:lnSpc>
                <a:spcPct val="90000"/>
              </a:lnSpc>
            </a:pPr>
            <a:r>
              <a:rPr lang="en-GB" sz="2399" b="1" dirty="0">
                <a:solidFill>
                  <a:srgbClr val="000000"/>
                </a:solidFill>
                <a:latin typeface="Consolas" panose="020B0609020204030204" pitchFamily="49" charset="0"/>
              </a:rPr>
              <a:t>  </a:t>
            </a:r>
            <a:r>
              <a:rPr lang="en-GB" sz="2399" b="1" dirty="0">
                <a:solidFill>
                  <a:srgbClr val="FF0000"/>
                </a:solidFill>
                <a:latin typeface="Consolas" panose="020B0609020204030204" pitchFamily="49" charset="0"/>
              </a:rPr>
              <a:t>height</a:t>
            </a:r>
            <a:r>
              <a:rPr lang="en-GB" sz="2399" b="1" dirty="0">
                <a:solidFill>
                  <a:srgbClr val="000000"/>
                </a:solidFill>
                <a:latin typeface="Consolas" panose="020B0609020204030204" pitchFamily="49" charset="0"/>
              </a:rPr>
              <a:t>: </a:t>
            </a:r>
            <a:r>
              <a:rPr lang="en-GB" sz="2399" b="1" dirty="0">
                <a:solidFill>
                  <a:srgbClr val="098658"/>
                </a:solidFill>
                <a:latin typeface="Consolas" panose="020B0609020204030204" pitchFamily="49" charset="0"/>
              </a:rPr>
              <a:t>100px</a:t>
            </a:r>
            <a:r>
              <a:rPr lang="en-GB" sz="2399" b="1" dirty="0">
                <a:solidFill>
                  <a:srgbClr val="000000"/>
                </a:solidFill>
                <a:latin typeface="Consolas" panose="020B0609020204030204" pitchFamily="49" charset="0"/>
              </a:rPr>
              <a:t>;</a:t>
            </a:r>
          </a:p>
          <a:p>
            <a:pPr>
              <a:lnSpc>
                <a:spcPct val="90000"/>
              </a:lnSpc>
            </a:pPr>
            <a:r>
              <a:rPr lang="en-GB" sz="2399" b="1" dirty="0">
                <a:solidFill>
                  <a:srgbClr val="FF0000"/>
                </a:solidFill>
                <a:latin typeface="Consolas" panose="020B0609020204030204" pitchFamily="49" charset="0"/>
              </a:rPr>
              <a:t>  background</a:t>
            </a:r>
            <a:r>
              <a:rPr lang="en-GB" sz="2399" b="1" dirty="0">
                <a:solidFill>
                  <a:srgbClr val="000000"/>
                </a:solidFill>
                <a:latin typeface="Consolas" panose="020B0609020204030204" pitchFamily="49" charset="0"/>
              </a:rPr>
              <a:t>: </a:t>
            </a:r>
            <a:r>
              <a:rPr lang="en-GB" sz="2399" b="1" dirty="0">
                <a:solidFill>
                  <a:srgbClr val="0451A5"/>
                </a:solidFill>
                <a:latin typeface="Consolas" panose="020B0609020204030204" pitchFamily="49" charset="0"/>
              </a:rPr>
              <a:t>#8ce</a:t>
            </a:r>
            <a:r>
              <a:rPr lang="en-GB" sz="2399" b="1" dirty="0">
                <a:solidFill>
                  <a:srgbClr val="000000"/>
                </a:solidFill>
                <a:latin typeface="Consolas" panose="020B0609020204030204" pitchFamily="49" charset="0"/>
              </a:rPr>
              <a:t>;</a:t>
            </a:r>
          </a:p>
          <a:p>
            <a:pPr>
              <a:lnSpc>
                <a:spcPct val="90000"/>
              </a:lnSpc>
            </a:pPr>
            <a:r>
              <a:rPr lang="en-GB" sz="2399" b="1" dirty="0">
                <a:solidFill>
                  <a:srgbClr val="000000"/>
                </a:solidFill>
                <a:latin typeface="Consolas" panose="020B0609020204030204" pitchFamily="49" charset="0"/>
              </a:rPr>
              <a:t>}</a:t>
            </a:r>
          </a:p>
        </p:txBody>
      </p:sp>
      <p:sp>
        <p:nvSpPr>
          <p:cNvPr id="11" name="Text Placeholder 2"/>
          <p:cNvSpPr txBox="1">
            <a:spLocks/>
          </p:cNvSpPr>
          <p:nvPr/>
        </p:nvSpPr>
        <p:spPr>
          <a:xfrm>
            <a:off x="579801" y="1494861"/>
            <a:ext cx="5831116" cy="1108595"/>
          </a:xfrm>
          <a:prstGeom prst="rect">
            <a:avLst/>
          </a:prstGeom>
        </p:spPr>
        <p:txBody>
          <a:bodyPr vert="horz" wrap="square" lIns="107972" tIns="35991" rIns="107972" bIns="35991" rtlCol="0">
            <a:spAutoFit/>
          </a:bodyPr>
          <a:lstStyle>
            <a:lvl1pPr marL="360363" indent="-360363" algn="l" defTabSz="1218438" rtl="0" eaLnBrk="1" latinLnBrk="0" hangingPunct="1">
              <a:lnSpc>
                <a:spcPct val="105000"/>
              </a:lnSpc>
              <a:spcBef>
                <a:spcPts val="600"/>
              </a:spcBef>
              <a:spcAft>
                <a:spcPts val="600"/>
              </a:spcAft>
              <a:buFont typeface="Wingdings" panose="05000000000000000000" pitchFamily="2" charset="2"/>
              <a:buChar char="§"/>
              <a:defRPr sz="3398" kern="1200">
                <a:solidFill>
                  <a:schemeClr val="tx1"/>
                </a:solidFill>
                <a:latin typeface="+mn-lt"/>
                <a:ea typeface="+mn-ea"/>
                <a:cs typeface="+mn-cs"/>
              </a:defRPr>
            </a:lvl1pPr>
            <a:lvl2pPr marL="803275" indent="-360363" algn="l" defTabSz="1218438" rtl="0" eaLnBrk="1" latinLnBrk="0" hangingPunct="1">
              <a:lnSpc>
                <a:spcPct val="105000"/>
              </a:lnSpc>
              <a:spcBef>
                <a:spcPts val="600"/>
              </a:spcBef>
              <a:spcAft>
                <a:spcPts val="600"/>
              </a:spcAft>
              <a:buFont typeface="Wingdings" panose="05000000000000000000" pitchFamily="2" charset="2"/>
              <a:buChar char="§"/>
              <a:defRPr sz="3198" kern="1200">
                <a:solidFill>
                  <a:schemeClr val="tx1"/>
                </a:solidFill>
                <a:latin typeface="+mn-lt"/>
                <a:ea typeface="+mn-ea"/>
                <a:cs typeface="+mn-cs"/>
              </a:defRPr>
            </a:lvl2pPr>
            <a:lvl3pPr marL="1255713" indent="-360363" algn="l" defTabSz="1218438" rtl="0" eaLnBrk="1" latinLnBrk="0" hangingPunct="1">
              <a:lnSpc>
                <a:spcPct val="105000"/>
              </a:lnSpc>
              <a:spcBef>
                <a:spcPts val="600"/>
              </a:spcBef>
              <a:spcAft>
                <a:spcPts val="600"/>
              </a:spcAft>
              <a:buFont typeface="Wingdings" panose="05000000000000000000" pitchFamily="2" charset="2"/>
              <a:buChar char="§"/>
              <a:defRPr sz="2998" kern="1200">
                <a:solidFill>
                  <a:schemeClr val="tx1"/>
                </a:solidFill>
                <a:latin typeface="+mn-lt"/>
                <a:ea typeface="+mn-ea"/>
                <a:cs typeface="+mn-cs"/>
              </a:defRPr>
            </a:lvl3pPr>
            <a:lvl4pPr marL="1700213" indent="-352425" algn="l" defTabSz="1218438" rtl="0" eaLnBrk="1" latinLnBrk="0" hangingPunct="1">
              <a:lnSpc>
                <a:spcPct val="105000"/>
              </a:lnSpc>
              <a:spcBef>
                <a:spcPts val="600"/>
              </a:spcBef>
              <a:spcAft>
                <a:spcPts val="600"/>
              </a:spcAft>
              <a:buFont typeface="Wingdings" panose="05000000000000000000" pitchFamily="2" charset="2"/>
              <a:buChar char="§"/>
              <a:defRPr sz="2798" kern="1200">
                <a:solidFill>
                  <a:schemeClr val="tx1"/>
                </a:solidFill>
                <a:latin typeface="+mn-lt"/>
                <a:ea typeface="+mn-ea"/>
                <a:cs typeface="+mn-cs"/>
              </a:defRPr>
            </a:lvl4pPr>
            <a:lvl5pPr marL="2058988" indent="-266700" algn="l" defTabSz="1218438" rtl="0" eaLnBrk="1" latinLnBrk="0" hangingPunct="1">
              <a:lnSpc>
                <a:spcPct val="105000"/>
              </a:lnSpc>
              <a:spcBef>
                <a:spcPts val="600"/>
              </a:spcBef>
              <a:spcAft>
                <a:spcPts val="600"/>
              </a:spcAft>
              <a:buFont typeface="Wingdings" panose="05000000000000000000" pitchFamily="2" charset="2"/>
              <a:buChar char="§"/>
              <a:defRPr sz="2598" kern="1200">
                <a:solidFill>
                  <a:schemeClr val="tx1"/>
                </a:solidFill>
                <a:latin typeface="+mn-lt"/>
                <a:ea typeface="+mn-ea"/>
                <a:cs typeface="+mn-cs"/>
              </a:defRPr>
            </a:lvl5pPr>
            <a:lvl6pPr marL="3350704" indent="-304610" algn="l" defTabSz="1218438" rtl="0" eaLnBrk="1" latinLnBrk="1" hangingPunct="1">
              <a:spcBef>
                <a:spcPct val="20000"/>
              </a:spcBef>
              <a:buFont typeface="Arial" pitchFamily="34" charset="0"/>
              <a:buChar char="•"/>
              <a:defRPr sz="2665" kern="1200">
                <a:solidFill>
                  <a:schemeClr val="tx1"/>
                </a:solidFill>
                <a:latin typeface="+mn-lt"/>
                <a:ea typeface="+mn-ea"/>
                <a:cs typeface="+mn-cs"/>
              </a:defRPr>
            </a:lvl6pPr>
            <a:lvl7pPr marL="3959924" indent="-304610" algn="l" defTabSz="1218438" rtl="0" eaLnBrk="1" latinLnBrk="1" hangingPunct="1">
              <a:spcBef>
                <a:spcPct val="20000"/>
              </a:spcBef>
              <a:buFont typeface="Arial" pitchFamily="34" charset="0"/>
              <a:buChar char="•"/>
              <a:defRPr sz="2665" kern="1200">
                <a:solidFill>
                  <a:schemeClr val="tx1"/>
                </a:solidFill>
                <a:latin typeface="+mn-lt"/>
                <a:ea typeface="+mn-ea"/>
                <a:cs typeface="+mn-cs"/>
              </a:defRPr>
            </a:lvl7pPr>
            <a:lvl8pPr marL="4569143" indent="-304610" algn="l" defTabSz="1218438" rtl="0" eaLnBrk="1" latinLnBrk="1" hangingPunct="1">
              <a:spcBef>
                <a:spcPct val="20000"/>
              </a:spcBef>
              <a:buFont typeface="Arial" pitchFamily="34" charset="0"/>
              <a:buChar char="•"/>
              <a:defRPr sz="2665" kern="1200">
                <a:solidFill>
                  <a:schemeClr val="tx1"/>
                </a:solidFill>
                <a:latin typeface="+mn-lt"/>
                <a:ea typeface="+mn-ea"/>
                <a:cs typeface="+mn-cs"/>
              </a:defRPr>
            </a:lvl8pPr>
            <a:lvl9pPr marL="5178362" indent="-304610" algn="l" defTabSz="1218438" rtl="0" eaLnBrk="1" latinLnBrk="1" hangingPunct="1">
              <a:spcBef>
                <a:spcPct val="20000"/>
              </a:spcBef>
              <a:buFont typeface="Arial" pitchFamily="34" charset="0"/>
              <a:buChar char="•"/>
              <a:defRPr sz="2665" kern="1200">
                <a:solidFill>
                  <a:schemeClr val="tx1"/>
                </a:solidFill>
                <a:latin typeface="+mn-lt"/>
                <a:ea typeface="+mn-ea"/>
                <a:cs typeface="+mn-cs"/>
              </a:defRPr>
            </a:lvl9pPr>
          </a:lstStyle>
          <a:p>
            <a:pPr>
              <a:lnSpc>
                <a:spcPct val="100000"/>
              </a:lnSpc>
              <a:spcBef>
                <a:spcPts val="0"/>
              </a:spcBef>
              <a:spcAft>
                <a:spcPts val="0"/>
              </a:spcAft>
              <a:buClr>
                <a:schemeClr val="tx1"/>
              </a:buClr>
            </a:pPr>
            <a:r>
              <a:rPr lang="en-US" sz="3199" b="1" dirty="0">
                <a:solidFill>
                  <a:schemeClr val="bg1"/>
                </a:solidFill>
                <a:latin typeface="Consolas" panose="020B0609020204030204" pitchFamily="49" charset="0"/>
              </a:rPr>
              <a:t>auto</a:t>
            </a:r>
            <a:r>
              <a:rPr lang="en-US" sz="3199" b="1" dirty="0">
                <a:solidFill>
                  <a:schemeClr val="bg1"/>
                </a:solidFill>
              </a:rPr>
              <a:t> </a:t>
            </a:r>
            <a:r>
              <a:rPr lang="en-US" sz="3199" dirty="0"/>
              <a:t>(default)</a:t>
            </a:r>
          </a:p>
          <a:p>
            <a:pPr>
              <a:lnSpc>
                <a:spcPct val="100000"/>
              </a:lnSpc>
              <a:spcBef>
                <a:spcPts val="400"/>
              </a:spcBef>
              <a:spcAft>
                <a:spcPts val="400"/>
              </a:spcAft>
              <a:buClr>
                <a:schemeClr val="tx1"/>
              </a:buClr>
            </a:pPr>
            <a:r>
              <a:rPr lang="en-US" sz="3199" dirty="0"/>
              <a:t>Auto-calculated height</a:t>
            </a:r>
            <a:endParaRPr lang="bg-BG" sz="3199" dirty="0"/>
          </a:p>
        </p:txBody>
      </p:sp>
      <p:sp>
        <p:nvSpPr>
          <p:cNvPr id="12" name="Text Placeholder 2"/>
          <p:cNvSpPr txBox="1">
            <a:spLocks/>
          </p:cNvSpPr>
          <p:nvPr/>
        </p:nvSpPr>
        <p:spPr>
          <a:xfrm>
            <a:off x="6725836" y="1494860"/>
            <a:ext cx="4813746" cy="1057313"/>
          </a:xfrm>
          <a:prstGeom prst="rect">
            <a:avLst/>
          </a:prstGeom>
        </p:spPr>
        <p:txBody>
          <a:bodyPr vert="horz" wrap="square" lIns="107972" tIns="35991" rIns="107972" bIns="35991" rtlCol="0">
            <a:spAutoFit/>
          </a:bodyPr>
          <a:lstStyle>
            <a:lvl1pPr marL="360363" indent="-360363" algn="l" defTabSz="1218438" rtl="0" eaLnBrk="1" latinLnBrk="0" hangingPunct="1">
              <a:lnSpc>
                <a:spcPct val="105000"/>
              </a:lnSpc>
              <a:spcBef>
                <a:spcPts val="600"/>
              </a:spcBef>
              <a:spcAft>
                <a:spcPts val="600"/>
              </a:spcAft>
              <a:buFont typeface="Wingdings" panose="05000000000000000000" pitchFamily="2" charset="2"/>
              <a:buChar char="§"/>
              <a:defRPr sz="3398" kern="1200">
                <a:solidFill>
                  <a:schemeClr val="tx1"/>
                </a:solidFill>
                <a:latin typeface="+mn-lt"/>
                <a:ea typeface="+mn-ea"/>
                <a:cs typeface="+mn-cs"/>
              </a:defRPr>
            </a:lvl1pPr>
            <a:lvl2pPr marL="803275" indent="-360363" algn="l" defTabSz="1218438" rtl="0" eaLnBrk="1" latinLnBrk="0" hangingPunct="1">
              <a:lnSpc>
                <a:spcPct val="105000"/>
              </a:lnSpc>
              <a:spcBef>
                <a:spcPts val="600"/>
              </a:spcBef>
              <a:spcAft>
                <a:spcPts val="600"/>
              </a:spcAft>
              <a:buFont typeface="Wingdings" panose="05000000000000000000" pitchFamily="2" charset="2"/>
              <a:buChar char="§"/>
              <a:defRPr sz="3198" kern="1200">
                <a:solidFill>
                  <a:schemeClr val="tx1"/>
                </a:solidFill>
                <a:latin typeface="+mn-lt"/>
                <a:ea typeface="+mn-ea"/>
                <a:cs typeface="+mn-cs"/>
              </a:defRPr>
            </a:lvl2pPr>
            <a:lvl3pPr marL="1255713" indent="-360363" algn="l" defTabSz="1218438" rtl="0" eaLnBrk="1" latinLnBrk="0" hangingPunct="1">
              <a:lnSpc>
                <a:spcPct val="105000"/>
              </a:lnSpc>
              <a:spcBef>
                <a:spcPts val="600"/>
              </a:spcBef>
              <a:spcAft>
                <a:spcPts val="600"/>
              </a:spcAft>
              <a:buFont typeface="Wingdings" panose="05000000000000000000" pitchFamily="2" charset="2"/>
              <a:buChar char="§"/>
              <a:defRPr sz="2998" kern="1200">
                <a:solidFill>
                  <a:schemeClr val="tx1"/>
                </a:solidFill>
                <a:latin typeface="+mn-lt"/>
                <a:ea typeface="+mn-ea"/>
                <a:cs typeface="+mn-cs"/>
              </a:defRPr>
            </a:lvl3pPr>
            <a:lvl4pPr marL="1700213" indent="-352425" algn="l" defTabSz="1218438" rtl="0" eaLnBrk="1" latinLnBrk="0" hangingPunct="1">
              <a:lnSpc>
                <a:spcPct val="105000"/>
              </a:lnSpc>
              <a:spcBef>
                <a:spcPts val="600"/>
              </a:spcBef>
              <a:spcAft>
                <a:spcPts val="600"/>
              </a:spcAft>
              <a:buFont typeface="Wingdings" panose="05000000000000000000" pitchFamily="2" charset="2"/>
              <a:buChar char="§"/>
              <a:defRPr sz="2798" kern="1200">
                <a:solidFill>
                  <a:schemeClr val="tx1"/>
                </a:solidFill>
                <a:latin typeface="+mn-lt"/>
                <a:ea typeface="+mn-ea"/>
                <a:cs typeface="+mn-cs"/>
              </a:defRPr>
            </a:lvl4pPr>
            <a:lvl5pPr marL="2058988" indent="-266700" algn="l" defTabSz="1218438" rtl="0" eaLnBrk="1" latinLnBrk="0" hangingPunct="1">
              <a:lnSpc>
                <a:spcPct val="105000"/>
              </a:lnSpc>
              <a:spcBef>
                <a:spcPts val="600"/>
              </a:spcBef>
              <a:spcAft>
                <a:spcPts val="600"/>
              </a:spcAft>
              <a:buFont typeface="Wingdings" panose="05000000000000000000" pitchFamily="2" charset="2"/>
              <a:buChar char="§"/>
              <a:defRPr sz="2598" kern="1200">
                <a:solidFill>
                  <a:schemeClr val="tx1"/>
                </a:solidFill>
                <a:latin typeface="+mn-lt"/>
                <a:ea typeface="+mn-ea"/>
                <a:cs typeface="+mn-cs"/>
              </a:defRPr>
            </a:lvl5pPr>
            <a:lvl6pPr marL="3350704" indent="-304610" algn="l" defTabSz="1218438" rtl="0" eaLnBrk="1" latinLnBrk="1" hangingPunct="1">
              <a:spcBef>
                <a:spcPct val="20000"/>
              </a:spcBef>
              <a:buFont typeface="Arial" pitchFamily="34" charset="0"/>
              <a:buChar char="•"/>
              <a:defRPr sz="2665" kern="1200">
                <a:solidFill>
                  <a:schemeClr val="tx1"/>
                </a:solidFill>
                <a:latin typeface="+mn-lt"/>
                <a:ea typeface="+mn-ea"/>
                <a:cs typeface="+mn-cs"/>
              </a:defRPr>
            </a:lvl6pPr>
            <a:lvl7pPr marL="3959924" indent="-304610" algn="l" defTabSz="1218438" rtl="0" eaLnBrk="1" latinLnBrk="1" hangingPunct="1">
              <a:spcBef>
                <a:spcPct val="20000"/>
              </a:spcBef>
              <a:buFont typeface="Arial" pitchFamily="34" charset="0"/>
              <a:buChar char="•"/>
              <a:defRPr sz="2665" kern="1200">
                <a:solidFill>
                  <a:schemeClr val="tx1"/>
                </a:solidFill>
                <a:latin typeface="+mn-lt"/>
                <a:ea typeface="+mn-ea"/>
                <a:cs typeface="+mn-cs"/>
              </a:defRPr>
            </a:lvl7pPr>
            <a:lvl8pPr marL="4569143" indent="-304610" algn="l" defTabSz="1218438" rtl="0" eaLnBrk="1" latinLnBrk="1" hangingPunct="1">
              <a:spcBef>
                <a:spcPct val="20000"/>
              </a:spcBef>
              <a:buFont typeface="Arial" pitchFamily="34" charset="0"/>
              <a:buChar char="•"/>
              <a:defRPr sz="2665" kern="1200">
                <a:solidFill>
                  <a:schemeClr val="tx1"/>
                </a:solidFill>
                <a:latin typeface="+mn-lt"/>
                <a:ea typeface="+mn-ea"/>
                <a:cs typeface="+mn-cs"/>
              </a:defRPr>
            </a:lvl8pPr>
            <a:lvl9pPr marL="5178362" indent="-304610" algn="l" defTabSz="1218438" rtl="0" eaLnBrk="1" latinLnBrk="1" hangingPunct="1">
              <a:spcBef>
                <a:spcPct val="20000"/>
              </a:spcBef>
              <a:buFont typeface="Arial" pitchFamily="34" charset="0"/>
              <a:buChar char="•"/>
              <a:defRPr sz="2665" kern="1200">
                <a:solidFill>
                  <a:schemeClr val="tx1"/>
                </a:solidFill>
                <a:latin typeface="+mn-lt"/>
                <a:ea typeface="+mn-ea"/>
                <a:cs typeface="+mn-cs"/>
              </a:defRPr>
            </a:lvl9pPr>
          </a:lstStyle>
          <a:p>
            <a:pPr>
              <a:lnSpc>
                <a:spcPct val="100000"/>
              </a:lnSpc>
              <a:spcBef>
                <a:spcPts val="400"/>
              </a:spcBef>
              <a:spcAft>
                <a:spcPts val="400"/>
              </a:spcAft>
              <a:buClr>
                <a:schemeClr val="tx1"/>
              </a:buClr>
            </a:pPr>
            <a:r>
              <a:rPr lang="en-US" sz="3199" dirty="0"/>
              <a:t>numeric values like </a:t>
            </a:r>
            <a:r>
              <a:rPr lang="en-US" sz="3199" b="1" noProof="1">
                <a:solidFill>
                  <a:schemeClr val="bg1"/>
                </a:solidFill>
              </a:rPr>
              <a:t>px</a:t>
            </a:r>
            <a:r>
              <a:rPr lang="en-US" sz="3199" noProof="1"/>
              <a:t> / </a:t>
            </a:r>
            <a:r>
              <a:rPr lang="en-US" sz="3199" b="1" noProof="1">
                <a:solidFill>
                  <a:schemeClr val="bg1"/>
                </a:solidFill>
              </a:rPr>
              <a:t>pt</a:t>
            </a:r>
            <a:r>
              <a:rPr lang="en-US" sz="3199" noProof="1"/>
              <a:t> / </a:t>
            </a:r>
            <a:r>
              <a:rPr lang="en-US" sz="3199" b="1" noProof="1">
                <a:solidFill>
                  <a:schemeClr val="bg1"/>
                </a:solidFill>
              </a:rPr>
              <a:t>em </a:t>
            </a:r>
            <a:r>
              <a:rPr lang="en-US" sz="3199" noProof="1"/>
              <a:t>/ </a:t>
            </a:r>
            <a:r>
              <a:rPr lang="en-US" sz="3199" b="1" noProof="1">
                <a:solidFill>
                  <a:schemeClr val="bg1"/>
                </a:solidFill>
              </a:rPr>
              <a:t>rem</a:t>
            </a:r>
            <a:r>
              <a:rPr lang="en-US" sz="3199" noProof="1"/>
              <a:t> / </a:t>
            </a:r>
            <a:r>
              <a:rPr lang="en-US" sz="3199" b="1" noProof="1">
                <a:solidFill>
                  <a:schemeClr val="bg1"/>
                </a:solidFill>
              </a:rPr>
              <a:t>%</a:t>
            </a:r>
            <a:endParaRPr lang="en-US" sz="3199" noProof="1"/>
          </a:p>
        </p:txBody>
      </p:sp>
      <p:sp>
        <p:nvSpPr>
          <p:cNvPr id="14" name="Slide Number">
            <a:extLst>
              <a:ext uri="{FF2B5EF4-FFF2-40B4-BE49-F238E27FC236}">
                <a16:creationId xmlns:a16="http://schemas.microsoft.com/office/drawing/2014/main" id="{A77A788E-82A7-42FD-8FB2-76A263E5A8B6}"/>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20</a:t>
            </a:fld>
            <a:endParaRPr lang="en-US" noProof="0" dirty="0"/>
          </a:p>
        </p:txBody>
      </p:sp>
    </p:spTree>
    <p:extLst>
      <p:ext uri="{BB962C8B-B14F-4D97-AF65-F5344CB8AC3E}">
        <p14:creationId xmlns:p14="http://schemas.microsoft.com/office/powerpoint/2010/main" val="2630982967"/>
      </p:ext>
    </p:extLst>
  </p:cSld>
  <p:clrMapOvr>
    <a:masterClrMapping/>
  </p:clrMapOvr>
  <mc:AlternateContent xmlns:mc="http://schemas.openxmlformats.org/markup-compatibility/2006" xmlns:p14="http://schemas.microsoft.com/office/powerpoint/2010/main">
    <mc:Choice Requires="p14">
      <p:transition p14:dur="0" advClick="0" advTm="5000"/>
    </mc:Choice>
    <mc:Fallback xmlns="">
      <p:transition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Min-height</a:t>
            </a:r>
          </a:p>
        </p:txBody>
      </p:sp>
      <p:sp>
        <p:nvSpPr>
          <p:cNvPr id="3" name="Text Placeholder 2"/>
          <p:cNvSpPr>
            <a:spLocks noGrp="1"/>
          </p:cNvSpPr>
          <p:nvPr>
            <p:ph type="body" sz="quarter" idx="10"/>
          </p:nvPr>
        </p:nvSpPr>
        <p:spPr>
          <a:xfrm>
            <a:off x="190402" y="1196125"/>
            <a:ext cx="11844494" cy="5528766"/>
          </a:xfrm>
        </p:spPr>
        <p:txBody>
          <a:bodyPr>
            <a:normAutofit/>
          </a:bodyPr>
          <a:lstStyle/>
          <a:p>
            <a:pPr>
              <a:buClr>
                <a:schemeClr val="tx1"/>
              </a:buClr>
            </a:pPr>
            <a:r>
              <a:rPr lang="en-US" b="1" dirty="0">
                <a:solidFill>
                  <a:schemeClr val="bg1"/>
                </a:solidFill>
              </a:rPr>
              <a:t>Min-height</a:t>
            </a:r>
            <a:r>
              <a:rPr lang="en-US" dirty="0"/>
              <a:t> - defines the minimum height the element</a:t>
            </a:r>
          </a:p>
          <a:p>
            <a:pPr lvl="1">
              <a:buClr>
                <a:schemeClr val="tx1"/>
              </a:buClr>
            </a:pPr>
            <a:r>
              <a:rPr lang="en-US" b="1" dirty="0">
                <a:solidFill>
                  <a:schemeClr val="bg1"/>
                </a:solidFill>
                <a:latin typeface="Consolas" panose="020B0609020204030204" pitchFamily="49" charset="0"/>
              </a:rPr>
              <a:t>min-height:</a:t>
            </a:r>
            <a:r>
              <a:rPr lang="en-US" dirty="0"/>
              <a:t> </a:t>
            </a:r>
            <a:r>
              <a:rPr lang="en-US" b="1" dirty="0">
                <a:solidFill>
                  <a:schemeClr val="bg1"/>
                </a:solidFill>
                <a:latin typeface="Consolas" panose="020B0609020204030204" pitchFamily="49" charset="0"/>
              </a:rPr>
              <a:t>200px;</a:t>
            </a:r>
            <a:r>
              <a:rPr lang="en-US" dirty="0"/>
              <a:t> -</a:t>
            </a:r>
            <a:r>
              <a:rPr lang="en-US" dirty="0">
                <a:solidFill>
                  <a:schemeClr val="bg1"/>
                </a:solidFill>
              </a:rPr>
              <a:t> </a:t>
            </a:r>
            <a:r>
              <a:rPr lang="en-US" dirty="0"/>
              <a:t>if the </a:t>
            </a:r>
            <a:r>
              <a:rPr lang="en-US" b="1" dirty="0">
                <a:solidFill>
                  <a:schemeClr val="bg1"/>
                </a:solidFill>
              </a:rPr>
              <a:t>minimum </a:t>
            </a:r>
            <a:br>
              <a:rPr lang="en-US" b="1" dirty="0">
                <a:solidFill>
                  <a:schemeClr val="bg1"/>
                </a:solidFill>
              </a:rPr>
            </a:br>
            <a:r>
              <a:rPr lang="en-US" dirty="0"/>
              <a:t>height is </a:t>
            </a:r>
            <a:r>
              <a:rPr lang="en-US" b="1" dirty="0">
                <a:solidFill>
                  <a:schemeClr val="bg1"/>
                </a:solidFill>
              </a:rPr>
              <a:t>larger</a:t>
            </a:r>
            <a:r>
              <a:rPr lang="en-US" dirty="0"/>
              <a:t> than the element's </a:t>
            </a:r>
            <a:br>
              <a:rPr lang="en-US" dirty="0"/>
            </a:br>
            <a:r>
              <a:rPr lang="en-US" b="1" dirty="0">
                <a:solidFill>
                  <a:schemeClr val="bg1"/>
                </a:solidFill>
              </a:rPr>
              <a:t>actual</a:t>
            </a:r>
            <a:r>
              <a:rPr lang="en-US" dirty="0"/>
              <a:t> height, the min height will </a:t>
            </a:r>
            <a:br>
              <a:rPr lang="en-US" dirty="0"/>
            </a:br>
            <a:r>
              <a:rPr lang="en-US" dirty="0"/>
              <a:t>be applied</a:t>
            </a:r>
            <a:endParaRPr lang="en-US" b="1" dirty="0">
              <a:solidFill>
                <a:schemeClr val="bg1"/>
              </a:solidFill>
            </a:endParaRPr>
          </a:p>
          <a:p>
            <a:pPr lvl="1">
              <a:buClr>
                <a:schemeClr val="tx1"/>
              </a:buClr>
            </a:pPr>
            <a:r>
              <a:rPr lang="en-US" b="1" dirty="0">
                <a:solidFill>
                  <a:schemeClr val="bg1"/>
                </a:solidFill>
                <a:latin typeface="Consolas" panose="020B0609020204030204" pitchFamily="49" charset="0"/>
              </a:rPr>
              <a:t>min-height:</a:t>
            </a:r>
            <a:r>
              <a:rPr lang="en-US" dirty="0"/>
              <a:t> </a:t>
            </a:r>
            <a:r>
              <a:rPr lang="en-US" b="1" dirty="0">
                <a:solidFill>
                  <a:schemeClr val="bg1"/>
                </a:solidFill>
                <a:latin typeface="Consolas" panose="020B0609020204030204" pitchFamily="49" charset="0"/>
              </a:rPr>
              <a:t>5px;</a:t>
            </a:r>
            <a:r>
              <a:rPr lang="en-US" dirty="0"/>
              <a:t> - if the </a:t>
            </a:r>
            <a:r>
              <a:rPr lang="en-US" b="1" dirty="0">
                <a:solidFill>
                  <a:schemeClr val="bg1"/>
                </a:solidFill>
              </a:rPr>
              <a:t>minimum </a:t>
            </a:r>
            <a:br>
              <a:rPr lang="en-US" dirty="0"/>
            </a:br>
            <a:r>
              <a:rPr lang="en-US" dirty="0"/>
              <a:t>height is </a:t>
            </a:r>
            <a:r>
              <a:rPr lang="en-US" b="1" dirty="0">
                <a:solidFill>
                  <a:schemeClr val="bg1"/>
                </a:solidFill>
              </a:rPr>
              <a:t>smaller</a:t>
            </a:r>
            <a:r>
              <a:rPr lang="en-US" dirty="0"/>
              <a:t> than the element's </a:t>
            </a:r>
            <a:br>
              <a:rPr lang="en-US" dirty="0"/>
            </a:br>
            <a:r>
              <a:rPr lang="en-US" b="1" dirty="0">
                <a:solidFill>
                  <a:schemeClr val="bg1"/>
                </a:solidFill>
              </a:rPr>
              <a:t>actual</a:t>
            </a:r>
            <a:r>
              <a:rPr lang="en-US" dirty="0"/>
              <a:t> height, the min height has </a:t>
            </a:r>
            <a:br>
              <a:rPr lang="en-US" dirty="0"/>
            </a:br>
            <a:r>
              <a:rPr lang="en-US" b="1" dirty="0">
                <a:solidFill>
                  <a:schemeClr val="bg1"/>
                </a:solidFill>
              </a:rPr>
              <a:t>no effect</a:t>
            </a:r>
            <a:endParaRPr lang="bg-BG" dirty="0"/>
          </a:p>
        </p:txBody>
      </p:sp>
      <p:pic>
        <p:nvPicPr>
          <p:cNvPr id="8" name="Picture 7">
            <a:extLst>
              <a:ext uri="{FF2B5EF4-FFF2-40B4-BE49-F238E27FC236}">
                <a16:creationId xmlns:a16="http://schemas.microsoft.com/office/drawing/2014/main" id="{017F3CAF-4B46-4DDA-A49A-0C89174D58D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256000" y="1959912"/>
            <a:ext cx="3518677" cy="2217727"/>
          </a:xfrm>
          <a:prstGeom prst="rect">
            <a:avLst/>
          </a:prstGeom>
          <a:ln>
            <a:noFill/>
          </a:ln>
          <a:effectLst>
            <a:outerShdw blurRad="292100" dist="139700" dir="2700000" algn="tl" rotWithShape="0">
              <a:srgbClr val="333333">
                <a:alpha val="65000"/>
              </a:srgbClr>
            </a:outerShdw>
          </a:effectLst>
        </p:spPr>
      </p:pic>
      <p:pic>
        <p:nvPicPr>
          <p:cNvPr id="9" name="Picture 8">
            <a:extLst>
              <a:ext uri="{FF2B5EF4-FFF2-40B4-BE49-F238E27FC236}">
                <a16:creationId xmlns:a16="http://schemas.microsoft.com/office/drawing/2014/main" id="{D101780C-10BE-47C3-970C-7241B316204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56000" y="4284000"/>
            <a:ext cx="3496139" cy="1877462"/>
          </a:xfrm>
          <a:prstGeom prst="rect">
            <a:avLst/>
          </a:prstGeom>
          <a:ln>
            <a:noFill/>
          </a:ln>
          <a:effectLst>
            <a:outerShdw blurRad="292100" dist="139700" dir="2700000" algn="tl" rotWithShape="0">
              <a:srgbClr val="333333">
                <a:alpha val="65000"/>
              </a:srgbClr>
            </a:outerShdw>
          </a:effectLst>
        </p:spPr>
      </p:pic>
      <p:sp>
        <p:nvSpPr>
          <p:cNvPr id="10" name="Slide Number">
            <a:extLst>
              <a:ext uri="{FF2B5EF4-FFF2-40B4-BE49-F238E27FC236}">
                <a16:creationId xmlns:a16="http://schemas.microsoft.com/office/drawing/2014/main" id="{9DDAEF73-D1EA-4E13-A7AB-7998FBB0707D}"/>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21</a:t>
            </a:fld>
            <a:endParaRPr lang="en-US" noProof="0" dirty="0"/>
          </a:p>
        </p:txBody>
      </p:sp>
    </p:spTree>
    <p:extLst>
      <p:ext uri="{BB962C8B-B14F-4D97-AF65-F5344CB8AC3E}">
        <p14:creationId xmlns:p14="http://schemas.microsoft.com/office/powerpoint/2010/main" val="4105499562"/>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Max-height</a:t>
            </a:r>
          </a:p>
        </p:txBody>
      </p:sp>
      <p:sp>
        <p:nvSpPr>
          <p:cNvPr id="3" name="Text Placeholder 2"/>
          <p:cNvSpPr>
            <a:spLocks noGrp="1"/>
          </p:cNvSpPr>
          <p:nvPr>
            <p:ph type="body" sz="quarter" idx="10"/>
          </p:nvPr>
        </p:nvSpPr>
        <p:spPr>
          <a:xfrm>
            <a:off x="190402" y="1196125"/>
            <a:ext cx="11844494" cy="5528766"/>
          </a:xfrm>
        </p:spPr>
        <p:txBody>
          <a:bodyPr>
            <a:normAutofit/>
          </a:bodyPr>
          <a:lstStyle/>
          <a:p>
            <a:pPr>
              <a:buClr>
                <a:schemeClr val="tx1"/>
              </a:buClr>
            </a:pPr>
            <a:r>
              <a:rPr lang="en-US" b="1" dirty="0">
                <a:solidFill>
                  <a:schemeClr val="bg1"/>
                </a:solidFill>
              </a:rPr>
              <a:t>Max-height</a:t>
            </a:r>
            <a:r>
              <a:rPr lang="en-US" dirty="0"/>
              <a:t> - defines the maximum height the element can be</a:t>
            </a:r>
            <a:endParaRPr lang="en-US" b="1" dirty="0">
              <a:solidFill>
                <a:schemeClr val="bg1"/>
              </a:solidFill>
            </a:endParaRPr>
          </a:p>
          <a:p>
            <a:pPr lvl="1">
              <a:buClr>
                <a:schemeClr val="tx1"/>
              </a:buClr>
            </a:pPr>
            <a:r>
              <a:rPr lang="en-US" b="1" dirty="0">
                <a:solidFill>
                  <a:schemeClr val="bg1"/>
                </a:solidFill>
                <a:latin typeface="Consolas" panose="020B0609020204030204" pitchFamily="49" charset="0"/>
              </a:rPr>
              <a:t>max-height:</a:t>
            </a:r>
            <a:r>
              <a:rPr lang="en-US" b="1" dirty="0">
                <a:solidFill>
                  <a:schemeClr val="bg1"/>
                </a:solidFill>
              </a:rPr>
              <a:t> </a:t>
            </a:r>
            <a:r>
              <a:rPr lang="en-US" b="1" dirty="0">
                <a:solidFill>
                  <a:schemeClr val="bg1"/>
                </a:solidFill>
                <a:latin typeface="Consolas" panose="020B0609020204030204" pitchFamily="49" charset="0"/>
              </a:rPr>
              <a:t>none;</a:t>
            </a:r>
            <a:r>
              <a:rPr lang="en-US" b="1" dirty="0">
                <a:solidFill>
                  <a:schemeClr val="bg1"/>
                </a:solidFill>
              </a:rPr>
              <a:t> </a:t>
            </a:r>
            <a:r>
              <a:rPr lang="en-US" dirty="0"/>
              <a:t>-</a:t>
            </a:r>
            <a:r>
              <a:rPr lang="en-US" b="1" dirty="0">
                <a:solidFill>
                  <a:schemeClr val="bg1"/>
                </a:solidFill>
              </a:rPr>
              <a:t> </a:t>
            </a:r>
            <a:r>
              <a:rPr lang="en-US" dirty="0"/>
              <a:t>the element has </a:t>
            </a:r>
            <a:r>
              <a:rPr lang="en-US" b="1" dirty="0">
                <a:solidFill>
                  <a:schemeClr val="bg1"/>
                </a:solidFill>
              </a:rPr>
              <a:t>no limit</a:t>
            </a:r>
            <a:r>
              <a:rPr lang="en-US" dirty="0"/>
              <a:t> in terms </a:t>
            </a:r>
            <a:br>
              <a:rPr lang="en-US" dirty="0"/>
            </a:br>
            <a:r>
              <a:rPr lang="en-US" dirty="0"/>
              <a:t>of height</a:t>
            </a:r>
            <a:endParaRPr lang="en-US" b="1" dirty="0">
              <a:solidFill>
                <a:schemeClr val="bg1"/>
              </a:solidFill>
            </a:endParaRPr>
          </a:p>
          <a:p>
            <a:pPr lvl="1">
              <a:buClr>
                <a:schemeClr val="tx1"/>
              </a:buClr>
            </a:pPr>
            <a:r>
              <a:rPr lang="en-US" b="1" dirty="0">
                <a:solidFill>
                  <a:schemeClr val="bg1"/>
                </a:solidFill>
                <a:latin typeface="Consolas" panose="020B0609020204030204" pitchFamily="49" charset="0"/>
              </a:rPr>
              <a:t>max-height:</a:t>
            </a:r>
            <a:r>
              <a:rPr lang="en-US" b="1" dirty="0">
                <a:solidFill>
                  <a:schemeClr val="bg1"/>
                </a:solidFill>
              </a:rPr>
              <a:t> </a:t>
            </a:r>
            <a:r>
              <a:rPr lang="en-US" b="1" dirty="0">
                <a:solidFill>
                  <a:schemeClr val="bg1"/>
                </a:solidFill>
                <a:latin typeface="Consolas" panose="020B0609020204030204" pitchFamily="49" charset="0"/>
              </a:rPr>
              <a:t>2000px;</a:t>
            </a:r>
            <a:r>
              <a:rPr lang="en-US" b="1" dirty="0">
                <a:solidFill>
                  <a:schemeClr val="bg1"/>
                </a:solidFill>
              </a:rPr>
              <a:t> </a:t>
            </a:r>
            <a:r>
              <a:rPr lang="en-US" b="1" dirty="0"/>
              <a:t>-</a:t>
            </a:r>
            <a:r>
              <a:rPr lang="en-US" b="1" dirty="0">
                <a:solidFill>
                  <a:schemeClr val="bg1"/>
                </a:solidFill>
              </a:rPr>
              <a:t> </a:t>
            </a:r>
            <a:r>
              <a:rPr lang="en-US" dirty="0"/>
              <a:t>if the</a:t>
            </a:r>
            <a:br>
              <a:rPr lang="bg-BG" dirty="0"/>
            </a:br>
            <a:r>
              <a:rPr lang="en-US" b="1" dirty="0">
                <a:solidFill>
                  <a:schemeClr val="bg1"/>
                </a:solidFill>
              </a:rPr>
              <a:t>maximum </a:t>
            </a:r>
            <a:r>
              <a:rPr lang="en-US" dirty="0"/>
              <a:t>height is </a:t>
            </a:r>
            <a:r>
              <a:rPr lang="en-US" b="1" dirty="0">
                <a:solidFill>
                  <a:schemeClr val="bg1"/>
                </a:solidFill>
              </a:rPr>
              <a:t>larger</a:t>
            </a:r>
            <a:r>
              <a:rPr lang="en-US" dirty="0"/>
              <a:t> </a:t>
            </a:r>
            <a:br>
              <a:rPr lang="bg-BG" dirty="0"/>
            </a:br>
            <a:r>
              <a:rPr lang="en-US" dirty="0"/>
              <a:t>than the element's </a:t>
            </a:r>
            <a:r>
              <a:rPr lang="en-US" b="1" dirty="0">
                <a:solidFill>
                  <a:schemeClr val="bg1"/>
                </a:solidFill>
              </a:rPr>
              <a:t>actual</a:t>
            </a:r>
            <a:r>
              <a:rPr lang="en-US" dirty="0"/>
              <a:t> height,</a:t>
            </a:r>
            <a:br>
              <a:rPr lang="bg-BG" dirty="0"/>
            </a:br>
            <a:r>
              <a:rPr lang="en-US" dirty="0"/>
              <a:t>the max height has </a:t>
            </a:r>
            <a:r>
              <a:rPr lang="en-US" b="1" dirty="0">
                <a:solidFill>
                  <a:schemeClr val="bg1"/>
                </a:solidFill>
              </a:rPr>
              <a:t>no effect</a:t>
            </a:r>
            <a:endParaRPr lang="bg-BG"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51650" y="3251200"/>
            <a:ext cx="5037326" cy="2711450"/>
          </a:xfrm>
          <a:prstGeom prst="rect">
            <a:avLst/>
          </a:prstGeom>
          <a:ln>
            <a:noFill/>
          </a:ln>
          <a:effectLst>
            <a:outerShdw blurRad="292100" dist="139700" dir="2700000" algn="tl" rotWithShape="0">
              <a:srgbClr val="333333">
                <a:alpha val="65000"/>
              </a:srgbClr>
            </a:outerShdw>
          </a:effectLst>
        </p:spPr>
      </p:pic>
      <p:sp>
        <p:nvSpPr>
          <p:cNvPr id="7" name="Slide Number">
            <a:extLst>
              <a:ext uri="{FF2B5EF4-FFF2-40B4-BE49-F238E27FC236}">
                <a16:creationId xmlns:a16="http://schemas.microsoft.com/office/drawing/2014/main" id="{F65D0831-6AEB-4E8E-9468-C9119AAAF4D7}"/>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22</a:t>
            </a:fld>
            <a:endParaRPr lang="en-US" noProof="0" dirty="0"/>
          </a:p>
        </p:txBody>
      </p:sp>
    </p:spTree>
    <p:extLst>
      <p:ext uri="{BB962C8B-B14F-4D97-AF65-F5344CB8AC3E}">
        <p14:creationId xmlns:p14="http://schemas.microsoft.com/office/powerpoint/2010/main" val="3483004311"/>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 Number">
            <a:extLst>
              <a:ext uri="{FF2B5EF4-FFF2-40B4-BE49-F238E27FC236}">
                <a16:creationId xmlns:a16="http://schemas.microsoft.com/office/drawing/2014/main" id="{3B612751-A5D8-49FA-91DB-8F01617C2156}"/>
              </a:ext>
            </a:extLst>
          </p:cNvPr>
          <p:cNvSpPr>
            <a:spLocks noGrp="1"/>
          </p:cNvSpPr>
          <p:nvPr>
            <p:ph type="sldNum" sz="quarter" idx="5"/>
          </p:nvPr>
        </p:nvSpPr>
        <p:spPr>
          <a:prstGeom prst="rect">
            <a:avLst/>
          </a:prstGeom>
        </p:spPr>
        <p:txBody>
          <a:bodyPr vert="horz" lIns="91440" tIns="45720" rIns="91440" bIns="45720" rtlCol="0" anchor="b"/>
          <a:lstStyle>
            <a:lvl1pPr algn="r">
              <a:defRPr sz="1000"/>
            </a:lvl1pPr>
          </a:lstStyle>
          <a:p>
            <a:fld id="{2BF067CD-8E6B-4360-9AA8-C5DF2A48A6D1}" type="slidenum">
              <a:rPr lang="en-US" noProof="0" smtClean="0"/>
              <a:pPr/>
              <a:t>23</a:t>
            </a:fld>
            <a:endParaRPr lang="en-US" noProof="0" dirty="0"/>
          </a:p>
        </p:txBody>
      </p:sp>
      <p:sp>
        <p:nvSpPr>
          <p:cNvPr id="11" name="Title 3"/>
          <p:cNvSpPr>
            <a:spLocks noGrp="1"/>
          </p:cNvSpPr>
          <p:nvPr>
            <p:ph type="title"/>
          </p:nvPr>
        </p:nvSpPr>
        <p:spPr/>
        <p:txBody>
          <a:bodyPr/>
          <a:lstStyle/>
          <a:p>
            <a:r>
              <a:rPr lang="en-US" dirty="0"/>
              <a:t>Margins and Paddings</a:t>
            </a:r>
            <a:endParaRPr lang="en-GB" dirty="0"/>
          </a:p>
        </p:txBody>
      </p:sp>
      <p:pic>
        <p:nvPicPr>
          <p:cNvPr id="13" name="Picture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26241" y="1449000"/>
            <a:ext cx="8739517" cy="2687765"/>
          </a:xfrm>
          <a:prstGeom prst="rect">
            <a:avLst/>
          </a:prstGeom>
          <a:ln>
            <a:noFill/>
          </a:ln>
          <a:effectLst>
            <a:outerShdw blurRad="292100" dist="139700" dir="2700000" algn="tl" rotWithShape="0">
              <a:srgbClr val="333333">
                <a:alpha val="65000"/>
              </a:srgbClr>
            </a:outerShdw>
          </a:effectLst>
        </p:spPr>
      </p:pic>
      <p:grpSp>
        <p:nvGrpSpPr>
          <p:cNvPr id="4" name="Group 3">
            <a:extLst>
              <a:ext uri="{FF2B5EF4-FFF2-40B4-BE49-F238E27FC236}">
                <a16:creationId xmlns:a16="http://schemas.microsoft.com/office/drawing/2014/main" id="{B2FECAA8-D16F-4CBB-AC0C-CC2A2FB78176}"/>
              </a:ext>
            </a:extLst>
          </p:cNvPr>
          <p:cNvGrpSpPr/>
          <p:nvPr/>
        </p:nvGrpSpPr>
        <p:grpSpPr>
          <a:xfrm>
            <a:off x="1969936" y="4290087"/>
            <a:ext cx="8204200" cy="2033718"/>
            <a:chOff x="1785106" y="4742831"/>
            <a:chExt cx="8204200" cy="2033718"/>
          </a:xfrm>
        </p:grpSpPr>
        <p:sp>
          <p:nvSpPr>
            <p:cNvPr id="20" name="AutoShape 7"/>
            <p:cNvSpPr>
              <a:spLocks noChangeArrowheads="1"/>
            </p:cNvSpPr>
            <p:nvPr/>
          </p:nvSpPr>
          <p:spPr bwMode="auto">
            <a:xfrm>
              <a:off x="2855766" y="4742831"/>
              <a:ext cx="2184400" cy="537256"/>
            </a:xfrm>
            <a:prstGeom prst="wedgeRoundRectCallout">
              <a:avLst>
                <a:gd name="adj1" fmla="val 60660"/>
                <a:gd name="adj2" fmla="val 38559"/>
                <a:gd name="adj3" fmla="val 16667"/>
              </a:avLst>
            </a:prstGeom>
            <a:solidFill>
              <a:schemeClr val="dk2">
                <a:alpha val="80000"/>
              </a:schemeClr>
            </a:solidFill>
            <a:ln w="1905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r>
                <a:rPr lang="en-US" sz="2400" b="1" noProof="1">
                  <a:solidFill>
                    <a:schemeClr val="bg2"/>
                  </a:solidFill>
                  <a:effectLst>
                    <a:outerShdw blurRad="38100" dist="38100" dir="2700000" algn="tl">
                      <a:srgbClr val="000000">
                        <a:alpha val="43137"/>
                      </a:srgbClr>
                    </a:outerShdw>
                  </a:effectLst>
                  <a:latin typeface="Consolas" panose="020B0609020204030204" pitchFamily="49" charset="0"/>
                </a:rPr>
                <a:t>margin-top</a:t>
              </a:r>
            </a:p>
          </p:txBody>
        </p:sp>
        <p:sp>
          <p:nvSpPr>
            <p:cNvPr id="21" name="Текстово поле 20"/>
            <p:cNvSpPr txBox="1"/>
            <p:nvPr/>
          </p:nvSpPr>
          <p:spPr>
            <a:xfrm>
              <a:off x="1785106" y="4984223"/>
              <a:ext cx="7112000" cy="1695437"/>
            </a:xfrm>
            <a:prstGeom prst="rect">
              <a:avLst/>
            </a:prstGeom>
            <a:solidFill>
              <a:schemeClr val="accent6">
                <a:lumMod val="75000"/>
                <a:alpha val="15000"/>
              </a:schemeClr>
            </a:solidFill>
            <a:ln w="12700">
              <a:solidFill>
                <a:schemeClr val="tx1">
                  <a:lumMod val="75000"/>
                </a:schemeClr>
              </a:solidFill>
            </a:ln>
          </p:spPr>
          <p:txBody>
            <a:bodyPr vert="horz" wrap="square" lIns="144000" tIns="108000" rIns="144000" bIns="108000" rtlCol="0">
              <a:spAutoFit/>
            </a:bodyPr>
            <a:lstStyle/>
            <a:p>
              <a:r>
                <a:rPr lang="en-GB" sz="2400" b="1" dirty="0">
                  <a:solidFill>
                    <a:srgbClr val="800000"/>
                  </a:solidFill>
                  <a:latin typeface="Consolas" panose="020B0609020204030204" pitchFamily="49" charset="0"/>
                </a:rPr>
                <a:t>div</a:t>
              </a:r>
              <a:r>
                <a:rPr lang="en-GB" sz="2400" b="1" dirty="0">
                  <a:solidFill>
                    <a:srgbClr val="000000"/>
                  </a:solidFill>
                  <a:latin typeface="Consolas" panose="020B0609020204030204" pitchFamily="49" charset="0"/>
                </a:rPr>
                <a:t> { </a:t>
              </a:r>
            </a:p>
            <a:p>
              <a:r>
                <a:rPr lang="en-GB" sz="2400" b="1" dirty="0">
                  <a:solidFill>
                    <a:srgbClr val="000000"/>
                  </a:solidFill>
                  <a:latin typeface="Consolas" panose="020B0609020204030204" pitchFamily="49" charset="0"/>
                </a:rPr>
                <a:t>    </a:t>
              </a:r>
              <a:r>
                <a:rPr lang="en-GB" sz="2400" b="1" dirty="0">
                  <a:solidFill>
                    <a:srgbClr val="FF0000"/>
                  </a:solidFill>
                  <a:latin typeface="Consolas" panose="020B0609020204030204" pitchFamily="49" charset="0"/>
                </a:rPr>
                <a:t>margin</a:t>
              </a:r>
              <a:r>
                <a:rPr lang="en-GB" sz="2400" b="1" dirty="0">
                  <a:solidFill>
                    <a:srgbClr val="000000"/>
                  </a:solidFill>
                  <a:latin typeface="Consolas" panose="020B0609020204030204" pitchFamily="49" charset="0"/>
                </a:rPr>
                <a:t>: </a:t>
              </a:r>
              <a:r>
                <a:rPr lang="en-GB" sz="2400" b="1" dirty="0">
                  <a:solidFill>
                    <a:srgbClr val="098658"/>
                  </a:solidFill>
                  <a:latin typeface="Consolas" panose="020B0609020204030204" pitchFamily="49" charset="0"/>
                </a:rPr>
                <a:t>20px</a:t>
              </a:r>
              <a:r>
                <a:rPr lang="en-GB" sz="2400" b="1" dirty="0">
                  <a:solidFill>
                    <a:srgbClr val="000000"/>
                  </a:solidFill>
                  <a:latin typeface="Consolas" panose="020B0609020204030204" pitchFamily="49" charset="0"/>
                </a:rPr>
                <a:t> </a:t>
              </a:r>
              <a:r>
                <a:rPr lang="en-GB" sz="2400" b="1" dirty="0" err="1">
                  <a:solidFill>
                    <a:srgbClr val="098658"/>
                  </a:solidFill>
                  <a:latin typeface="Consolas" panose="020B0609020204030204" pitchFamily="49" charset="0"/>
                </a:rPr>
                <a:t>20px</a:t>
              </a:r>
              <a:r>
                <a:rPr lang="en-GB" sz="2400" b="1" dirty="0">
                  <a:solidFill>
                    <a:srgbClr val="000000"/>
                  </a:solidFill>
                  <a:latin typeface="Consolas" panose="020B0609020204030204" pitchFamily="49" charset="0"/>
                </a:rPr>
                <a:t> </a:t>
              </a:r>
              <a:r>
                <a:rPr lang="en-GB" sz="2400" b="1" dirty="0" err="1">
                  <a:solidFill>
                    <a:srgbClr val="098658"/>
                  </a:solidFill>
                  <a:latin typeface="Consolas" panose="020B0609020204030204" pitchFamily="49" charset="0"/>
                </a:rPr>
                <a:t>20px</a:t>
              </a:r>
              <a:r>
                <a:rPr lang="en-GB" sz="2400" b="1" dirty="0">
                  <a:solidFill>
                    <a:srgbClr val="000000"/>
                  </a:solidFill>
                  <a:latin typeface="Consolas" panose="020B0609020204030204" pitchFamily="49" charset="0"/>
                </a:rPr>
                <a:t> </a:t>
              </a:r>
              <a:r>
                <a:rPr lang="en-GB" sz="2400" b="1" dirty="0" err="1">
                  <a:solidFill>
                    <a:srgbClr val="098658"/>
                  </a:solidFill>
                  <a:latin typeface="Consolas" panose="020B0609020204030204" pitchFamily="49" charset="0"/>
                </a:rPr>
                <a:t>20px</a:t>
              </a:r>
              <a:r>
                <a:rPr lang="en-GB" sz="2400" b="1" dirty="0">
                  <a:solidFill>
                    <a:srgbClr val="000000"/>
                  </a:solidFill>
                  <a:latin typeface="Consolas" panose="020B0609020204030204" pitchFamily="49" charset="0"/>
                </a:rPr>
                <a:t>;</a:t>
              </a:r>
            </a:p>
            <a:p>
              <a:r>
                <a:rPr lang="en-GB" sz="2400" b="1" dirty="0">
                  <a:solidFill>
                    <a:srgbClr val="000000"/>
                  </a:solidFill>
                  <a:latin typeface="Consolas" panose="020B0609020204030204" pitchFamily="49" charset="0"/>
                </a:rPr>
                <a:t>    </a:t>
              </a:r>
              <a:r>
                <a:rPr lang="en-GB" sz="2400" b="1" dirty="0">
                  <a:solidFill>
                    <a:srgbClr val="FF0000"/>
                  </a:solidFill>
                  <a:latin typeface="Consolas" panose="020B0609020204030204" pitchFamily="49" charset="0"/>
                </a:rPr>
                <a:t>padding</a:t>
              </a:r>
              <a:r>
                <a:rPr lang="en-GB" sz="2400" b="1" dirty="0">
                  <a:solidFill>
                    <a:srgbClr val="000000"/>
                  </a:solidFill>
                  <a:latin typeface="Consolas" panose="020B0609020204030204" pitchFamily="49" charset="0"/>
                </a:rPr>
                <a:t>: </a:t>
              </a:r>
              <a:r>
                <a:rPr lang="en-GB" sz="2400" b="1" dirty="0">
                  <a:solidFill>
                    <a:srgbClr val="098658"/>
                  </a:solidFill>
                  <a:latin typeface="Consolas" panose="020B0609020204030204" pitchFamily="49" charset="0"/>
                </a:rPr>
                <a:t>30px</a:t>
              </a:r>
              <a:r>
                <a:rPr lang="en-GB" sz="2400" b="1" dirty="0">
                  <a:solidFill>
                    <a:srgbClr val="000000"/>
                  </a:solidFill>
                  <a:latin typeface="Consolas" panose="020B0609020204030204" pitchFamily="49" charset="0"/>
                </a:rPr>
                <a:t> </a:t>
              </a:r>
              <a:r>
                <a:rPr lang="en-GB" sz="2400" b="1" dirty="0" err="1">
                  <a:solidFill>
                    <a:srgbClr val="098658"/>
                  </a:solidFill>
                  <a:latin typeface="Consolas" panose="020B0609020204030204" pitchFamily="49" charset="0"/>
                </a:rPr>
                <a:t>30px</a:t>
              </a:r>
              <a:r>
                <a:rPr lang="en-GB" sz="2400" b="1" dirty="0">
                  <a:solidFill>
                    <a:srgbClr val="000000"/>
                  </a:solidFill>
                  <a:latin typeface="Consolas" panose="020B0609020204030204" pitchFamily="49" charset="0"/>
                </a:rPr>
                <a:t> </a:t>
              </a:r>
              <a:r>
                <a:rPr lang="en-GB" sz="2400" b="1" dirty="0" err="1">
                  <a:solidFill>
                    <a:srgbClr val="098658"/>
                  </a:solidFill>
                  <a:latin typeface="Consolas" panose="020B0609020204030204" pitchFamily="49" charset="0"/>
                </a:rPr>
                <a:t>30px</a:t>
              </a:r>
              <a:r>
                <a:rPr lang="en-GB" sz="2400" b="1" dirty="0">
                  <a:solidFill>
                    <a:srgbClr val="000000"/>
                  </a:solidFill>
                  <a:latin typeface="Consolas" panose="020B0609020204030204" pitchFamily="49" charset="0"/>
                </a:rPr>
                <a:t> </a:t>
              </a:r>
              <a:r>
                <a:rPr lang="en-GB" sz="2400" b="1" dirty="0" err="1">
                  <a:solidFill>
                    <a:srgbClr val="098658"/>
                  </a:solidFill>
                  <a:latin typeface="Consolas" panose="020B0609020204030204" pitchFamily="49" charset="0"/>
                </a:rPr>
                <a:t>30px</a:t>
              </a:r>
              <a:r>
                <a:rPr lang="en-GB" sz="2400" b="1" dirty="0">
                  <a:solidFill>
                    <a:srgbClr val="000000"/>
                  </a:solidFill>
                  <a:latin typeface="Consolas" panose="020B0609020204030204" pitchFamily="49" charset="0"/>
                </a:rPr>
                <a:t>;</a:t>
              </a:r>
            </a:p>
            <a:p>
              <a:r>
                <a:rPr lang="en-GB" sz="2400" b="1" dirty="0">
                  <a:solidFill>
                    <a:srgbClr val="000000"/>
                  </a:solidFill>
                  <a:latin typeface="Consolas" panose="020B0609020204030204" pitchFamily="49" charset="0"/>
                </a:rPr>
                <a:t>}</a:t>
              </a:r>
            </a:p>
          </p:txBody>
        </p:sp>
        <p:sp>
          <p:nvSpPr>
            <p:cNvPr id="12" name="AutoShape 7"/>
            <p:cNvSpPr>
              <a:spLocks noChangeArrowheads="1"/>
            </p:cNvSpPr>
            <p:nvPr/>
          </p:nvSpPr>
          <p:spPr bwMode="auto">
            <a:xfrm>
              <a:off x="5616195" y="6239293"/>
              <a:ext cx="2266950" cy="537256"/>
            </a:xfrm>
            <a:prstGeom prst="wedgeRoundRectCallout">
              <a:avLst>
                <a:gd name="adj1" fmla="val -58588"/>
                <a:gd name="adj2" fmla="val -42269"/>
                <a:gd name="adj3" fmla="val 16667"/>
              </a:avLst>
            </a:prstGeom>
            <a:solidFill>
              <a:schemeClr val="dk2">
                <a:alpha val="80000"/>
              </a:schemeClr>
            </a:solidFill>
            <a:ln w="1905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r>
                <a:rPr lang="en-US" sz="2400" b="1" noProof="1">
                  <a:solidFill>
                    <a:schemeClr val="bg2"/>
                  </a:solidFill>
                  <a:effectLst>
                    <a:outerShdw blurRad="38100" dist="38100" dir="2700000" algn="tl">
                      <a:srgbClr val="000000">
                        <a:alpha val="43137"/>
                      </a:srgbClr>
                    </a:outerShdw>
                  </a:effectLst>
                  <a:latin typeface="Consolas" panose="020B0609020204030204" pitchFamily="49" charset="0"/>
                </a:rPr>
                <a:t>margin-right</a:t>
              </a:r>
            </a:p>
          </p:txBody>
        </p:sp>
        <p:sp>
          <p:nvSpPr>
            <p:cNvPr id="16" name="AutoShape 7"/>
            <p:cNvSpPr>
              <a:spLocks noChangeArrowheads="1"/>
            </p:cNvSpPr>
            <p:nvPr/>
          </p:nvSpPr>
          <p:spPr bwMode="auto">
            <a:xfrm>
              <a:off x="7804906" y="5477444"/>
              <a:ext cx="2184400" cy="537256"/>
            </a:xfrm>
            <a:prstGeom prst="wedgeRoundRectCallout">
              <a:avLst>
                <a:gd name="adj1" fmla="val -62806"/>
                <a:gd name="adj2" fmla="val -16232"/>
                <a:gd name="adj3" fmla="val 16667"/>
              </a:avLst>
            </a:prstGeom>
            <a:solidFill>
              <a:schemeClr val="dk2">
                <a:alpha val="80000"/>
              </a:schemeClr>
            </a:solidFill>
            <a:ln w="1905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r>
                <a:rPr lang="en-US" sz="2400" b="1" noProof="1">
                  <a:solidFill>
                    <a:schemeClr val="bg2"/>
                  </a:solidFill>
                  <a:effectLst>
                    <a:outerShdw blurRad="38100" dist="38100" dir="2700000" algn="tl">
                      <a:srgbClr val="000000">
                        <a:alpha val="43137"/>
                      </a:srgbClr>
                    </a:outerShdw>
                  </a:effectLst>
                  <a:latin typeface="Consolas" panose="020B0609020204030204" pitchFamily="49" charset="0"/>
                </a:rPr>
                <a:t>margin-left</a:t>
              </a:r>
            </a:p>
          </p:txBody>
        </p:sp>
        <p:sp>
          <p:nvSpPr>
            <p:cNvPr id="22" name="AutoShape 7"/>
            <p:cNvSpPr>
              <a:spLocks noChangeArrowheads="1"/>
            </p:cNvSpPr>
            <p:nvPr/>
          </p:nvSpPr>
          <p:spPr bwMode="auto">
            <a:xfrm>
              <a:off x="6103217" y="4742831"/>
              <a:ext cx="2667000" cy="537256"/>
            </a:xfrm>
            <a:prstGeom prst="wedgeRoundRectCallout">
              <a:avLst>
                <a:gd name="adj1" fmla="val -53992"/>
                <a:gd name="adj2" fmla="val 43038"/>
                <a:gd name="adj3" fmla="val 16667"/>
              </a:avLst>
            </a:prstGeom>
            <a:solidFill>
              <a:schemeClr val="dk2">
                <a:alpha val="80000"/>
              </a:schemeClr>
            </a:solidFill>
            <a:ln w="1905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r>
                <a:rPr lang="en-US" sz="2400" b="1" noProof="1">
                  <a:solidFill>
                    <a:schemeClr val="bg2"/>
                  </a:solidFill>
                  <a:effectLst>
                    <a:outerShdw blurRad="38100" dist="38100" dir="2700000" algn="tl">
                      <a:srgbClr val="000000">
                        <a:alpha val="43137"/>
                      </a:srgbClr>
                    </a:outerShdw>
                  </a:effectLst>
                  <a:latin typeface="Consolas" panose="020B0609020204030204" pitchFamily="49" charset="0"/>
                </a:rPr>
                <a:t>margin-bottom</a:t>
              </a:r>
            </a:p>
          </p:txBody>
        </p:sp>
      </p:grpSp>
      <p:sp>
        <p:nvSpPr>
          <p:cNvPr id="23" name="AutoShape 7"/>
          <p:cNvSpPr>
            <a:spLocks noChangeArrowheads="1"/>
          </p:cNvSpPr>
          <p:nvPr/>
        </p:nvSpPr>
        <p:spPr bwMode="auto">
          <a:xfrm>
            <a:off x="9373558" y="3294000"/>
            <a:ext cx="2184400" cy="537256"/>
          </a:xfrm>
          <a:prstGeom prst="wedgeRoundRectCallout">
            <a:avLst>
              <a:gd name="adj1" fmla="val -61774"/>
              <a:gd name="adj2" fmla="val -46531"/>
              <a:gd name="adj3" fmla="val 16667"/>
            </a:avLst>
          </a:prstGeom>
          <a:solidFill>
            <a:schemeClr val="dk2">
              <a:alpha val="80000"/>
            </a:schemeClr>
          </a:solidFill>
          <a:ln w="1905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r>
              <a:rPr lang="en-US" sz="2400" b="1" noProof="1">
                <a:solidFill>
                  <a:schemeClr val="bg2"/>
                </a:solidFill>
                <a:effectLst>
                  <a:outerShdw blurRad="38100" dist="38100" dir="2700000" algn="tl">
                    <a:srgbClr val="000000">
                      <a:alpha val="43137"/>
                    </a:srgbClr>
                  </a:outerShdw>
                </a:effectLst>
                <a:latin typeface="Consolas" panose="020B0609020204030204" pitchFamily="49" charset="0"/>
              </a:rPr>
              <a:t>padding</a:t>
            </a:r>
          </a:p>
        </p:txBody>
      </p:sp>
      <p:sp>
        <p:nvSpPr>
          <p:cNvPr id="24" name="AutoShape 7"/>
          <p:cNvSpPr>
            <a:spLocks noChangeArrowheads="1"/>
          </p:cNvSpPr>
          <p:nvPr/>
        </p:nvSpPr>
        <p:spPr bwMode="auto">
          <a:xfrm>
            <a:off x="634041" y="2394000"/>
            <a:ext cx="1428750" cy="537256"/>
          </a:xfrm>
          <a:prstGeom prst="wedgeRoundRectCallout">
            <a:avLst>
              <a:gd name="adj1" fmla="val 68072"/>
              <a:gd name="adj2" fmla="val 38075"/>
              <a:gd name="adj3" fmla="val 16667"/>
            </a:avLst>
          </a:prstGeom>
          <a:solidFill>
            <a:schemeClr val="dk2">
              <a:alpha val="80000"/>
            </a:schemeClr>
          </a:solidFill>
          <a:ln w="1905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r>
              <a:rPr lang="en-US" sz="2400" b="1" noProof="1">
                <a:solidFill>
                  <a:schemeClr val="bg2"/>
                </a:solidFill>
                <a:effectLst>
                  <a:outerShdw blurRad="38100" dist="38100" dir="2700000" algn="tl">
                    <a:srgbClr val="000000">
                      <a:alpha val="43137"/>
                    </a:srgbClr>
                  </a:outerShdw>
                </a:effectLst>
                <a:latin typeface="Consolas" panose="020B0609020204030204" pitchFamily="49" charset="0"/>
              </a:rPr>
              <a:t>margin</a:t>
            </a:r>
          </a:p>
        </p:txBody>
      </p:sp>
    </p:spTree>
    <p:extLst>
      <p:ext uri="{BB962C8B-B14F-4D97-AF65-F5344CB8AC3E}">
        <p14:creationId xmlns:p14="http://schemas.microsoft.com/office/powerpoint/2010/main" val="1593335141"/>
      </p:ext>
    </p:extLst>
  </p:cSld>
  <p:clrMapOvr>
    <a:masterClrMapping/>
  </p:clrMapOvr>
  <mc:AlternateContent xmlns:mc="http://schemas.openxmlformats.org/markup-compatibility/2006" xmlns:p14="http://schemas.microsoft.com/office/powerpoint/2010/main">
    <mc:Choice Requires="p14">
      <p:transition p14:dur="0" advClick="0" advTm="5000"/>
    </mc:Choice>
    <mc:Fallback xmlns="">
      <p:transition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0"/>
          </p:nvPr>
        </p:nvSpPr>
        <p:spPr>
          <a:xfrm>
            <a:off x="191941" y="1196707"/>
            <a:ext cx="6308955" cy="5527326"/>
          </a:xfrm>
        </p:spPr>
        <p:txBody>
          <a:bodyPr/>
          <a:lstStyle/>
          <a:p>
            <a:pPr>
              <a:lnSpc>
                <a:spcPct val="100000"/>
              </a:lnSpc>
              <a:spcBef>
                <a:spcPts val="0"/>
              </a:spcBef>
              <a:spcAft>
                <a:spcPts val="0"/>
              </a:spcAft>
              <a:buClr>
                <a:schemeClr val="tx1"/>
              </a:buClr>
            </a:pPr>
            <a:r>
              <a:rPr lang="en-US" b="1" dirty="0">
                <a:solidFill>
                  <a:schemeClr val="bg1"/>
                </a:solidFill>
              </a:rPr>
              <a:t>Margin</a:t>
            </a:r>
            <a:r>
              <a:rPr lang="en-US" dirty="0"/>
              <a:t> – </a:t>
            </a:r>
            <a:r>
              <a:rPr lang="en-US" sz="3199" dirty="0"/>
              <a:t>defines the space </a:t>
            </a:r>
            <a:r>
              <a:rPr lang="en-US" sz="3199" b="1" dirty="0">
                <a:solidFill>
                  <a:schemeClr val="bg1"/>
                </a:solidFill>
              </a:rPr>
              <a:t>outside</a:t>
            </a:r>
            <a:r>
              <a:rPr lang="en-US" sz="3199" dirty="0"/>
              <a:t> the element</a:t>
            </a:r>
            <a:endParaRPr lang="en-US" dirty="0"/>
          </a:p>
        </p:txBody>
      </p:sp>
      <p:sp>
        <p:nvSpPr>
          <p:cNvPr id="11" name="Title 3"/>
          <p:cNvSpPr>
            <a:spLocks noGrp="1"/>
          </p:cNvSpPr>
          <p:nvPr>
            <p:ph type="title"/>
          </p:nvPr>
        </p:nvSpPr>
        <p:spPr/>
        <p:txBody>
          <a:bodyPr/>
          <a:lstStyle/>
          <a:p>
            <a:r>
              <a:rPr lang="en-US"/>
              <a:t>Margins and Paddings</a:t>
            </a:r>
            <a:endParaRPr lang="en-GB" dirty="0"/>
          </a:p>
        </p:txBody>
      </p:sp>
      <p:pic>
        <p:nvPicPr>
          <p:cNvPr id="2054" name="Picture 6" descr="https://blog.hubspot.com/hs-fs/hubfs/Google%20Drive%20Integration/Update%20css%20margin%20vs%20padding-4.png?width=400&amp;name=Update%20css%20margin%20vs%20padding-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95765" y="2489701"/>
            <a:ext cx="4088478" cy="408847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17" name="Text Placeholder 5"/>
          <p:cNvSpPr txBox="1">
            <a:spLocks/>
          </p:cNvSpPr>
          <p:nvPr/>
        </p:nvSpPr>
        <p:spPr>
          <a:xfrm>
            <a:off x="6230965" y="1196708"/>
            <a:ext cx="5352234" cy="5176581"/>
          </a:xfrm>
          <a:prstGeom prst="rect">
            <a:avLst/>
          </a:prstGeom>
        </p:spPr>
        <p:txBody>
          <a:bodyPr vert="horz" lIns="107972" tIns="35991" rIns="107972" bIns="35991" rtlCol="0">
            <a:normAutofit/>
          </a:bodyPr>
          <a:lstStyle>
            <a:lvl1pPr marL="360363" indent="-360363" algn="l" defTabSz="1218438" rtl="0" eaLnBrk="1" latinLnBrk="0" hangingPunct="1">
              <a:lnSpc>
                <a:spcPct val="105000"/>
              </a:lnSpc>
              <a:spcBef>
                <a:spcPts val="600"/>
              </a:spcBef>
              <a:spcAft>
                <a:spcPts val="600"/>
              </a:spcAft>
              <a:buFont typeface="Wingdings" panose="05000000000000000000" pitchFamily="2" charset="2"/>
              <a:buChar char="§"/>
              <a:defRPr sz="3398" kern="1200">
                <a:solidFill>
                  <a:schemeClr val="tx1"/>
                </a:solidFill>
                <a:latin typeface="+mn-lt"/>
                <a:ea typeface="+mn-ea"/>
                <a:cs typeface="+mn-cs"/>
              </a:defRPr>
            </a:lvl1pPr>
            <a:lvl2pPr marL="803275" indent="-360363" algn="l" defTabSz="1218438" rtl="0" eaLnBrk="1" latinLnBrk="0" hangingPunct="1">
              <a:lnSpc>
                <a:spcPct val="105000"/>
              </a:lnSpc>
              <a:spcBef>
                <a:spcPts val="600"/>
              </a:spcBef>
              <a:spcAft>
                <a:spcPts val="600"/>
              </a:spcAft>
              <a:buFont typeface="Wingdings" panose="05000000000000000000" pitchFamily="2" charset="2"/>
              <a:buChar char="§"/>
              <a:defRPr sz="3198" kern="1200">
                <a:solidFill>
                  <a:schemeClr val="tx1"/>
                </a:solidFill>
                <a:latin typeface="+mn-lt"/>
                <a:ea typeface="+mn-ea"/>
                <a:cs typeface="+mn-cs"/>
              </a:defRPr>
            </a:lvl2pPr>
            <a:lvl3pPr marL="1255713" indent="-360363" algn="l" defTabSz="1218438" rtl="0" eaLnBrk="1" latinLnBrk="0" hangingPunct="1">
              <a:lnSpc>
                <a:spcPct val="105000"/>
              </a:lnSpc>
              <a:spcBef>
                <a:spcPts val="600"/>
              </a:spcBef>
              <a:spcAft>
                <a:spcPts val="600"/>
              </a:spcAft>
              <a:buFont typeface="Wingdings" panose="05000000000000000000" pitchFamily="2" charset="2"/>
              <a:buChar char="§"/>
              <a:defRPr sz="2998" kern="1200">
                <a:solidFill>
                  <a:schemeClr val="tx1"/>
                </a:solidFill>
                <a:latin typeface="+mn-lt"/>
                <a:ea typeface="+mn-ea"/>
                <a:cs typeface="+mn-cs"/>
              </a:defRPr>
            </a:lvl3pPr>
            <a:lvl4pPr marL="1700213" indent="-352425" algn="l" defTabSz="1218438" rtl="0" eaLnBrk="1" latinLnBrk="0" hangingPunct="1">
              <a:lnSpc>
                <a:spcPct val="105000"/>
              </a:lnSpc>
              <a:spcBef>
                <a:spcPts val="600"/>
              </a:spcBef>
              <a:spcAft>
                <a:spcPts val="600"/>
              </a:spcAft>
              <a:buFont typeface="Wingdings" panose="05000000000000000000" pitchFamily="2" charset="2"/>
              <a:buChar char="§"/>
              <a:defRPr sz="2798" kern="1200">
                <a:solidFill>
                  <a:schemeClr val="tx1"/>
                </a:solidFill>
                <a:latin typeface="+mn-lt"/>
                <a:ea typeface="+mn-ea"/>
                <a:cs typeface="+mn-cs"/>
              </a:defRPr>
            </a:lvl4pPr>
            <a:lvl5pPr marL="2058988" indent="-266700" algn="l" defTabSz="1218438" rtl="0" eaLnBrk="1" latinLnBrk="0" hangingPunct="1">
              <a:lnSpc>
                <a:spcPct val="105000"/>
              </a:lnSpc>
              <a:spcBef>
                <a:spcPts val="600"/>
              </a:spcBef>
              <a:spcAft>
                <a:spcPts val="600"/>
              </a:spcAft>
              <a:buFont typeface="Wingdings" panose="05000000000000000000" pitchFamily="2" charset="2"/>
              <a:buChar char="§"/>
              <a:defRPr sz="2598" kern="1200">
                <a:solidFill>
                  <a:schemeClr val="tx1"/>
                </a:solidFill>
                <a:latin typeface="+mn-lt"/>
                <a:ea typeface="+mn-ea"/>
                <a:cs typeface="+mn-cs"/>
              </a:defRPr>
            </a:lvl5pPr>
            <a:lvl6pPr marL="3350704" indent="-304610" algn="l" defTabSz="1218438" rtl="0" eaLnBrk="1" latinLnBrk="1" hangingPunct="1">
              <a:spcBef>
                <a:spcPct val="20000"/>
              </a:spcBef>
              <a:buFont typeface="Arial" pitchFamily="34" charset="0"/>
              <a:buChar char="•"/>
              <a:defRPr sz="2665" kern="1200">
                <a:solidFill>
                  <a:schemeClr val="tx1"/>
                </a:solidFill>
                <a:latin typeface="+mn-lt"/>
                <a:ea typeface="+mn-ea"/>
                <a:cs typeface="+mn-cs"/>
              </a:defRPr>
            </a:lvl6pPr>
            <a:lvl7pPr marL="3959924" indent="-304610" algn="l" defTabSz="1218438" rtl="0" eaLnBrk="1" latinLnBrk="1" hangingPunct="1">
              <a:spcBef>
                <a:spcPct val="20000"/>
              </a:spcBef>
              <a:buFont typeface="Arial" pitchFamily="34" charset="0"/>
              <a:buChar char="•"/>
              <a:defRPr sz="2665" kern="1200">
                <a:solidFill>
                  <a:schemeClr val="tx1"/>
                </a:solidFill>
                <a:latin typeface="+mn-lt"/>
                <a:ea typeface="+mn-ea"/>
                <a:cs typeface="+mn-cs"/>
              </a:defRPr>
            </a:lvl7pPr>
            <a:lvl8pPr marL="4569143" indent="-304610" algn="l" defTabSz="1218438" rtl="0" eaLnBrk="1" latinLnBrk="1" hangingPunct="1">
              <a:spcBef>
                <a:spcPct val="20000"/>
              </a:spcBef>
              <a:buFont typeface="Arial" pitchFamily="34" charset="0"/>
              <a:buChar char="•"/>
              <a:defRPr sz="2665" kern="1200">
                <a:solidFill>
                  <a:schemeClr val="tx1"/>
                </a:solidFill>
                <a:latin typeface="+mn-lt"/>
                <a:ea typeface="+mn-ea"/>
                <a:cs typeface="+mn-cs"/>
              </a:defRPr>
            </a:lvl8pPr>
            <a:lvl9pPr marL="5178362" indent="-304610" algn="l" defTabSz="1218438" rtl="0" eaLnBrk="1" latinLnBrk="1" hangingPunct="1">
              <a:spcBef>
                <a:spcPct val="20000"/>
              </a:spcBef>
              <a:buFont typeface="Arial" pitchFamily="34" charset="0"/>
              <a:buChar char="•"/>
              <a:defRPr sz="2665" kern="1200">
                <a:solidFill>
                  <a:schemeClr val="tx1"/>
                </a:solidFill>
                <a:latin typeface="+mn-lt"/>
                <a:ea typeface="+mn-ea"/>
                <a:cs typeface="+mn-cs"/>
              </a:defRPr>
            </a:lvl9pPr>
          </a:lstStyle>
          <a:p>
            <a:pPr>
              <a:buClr>
                <a:schemeClr val="tx1"/>
              </a:buClr>
            </a:pPr>
            <a:r>
              <a:rPr lang="en-US" sz="3397" b="1" dirty="0">
                <a:solidFill>
                  <a:schemeClr val="bg1"/>
                </a:solidFill>
              </a:rPr>
              <a:t>Padding</a:t>
            </a:r>
            <a:r>
              <a:rPr lang="en-US" sz="3397" dirty="0"/>
              <a:t> – defines the space </a:t>
            </a:r>
            <a:r>
              <a:rPr lang="en-US" sz="3397" b="1" dirty="0">
                <a:solidFill>
                  <a:schemeClr val="bg1"/>
                </a:solidFill>
              </a:rPr>
              <a:t>inside</a:t>
            </a:r>
            <a:r>
              <a:rPr lang="en-US" sz="3397" dirty="0"/>
              <a:t> the element</a:t>
            </a:r>
          </a:p>
        </p:txBody>
      </p:sp>
      <p:pic>
        <p:nvPicPr>
          <p:cNvPr id="2056" name="Picture 8" descr="https://blog.hubspot.com/hs-fs/hubfs/Google%20Drive%20Integration/Update%20css%20margin%20vs%20padding.png?width=500&amp;name=Update%20css%20margin%20vs%20paddin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0165" y="2484246"/>
            <a:ext cx="4093934" cy="409393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9" name="Slide Number">
            <a:extLst>
              <a:ext uri="{FF2B5EF4-FFF2-40B4-BE49-F238E27FC236}">
                <a16:creationId xmlns:a16="http://schemas.microsoft.com/office/drawing/2014/main" id="{E2E7274E-34D8-42DE-BCF3-5D2EB524BB7B}"/>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24</a:t>
            </a:fld>
            <a:endParaRPr lang="en-US" noProof="0" dirty="0"/>
          </a:p>
        </p:txBody>
      </p:sp>
    </p:spTree>
    <p:extLst>
      <p:ext uri="{BB962C8B-B14F-4D97-AF65-F5344CB8AC3E}">
        <p14:creationId xmlns:p14="http://schemas.microsoft.com/office/powerpoint/2010/main" val="1854074947"/>
      </p:ext>
    </p:extLst>
  </p:cSld>
  <p:clrMapOvr>
    <a:masterClrMapping/>
  </p:clrMapOvr>
  <mc:AlternateContent xmlns:mc="http://schemas.openxmlformats.org/markup-compatibility/2006" xmlns:p14="http://schemas.microsoft.com/office/powerpoint/2010/main">
    <mc:Choice Requires="p14">
      <p:transition p14:dur="0" advClick="0" advTm="5000"/>
    </mc:Choice>
    <mc:Fallback xmlns="">
      <p:transition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Текстов контейнер 4">
            <a:extLst>
              <a:ext uri="{FF2B5EF4-FFF2-40B4-BE49-F238E27FC236}">
                <a16:creationId xmlns:a16="http://schemas.microsoft.com/office/drawing/2014/main" id="{1BDF1848-65DA-6AEB-6C1E-4A8B2155670D}"/>
              </a:ext>
            </a:extLst>
          </p:cNvPr>
          <p:cNvSpPr>
            <a:spLocks noGrp="1"/>
          </p:cNvSpPr>
          <p:nvPr>
            <p:ph type="body" sz="quarter" idx="10"/>
          </p:nvPr>
        </p:nvSpPr>
        <p:spPr/>
        <p:txBody>
          <a:bodyPr/>
          <a:lstStyle/>
          <a:p>
            <a:r>
              <a:rPr lang="en-US" sz="3600" b="0" dirty="0"/>
              <a:t>The margin CSS property sets the margin area on all four sides of an element. It is a shorthand for margin-top, margin-right, margin-bottom, and margin-left</a:t>
            </a:r>
          </a:p>
          <a:p>
            <a:r>
              <a:rPr lang="en-US" sz="3600" i="1" dirty="0">
                <a:hlinkClick r:id="rId2"/>
              </a:rPr>
              <a:t>Example</a:t>
            </a:r>
            <a:endParaRPr lang="en-US" sz="3600" b="0" i="1" dirty="0"/>
          </a:p>
        </p:txBody>
      </p:sp>
      <p:sp>
        <p:nvSpPr>
          <p:cNvPr id="4" name="Title 3">
            <a:extLst>
              <a:ext uri="{FF2B5EF4-FFF2-40B4-BE49-F238E27FC236}">
                <a16:creationId xmlns:a16="http://schemas.microsoft.com/office/drawing/2014/main" id="{E9A1DA41-F15A-4A36-BC07-5ABC6728BF4B}"/>
              </a:ext>
            </a:extLst>
          </p:cNvPr>
          <p:cNvSpPr>
            <a:spLocks noGrp="1"/>
          </p:cNvSpPr>
          <p:nvPr>
            <p:ph type="title"/>
          </p:nvPr>
        </p:nvSpPr>
        <p:spPr/>
        <p:txBody>
          <a:bodyPr>
            <a:normAutofit/>
          </a:bodyPr>
          <a:lstStyle/>
          <a:p>
            <a:r>
              <a:rPr lang="en-US" sz="4000" dirty="0"/>
              <a:t>Margin</a:t>
            </a:r>
            <a:endParaRPr lang="en-GB" sz="4000" dirty="0"/>
          </a:p>
        </p:txBody>
      </p:sp>
      <p:sp>
        <p:nvSpPr>
          <p:cNvPr id="8" name="Текстово поле 10">
            <a:extLst>
              <a:ext uri="{FF2B5EF4-FFF2-40B4-BE49-F238E27FC236}">
                <a16:creationId xmlns:a16="http://schemas.microsoft.com/office/drawing/2014/main" id="{2F7FCD56-1C6F-20AD-528A-F6C55B4D15FB}"/>
              </a:ext>
            </a:extLst>
          </p:cNvPr>
          <p:cNvSpPr txBox="1"/>
          <p:nvPr/>
        </p:nvSpPr>
        <p:spPr>
          <a:xfrm>
            <a:off x="4316100" y="4644000"/>
            <a:ext cx="3559799" cy="1416522"/>
          </a:xfrm>
          <a:prstGeom prst="rect">
            <a:avLst/>
          </a:prstGeom>
          <a:solidFill>
            <a:schemeClr val="accent6">
              <a:lumMod val="75000"/>
              <a:alpha val="15000"/>
            </a:schemeClr>
          </a:solidFill>
          <a:ln w="12700">
            <a:solidFill>
              <a:schemeClr val="tx1">
                <a:lumMod val="75000"/>
              </a:schemeClr>
            </a:solidFill>
          </a:ln>
        </p:spPr>
        <p:txBody>
          <a:bodyPr vert="horz" wrap="square" lIns="143963" tIns="107972" rIns="143963" bIns="107972" rtlCol="0">
            <a:spAutoFit/>
          </a:bodyPr>
          <a:lstStyle/>
          <a:p>
            <a:pPr eaLnBrk="0" hangingPunct="0">
              <a:lnSpc>
                <a:spcPct val="110000"/>
              </a:lnSpc>
              <a:buClr>
                <a:schemeClr val="accent5">
                  <a:lumMod val="40000"/>
                  <a:lumOff val="60000"/>
                </a:schemeClr>
              </a:buClr>
              <a:buSzPct val="70000"/>
            </a:pPr>
            <a:r>
              <a:rPr lang="en-US" sz="2400" b="1" dirty="0">
                <a:latin typeface="Consolas" panose="020B0609020204030204" pitchFamily="49" charset="0"/>
              </a:rPr>
              <a:t>.box {</a:t>
            </a:r>
          </a:p>
          <a:p>
            <a:pPr eaLnBrk="0" hangingPunct="0">
              <a:lnSpc>
                <a:spcPct val="110000"/>
              </a:lnSpc>
              <a:buClr>
                <a:schemeClr val="accent5">
                  <a:lumMod val="40000"/>
                  <a:lumOff val="60000"/>
                </a:schemeClr>
              </a:buClr>
              <a:buSzPct val="70000"/>
            </a:pPr>
            <a:r>
              <a:rPr lang="en-US" sz="2400" b="1" dirty="0">
                <a:latin typeface="Consolas" panose="020B0609020204030204" pitchFamily="49" charset="0"/>
              </a:rPr>
              <a:t>  margin: 50px;</a:t>
            </a:r>
          </a:p>
          <a:p>
            <a:pPr eaLnBrk="0" hangingPunct="0">
              <a:lnSpc>
                <a:spcPct val="110000"/>
              </a:lnSpc>
              <a:buClr>
                <a:schemeClr val="accent5">
                  <a:lumMod val="40000"/>
                  <a:lumOff val="60000"/>
                </a:schemeClr>
              </a:buClr>
              <a:buSzPct val="70000"/>
            </a:pPr>
            <a:r>
              <a:rPr lang="en-US" sz="2400" b="1" dirty="0">
                <a:latin typeface="Consolas" panose="020B0609020204030204" pitchFamily="49" charset="0"/>
              </a:rPr>
              <a:t>}</a:t>
            </a:r>
          </a:p>
        </p:txBody>
      </p:sp>
      <p:sp>
        <p:nvSpPr>
          <p:cNvPr id="2" name="Slide Number">
            <a:extLst>
              <a:ext uri="{FF2B5EF4-FFF2-40B4-BE49-F238E27FC236}">
                <a16:creationId xmlns:a16="http://schemas.microsoft.com/office/drawing/2014/main" id="{3B12BD06-2C34-2BE8-8E71-BC64A13204DB}"/>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25</a:t>
            </a:fld>
            <a:endParaRPr lang="en-US" noProof="0" dirty="0"/>
          </a:p>
        </p:txBody>
      </p:sp>
    </p:spTree>
    <p:extLst>
      <p:ext uri="{BB962C8B-B14F-4D97-AF65-F5344CB8AC3E}">
        <p14:creationId xmlns:p14="http://schemas.microsoft.com/office/powerpoint/2010/main" val="116808191"/>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Margin</a:t>
            </a:r>
            <a:endParaRPr lang="en-US" dirty="0"/>
          </a:p>
        </p:txBody>
      </p:sp>
      <p:sp>
        <p:nvSpPr>
          <p:cNvPr id="11" name="Текстово поле 7"/>
          <p:cNvSpPr txBox="1"/>
          <p:nvPr/>
        </p:nvSpPr>
        <p:spPr>
          <a:xfrm>
            <a:off x="451276" y="1469176"/>
            <a:ext cx="7219315" cy="1214989"/>
          </a:xfrm>
          <a:prstGeom prst="rect">
            <a:avLst/>
          </a:prstGeom>
          <a:solidFill>
            <a:schemeClr val="accent6">
              <a:lumMod val="75000"/>
              <a:alpha val="15000"/>
            </a:schemeClr>
          </a:solidFill>
          <a:ln w="12700">
            <a:solidFill>
              <a:schemeClr val="tx1">
                <a:lumMod val="75000"/>
              </a:schemeClr>
            </a:solidFill>
          </a:ln>
        </p:spPr>
        <p:txBody>
          <a:bodyPr vert="horz" wrap="square" lIns="143963" tIns="107972" rIns="143963" bIns="107972" rtlCol="0">
            <a:spAutoFit/>
          </a:bodyPr>
          <a:lstStyle/>
          <a:p>
            <a:pPr>
              <a:lnSpc>
                <a:spcPct val="90000"/>
              </a:lnSpc>
            </a:pPr>
            <a:r>
              <a:rPr lang="en-US" sz="2399" b="1" noProof="1">
                <a:solidFill>
                  <a:srgbClr val="800000"/>
                </a:solidFill>
                <a:latin typeface="Consolas" panose="020B0609020204030204" pitchFamily="49" charset="0"/>
              </a:rPr>
              <a:t>&lt;button class="first"&gt;</a:t>
            </a:r>
            <a:r>
              <a:rPr lang="en-US" sz="2399" b="1" noProof="1">
                <a:solidFill>
                  <a:schemeClr val="accent6">
                    <a:lumMod val="10000"/>
                  </a:schemeClr>
                </a:solidFill>
                <a:latin typeface="Consolas" panose="020B0609020204030204" pitchFamily="49" charset="0"/>
              </a:rPr>
              <a:t>Element</a:t>
            </a:r>
            <a:r>
              <a:rPr lang="en-US" sz="2399" b="1" noProof="1">
                <a:solidFill>
                  <a:srgbClr val="800000"/>
                </a:solidFill>
                <a:latin typeface="Consolas" panose="020B0609020204030204" pitchFamily="49" charset="0"/>
              </a:rPr>
              <a:t>&lt;/button&gt;</a:t>
            </a:r>
          </a:p>
          <a:p>
            <a:pPr>
              <a:lnSpc>
                <a:spcPct val="90000"/>
              </a:lnSpc>
            </a:pPr>
            <a:r>
              <a:rPr lang="en-US" sz="2399" b="1" noProof="1">
                <a:solidFill>
                  <a:srgbClr val="800000"/>
                </a:solidFill>
                <a:latin typeface="Consolas" panose="020B0609020204030204" pitchFamily="49" charset="0"/>
              </a:rPr>
              <a:t>&lt;button class="second"&gt;</a:t>
            </a:r>
            <a:r>
              <a:rPr lang="en-US" sz="2399" b="1" noProof="1">
                <a:solidFill>
                  <a:schemeClr val="accent6">
                    <a:lumMod val="10000"/>
                  </a:schemeClr>
                </a:solidFill>
                <a:latin typeface="Consolas" panose="020B0609020204030204" pitchFamily="49" charset="0"/>
              </a:rPr>
              <a:t>Element</a:t>
            </a:r>
            <a:r>
              <a:rPr lang="en-US" sz="2399" b="1" noProof="1">
                <a:solidFill>
                  <a:srgbClr val="800000"/>
                </a:solidFill>
                <a:latin typeface="Consolas" panose="020B0609020204030204" pitchFamily="49" charset="0"/>
              </a:rPr>
              <a:t>&lt;/button&gt;</a:t>
            </a:r>
          </a:p>
          <a:p>
            <a:pPr>
              <a:lnSpc>
                <a:spcPct val="90000"/>
              </a:lnSpc>
            </a:pPr>
            <a:r>
              <a:rPr lang="en-US" sz="2399" b="1" noProof="1">
                <a:solidFill>
                  <a:srgbClr val="800000"/>
                </a:solidFill>
                <a:latin typeface="Consolas" panose="020B0609020204030204" pitchFamily="49" charset="0"/>
              </a:rPr>
              <a:t>&lt;button class="third"&gt;</a:t>
            </a:r>
            <a:r>
              <a:rPr lang="en-US" sz="2399" b="1" noProof="1">
                <a:solidFill>
                  <a:schemeClr val="accent6">
                    <a:lumMod val="10000"/>
                  </a:schemeClr>
                </a:solidFill>
                <a:latin typeface="Consolas" panose="020B0609020204030204" pitchFamily="49" charset="0"/>
              </a:rPr>
              <a:t>Element</a:t>
            </a:r>
            <a:r>
              <a:rPr lang="en-US" sz="2399" b="1" noProof="1">
                <a:solidFill>
                  <a:srgbClr val="800000"/>
                </a:solidFill>
                <a:latin typeface="Consolas" panose="020B0609020204030204" pitchFamily="49" charset="0"/>
              </a:rPr>
              <a:t>&lt;/button&gt;</a:t>
            </a:r>
          </a:p>
        </p:txBody>
      </p:sp>
      <p:pic>
        <p:nvPicPr>
          <p:cNvPr id="12" name="Picture 11"/>
          <p:cNvPicPr>
            <a:picLocks noChangeAspect="1"/>
          </p:cNvPicPr>
          <p:nvPr/>
        </p:nvPicPr>
        <p:blipFill rotWithShape="1">
          <a:blip r:embed="rId2">
            <a:clrChange>
              <a:clrFrom>
                <a:srgbClr val="FFFFFF"/>
              </a:clrFrom>
              <a:clrTo>
                <a:srgbClr val="FFFFFF">
                  <a:alpha val="0"/>
                </a:srgbClr>
              </a:clrTo>
            </a:clrChange>
          </a:blip>
          <a:srcRect t="14418"/>
          <a:stretch/>
        </p:blipFill>
        <p:spPr>
          <a:xfrm>
            <a:off x="5589690" y="3635187"/>
            <a:ext cx="2171134" cy="2208526"/>
          </a:xfrm>
          <a:prstGeom prst="rect">
            <a:avLst/>
          </a:prstGeom>
          <a:ln>
            <a:noFill/>
          </a:ln>
          <a:effectLst>
            <a:outerShdw blurRad="292100" dist="139700" dir="2700000" algn="tl" rotWithShape="0">
              <a:srgbClr val="333333">
                <a:alpha val="65000"/>
              </a:srgbClr>
            </a:outerShdw>
          </a:effectLst>
        </p:spPr>
      </p:pic>
      <p:sp>
        <p:nvSpPr>
          <p:cNvPr id="13" name="Текстово поле 7"/>
          <p:cNvSpPr txBox="1"/>
          <p:nvPr/>
        </p:nvSpPr>
        <p:spPr>
          <a:xfrm>
            <a:off x="451274" y="3038095"/>
            <a:ext cx="4790310" cy="3402711"/>
          </a:xfrm>
          <a:prstGeom prst="rect">
            <a:avLst/>
          </a:prstGeom>
          <a:solidFill>
            <a:schemeClr val="accent6">
              <a:lumMod val="75000"/>
              <a:alpha val="15000"/>
            </a:schemeClr>
          </a:solidFill>
          <a:ln w="12700">
            <a:solidFill>
              <a:schemeClr val="tx1">
                <a:lumMod val="75000"/>
              </a:schemeClr>
            </a:solidFill>
          </a:ln>
        </p:spPr>
        <p:txBody>
          <a:bodyPr vert="horz" wrap="square" lIns="143963" tIns="107972" rIns="143963" bIns="107972" rtlCol="0">
            <a:spAutoFit/>
          </a:bodyPr>
          <a:lstStyle/>
          <a:p>
            <a:pPr>
              <a:lnSpc>
                <a:spcPct val="90000"/>
              </a:lnSpc>
            </a:pPr>
            <a:r>
              <a:rPr lang="en-GB" sz="2399" b="1" noProof="1">
                <a:solidFill>
                  <a:srgbClr val="800000"/>
                </a:solidFill>
                <a:latin typeface="Consolas" panose="020B0609020204030204" pitchFamily="49" charset="0"/>
              </a:rPr>
              <a:t>button { </a:t>
            </a:r>
          </a:p>
          <a:p>
            <a:pPr>
              <a:lnSpc>
                <a:spcPct val="90000"/>
              </a:lnSpc>
            </a:pPr>
            <a:r>
              <a:rPr lang="en-GB" sz="2399" b="1" noProof="1">
                <a:solidFill>
                  <a:srgbClr val="800000"/>
                </a:solidFill>
                <a:latin typeface="Consolas" panose="020B0609020204030204" pitchFamily="49" charset="0"/>
              </a:rPr>
              <a:t>  </a:t>
            </a:r>
            <a:r>
              <a:rPr lang="en-GB" sz="2399" b="1" noProof="1">
                <a:solidFill>
                  <a:srgbClr val="FF0000"/>
                </a:solidFill>
                <a:latin typeface="Consolas" panose="020B0609020204030204" pitchFamily="49" charset="0"/>
              </a:rPr>
              <a:t>display</a:t>
            </a:r>
            <a:r>
              <a:rPr lang="en-GB" sz="2399" b="1" noProof="1">
                <a:solidFill>
                  <a:schemeClr val="accent6">
                    <a:lumMod val="10000"/>
                  </a:schemeClr>
                </a:solidFill>
                <a:latin typeface="Consolas" panose="020B0609020204030204" pitchFamily="49" charset="0"/>
              </a:rPr>
              <a:t>:</a:t>
            </a:r>
            <a:r>
              <a:rPr lang="en-GB" sz="2399" b="1" noProof="1">
                <a:solidFill>
                  <a:srgbClr val="800000"/>
                </a:solidFill>
                <a:latin typeface="Consolas" panose="020B0609020204030204" pitchFamily="49" charset="0"/>
              </a:rPr>
              <a:t> </a:t>
            </a:r>
            <a:r>
              <a:rPr lang="en-GB" sz="2399" b="1" noProof="1">
                <a:solidFill>
                  <a:schemeClr val="accent3">
                    <a:lumMod val="50000"/>
                  </a:schemeClr>
                </a:solidFill>
                <a:latin typeface="Consolas" panose="020B0609020204030204" pitchFamily="49" charset="0"/>
              </a:rPr>
              <a:t>block</a:t>
            </a:r>
            <a:r>
              <a:rPr lang="en-GB" sz="2399" b="1" noProof="1">
                <a:solidFill>
                  <a:schemeClr val="accent6">
                    <a:lumMod val="10000"/>
                  </a:schemeClr>
                </a:solidFill>
                <a:latin typeface="Consolas" panose="020B0609020204030204" pitchFamily="49" charset="0"/>
              </a:rPr>
              <a:t>;</a:t>
            </a:r>
          </a:p>
          <a:p>
            <a:pPr>
              <a:lnSpc>
                <a:spcPct val="90000"/>
              </a:lnSpc>
            </a:pPr>
            <a:r>
              <a:rPr lang="en-GB" sz="2399" b="1" noProof="1">
                <a:solidFill>
                  <a:srgbClr val="800000"/>
                </a:solidFill>
                <a:latin typeface="Consolas" panose="020B0609020204030204" pitchFamily="49" charset="0"/>
              </a:rPr>
              <a:t>}</a:t>
            </a:r>
          </a:p>
          <a:p>
            <a:pPr>
              <a:lnSpc>
                <a:spcPct val="90000"/>
              </a:lnSpc>
            </a:pPr>
            <a:endParaRPr lang="en-GB" sz="1400" b="1" noProof="1">
              <a:solidFill>
                <a:srgbClr val="800000"/>
              </a:solidFill>
              <a:latin typeface="Consolas" panose="020B0609020204030204" pitchFamily="49" charset="0"/>
            </a:endParaRPr>
          </a:p>
          <a:p>
            <a:pPr>
              <a:lnSpc>
                <a:spcPct val="90000"/>
              </a:lnSpc>
            </a:pPr>
            <a:r>
              <a:rPr lang="en-GB" sz="2399" b="1" noProof="1">
                <a:solidFill>
                  <a:srgbClr val="800000"/>
                </a:solidFill>
                <a:latin typeface="Consolas" panose="020B0609020204030204" pitchFamily="49" charset="0"/>
              </a:rPr>
              <a:t>button.second</a:t>
            </a:r>
            <a:r>
              <a:rPr lang="en-GB" sz="2399" b="1" dirty="0">
                <a:solidFill>
                  <a:srgbClr val="000000"/>
                </a:solidFill>
                <a:latin typeface="Consolas" panose="020B0609020204030204" pitchFamily="49" charset="0"/>
              </a:rPr>
              <a:t> {</a:t>
            </a:r>
          </a:p>
          <a:p>
            <a:pPr>
              <a:lnSpc>
                <a:spcPct val="90000"/>
              </a:lnSpc>
            </a:pPr>
            <a:r>
              <a:rPr lang="en-GB" sz="2399" b="1" dirty="0">
                <a:solidFill>
                  <a:srgbClr val="000000"/>
                </a:solidFill>
                <a:latin typeface="Consolas" panose="020B0609020204030204" pitchFamily="49" charset="0"/>
              </a:rPr>
              <a:t>  </a:t>
            </a:r>
            <a:r>
              <a:rPr lang="en-GB" sz="2399" b="1" dirty="0">
                <a:solidFill>
                  <a:srgbClr val="FF0000"/>
                </a:solidFill>
                <a:latin typeface="Consolas" panose="020B0609020204030204" pitchFamily="49" charset="0"/>
              </a:rPr>
              <a:t>margin-top</a:t>
            </a:r>
            <a:r>
              <a:rPr lang="en-GB" sz="2399" b="1" dirty="0">
                <a:solidFill>
                  <a:srgbClr val="000000"/>
                </a:solidFill>
                <a:latin typeface="Consolas" panose="020B0609020204030204" pitchFamily="49" charset="0"/>
              </a:rPr>
              <a:t>: </a:t>
            </a:r>
            <a:r>
              <a:rPr lang="en-GB" sz="2399" b="1" dirty="0">
                <a:solidFill>
                  <a:srgbClr val="098658"/>
                </a:solidFill>
                <a:latin typeface="Consolas" panose="020B0609020204030204" pitchFamily="49" charset="0"/>
              </a:rPr>
              <a:t>50px</a:t>
            </a:r>
            <a:r>
              <a:rPr lang="en-GB" sz="2399" b="1" dirty="0">
                <a:solidFill>
                  <a:srgbClr val="000000"/>
                </a:solidFill>
                <a:latin typeface="Consolas" panose="020B0609020204030204" pitchFamily="49" charset="0"/>
              </a:rPr>
              <a:t>;</a:t>
            </a:r>
          </a:p>
          <a:p>
            <a:pPr>
              <a:lnSpc>
                <a:spcPct val="90000"/>
              </a:lnSpc>
            </a:pPr>
            <a:r>
              <a:rPr lang="en-GB" sz="2399" b="1" dirty="0">
                <a:solidFill>
                  <a:srgbClr val="000000"/>
                </a:solidFill>
                <a:latin typeface="Consolas" panose="020B0609020204030204" pitchFamily="49" charset="0"/>
              </a:rPr>
              <a:t>  </a:t>
            </a:r>
            <a:r>
              <a:rPr lang="en-GB" sz="2399" b="1" dirty="0">
                <a:solidFill>
                  <a:srgbClr val="FF0000"/>
                </a:solidFill>
                <a:latin typeface="Consolas" panose="020B0609020204030204" pitchFamily="49" charset="0"/>
              </a:rPr>
              <a:t>margin-left</a:t>
            </a:r>
            <a:r>
              <a:rPr lang="en-GB" sz="2399" b="1" dirty="0">
                <a:solidFill>
                  <a:srgbClr val="000000"/>
                </a:solidFill>
                <a:latin typeface="Consolas" panose="020B0609020204030204" pitchFamily="49" charset="0"/>
              </a:rPr>
              <a:t>: </a:t>
            </a:r>
            <a:r>
              <a:rPr lang="en-GB" sz="2399" b="1" dirty="0">
                <a:solidFill>
                  <a:srgbClr val="098658"/>
                </a:solidFill>
                <a:latin typeface="Consolas" panose="020B0609020204030204" pitchFamily="49" charset="0"/>
              </a:rPr>
              <a:t>10px</a:t>
            </a:r>
            <a:r>
              <a:rPr lang="en-GB" sz="2399" b="1" dirty="0">
                <a:solidFill>
                  <a:srgbClr val="000000"/>
                </a:solidFill>
                <a:latin typeface="Consolas" panose="020B0609020204030204" pitchFamily="49" charset="0"/>
              </a:rPr>
              <a:t>;</a:t>
            </a:r>
          </a:p>
          <a:p>
            <a:pPr>
              <a:lnSpc>
                <a:spcPct val="90000"/>
              </a:lnSpc>
            </a:pPr>
            <a:r>
              <a:rPr lang="en-GB" sz="2399" b="1" dirty="0">
                <a:solidFill>
                  <a:srgbClr val="000000"/>
                </a:solidFill>
                <a:latin typeface="Consolas" panose="020B0609020204030204" pitchFamily="49" charset="0"/>
              </a:rPr>
              <a:t>  </a:t>
            </a:r>
            <a:r>
              <a:rPr lang="en-GB" sz="2399" b="1" dirty="0">
                <a:solidFill>
                  <a:srgbClr val="FF0000"/>
                </a:solidFill>
                <a:latin typeface="Consolas" panose="020B0609020204030204" pitchFamily="49" charset="0"/>
              </a:rPr>
              <a:t>margin-bottom</a:t>
            </a:r>
            <a:r>
              <a:rPr lang="en-GB" sz="2399" b="1" dirty="0">
                <a:solidFill>
                  <a:srgbClr val="000000"/>
                </a:solidFill>
                <a:latin typeface="Consolas" panose="020B0609020204030204" pitchFamily="49" charset="0"/>
              </a:rPr>
              <a:t>: </a:t>
            </a:r>
            <a:r>
              <a:rPr lang="en-GB" sz="2399" b="1" dirty="0">
                <a:solidFill>
                  <a:srgbClr val="098658"/>
                </a:solidFill>
                <a:latin typeface="Consolas" panose="020B0609020204030204" pitchFamily="49" charset="0"/>
              </a:rPr>
              <a:t>50px</a:t>
            </a:r>
            <a:r>
              <a:rPr lang="en-GB" sz="2399" b="1" dirty="0">
                <a:solidFill>
                  <a:srgbClr val="000000"/>
                </a:solidFill>
                <a:latin typeface="Consolas" panose="020B0609020204030204" pitchFamily="49" charset="0"/>
              </a:rPr>
              <a:t>;</a:t>
            </a:r>
          </a:p>
          <a:p>
            <a:pPr>
              <a:lnSpc>
                <a:spcPct val="90000"/>
              </a:lnSpc>
            </a:pPr>
            <a:r>
              <a:rPr lang="en-GB" sz="2399" b="1" dirty="0">
                <a:solidFill>
                  <a:srgbClr val="000000"/>
                </a:solidFill>
                <a:latin typeface="Consolas" panose="020B0609020204030204" pitchFamily="49" charset="0"/>
              </a:rPr>
              <a:t>  </a:t>
            </a:r>
            <a:r>
              <a:rPr lang="en-GB" sz="2399" b="1" dirty="0">
                <a:solidFill>
                  <a:srgbClr val="FF0000"/>
                </a:solidFill>
                <a:latin typeface="Consolas" panose="020B0609020204030204" pitchFamily="49" charset="0"/>
              </a:rPr>
              <a:t>margin-right</a:t>
            </a:r>
            <a:r>
              <a:rPr lang="en-GB" sz="2399" b="1" dirty="0">
                <a:solidFill>
                  <a:srgbClr val="000000"/>
                </a:solidFill>
                <a:latin typeface="Consolas" panose="020B0609020204030204" pitchFamily="49" charset="0"/>
              </a:rPr>
              <a:t>: </a:t>
            </a:r>
            <a:r>
              <a:rPr lang="en-GB" sz="2399" b="1" dirty="0">
                <a:solidFill>
                  <a:srgbClr val="098658"/>
                </a:solidFill>
                <a:latin typeface="Consolas" panose="020B0609020204030204" pitchFamily="49" charset="0"/>
              </a:rPr>
              <a:t>0</a:t>
            </a:r>
            <a:r>
              <a:rPr lang="en-GB" sz="2399" b="1" dirty="0">
                <a:solidFill>
                  <a:srgbClr val="000000"/>
                </a:solidFill>
                <a:latin typeface="Consolas" panose="020B0609020204030204" pitchFamily="49" charset="0"/>
              </a:rPr>
              <a:t>;</a:t>
            </a:r>
          </a:p>
          <a:p>
            <a:pPr>
              <a:lnSpc>
                <a:spcPct val="90000"/>
              </a:lnSpc>
            </a:pPr>
            <a:r>
              <a:rPr lang="en-GB" sz="2399" b="1" dirty="0">
                <a:solidFill>
                  <a:srgbClr val="000000"/>
                </a:solidFill>
                <a:latin typeface="Consolas" panose="020B0609020204030204" pitchFamily="49" charset="0"/>
              </a:rPr>
              <a:t>}</a:t>
            </a:r>
          </a:p>
        </p:txBody>
      </p:sp>
      <p:pic>
        <p:nvPicPr>
          <p:cNvPr id="14" name="Picture 13"/>
          <p:cNvPicPr>
            <a:picLocks noChangeAspect="1"/>
          </p:cNvPicPr>
          <p:nvPr/>
        </p:nvPicPr>
        <p:blipFill>
          <a:blip r:embed="rId3">
            <a:clrChange>
              <a:clrFrom>
                <a:srgbClr val="FFFFFF"/>
              </a:clrFrom>
              <a:clrTo>
                <a:srgbClr val="FFFFFF">
                  <a:alpha val="0"/>
                </a:srgbClr>
              </a:clrTo>
            </a:clrChange>
          </a:blip>
          <a:stretch>
            <a:fillRect/>
          </a:stretch>
        </p:blipFill>
        <p:spPr>
          <a:xfrm>
            <a:off x="8675905" y="1557481"/>
            <a:ext cx="2323819" cy="4885734"/>
          </a:xfrm>
          <a:prstGeom prst="rect">
            <a:avLst/>
          </a:prstGeom>
          <a:ln>
            <a:noFill/>
          </a:ln>
          <a:effectLst>
            <a:outerShdw blurRad="292100" dist="139700" dir="2700000" algn="tl" rotWithShape="0">
              <a:srgbClr val="333333">
                <a:alpha val="65000"/>
              </a:srgbClr>
            </a:outerShdw>
          </a:effectLst>
        </p:spPr>
      </p:pic>
      <p:sp>
        <p:nvSpPr>
          <p:cNvPr id="15" name="Right Arrow 14"/>
          <p:cNvSpPr/>
          <p:nvPr/>
        </p:nvSpPr>
        <p:spPr bwMode="auto">
          <a:xfrm>
            <a:off x="7951744" y="4511697"/>
            <a:ext cx="599930" cy="455505"/>
          </a:xfrm>
          <a:prstGeom prst="rightArrow">
            <a:avLst/>
          </a:prstGeom>
          <a:solidFill>
            <a:schemeClr val="dk2">
              <a:alpha val="80000"/>
            </a:schemeClr>
          </a:solidFill>
          <a:ln w="1905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endParaRPr lang="en-US" sz="2799" b="1" dirty="0">
              <a:solidFill>
                <a:srgbClr val="FFFFFF"/>
              </a:solidFill>
              <a:effectLst>
                <a:outerShdw blurRad="38100" dist="38100" dir="2700000" algn="tl">
                  <a:srgbClr val="000000">
                    <a:alpha val="43137"/>
                  </a:srgbClr>
                </a:outerShdw>
              </a:effectLst>
            </a:endParaRPr>
          </a:p>
        </p:txBody>
      </p:sp>
      <p:sp>
        <p:nvSpPr>
          <p:cNvPr id="10" name="Slide Number">
            <a:extLst>
              <a:ext uri="{FF2B5EF4-FFF2-40B4-BE49-F238E27FC236}">
                <a16:creationId xmlns:a16="http://schemas.microsoft.com/office/drawing/2014/main" id="{16308CAD-8FCA-46F1-92B8-C386F77EA5A3}"/>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26</a:t>
            </a:fld>
            <a:endParaRPr lang="en-US" noProof="0" dirty="0"/>
          </a:p>
        </p:txBody>
      </p:sp>
    </p:spTree>
    <p:extLst>
      <p:ext uri="{BB962C8B-B14F-4D97-AF65-F5344CB8AC3E}">
        <p14:creationId xmlns:p14="http://schemas.microsoft.com/office/powerpoint/2010/main" val="1551328835"/>
      </p:ext>
    </p:extLst>
  </p:cSld>
  <p:clrMapOvr>
    <a:masterClrMapping/>
  </p:clrMapOvr>
  <mc:AlternateContent xmlns:mc="http://schemas.openxmlformats.org/markup-compatibility/2006" xmlns:p14="http://schemas.microsoft.com/office/powerpoint/2010/main">
    <mc:Choice Requires="p14">
      <p:transition p14:dur="0" advClick="0" advTm="5000"/>
    </mc:Choice>
    <mc:Fallback xmlns="">
      <p:transition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xEl>
                                              <p:pRg st="9" end="9"/>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Текстов контейнер 4">
            <a:extLst>
              <a:ext uri="{FF2B5EF4-FFF2-40B4-BE49-F238E27FC236}">
                <a16:creationId xmlns:a16="http://schemas.microsoft.com/office/drawing/2014/main" id="{F6D7BEB1-EB2F-0E19-94FA-0CB132DAD2FB}"/>
              </a:ext>
            </a:extLst>
          </p:cNvPr>
          <p:cNvSpPr>
            <a:spLocks noGrp="1"/>
          </p:cNvSpPr>
          <p:nvPr>
            <p:ph type="body" sz="quarter" idx="10"/>
          </p:nvPr>
        </p:nvSpPr>
        <p:spPr/>
        <p:txBody>
          <a:bodyPr/>
          <a:lstStyle/>
          <a:p>
            <a:pPr>
              <a:lnSpc>
                <a:spcPct val="120000"/>
              </a:lnSpc>
            </a:pPr>
            <a:r>
              <a:rPr lang="en-US" sz="3600" b="0" dirty="0"/>
              <a:t>The padding CSS property sets the padding area on all four sides of an element. It is a shorthand for padding-top, padding-right, padding-bottom, and padding-left</a:t>
            </a:r>
          </a:p>
          <a:p>
            <a:pPr>
              <a:lnSpc>
                <a:spcPct val="120000"/>
              </a:lnSpc>
            </a:pPr>
            <a:r>
              <a:rPr lang="en-US" sz="3600" b="0" i="1" dirty="0">
                <a:hlinkClick r:id="rId2"/>
              </a:rPr>
              <a:t>Example</a:t>
            </a:r>
            <a:endParaRPr lang="en-US" sz="3600" b="0" i="1" dirty="0"/>
          </a:p>
        </p:txBody>
      </p:sp>
      <p:sp>
        <p:nvSpPr>
          <p:cNvPr id="4" name="Title 3">
            <a:extLst>
              <a:ext uri="{FF2B5EF4-FFF2-40B4-BE49-F238E27FC236}">
                <a16:creationId xmlns:a16="http://schemas.microsoft.com/office/drawing/2014/main" id="{E9A1DA41-F15A-4A36-BC07-5ABC6728BF4B}"/>
              </a:ext>
            </a:extLst>
          </p:cNvPr>
          <p:cNvSpPr>
            <a:spLocks noGrp="1"/>
          </p:cNvSpPr>
          <p:nvPr>
            <p:ph type="title"/>
          </p:nvPr>
        </p:nvSpPr>
        <p:spPr/>
        <p:txBody>
          <a:bodyPr/>
          <a:lstStyle/>
          <a:p>
            <a:r>
              <a:rPr lang="en-US" sz="4400" dirty="0"/>
              <a:t>Padding</a:t>
            </a:r>
            <a:endParaRPr lang="en-GB" sz="4400" dirty="0"/>
          </a:p>
        </p:txBody>
      </p:sp>
      <p:sp>
        <p:nvSpPr>
          <p:cNvPr id="2" name="Текстово поле 10">
            <a:extLst>
              <a:ext uri="{FF2B5EF4-FFF2-40B4-BE49-F238E27FC236}">
                <a16:creationId xmlns:a16="http://schemas.microsoft.com/office/drawing/2014/main" id="{9BA94031-7EF0-9C4B-0007-36172AE5BCA2}"/>
              </a:ext>
            </a:extLst>
          </p:cNvPr>
          <p:cNvSpPr txBox="1"/>
          <p:nvPr/>
        </p:nvSpPr>
        <p:spPr>
          <a:xfrm>
            <a:off x="4316100" y="4644000"/>
            <a:ext cx="3559799" cy="1416522"/>
          </a:xfrm>
          <a:prstGeom prst="rect">
            <a:avLst/>
          </a:prstGeom>
          <a:solidFill>
            <a:schemeClr val="accent6">
              <a:lumMod val="75000"/>
              <a:alpha val="15000"/>
            </a:schemeClr>
          </a:solidFill>
          <a:ln w="12700">
            <a:solidFill>
              <a:schemeClr val="tx1">
                <a:lumMod val="75000"/>
              </a:schemeClr>
            </a:solidFill>
          </a:ln>
        </p:spPr>
        <p:txBody>
          <a:bodyPr vert="horz" wrap="square" lIns="143963" tIns="107972" rIns="143963" bIns="107972" rtlCol="0">
            <a:spAutoFit/>
          </a:bodyPr>
          <a:lstStyle/>
          <a:p>
            <a:pPr eaLnBrk="0" hangingPunct="0">
              <a:lnSpc>
                <a:spcPct val="110000"/>
              </a:lnSpc>
              <a:buClr>
                <a:schemeClr val="accent5">
                  <a:lumMod val="40000"/>
                  <a:lumOff val="60000"/>
                </a:schemeClr>
              </a:buClr>
              <a:buSzPct val="70000"/>
            </a:pPr>
            <a:r>
              <a:rPr lang="en-US" sz="2400" b="1" dirty="0">
                <a:latin typeface="Consolas" panose="020B0609020204030204" pitchFamily="49" charset="0"/>
              </a:rPr>
              <a:t>.box {</a:t>
            </a:r>
          </a:p>
          <a:p>
            <a:pPr eaLnBrk="0" hangingPunct="0">
              <a:lnSpc>
                <a:spcPct val="110000"/>
              </a:lnSpc>
              <a:buClr>
                <a:schemeClr val="accent5">
                  <a:lumMod val="40000"/>
                  <a:lumOff val="60000"/>
                </a:schemeClr>
              </a:buClr>
              <a:buSzPct val="70000"/>
            </a:pPr>
            <a:r>
              <a:rPr lang="en-US" sz="2400" b="1" dirty="0">
                <a:latin typeface="Consolas" panose="020B0609020204030204" pitchFamily="49" charset="0"/>
              </a:rPr>
              <a:t>  padding: 50px;</a:t>
            </a:r>
          </a:p>
          <a:p>
            <a:pPr eaLnBrk="0" hangingPunct="0">
              <a:lnSpc>
                <a:spcPct val="110000"/>
              </a:lnSpc>
              <a:buClr>
                <a:schemeClr val="accent5">
                  <a:lumMod val="40000"/>
                  <a:lumOff val="60000"/>
                </a:schemeClr>
              </a:buClr>
              <a:buSzPct val="70000"/>
            </a:pPr>
            <a:r>
              <a:rPr lang="en-US" sz="2400" b="1" dirty="0">
                <a:latin typeface="Consolas" panose="020B0609020204030204" pitchFamily="49" charset="0"/>
              </a:rPr>
              <a:t>}</a:t>
            </a:r>
          </a:p>
        </p:txBody>
      </p:sp>
      <p:sp>
        <p:nvSpPr>
          <p:cNvPr id="3" name="Slide Number">
            <a:extLst>
              <a:ext uri="{FF2B5EF4-FFF2-40B4-BE49-F238E27FC236}">
                <a16:creationId xmlns:a16="http://schemas.microsoft.com/office/drawing/2014/main" id="{D9C56C38-B5E6-851B-017B-442909D169D4}"/>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27</a:t>
            </a:fld>
            <a:endParaRPr lang="en-US" noProof="0" dirty="0"/>
          </a:p>
        </p:txBody>
      </p:sp>
    </p:spTree>
    <p:extLst>
      <p:ext uri="{BB962C8B-B14F-4D97-AF65-F5344CB8AC3E}">
        <p14:creationId xmlns:p14="http://schemas.microsoft.com/office/powerpoint/2010/main" val="3945096537"/>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sz="4400" dirty="0"/>
              <a:t>Padding</a:t>
            </a:r>
          </a:p>
        </p:txBody>
      </p:sp>
      <p:sp>
        <p:nvSpPr>
          <p:cNvPr id="8" name="Текстово поле 7"/>
          <p:cNvSpPr txBox="1"/>
          <p:nvPr/>
        </p:nvSpPr>
        <p:spPr>
          <a:xfrm>
            <a:off x="652419" y="1584481"/>
            <a:ext cx="6478313" cy="648828"/>
          </a:xfrm>
          <a:prstGeom prst="rect">
            <a:avLst/>
          </a:prstGeom>
          <a:solidFill>
            <a:schemeClr val="accent6">
              <a:lumMod val="75000"/>
              <a:alpha val="15000"/>
            </a:schemeClr>
          </a:solidFill>
          <a:ln w="12700">
            <a:solidFill>
              <a:schemeClr val="tx1">
                <a:lumMod val="75000"/>
              </a:schemeClr>
            </a:solidFill>
          </a:ln>
        </p:spPr>
        <p:txBody>
          <a:bodyPr vert="horz" wrap="square" lIns="143963" tIns="107972" rIns="143963" bIns="107972" rtlCol="0">
            <a:spAutoFit/>
          </a:bodyPr>
          <a:lstStyle/>
          <a:p>
            <a:r>
              <a:rPr lang="en-GB" sz="2799" b="1" noProof="1">
                <a:solidFill>
                  <a:srgbClr val="800000"/>
                </a:solidFill>
                <a:latin typeface="Consolas" panose="020B0609020204030204" pitchFamily="49" charset="0"/>
              </a:rPr>
              <a:t>&lt;div&gt;</a:t>
            </a:r>
            <a:r>
              <a:rPr lang="en-GB" sz="2799" b="1" noProof="1">
                <a:solidFill>
                  <a:schemeClr val="accent6">
                    <a:lumMod val="10000"/>
                  </a:schemeClr>
                </a:solidFill>
                <a:latin typeface="Consolas" panose="020B0609020204030204" pitchFamily="49" charset="0"/>
              </a:rPr>
              <a:t>content</a:t>
            </a:r>
            <a:r>
              <a:rPr lang="en-GB" sz="2799" b="1" noProof="1">
                <a:solidFill>
                  <a:srgbClr val="800000"/>
                </a:solidFill>
                <a:latin typeface="Consolas" panose="020B0609020204030204" pitchFamily="49" charset="0"/>
              </a:rPr>
              <a:t>&lt;/div&gt;</a:t>
            </a:r>
            <a:endParaRPr lang="en-GB" sz="2799" b="1" dirty="0">
              <a:solidFill>
                <a:srgbClr val="000000"/>
              </a:solidFill>
              <a:latin typeface="Consolas" panose="020B0609020204030204" pitchFamily="49" charset="0"/>
            </a:endParaRPr>
          </a:p>
        </p:txBody>
      </p:sp>
      <p:sp>
        <p:nvSpPr>
          <p:cNvPr id="10" name="Текстово поле 7"/>
          <p:cNvSpPr txBox="1"/>
          <p:nvPr/>
        </p:nvSpPr>
        <p:spPr>
          <a:xfrm>
            <a:off x="652420" y="2569878"/>
            <a:ext cx="6478313" cy="3845793"/>
          </a:xfrm>
          <a:prstGeom prst="rect">
            <a:avLst/>
          </a:prstGeom>
          <a:solidFill>
            <a:schemeClr val="accent6">
              <a:lumMod val="75000"/>
              <a:alpha val="15000"/>
            </a:schemeClr>
          </a:solidFill>
          <a:ln w="12700">
            <a:solidFill>
              <a:schemeClr val="tx1">
                <a:lumMod val="75000"/>
              </a:schemeClr>
            </a:solidFill>
          </a:ln>
        </p:spPr>
        <p:txBody>
          <a:bodyPr vert="horz" wrap="square" lIns="143963" tIns="107972" rIns="143963" bIns="107972" rtlCol="0">
            <a:spAutoFit/>
          </a:bodyPr>
          <a:lstStyle/>
          <a:p>
            <a:pPr>
              <a:lnSpc>
                <a:spcPct val="90000"/>
              </a:lnSpc>
            </a:pPr>
            <a:r>
              <a:rPr lang="en-US" sz="2799" b="1" noProof="1">
                <a:solidFill>
                  <a:srgbClr val="800000"/>
                </a:solidFill>
                <a:latin typeface="Consolas" panose="020B0609020204030204" pitchFamily="49" charset="0"/>
              </a:rPr>
              <a:t>div</a:t>
            </a:r>
            <a:r>
              <a:rPr lang="en-US" sz="2799" b="1" noProof="1">
                <a:solidFill>
                  <a:srgbClr val="000000"/>
                </a:solidFill>
                <a:latin typeface="Consolas" panose="020B0609020204030204" pitchFamily="49" charset="0"/>
              </a:rPr>
              <a:t> {</a:t>
            </a:r>
          </a:p>
          <a:p>
            <a:pPr>
              <a:lnSpc>
                <a:spcPct val="90000"/>
              </a:lnSpc>
            </a:pPr>
            <a:r>
              <a:rPr lang="en-US" sz="2799" b="1" noProof="1">
                <a:solidFill>
                  <a:srgbClr val="000000"/>
                </a:solidFill>
                <a:latin typeface="Consolas" panose="020B0609020204030204" pitchFamily="49" charset="0"/>
              </a:rPr>
              <a:t>  </a:t>
            </a:r>
            <a:r>
              <a:rPr lang="en-US" sz="2799" b="1" noProof="1">
                <a:solidFill>
                  <a:srgbClr val="FF0000"/>
                </a:solidFill>
                <a:latin typeface="Consolas" panose="020B0609020204030204" pitchFamily="49" charset="0"/>
              </a:rPr>
              <a:t>background-color</a:t>
            </a:r>
            <a:r>
              <a:rPr lang="en-US" sz="2799" b="1" noProof="1">
                <a:solidFill>
                  <a:srgbClr val="000000"/>
                </a:solidFill>
                <a:latin typeface="Consolas" panose="020B0609020204030204" pitchFamily="49" charset="0"/>
              </a:rPr>
              <a:t>: </a:t>
            </a:r>
            <a:r>
              <a:rPr lang="en-US" sz="2799" b="1" noProof="1">
                <a:solidFill>
                  <a:srgbClr val="0070C0"/>
                </a:solidFill>
                <a:latin typeface="Consolas" panose="020B0609020204030204" pitchFamily="49" charset="0"/>
              </a:rPr>
              <a:t>#85c1e9</a:t>
            </a:r>
            <a:r>
              <a:rPr lang="en-US" sz="2799" b="1" noProof="1">
                <a:solidFill>
                  <a:srgbClr val="000000"/>
                </a:solidFill>
                <a:latin typeface="Consolas" panose="020B0609020204030204" pitchFamily="49" charset="0"/>
              </a:rPr>
              <a:t>;</a:t>
            </a:r>
          </a:p>
          <a:p>
            <a:pPr>
              <a:lnSpc>
                <a:spcPct val="90000"/>
              </a:lnSpc>
            </a:pPr>
            <a:r>
              <a:rPr lang="en-US" sz="2799" b="1" noProof="1">
                <a:solidFill>
                  <a:srgbClr val="000000"/>
                </a:solidFill>
                <a:latin typeface="Consolas" panose="020B0609020204030204" pitchFamily="49" charset="0"/>
              </a:rPr>
              <a:t>  </a:t>
            </a:r>
            <a:r>
              <a:rPr lang="en-US" sz="2799" b="1" noProof="1">
                <a:solidFill>
                  <a:srgbClr val="FF0000"/>
                </a:solidFill>
                <a:latin typeface="Consolas" panose="020B0609020204030204" pitchFamily="49" charset="0"/>
              </a:rPr>
              <a:t>display</a:t>
            </a:r>
            <a:r>
              <a:rPr lang="en-US" sz="2799" b="1" noProof="1">
                <a:solidFill>
                  <a:srgbClr val="000000"/>
                </a:solidFill>
                <a:latin typeface="Consolas" panose="020B0609020204030204" pitchFamily="49" charset="0"/>
              </a:rPr>
              <a:t>: </a:t>
            </a:r>
            <a:r>
              <a:rPr lang="en-US" sz="2799" b="1" noProof="1">
                <a:solidFill>
                  <a:srgbClr val="0070C0"/>
                </a:solidFill>
                <a:latin typeface="Consolas" panose="020B0609020204030204" pitchFamily="49" charset="0"/>
              </a:rPr>
              <a:t>inline-block</a:t>
            </a:r>
            <a:r>
              <a:rPr lang="en-US" sz="2799" b="1" noProof="1">
                <a:solidFill>
                  <a:srgbClr val="000000"/>
                </a:solidFill>
                <a:latin typeface="Consolas" panose="020B0609020204030204" pitchFamily="49" charset="0"/>
              </a:rPr>
              <a:t>;</a:t>
            </a:r>
          </a:p>
          <a:p>
            <a:pPr>
              <a:lnSpc>
                <a:spcPct val="90000"/>
              </a:lnSpc>
            </a:pPr>
            <a:r>
              <a:rPr lang="en-US" sz="2799" b="1" noProof="1">
                <a:solidFill>
                  <a:srgbClr val="000000"/>
                </a:solidFill>
                <a:latin typeface="Consolas" panose="020B0609020204030204" pitchFamily="49" charset="0"/>
              </a:rPr>
              <a:t>  </a:t>
            </a:r>
            <a:r>
              <a:rPr lang="en-US" sz="2799" b="1" noProof="1">
                <a:solidFill>
                  <a:srgbClr val="FF0000"/>
                </a:solidFill>
                <a:latin typeface="Consolas" panose="020B0609020204030204" pitchFamily="49" charset="0"/>
              </a:rPr>
              <a:t>text-align</a:t>
            </a:r>
            <a:r>
              <a:rPr lang="en-US" sz="2799" b="1" noProof="1">
                <a:solidFill>
                  <a:srgbClr val="000000"/>
                </a:solidFill>
                <a:latin typeface="Consolas" panose="020B0609020204030204" pitchFamily="49" charset="0"/>
              </a:rPr>
              <a:t>: </a:t>
            </a:r>
            <a:r>
              <a:rPr lang="en-US" sz="2799" b="1" noProof="1">
                <a:solidFill>
                  <a:srgbClr val="0070C0"/>
                </a:solidFill>
                <a:latin typeface="Consolas" panose="020B0609020204030204" pitchFamily="49" charset="0"/>
              </a:rPr>
              <a:t>center</a:t>
            </a:r>
            <a:r>
              <a:rPr lang="en-US" sz="2799" b="1" noProof="1">
                <a:solidFill>
                  <a:srgbClr val="000000"/>
                </a:solidFill>
                <a:latin typeface="Consolas" panose="020B0609020204030204" pitchFamily="49" charset="0"/>
              </a:rPr>
              <a:t>;</a:t>
            </a:r>
          </a:p>
          <a:p>
            <a:pPr>
              <a:lnSpc>
                <a:spcPct val="90000"/>
              </a:lnSpc>
            </a:pPr>
            <a:endParaRPr lang="en-US" sz="1000" b="1" noProof="1">
              <a:solidFill>
                <a:srgbClr val="000000"/>
              </a:solidFill>
              <a:latin typeface="Consolas" panose="020B0609020204030204" pitchFamily="49" charset="0"/>
            </a:endParaRPr>
          </a:p>
          <a:p>
            <a:pPr>
              <a:lnSpc>
                <a:spcPct val="90000"/>
              </a:lnSpc>
            </a:pPr>
            <a:r>
              <a:rPr lang="en-US" sz="2799" b="1" noProof="1">
                <a:solidFill>
                  <a:srgbClr val="000000"/>
                </a:solidFill>
                <a:latin typeface="Consolas" panose="020B0609020204030204" pitchFamily="49" charset="0"/>
              </a:rPr>
              <a:t>  </a:t>
            </a:r>
            <a:r>
              <a:rPr lang="en-US" sz="2799" b="1" noProof="1">
                <a:solidFill>
                  <a:srgbClr val="FF0000"/>
                </a:solidFill>
                <a:latin typeface="Consolas" panose="020B0609020204030204" pitchFamily="49" charset="0"/>
              </a:rPr>
              <a:t>padding-top</a:t>
            </a:r>
            <a:r>
              <a:rPr lang="en-US" sz="2799" b="1" noProof="1">
                <a:solidFill>
                  <a:srgbClr val="000000"/>
                </a:solidFill>
                <a:latin typeface="Consolas" panose="020B0609020204030204" pitchFamily="49" charset="0"/>
              </a:rPr>
              <a:t>: </a:t>
            </a:r>
            <a:r>
              <a:rPr lang="en-US" sz="2799" b="1" noProof="1">
                <a:solidFill>
                  <a:srgbClr val="098658"/>
                </a:solidFill>
                <a:latin typeface="Consolas" panose="020B0609020204030204" pitchFamily="49" charset="0"/>
              </a:rPr>
              <a:t>20px</a:t>
            </a:r>
            <a:r>
              <a:rPr lang="en-US" sz="2799" b="1" noProof="1">
                <a:solidFill>
                  <a:srgbClr val="000000"/>
                </a:solidFill>
                <a:latin typeface="Consolas" panose="020B0609020204030204" pitchFamily="49" charset="0"/>
              </a:rPr>
              <a:t>;</a:t>
            </a:r>
          </a:p>
          <a:p>
            <a:pPr>
              <a:lnSpc>
                <a:spcPct val="90000"/>
              </a:lnSpc>
            </a:pPr>
            <a:r>
              <a:rPr lang="en-US" sz="2799" b="1" noProof="1">
                <a:solidFill>
                  <a:srgbClr val="000000"/>
                </a:solidFill>
                <a:latin typeface="Consolas" panose="020B0609020204030204" pitchFamily="49" charset="0"/>
              </a:rPr>
              <a:t>  </a:t>
            </a:r>
            <a:r>
              <a:rPr lang="en-US" sz="2799" b="1" noProof="1">
                <a:solidFill>
                  <a:srgbClr val="FF0000"/>
                </a:solidFill>
                <a:latin typeface="Consolas" panose="020B0609020204030204" pitchFamily="49" charset="0"/>
              </a:rPr>
              <a:t>padding-left</a:t>
            </a:r>
            <a:r>
              <a:rPr lang="en-US" sz="2799" b="1" noProof="1">
                <a:solidFill>
                  <a:srgbClr val="000000"/>
                </a:solidFill>
                <a:latin typeface="Consolas" panose="020B0609020204030204" pitchFamily="49" charset="0"/>
              </a:rPr>
              <a:t>: </a:t>
            </a:r>
            <a:r>
              <a:rPr lang="en-US" sz="2799" b="1" noProof="1">
                <a:solidFill>
                  <a:srgbClr val="098658"/>
                </a:solidFill>
                <a:latin typeface="Consolas" panose="020B0609020204030204" pitchFamily="49" charset="0"/>
              </a:rPr>
              <a:t>10px</a:t>
            </a:r>
            <a:r>
              <a:rPr lang="en-US" sz="2799" b="1" noProof="1">
                <a:solidFill>
                  <a:srgbClr val="000000"/>
                </a:solidFill>
                <a:latin typeface="Consolas" panose="020B0609020204030204" pitchFamily="49" charset="0"/>
              </a:rPr>
              <a:t>;</a:t>
            </a:r>
          </a:p>
          <a:p>
            <a:pPr>
              <a:lnSpc>
                <a:spcPct val="90000"/>
              </a:lnSpc>
            </a:pPr>
            <a:r>
              <a:rPr lang="en-US" sz="2799" b="1" noProof="1">
                <a:solidFill>
                  <a:srgbClr val="000000"/>
                </a:solidFill>
                <a:latin typeface="Consolas" panose="020B0609020204030204" pitchFamily="49" charset="0"/>
              </a:rPr>
              <a:t>  </a:t>
            </a:r>
            <a:r>
              <a:rPr lang="en-US" sz="2799" b="1" noProof="1">
                <a:solidFill>
                  <a:srgbClr val="FF0000"/>
                </a:solidFill>
                <a:latin typeface="Consolas" panose="020B0609020204030204" pitchFamily="49" charset="0"/>
              </a:rPr>
              <a:t>padding-bottom</a:t>
            </a:r>
            <a:r>
              <a:rPr lang="en-US" sz="2799" b="1" noProof="1">
                <a:solidFill>
                  <a:srgbClr val="000000"/>
                </a:solidFill>
                <a:latin typeface="Consolas" panose="020B0609020204030204" pitchFamily="49" charset="0"/>
              </a:rPr>
              <a:t>: </a:t>
            </a:r>
            <a:r>
              <a:rPr lang="en-US" sz="2799" b="1" noProof="1">
                <a:solidFill>
                  <a:srgbClr val="098658"/>
                </a:solidFill>
                <a:latin typeface="Consolas" panose="020B0609020204030204" pitchFamily="49" charset="0"/>
              </a:rPr>
              <a:t>20px</a:t>
            </a:r>
            <a:r>
              <a:rPr lang="en-US" sz="2799" b="1" noProof="1">
                <a:solidFill>
                  <a:srgbClr val="000000"/>
                </a:solidFill>
                <a:latin typeface="Consolas" panose="020B0609020204030204" pitchFamily="49" charset="0"/>
              </a:rPr>
              <a:t>;</a:t>
            </a:r>
          </a:p>
          <a:p>
            <a:pPr>
              <a:lnSpc>
                <a:spcPct val="90000"/>
              </a:lnSpc>
            </a:pPr>
            <a:r>
              <a:rPr lang="en-US" sz="2799" b="1" noProof="1">
                <a:solidFill>
                  <a:srgbClr val="000000"/>
                </a:solidFill>
                <a:latin typeface="Consolas" panose="020B0609020204030204" pitchFamily="49" charset="0"/>
              </a:rPr>
              <a:t>  </a:t>
            </a:r>
            <a:r>
              <a:rPr lang="en-US" sz="2799" b="1" noProof="1">
                <a:solidFill>
                  <a:srgbClr val="FF0000"/>
                </a:solidFill>
                <a:latin typeface="Consolas" panose="020B0609020204030204" pitchFamily="49" charset="0"/>
              </a:rPr>
              <a:t>padding-right</a:t>
            </a:r>
            <a:r>
              <a:rPr lang="en-US" sz="2799" b="1" noProof="1">
                <a:solidFill>
                  <a:srgbClr val="000000"/>
                </a:solidFill>
                <a:latin typeface="Consolas" panose="020B0609020204030204" pitchFamily="49" charset="0"/>
              </a:rPr>
              <a:t>: </a:t>
            </a:r>
            <a:r>
              <a:rPr lang="en-US" sz="2799" b="1" noProof="1">
                <a:solidFill>
                  <a:srgbClr val="098658"/>
                </a:solidFill>
                <a:latin typeface="Consolas" panose="020B0609020204030204" pitchFamily="49" charset="0"/>
              </a:rPr>
              <a:t>10px</a:t>
            </a:r>
            <a:r>
              <a:rPr lang="en-US" sz="2799" b="1" noProof="1">
                <a:solidFill>
                  <a:srgbClr val="000000"/>
                </a:solidFill>
                <a:latin typeface="Consolas" panose="020B0609020204030204" pitchFamily="49" charset="0"/>
              </a:rPr>
              <a:t>;</a:t>
            </a:r>
          </a:p>
          <a:p>
            <a:pPr>
              <a:lnSpc>
                <a:spcPct val="90000"/>
              </a:lnSpc>
            </a:pPr>
            <a:r>
              <a:rPr lang="en-US" sz="2799" b="1" noProof="1">
                <a:solidFill>
                  <a:srgbClr val="000000"/>
                </a:solidFill>
                <a:latin typeface="Consolas" panose="020B0609020204030204" pitchFamily="49" charset="0"/>
              </a:rPr>
              <a:t>}</a:t>
            </a:r>
          </a:p>
        </p:txBody>
      </p:sp>
      <p:pic>
        <p:nvPicPr>
          <p:cNvPr id="14" name="Picture 13"/>
          <p:cNvPicPr>
            <a:picLocks noChangeAspect="1"/>
          </p:cNvPicPr>
          <p:nvPr/>
        </p:nvPicPr>
        <p:blipFill>
          <a:blip r:embed="rId3">
            <a:clrChange>
              <a:clrFrom>
                <a:srgbClr val="FFFFFF"/>
              </a:clrFrom>
              <a:clrTo>
                <a:srgbClr val="FFFFFF">
                  <a:alpha val="0"/>
                </a:srgbClr>
              </a:clrTo>
            </a:clrChange>
          </a:blip>
          <a:stretch>
            <a:fillRect/>
          </a:stretch>
        </p:blipFill>
        <p:spPr>
          <a:xfrm>
            <a:off x="8509245" y="1442291"/>
            <a:ext cx="2028297" cy="933207"/>
          </a:xfrm>
          <a:prstGeom prst="rect">
            <a:avLst/>
          </a:prstGeom>
          <a:ln>
            <a:noFill/>
          </a:ln>
          <a:effectLst>
            <a:outerShdw blurRad="292100" dist="139700" dir="2700000" algn="tl" rotWithShape="0">
              <a:srgbClr val="333333">
                <a:alpha val="65000"/>
              </a:srgbClr>
            </a:outerShdw>
          </a:effectLst>
        </p:spPr>
      </p:pic>
      <p:sp>
        <p:nvSpPr>
          <p:cNvPr id="15" name="Down Arrow 14"/>
          <p:cNvSpPr/>
          <p:nvPr/>
        </p:nvSpPr>
        <p:spPr bwMode="auto">
          <a:xfrm>
            <a:off x="9298451" y="2666341"/>
            <a:ext cx="449883" cy="718778"/>
          </a:xfrm>
          <a:prstGeom prst="downArrow">
            <a:avLst/>
          </a:prstGeom>
          <a:solidFill>
            <a:schemeClr val="dk2">
              <a:alpha val="80000"/>
            </a:schemeClr>
          </a:solidFill>
          <a:ln w="1905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endParaRPr lang="en-US" sz="2799" b="1" dirty="0">
              <a:solidFill>
                <a:srgbClr val="FFFFFF"/>
              </a:solidFill>
              <a:effectLst>
                <a:outerShdw blurRad="38100" dist="38100" dir="2700000" algn="tl">
                  <a:srgbClr val="000000">
                    <a:alpha val="43137"/>
                  </a:srgbClr>
                </a:outerShdw>
              </a:effectLst>
            </a:endParaRPr>
          </a:p>
        </p:txBody>
      </p:sp>
      <p:pic>
        <p:nvPicPr>
          <p:cNvPr id="16" name="Picture 15"/>
          <p:cNvPicPr>
            <a:picLocks noChangeAspect="1"/>
          </p:cNvPicPr>
          <p:nvPr/>
        </p:nvPicPr>
        <p:blipFill>
          <a:blip r:embed="rId4">
            <a:clrChange>
              <a:clrFrom>
                <a:srgbClr val="FFFFFF"/>
              </a:clrFrom>
              <a:clrTo>
                <a:srgbClr val="FFFFFF">
                  <a:alpha val="0"/>
                </a:srgbClr>
              </a:clrTo>
            </a:clrChange>
          </a:blip>
          <a:stretch>
            <a:fillRect/>
          </a:stretch>
        </p:blipFill>
        <p:spPr>
          <a:xfrm>
            <a:off x="8104537" y="3472883"/>
            <a:ext cx="2837711" cy="2466333"/>
          </a:xfrm>
          <a:prstGeom prst="rect">
            <a:avLst/>
          </a:prstGeom>
          <a:ln>
            <a:noFill/>
          </a:ln>
          <a:effectLst>
            <a:outerShdw blurRad="292100" dist="139700" dir="2700000" algn="tl" rotWithShape="0">
              <a:srgbClr val="333333">
                <a:alpha val="65000"/>
              </a:srgbClr>
            </a:outerShdw>
          </a:effectLst>
        </p:spPr>
      </p:pic>
      <p:sp>
        <p:nvSpPr>
          <p:cNvPr id="11" name="Slide Number">
            <a:extLst>
              <a:ext uri="{FF2B5EF4-FFF2-40B4-BE49-F238E27FC236}">
                <a16:creationId xmlns:a16="http://schemas.microsoft.com/office/drawing/2014/main" id="{F9909DDE-5E15-4AED-B642-63905AB98BF6}"/>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28</a:t>
            </a:fld>
            <a:endParaRPr lang="en-US" noProof="0" dirty="0"/>
          </a:p>
        </p:txBody>
      </p:sp>
    </p:spTree>
    <p:extLst>
      <p:ext uri="{BB962C8B-B14F-4D97-AF65-F5344CB8AC3E}">
        <p14:creationId xmlns:p14="http://schemas.microsoft.com/office/powerpoint/2010/main" val="70768816"/>
      </p:ext>
    </p:extLst>
  </p:cSld>
  <p:clrMapOvr>
    <a:masterClrMapping/>
  </p:clrMapOvr>
  <mc:AlternateContent xmlns:mc="http://schemas.openxmlformats.org/markup-compatibility/2006" xmlns:p14="http://schemas.microsoft.com/office/powerpoint/2010/main">
    <mc:Choice Requires="p14">
      <p:transition p14:dur="0" advClick="0" advTm="5000"/>
    </mc:Choice>
    <mc:Fallback xmlns="">
      <p:transition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xEl>
                                              <p:pRg st="8" end="8"/>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Text Placeholder 42">
            <a:extLst>
              <a:ext uri="{FF2B5EF4-FFF2-40B4-BE49-F238E27FC236}">
                <a16:creationId xmlns:a16="http://schemas.microsoft.com/office/drawing/2014/main" id="{AB912DAA-217F-4F52-8E4D-6604A2BCE2A2}"/>
              </a:ext>
            </a:extLst>
          </p:cNvPr>
          <p:cNvSpPr>
            <a:spLocks noGrp="1"/>
          </p:cNvSpPr>
          <p:nvPr>
            <p:ph type="body" sz="quarter" idx="10"/>
          </p:nvPr>
        </p:nvSpPr>
        <p:spPr/>
        <p:txBody>
          <a:bodyPr/>
          <a:lstStyle/>
          <a:p>
            <a:pPr>
              <a:lnSpc>
                <a:spcPct val="100000"/>
              </a:lnSpc>
            </a:pPr>
            <a:r>
              <a:rPr lang="en-US" dirty="0"/>
              <a:t>Shorthand margin rules:</a:t>
            </a:r>
          </a:p>
          <a:p>
            <a:pPr>
              <a:lnSpc>
                <a:spcPct val="100000"/>
              </a:lnSpc>
            </a:pPr>
            <a:endParaRPr lang="en-US" dirty="0"/>
          </a:p>
          <a:p>
            <a:pPr>
              <a:lnSpc>
                <a:spcPct val="100000"/>
              </a:lnSpc>
            </a:pPr>
            <a:endParaRPr lang="en-US" dirty="0"/>
          </a:p>
          <a:p>
            <a:pPr>
              <a:lnSpc>
                <a:spcPct val="100000"/>
              </a:lnSpc>
            </a:pPr>
            <a:endParaRPr lang="en-US" dirty="0"/>
          </a:p>
          <a:p>
            <a:pPr>
              <a:lnSpc>
                <a:spcPct val="100000"/>
              </a:lnSpc>
            </a:pPr>
            <a:r>
              <a:rPr lang="en-US" dirty="0"/>
              <a:t>Shorthand padding rules:</a:t>
            </a:r>
          </a:p>
        </p:txBody>
      </p:sp>
      <p:sp>
        <p:nvSpPr>
          <p:cNvPr id="4" name="Title 3">
            <a:extLst>
              <a:ext uri="{FF2B5EF4-FFF2-40B4-BE49-F238E27FC236}">
                <a16:creationId xmlns:a16="http://schemas.microsoft.com/office/drawing/2014/main" id="{3ADFA082-8065-496E-95EB-8062A3DF9B03}"/>
              </a:ext>
            </a:extLst>
          </p:cNvPr>
          <p:cNvSpPr>
            <a:spLocks noGrp="1"/>
          </p:cNvSpPr>
          <p:nvPr>
            <p:ph type="title"/>
          </p:nvPr>
        </p:nvSpPr>
        <p:spPr>
          <a:xfrm>
            <a:off x="191944" y="101617"/>
            <a:ext cx="9713064" cy="882424"/>
          </a:xfrm>
        </p:spPr>
        <p:txBody>
          <a:bodyPr/>
          <a:lstStyle/>
          <a:p>
            <a:r>
              <a:rPr lang="en-US" dirty="0"/>
              <a:t>Shorthand Margin / Padding</a:t>
            </a:r>
          </a:p>
        </p:txBody>
      </p:sp>
      <p:sp>
        <p:nvSpPr>
          <p:cNvPr id="7" name="Текстово поле 20">
            <a:extLst>
              <a:ext uri="{FF2B5EF4-FFF2-40B4-BE49-F238E27FC236}">
                <a16:creationId xmlns:a16="http://schemas.microsoft.com/office/drawing/2014/main" id="{85564FDD-48FE-47E2-9957-E970A987A9EF}"/>
              </a:ext>
            </a:extLst>
          </p:cNvPr>
          <p:cNvSpPr txBox="1"/>
          <p:nvPr/>
        </p:nvSpPr>
        <p:spPr>
          <a:xfrm>
            <a:off x="635596" y="2079353"/>
            <a:ext cx="6324501" cy="1381145"/>
          </a:xfrm>
          <a:prstGeom prst="rect">
            <a:avLst/>
          </a:prstGeom>
          <a:solidFill>
            <a:schemeClr val="accent6">
              <a:lumMod val="75000"/>
              <a:alpha val="15000"/>
            </a:schemeClr>
          </a:solidFill>
          <a:ln w="12700">
            <a:solidFill>
              <a:schemeClr val="tx1">
                <a:lumMod val="75000"/>
              </a:schemeClr>
            </a:solidFill>
          </a:ln>
        </p:spPr>
        <p:txBody>
          <a:bodyPr vert="horz" wrap="square" lIns="143963" tIns="107972" rIns="143963" bIns="107972" rtlCol="0">
            <a:spAutoFit/>
          </a:bodyPr>
          <a:lstStyle/>
          <a:p>
            <a:pPr>
              <a:lnSpc>
                <a:spcPct val="90000"/>
              </a:lnSpc>
            </a:pPr>
            <a:r>
              <a:rPr lang="en-GB" sz="2799" b="1" noProof="1">
                <a:solidFill>
                  <a:srgbClr val="800000"/>
                </a:solidFill>
                <a:latin typeface="Consolas" panose="020B0609020204030204" pitchFamily="49" charset="0"/>
              </a:rPr>
              <a:t>button.second </a:t>
            </a:r>
            <a:r>
              <a:rPr lang="en-GB" sz="2799" b="1" noProof="1">
                <a:solidFill>
                  <a:srgbClr val="000000"/>
                </a:solidFill>
                <a:latin typeface="Consolas" panose="020B0609020204030204" pitchFamily="49" charset="0"/>
              </a:rPr>
              <a:t>{ </a:t>
            </a:r>
          </a:p>
          <a:p>
            <a:pPr>
              <a:lnSpc>
                <a:spcPct val="90000"/>
              </a:lnSpc>
            </a:pPr>
            <a:r>
              <a:rPr lang="en-GB" sz="2799" b="1" noProof="1">
                <a:solidFill>
                  <a:srgbClr val="000000"/>
                </a:solidFill>
                <a:latin typeface="Consolas" panose="020B0609020204030204" pitchFamily="49" charset="0"/>
              </a:rPr>
              <a:t>  </a:t>
            </a:r>
            <a:r>
              <a:rPr lang="en-GB" sz="2799" b="1" noProof="1">
                <a:solidFill>
                  <a:srgbClr val="FF0000"/>
                </a:solidFill>
                <a:latin typeface="Consolas" panose="020B0609020204030204" pitchFamily="49" charset="0"/>
              </a:rPr>
              <a:t>margin</a:t>
            </a:r>
            <a:r>
              <a:rPr lang="en-GB" sz="2799" b="1" noProof="1">
                <a:solidFill>
                  <a:srgbClr val="000000"/>
                </a:solidFill>
                <a:latin typeface="Consolas" panose="020B0609020204030204" pitchFamily="49" charset="0"/>
              </a:rPr>
              <a:t>: </a:t>
            </a:r>
            <a:r>
              <a:rPr lang="en-GB" sz="2799" b="1" noProof="1">
                <a:solidFill>
                  <a:srgbClr val="098658"/>
                </a:solidFill>
                <a:latin typeface="Consolas" panose="020B0609020204030204" pitchFamily="49" charset="0"/>
              </a:rPr>
              <a:t>10px</a:t>
            </a:r>
            <a:r>
              <a:rPr lang="en-GB" sz="2799" b="1" noProof="1">
                <a:solidFill>
                  <a:srgbClr val="000000"/>
                </a:solidFill>
                <a:latin typeface="Consolas" panose="020B0609020204030204" pitchFamily="49" charset="0"/>
              </a:rPr>
              <a:t> </a:t>
            </a:r>
            <a:r>
              <a:rPr lang="en-GB" sz="2799" b="1" noProof="1">
                <a:solidFill>
                  <a:srgbClr val="098658"/>
                </a:solidFill>
                <a:latin typeface="Consolas" panose="020B0609020204030204" pitchFamily="49" charset="0"/>
              </a:rPr>
              <a:t>20px</a:t>
            </a:r>
            <a:r>
              <a:rPr lang="en-GB" sz="2799" b="1" noProof="1">
                <a:solidFill>
                  <a:srgbClr val="000000"/>
                </a:solidFill>
                <a:latin typeface="Consolas" panose="020B0609020204030204" pitchFamily="49" charset="0"/>
              </a:rPr>
              <a:t> </a:t>
            </a:r>
            <a:r>
              <a:rPr lang="en-GB" sz="2799" b="1" noProof="1">
                <a:solidFill>
                  <a:srgbClr val="098658"/>
                </a:solidFill>
                <a:latin typeface="Consolas" panose="020B0609020204030204" pitchFamily="49" charset="0"/>
              </a:rPr>
              <a:t>10px</a:t>
            </a:r>
            <a:r>
              <a:rPr lang="en-GB" sz="2799" b="1" noProof="1">
                <a:solidFill>
                  <a:srgbClr val="000000"/>
                </a:solidFill>
                <a:latin typeface="Consolas" panose="020B0609020204030204" pitchFamily="49" charset="0"/>
              </a:rPr>
              <a:t> </a:t>
            </a:r>
            <a:r>
              <a:rPr lang="en-GB" sz="2799" b="1" noProof="1">
                <a:solidFill>
                  <a:srgbClr val="098658"/>
                </a:solidFill>
                <a:latin typeface="Consolas" panose="020B0609020204030204" pitchFamily="49" charset="0"/>
              </a:rPr>
              <a:t>20px</a:t>
            </a:r>
            <a:r>
              <a:rPr lang="en-GB" sz="2799" b="1" noProof="1">
                <a:solidFill>
                  <a:srgbClr val="000000"/>
                </a:solidFill>
                <a:latin typeface="Consolas" panose="020B0609020204030204" pitchFamily="49" charset="0"/>
              </a:rPr>
              <a:t>;</a:t>
            </a:r>
          </a:p>
          <a:p>
            <a:pPr>
              <a:lnSpc>
                <a:spcPct val="90000"/>
              </a:lnSpc>
            </a:pPr>
            <a:r>
              <a:rPr lang="en-GB" sz="2799" b="1" noProof="1">
                <a:solidFill>
                  <a:srgbClr val="000000"/>
                </a:solidFill>
                <a:latin typeface="Consolas" panose="020B0609020204030204" pitchFamily="49" charset="0"/>
              </a:rPr>
              <a:t>}</a:t>
            </a:r>
          </a:p>
        </p:txBody>
      </p:sp>
      <p:sp>
        <p:nvSpPr>
          <p:cNvPr id="6" name="AutoShape 7">
            <a:extLst>
              <a:ext uri="{FF2B5EF4-FFF2-40B4-BE49-F238E27FC236}">
                <a16:creationId xmlns:a16="http://schemas.microsoft.com/office/drawing/2014/main" id="{F978D562-02FC-49C3-A2EC-319095230D87}"/>
              </a:ext>
            </a:extLst>
          </p:cNvPr>
          <p:cNvSpPr>
            <a:spLocks noChangeArrowheads="1"/>
          </p:cNvSpPr>
          <p:nvPr/>
        </p:nvSpPr>
        <p:spPr bwMode="auto">
          <a:xfrm>
            <a:off x="2037004" y="3025431"/>
            <a:ext cx="863996" cy="415997"/>
          </a:xfrm>
          <a:prstGeom prst="wedgeRoundRectCallout">
            <a:avLst>
              <a:gd name="adj1" fmla="val 45429"/>
              <a:gd name="adj2" fmla="val -78964"/>
              <a:gd name="adj3" fmla="val 16667"/>
            </a:avLst>
          </a:prstGeom>
          <a:solidFill>
            <a:schemeClr val="dk2">
              <a:alpha val="80000"/>
            </a:schemeClr>
          </a:solidFill>
          <a:ln w="1905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lnSpc>
                <a:spcPct val="90000"/>
              </a:lnSpc>
            </a:pPr>
            <a:r>
              <a:rPr lang="en-US" sz="2399" b="1" noProof="1">
                <a:solidFill>
                  <a:schemeClr val="bg2"/>
                </a:solidFill>
                <a:effectLst>
                  <a:outerShdw blurRad="38100" dist="38100" dir="2700000" algn="tl">
                    <a:srgbClr val="000000">
                      <a:alpha val="43137"/>
                    </a:srgbClr>
                  </a:outerShdw>
                </a:effectLst>
                <a:latin typeface="Consolas" panose="020B0609020204030204" pitchFamily="49" charset="0"/>
              </a:rPr>
              <a:t>top</a:t>
            </a:r>
          </a:p>
        </p:txBody>
      </p:sp>
      <p:sp>
        <p:nvSpPr>
          <p:cNvPr id="8" name="AutoShape 7">
            <a:extLst>
              <a:ext uri="{FF2B5EF4-FFF2-40B4-BE49-F238E27FC236}">
                <a16:creationId xmlns:a16="http://schemas.microsoft.com/office/drawing/2014/main" id="{D1B55171-2C95-4BD5-A3D8-4B01D646EA56}"/>
              </a:ext>
            </a:extLst>
          </p:cNvPr>
          <p:cNvSpPr>
            <a:spLocks noChangeArrowheads="1"/>
          </p:cNvSpPr>
          <p:nvPr/>
        </p:nvSpPr>
        <p:spPr bwMode="auto">
          <a:xfrm>
            <a:off x="3091104" y="3031781"/>
            <a:ext cx="1089636" cy="409056"/>
          </a:xfrm>
          <a:prstGeom prst="wedgeRoundRectCallout">
            <a:avLst>
              <a:gd name="adj1" fmla="val 31529"/>
              <a:gd name="adj2" fmla="val -78439"/>
              <a:gd name="adj3" fmla="val 16667"/>
            </a:avLst>
          </a:prstGeom>
          <a:solidFill>
            <a:schemeClr val="dk2">
              <a:alpha val="80000"/>
            </a:schemeClr>
          </a:solidFill>
          <a:ln w="1905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lnSpc>
                <a:spcPct val="90000"/>
              </a:lnSpc>
            </a:pPr>
            <a:r>
              <a:rPr lang="en-US" sz="2399" b="1" noProof="1">
                <a:solidFill>
                  <a:schemeClr val="bg2"/>
                </a:solidFill>
                <a:effectLst>
                  <a:outerShdw blurRad="38100" dist="38100" dir="2700000" algn="tl">
                    <a:srgbClr val="000000">
                      <a:alpha val="43137"/>
                    </a:srgbClr>
                  </a:outerShdw>
                </a:effectLst>
                <a:latin typeface="Consolas" panose="020B0609020204030204" pitchFamily="49" charset="0"/>
              </a:rPr>
              <a:t>right</a:t>
            </a:r>
          </a:p>
        </p:txBody>
      </p:sp>
      <p:sp>
        <p:nvSpPr>
          <p:cNvPr id="9" name="AutoShape 7">
            <a:extLst>
              <a:ext uri="{FF2B5EF4-FFF2-40B4-BE49-F238E27FC236}">
                <a16:creationId xmlns:a16="http://schemas.microsoft.com/office/drawing/2014/main" id="{9FDE3FE8-4B35-451D-93CA-8BA907B7109F}"/>
              </a:ext>
            </a:extLst>
          </p:cNvPr>
          <p:cNvSpPr>
            <a:spLocks noChangeArrowheads="1"/>
          </p:cNvSpPr>
          <p:nvPr/>
        </p:nvSpPr>
        <p:spPr bwMode="auto">
          <a:xfrm>
            <a:off x="5719323" y="2110191"/>
            <a:ext cx="954361" cy="401068"/>
          </a:xfrm>
          <a:prstGeom prst="wedgeRoundRectCallout">
            <a:avLst>
              <a:gd name="adj1" fmla="val -35519"/>
              <a:gd name="adj2" fmla="val 74286"/>
              <a:gd name="adj3" fmla="val 16667"/>
            </a:avLst>
          </a:prstGeom>
          <a:solidFill>
            <a:schemeClr val="dk2">
              <a:alpha val="80000"/>
            </a:schemeClr>
          </a:solidFill>
          <a:ln w="1905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lnSpc>
                <a:spcPct val="90000"/>
              </a:lnSpc>
            </a:pPr>
            <a:r>
              <a:rPr lang="en-US" sz="2399" b="1" noProof="1">
                <a:solidFill>
                  <a:schemeClr val="bg2"/>
                </a:solidFill>
                <a:effectLst>
                  <a:outerShdw blurRad="38100" dist="38100" dir="2700000" algn="tl">
                    <a:srgbClr val="000000">
                      <a:alpha val="43137"/>
                    </a:srgbClr>
                  </a:outerShdw>
                </a:effectLst>
                <a:latin typeface="Consolas" panose="020B0609020204030204" pitchFamily="49" charset="0"/>
              </a:rPr>
              <a:t>left</a:t>
            </a:r>
          </a:p>
        </p:txBody>
      </p:sp>
      <p:sp>
        <p:nvSpPr>
          <p:cNvPr id="10" name="AutoShape 7">
            <a:extLst>
              <a:ext uri="{FF2B5EF4-FFF2-40B4-BE49-F238E27FC236}">
                <a16:creationId xmlns:a16="http://schemas.microsoft.com/office/drawing/2014/main" id="{879BF2C5-48F4-4A03-B2C6-C705EFC32368}"/>
              </a:ext>
            </a:extLst>
          </p:cNvPr>
          <p:cNvSpPr>
            <a:spLocks noChangeArrowheads="1"/>
          </p:cNvSpPr>
          <p:nvPr/>
        </p:nvSpPr>
        <p:spPr bwMode="auto">
          <a:xfrm>
            <a:off x="4126251" y="2110191"/>
            <a:ext cx="1306660" cy="401068"/>
          </a:xfrm>
          <a:prstGeom prst="wedgeRoundRectCallout">
            <a:avLst>
              <a:gd name="adj1" fmla="val 34810"/>
              <a:gd name="adj2" fmla="val 80026"/>
              <a:gd name="adj3" fmla="val 16667"/>
            </a:avLst>
          </a:prstGeom>
          <a:solidFill>
            <a:schemeClr val="dk2">
              <a:alpha val="80000"/>
            </a:schemeClr>
          </a:solidFill>
          <a:ln w="1905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lnSpc>
                <a:spcPct val="90000"/>
              </a:lnSpc>
            </a:pPr>
            <a:r>
              <a:rPr lang="en-US" sz="2399" b="1" noProof="1">
                <a:solidFill>
                  <a:schemeClr val="bg2"/>
                </a:solidFill>
                <a:effectLst>
                  <a:outerShdw blurRad="38100" dist="38100" dir="2700000" algn="tl">
                    <a:srgbClr val="000000">
                      <a:alpha val="43137"/>
                    </a:srgbClr>
                  </a:outerShdw>
                </a:effectLst>
                <a:latin typeface="Consolas" panose="020B0609020204030204" pitchFamily="49" charset="0"/>
              </a:rPr>
              <a:t>bottom</a:t>
            </a:r>
          </a:p>
        </p:txBody>
      </p:sp>
      <p:sp>
        <p:nvSpPr>
          <p:cNvPr id="24" name="Текстово поле 20">
            <a:extLst>
              <a:ext uri="{FF2B5EF4-FFF2-40B4-BE49-F238E27FC236}">
                <a16:creationId xmlns:a16="http://schemas.microsoft.com/office/drawing/2014/main" id="{0224BE4E-8126-40B4-B328-EE9B56CA1002}"/>
              </a:ext>
            </a:extLst>
          </p:cNvPr>
          <p:cNvSpPr txBox="1"/>
          <p:nvPr/>
        </p:nvSpPr>
        <p:spPr>
          <a:xfrm>
            <a:off x="7265695" y="2079353"/>
            <a:ext cx="4345016" cy="1381145"/>
          </a:xfrm>
          <a:prstGeom prst="rect">
            <a:avLst/>
          </a:prstGeom>
          <a:solidFill>
            <a:schemeClr val="accent6">
              <a:lumMod val="75000"/>
              <a:alpha val="15000"/>
            </a:schemeClr>
          </a:solidFill>
          <a:ln w="12700">
            <a:solidFill>
              <a:schemeClr val="tx1">
                <a:lumMod val="75000"/>
              </a:schemeClr>
            </a:solidFill>
          </a:ln>
        </p:spPr>
        <p:txBody>
          <a:bodyPr vert="horz" wrap="square" lIns="143963" tIns="107972" rIns="143963" bIns="107972" rtlCol="0">
            <a:spAutoFit/>
          </a:bodyPr>
          <a:lstStyle/>
          <a:p>
            <a:pPr>
              <a:lnSpc>
                <a:spcPct val="90000"/>
              </a:lnSpc>
            </a:pPr>
            <a:r>
              <a:rPr lang="en-GB" sz="2799" b="1" noProof="1">
                <a:solidFill>
                  <a:srgbClr val="800000"/>
                </a:solidFill>
                <a:latin typeface="Consolas" panose="020B0609020204030204" pitchFamily="49" charset="0"/>
              </a:rPr>
              <a:t>button.second </a:t>
            </a:r>
            <a:r>
              <a:rPr lang="en-GB" sz="2799" b="1" noProof="1">
                <a:solidFill>
                  <a:srgbClr val="000000"/>
                </a:solidFill>
                <a:latin typeface="Consolas" panose="020B0609020204030204" pitchFamily="49" charset="0"/>
              </a:rPr>
              <a:t>{ </a:t>
            </a:r>
          </a:p>
          <a:p>
            <a:pPr>
              <a:lnSpc>
                <a:spcPct val="90000"/>
              </a:lnSpc>
            </a:pPr>
            <a:r>
              <a:rPr lang="en-GB" sz="2799" b="1" noProof="1">
                <a:solidFill>
                  <a:srgbClr val="000000"/>
                </a:solidFill>
                <a:latin typeface="Consolas" panose="020B0609020204030204" pitchFamily="49" charset="0"/>
              </a:rPr>
              <a:t>  </a:t>
            </a:r>
            <a:r>
              <a:rPr lang="en-GB" sz="2799" b="1" noProof="1">
                <a:solidFill>
                  <a:srgbClr val="FF0000"/>
                </a:solidFill>
                <a:latin typeface="Consolas" panose="020B0609020204030204" pitchFamily="49" charset="0"/>
              </a:rPr>
              <a:t>margin</a:t>
            </a:r>
            <a:r>
              <a:rPr lang="en-GB" sz="2799" b="1" noProof="1">
                <a:solidFill>
                  <a:srgbClr val="000000"/>
                </a:solidFill>
                <a:latin typeface="Consolas" panose="020B0609020204030204" pitchFamily="49" charset="0"/>
              </a:rPr>
              <a:t>: </a:t>
            </a:r>
            <a:r>
              <a:rPr lang="en-GB" sz="2799" b="1" noProof="1">
                <a:solidFill>
                  <a:srgbClr val="098658"/>
                </a:solidFill>
                <a:latin typeface="Consolas" panose="020B0609020204030204" pitchFamily="49" charset="0"/>
              </a:rPr>
              <a:t>20px</a:t>
            </a:r>
            <a:r>
              <a:rPr lang="en-GB" sz="2799" b="1" noProof="1">
                <a:solidFill>
                  <a:srgbClr val="000000"/>
                </a:solidFill>
                <a:latin typeface="Consolas" panose="020B0609020204030204" pitchFamily="49" charset="0"/>
              </a:rPr>
              <a:t> </a:t>
            </a:r>
            <a:r>
              <a:rPr lang="en-GB" sz="2799" b="1" noProof="1">
                <a:solidFill>
                  <a:srgbClr val="098658"/>
                </a:solidFill>
                <a:latin typeface="Consolas" panose="020B0609020204030204" pitchFamily="49" charset="0"/>
              </a:rPr>
              <a:t>10px</a:t>
            </a:r>
            <a:r>
              <a:rPr lang="en-GB" sz="2799" b="1" noProof="1">
                <a:solidFill>
                  <a:srgbClr val="000000"/>
                </a:solidFill>
                <a:latin typeface="Consolas" panose="020B0609020204030204" pitchFamily="49" charset="0"/>
              </a:rPr>
              <a:t>;</a:t>
            </a:r>
          </a:p>
          <a:p>
            <a:pPr>
              <a:lnSpc>
                <a:spcPct val="90000"/>
              </a:lnSpc>
            </a:pPr>
            <a:r>
              <a:rPr lang="en-GB" sz="2799" b="1" noProof="1">
                <a:solidFill>
                  <a:srgbClr val="000000"/>
                </a:solidFill>
                <a:latin typeface="Consolas" panose="020B0609020204030204" pitchFamily="49" charset="0"/>
              </a:rPr>
              <a:t>}</a:t>
            </a:r>
          </a:p>
        </p:txBody>
      </p:sp>
      <p:sp>
        <p:nvSpPr>
          <p:cNvPr id="25" name="AutoShape 7">
            <a:extLst>
              <a:ext uri="{FF2B5EF4-FFF2-40B4-BE49-F238E27FC236}">
                <a16:creationId xmlns:a16="http://schemas.microsoft.com/office/drawing/2014/main" id="{313AA8FA-CF50-4BAE-9830-A62EE02BA8AB}"/>
              </a:ext>
            </a:extLst>
          </p:cNvPr>
          <p:cNvSpPr>
            <a:spLocks noChangeArrowheads="1"/>
          </p:cNvSpPr>
          <p:nvPr/>
        </p:nvSpPr>
        <p:spPr bwMode="auto">
          <a:xfrm>
            <a:off x="8176003" y="3025431"/>
            <a:ext cx="1429997" cy="808464"/>
          </a:xfrm>
          <a:prstGeom prst="wedgeRoundRectCallout">
            <a:avLst>
              <a:gd name="adj1" fmla="val 30585"/>
              <a:gd name="adj2" fmla="val -63567"/>
              <a:gd name="adj3" fmla="val 16667"/>
            </a:avLst>
          </a:prstGeom>
          <a:solidFill>
            <a:schemeClr val="dk2">
              <a:alpha val="80000"/>
            </a:schemeClr>
          </a:solidFill>
          <a:ln w="1905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lnSpc>
                <a:spcPct val="90000"/>
              </a:lnSpc>
            </a:pPr>
            <a:r>
              <a:rPr lang="en-US" sz="2399" b="1" noProof="1">
                <a:solidFill>
                  <a:schemeClr val="bg2"/>
                </a:solidFill>
                <a:effectLst>
                  <a:outerShdw blurRad="38100" dist="38100" dir="2700000" algn="tl">
                    <a:srgbClr val="000000">
                      <a:alpha val="43137"/>
                    </a:srgbClr>
                  </a:outerShdw>
                </a:effectLst>
                <a:latin typeface="Consolas" panose="020B0609020204030204" pitchFamily="49" charset="0"/>
              </a:rPr>
              <a:t>top &amp; bottom</a:t>
            </a:r>
          </a:p>
        </p:txBody>
      </p:sp>
      <p:sp>
        <p:nvSpPr>
          <p:cNvPr id="28" name="AutoShape 7">
            <a:extLst>
              <a:ext uri="{FF2B5EF4-FFF2-40B4-BE49-F238E27FC236}">
                <a16:creationId xmlns:a16="http://schemas.microsoft.com/office/drawing/2014/main" id="{8EAD124E-A75B-4F02-8765-CC32F945E30F}"/>
              </a:ext>
            </a:extLst>
          </p:cNvPr>
          <p:cNvSpPr>
            <a:spLocks noChangeArrowheads="1"/>
          </p:cNvSpPr>
          <p:nvPr/>
        </p:nvSpPr>
        <p:spPr bwMode="auto">
          <a:xfrm>
            <a:off x="9839657" y="3025431"/>
            <a:ext cx="1429997" cy="808464"/>
          </a:xfrm>
          <a:prstGeom prst="wedgeRoundRectCallout">
            <a:avLst>
              <a:gd name="adj1" fmla="val 22437"/>
              <a:gd name="adj2" fmla="val -65876"/>
              <a:gd name="adj3" fmla="val 16667"/>
            </a:avLst>
          </a:prstGeom>
          <a:solidFill>
            <a:schemeClr val="dk2">
              <a:alpha val="80000"/>
            </a:schemeClr>
          </a:solidFill>
          <a:ln w="1905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lnSpc>
                <a:spcPct val="90000"/>
              </a:lnSpc>
            </a:pPr>
            <a:r>
              <a:rPr lang="en-US" sz="2399" b="1" noProof="1">
                <a:solidFill>
                  <a:schemeClr val="bg2"/>
                </a:solidFill>
                <a:effectLst>
                  <a:outerShdw blurRad="38100" dist="38100" dir="2700000" algn="tl">
                    <a:srgbClr val="000000">
                      <a:alpha val="43137"/>
                    </a:srgbClr>
                  </a:outerShdw>
                </a:effectLst>
                <a:latin typeface="Consolas" panose="020B0609020204030204" pitchFamily="49" charset="0"/>
              </a:rPr>
              <a:t>left &amp; right</a:t>
            </a:r>
          </a:p>
        </p:txBody>
      </p:sp>
      <p:sp>
        <p:nvSpPr>
          <p:cNvPr id="44" name="Текстово поле 20">
            <a:extLst>
              <a:ext uri="{FF2B5EF4-FFF2-40B4-BE49-F238E27FC236}">
                <a16:creationId xmlns:a16="http://schemas.microsoft.com/office/drawing/2014/main" id="{2A33F509-CC01-427B-878C-F59A07879D60}"/>
              </a:ext>
            </a:extLst>
          </p:cNvPr>
          <p:cNvSpPr txBox="1"/>
          <p:nvPr/>
        </p:nvSpPr>
        <p:spPr>
          <a:xfrm>
            <a:off x="635596" y="4701161"/>
            <a:ext cx="6324501" cy="1381145"/>
          </a:xfrm>
          <a:prstGeom prst="rect">
            <a:avLst/>
          </a:prstGeom>
          <a:solidFill>
            <a:schemeClr val="accent6">
              <a:lumMod val="75000"/>
              <a:alpha val="15000"/>
            </a:schemeClr>
          </a:solidFill>
          <a:ln w="12700">
            <a:solidFill>
              <a:schemeClr val="tx1">
                <a:lumMod val="75000"/>
              </a:schemeClr>
            </a:solidFill>
          </a:ln>
        </p:spPr>
        <p:txBody>
          <a:bodyPr vert="horz" wrap="square" lIns="143963" tIns="107972" rIns="143963" bIns="107972" rtlCol="0">
            <a:spAutoFit/>
          </a:bodyPr>
          <a:lstStyle/>
          <a:p>
            <a:pPr>
              <a:lnSpc>
                <a:spcPct val="90000"/>
              </a:lnSpc>
            </a:pPr>
            <a:r>
              <a:rPr lang="en-GB" sz="2799" b="1" noProof="1">
                <a:solidFill>
                  <a:srgbClr val="800000"/>
                </a:solidFill>
                <a:latin typeface="Consolas" panose="020B0609020204030204" pitchFamily="49" charset="0"/>
              </a:rPr>
              <a:t>div </a:t>
            </a:r>
            <a:r>
              <a:rPr lang="en-GB" sz="2799" b="1" noProof="1">
                <a:solidFill>
                  <a:srgbClr val="000000"/>
                </a:solidFill>
                <a:latin typeface="Consolas" panose="020B0609020204030204" pitchFamily="49" charset="0"/>
              </a:rPr>
              <a:t>{ </a:t>
            </a:r>
          </a:p>
          <a:p>
            <a:pPr>
              <a:lnSpc>
                <a:spcPct val="90000"/>
              </a:lnSpc>
            </a:pPr>
            <a:r>
              <a:rPr lang="en-GB" sz="2799" b="1" noProof="1">
                <a:solidFill>
                  <a:srgbClr val="000000"/>
                </a:solidFill>
                <a:latin typeface="Consolas" panose="020B0609020204030204" pitchFamily="49" charset="0"/>
              </a:rPr>
              <a:t>  </a:t>
            </a:r>
            <a:r>
              <a:rPr lang="en-GB" sz="2799" b="1" noProof="1">
                <a:solidFill>
                  <a:srgbClr val="FF0000"/>
                </a:solidFill>
                <a:latin typeface="Consolas" panose="020B0609020204030204" pitchFamily="49" charset="0"/>
              </a:rPr>
              <a:t>padding</a:t>
            </a:r>
            <a:r>
              <a:rPr lang="en-GB" sz="2799" b="1" noProof="1">
                <a:solidFill>
                  <a:srgbClr val="000000"/>
                </a:solidFill>
                <a:latin typeface="Consolas" panose="020B0609020204030204" pitchFamily="49" charset="0"/>
              </a:rPr>
              <a:t>: </a:t>
            </a:r>
            <a:r>
              <a:rPr lang="en-GB" sz="2799" b="1" noProof="1">
                <a:solidFill>
                  <a:srgbClr val="098658"/>
                </a:solidFill>
                <a:latin typeface="Consolas" panose="020B0609020204030204" pitchFamily="49" charset="0"/>
              </a:rPr>
              <a:t>5px</a:t>
            </a:r>
            <a:r>
              <a:rPr lang="en-GB" sz="2799" b="1" noProof="1">
                <a:solidFill>
                  <a:srgbClr val="000000"/>
                </a:solidFill>
                <a:latin typeface="Consolas" panose="020B0609020204030204" pitchFamily="49" charset="0"/>
              </a:rPr>
              <a:t> </a:t>
            </a:r>
            <a:r>
              <a:rPr lang="en-GB" sz="2799" b="1" noProof="1">
                <a:solidFill>
                  <a:srgbClr val="098658"/>
                </a:solidFill>
                <a:latin typeface="Consolas" panose="020B0609020204030204" pitchFamily="49" charset="0"/>
              </a:rPr>
              <a:t>10px</a:t>
            </a:r>
            <a:r>
              <a:rPr lang="en-GB" sz="2799" b="1" noProof="1">
                <a:solidFill>
                  <a:srgbClr val="000000"/>
                </a:solidFill>
                <a:latin typeface="Consolas" panose="020B0609020204030204" pitchFamily="49" charset="0"/>
              </a:rPr>
              <a:t> </a:t>
            </a:r>
            <a:r>
              <a:rPr lang="en-GB" sz="2799" b="1" noProof="1">
                <a:solidFill>
                  <a:srgbClr val="098658"/>
                </a:solidFill>
                <a:latin typeface="Consolas" panose="020B0609020204030204" pitchFamily="49" charset="0"/>
              </a:rPr>
              <a:t>8px</a:t>
            </a:r>
            <a:r>
              <a:rPr lang="en-GB" sz="2799" b="1" noProof="1">
                <a:solidFill>
                  <a:srgbClr val="000000"/>
                </a:solidFill>
                <a:latin typeface="Consolas" panose="020B0609020204030204" pitchFamily="49" charset="0"/>
              </a:rPr>
              <a:t> </a:t>
            </a:r>
            <a:r>
              <a:rPr lang="en-GB" sz="2799" b="1" noProof="1">
                <a:solidFill>
                  <a:srgbClr val="098658"/>
                </a:solidFill>
                <a:latin typeface="Consolas" panose="020B0609020204030204" pitchFamily="49" charset="0"/>
              </a:rPr>
              <a:t>15px</a:t>
            </a:r>
            <a:r>
              <a:rPr lang="en-GB" sz="2799" b="1" noProof="1">
                <a:solidFill>
                  <a:srgbClr val="000000"/>
                </a:solidFill>
                <a:latin typeface="Consolas" panose="020B0609020204030204" pitchFamily="49" charset="0"/>
              </a:rPr>
              <a:t>;</a:t>
            </a:r>
          </a:p>
          <a:p>
            <a:pPr>
              <a:lnSpc>
                <a:spcPct val="90000"/>
              </a:lnSpc>
            </a:pPr>
            <a:r>
              <a:rPr lang="en-GB" sz="2799" b="1" noProof="1">
                <a:solidFill>
                  <a:srgbClr val="000000"/>
                </a:solidFill>
                <a:latin typeface="Consolas" panose="020B0609020204030204" pitchFamily="49" charset="0"/>
              </a:rPr>
              <a:t>}</a:t>
            </a:r>
          </a:p>
        </p:txBody>
      </p:sp>
      <p:sp>
        <p:nvSpPr>
          <p:cNvPr id="45" name="Текстово поле 20">
            <a:extLst>
              <a:ext uri="{FF2B5EF4-FFF2-40B4-BE49-F238E27FC236}">
                <a16:creationId xmlns:a16="http://schemas.microsoft.com/office/drawing/2014/main" id="{32584A92-1410-49AC-8076-A30A57296733}"/>
              </a:ext>
            </a:extLst>
          </p:cNvPr>
          <p:cNvSpPr txBox="1"/>
          <p:nvPr/>
        </p:nvSpPr>
        <p:spPr>
          <a:xfrm>
            <a:off x="7265695" y="4701161"/>
            <a:ext cx="4345016" cy="1381145"/>
          </a:xfrm>
          <a:prstGeom prst="rect">
            <a:avLst/>
          </a:prstGeom>
          <a:solidFill>
            <a:schemeClr val="accent6">
              <a:lumMod val="75000"/>
              <a:alpha val="15000"/>
            </a:schemeClr>
          </a:solidFill>
          <a:ln w="12700">
            <a:solidFill>
              <a:schemeClr val="tx1">
                <a:lumMod val="75000"/>
              </a:schemeClr>
            </a:solidFill>
          </a:ln>
        </p:spPr>
        <p:txBody>
          <a:bodyPr vert="horz" wrap="square" lIns="143963" tIns="107972" rIns="143963" bIns="107972" rtlCol="0">
            <a:spAutoFit/>
          </a:bodyPr>
          <a:lstStyle/>
          <a:p>
            <a:pPr>
              <a:lnSpc>
                <a:spcPct val="90000"/>
              </a:lnSpc>
            </a:pPr>
            <a:r>
              <a:rPr lang="en-GB" sz="2799" b="1" noProof="1">
                <a:solidFill>
                  <a:srgbClr val="800000"/>
                </a:solidFill>
                <a:latin typeface="Consolas" panose="020B0609020204030204" pitchFamily="49" charset="0"/>
              </a:rPr>
              <a:t>li </a:t>
            </a:r>
            <a:r>
              <a:rPr lang="en-GB" sz="2799" b="1" noProof="1">
                <a:solidFill>
                  <a:srgbClr val="000000"/>
                </a:solidFill>
                <a:latin typeface="Consolas" panose="020B0609020204030204" pitchFamily="49" charset="0"/>
              </a:rPr>
              <a:t>{ </a:t>
            </a:r>
          </a:p>
          <a:p>
            <a:pPr>
              <a:lnSpc>
                <a:spcPct val="90000"/>
              </a:lnSpc>
            </a:pPr>
            <a:r>
              <a:rPr lang="en-GB" sz="2799" b="1" noProof="1">
                <a:solidFill>
                  <a:srgbClr val="000000"/>
                </a:solidFill>
                <a:latin typeface="Consolas" panose="020B0609020204030204" pitchFamily="49" charset="0"/>
              </a:rPr>
              <a:t>  </a:t>
            </a:r>
            <a:r>
              <a:rPr lang="en-GB" sz="2799" b="1" noProof="1">
                <a:solidFill>
                  <a:srgbClr val="FF0000"/>
                </a:solidFill>
                <a:latin typeface="Consolas" panose="020B0609020204030204" pitchFamily="49" charset="0"/>
              </a:rPr>
              <a:t>padding</a:t>
            </a:r>
            <a:r>
              <a:rPr lang="en-GB" sz="2799" b="1" noProof="1">
                <a:solidFill>
                  <a:srgbClr val="000000"/>
                </a:solidFill>
                <a:latin typeface="Consolas" panose="020B0609020204030204" pitchFamily="49" charset="0"/>
              </a:rPr>
              <a:t>: </a:t>
            </a:r>
            <a:r>
              <a:rPr lang="en-GB" sz="2799" b="1" noProof="1">
                <a:solidFill>
                  <a:srgbClr val="098658"/>
                </a:solidFill>
                <a:latin typeface="Consolas" panose="020B0609020204030204" pitchFamily="49" charset="0"/>
              </a:rPr>
              <a:t>5x</a:t>
            </a:r>
            <a:r>
              <a:rPr lang="en-GB" sz="2799" b="1" noProof="1">
                <a:solidFill>
                  <a:srgbClr val="000000"/>
                </a:solidFill>
                <a:latin typeface="Consolas" panose="020B0609020204030204" pitchFamily="49" charset="0"/>
              </a:rPr>
              <a:t> </a:t>
            </a:r>
            <a:r>
              <a:rPr lang="en-GB" sz="2799" b="1" noProof="1">
                <a:solidFill>
                  <a:srgbClr val="098658"/>
                </a:solidFill>
                <a:latin typeface="Consolas" panose="020B0609020204030204" pitchFamily="49" charset="0"/>
              </a:rPr>
              <a:t>10px</a:t>
            </a:r>
            <a:r>
              <a:rPr lang="en-GB" sz="2799" b="1" noProof="1">
                <a:solidFill>
                  <a:srgbClr val="000000"/>
                </a:solidFill>
                <a:latin typeface="Consolas" panose="020B0609020204030204" pitchFamily="49" charset="0"/>
              </a:rPr>
              <a:t>;</a:t>
            </a:r>
          </a:p>
          <a:p>
            <a:pPr>
              <a:lnSpc>
                <a:spcPct val="90000"/>
              </a:lnSpc>
            </a:pPr>
            <a:r>
              <a:rPr lang="en-GB" sz="2799" b="1" noProof="1">
                <a:solidFill>
                  <a:srgbClr val="000000"/>
                </a:solidFill>
                <a:latin typeface="Consolas" panose="020B0609020204030204" pitchFamily="49" charset="0"/>
              </a:rPr>
              <a:t>}</a:t>
            </a:r>
          </a:p>
        </p:txBody>
      </p:sp>
      <p:sp>
        <p:nvSpPr>
          <p:cNvPr id="16" name="Slide Number">
            <a:extLst>
              <a:ext uri="{FF2B5EF4-FFF2-40B4-BE49-F238E27FC236}">
                <a16:creationId xmlns:a16="http://schemas.microsoft.com/office/drawing/2014/main" id="{3D9920E0-79A3-4043-BBA7-8492D5180819}"/>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29</a:t>
            </a:fld>
            <a:endParaRPr lang="en-US" noProof="0" dirty="0"/>
          </a:p>
        </p:txBody>
      </p:sp>
    </p:spTree>
    <p:extLst>
      <p:ext uri="{BB962C8B-B14F-4D97-AF65-F5344CB8AC3E}">
        <p14:creationId xmlns:p14="http://schemas.microsoft.com/office/powerpoint/2010/main" val="1097900001"/>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3">
                                            <p:txEl>
                                              <p:pRg st="4" end="4"/>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0" grpId="0" animBg="1"/>
      <p:bldP spid="24" grpId="0" animBg="1"/>
      <p:bldP spid="25" grpId="0" animBg="1"/>
      <p:bldP spid="28" grpId="0" animBg="1"/>
      <p:bldP spid="44" grpId="0" animBg="1"/>
      <p:bldP spid="45"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Текстов контейнер 4">
            <a:extLst>
              <a:ext uri="{FF2B5EF4-FFF2-40B4-BE49-F238E27FC236}">
                <a16:creationId xmlns:a16="http://schemas.microsoft.com/office/drawing/2014/main" id="{81E4627A-B6A7-5702-BEE2-F70C49543251}"/>
              </a:ext>
            </a:extLst>
          </p:cNvPr>
          <p:cNvSpPr>
            <a:spLocks noGrp="1"/>
          </p:cNvSpPr>
          <p:nvPr>
            <p:ph type="body" sz="quarter" idx="10"/>
          </p:nvPr>
        </p:nvSpPr>
        <p:spPr/>
        <p:txBody>
          <a:bodyPr/>
          <a:lstStyle/>
          <a:p>
            <a:r>
              <a:rPr lang="en-US" sz="3600" b="0" dirty="0"/>
              <a:t>The border CSS property sets an element's border. It's a shorthand for border-width, border-style, and border-color</a:t>
            </a:r>
          </a:p>
          <a:p>
            <a:r>
              <a:rPr lang="en-US" sz="3600" b="0" i="1" dirty="0">
                <a:hlinkClick r:id="rId2"/>
              </a:rPr>
              <a:t>Example</a:t>
            </a:r>
            <a:endParaRPr lang="en-US" sz="3600" b="0" i="1" dirty="0"/>
          </a:p>
        </p:txBody>
      </p:sp>
      <p:sp>
        <p:nvSpPr>
          <p:cNvPr id="4" name="Title 3">
            <a:extLst>
              <a:ext uri="{FF2B5EF4-FFF2-40B4-BE49-F238E27FC236}">
                <a16:creationId xmlns:a16="http://schemas.microsoft.com/office/drawing/2014/main" id="{E9A1DA41-F15A-4A36-BC07-5ABC6728BF4B}"/>
              </a:ext>
            </a:extLst>
          </p:cNvPr>
          <p:cNvSpPr>
            <a:spLocks noGrp="1"/>
          </p:cNvSpPr>
          <p:nvPr>
            <p:ph type="title"/>
          </p:nvPr>
        </p:nvSpPr>
        <p:spPr/>
        <p:txBody>
          <a:bodyPr>
            <a:normAutofit/>
          </a:bodyPr>
          <a:lstStyle/>
          <a:p>
            <a:r>
              <a:rPr lang="en-US" sz="4000" dirty="0"/>
              <a:t>Border</a:t>
            </a:r>
            <a:endParaRPr lang="en-GB" sz="4000" dirty="0"/>
          </a:p>
        </p:txBody>
      </p:sp>
      <p:sp>
        <p:nvSpPr>
          <p:cNvPr id="8" name="Текстово поле 10">
            <a:extLst>
              <a:ext uri="{FF2B5EF4-FFF2-40B4-BE49-F238E27FC236}">
                <a16:creationId xmlns:a16="http://schemas.microsoft.com/office/drawing/2014/main" id="{B65AD61B-DF0E-1BA8-7118-FE19F2D3B97B}"/>
              </a:ext>
            </a:extLst>
          </p:cNvPr>
          <p:cNvSpPr txBox="1"/>
          <p:nvPr/>
        </p:nvSpPr>
        <p:spPr>
          <a:xfrm>
            <a:off x="3418500" y="4194000"/>
            <a:ext cx="5355000" cy="1414471"/>
          </a:xfrm>
          <a:prstGeom prst="rect">
            <a:avLst/>
          </a:prstGeom>
          <a:solidFill>
            <a:schemeClr val="accent6">
              <a:lumMod val="75000"/>
              <a:alpha val="15000"/>
            </a:schemeClr>
          </a:solidFill>
          <a:ln w="12700">
            <a:solidFill>
              <a:schemeClr val="tx1">
                <a:lumMod val="75000"/>
              </a:schemeClr>
            </a:solidFill>
          </a:ln>
        </p:spPr>
        <p:txBody>
          <a:bodyPr vert="horz" wrap="square" lIns="143963" tIns="107972" rIns="143963" bIns="107972" rtlCol="0">
            <a:spAutoFit/>
          </a:bodyPr>
          <a:lstStyle/>
          <a:p>
            <a:pPr eaLnBrk="0" hangingPunct="0">
              <a:lnSpc>
                <a:spcPct val="110000"/>
              </a:lnSpc>
              <a:buClr>
                <a:schemeClr val="accent5">
                  <a:lumMod val="40000"/>
                  <a:lumOff val="60000"/>
                </a:schemeClr>
              </a:buClr>
              <a:buSzPct val="70000"/>
            </a:pPr>
            <a:r>
              <a:rPr lang="en-US" sz="2400" b="1" dirty="0">
                <a:latin typeface="Consolas" panose="020B0609020204030204" pitchFamily="49" charset="0"/>
              </a:rPr>
              <a:t>.box {</a:t>
            </a:r>
          </a:p>
          <a:p>
            <a:pPr eaLnBrk="0" hangingPunct="0">
              <a:lnSpc>
                <a:spcPct val="110000"/>
              </a:lnSpc>
              <a:buClr>
                <a:schemeClr val="accent5">
                  <a:lumMod val="40000"/>
                  <a:lumOff val="60000"/>
                </a:schemeClr>
              </a:buClr>
              <a:buSzPct val="70000"/>
            </a:pPr>
            <a:r>
              <a:rPr lang="en-US" sz="2400" b="1" dirty="0">
                <a:latin typeface="Consolas" panose="020B0609020204030204" pitchFamily="49" charset="0"/>
              </a:rPr>
              <a:t>  border: 10px solid #000;</a:t>
            </a:r>
          </a:p>
          <a:p>
            <a:pPr eaLnBrk="0" hangingPunct="0">
              <a:lnSpc>
                <a:spcPct val="110000"/>
              </a:lnSpc>
              <a:buClr>
                <a:schemeClr val="accent5">
                  <a:lumMod val="40000"/>
                  <a:lumOff val="60000"/>
                </a:schemeClr>
              </a:buClr>
              <a:buSzPct val="70000"/>
            </a:pPr>
            <a:r>
              <a:rPr lang="en-US" sz="2400" b="1" dirty="0">
                <a:latin typeface="Consolas" panose="020B0609020204030204" pitchFamily="49" charset="0"/>
              </a:rPr>
              <a:t>}</a:t>
            </a:r>
          </a:p>
        </p:txBody>
      </p:sp>
      <p:sp>
        <p:nvSpPr>
          <p:cNvPr id="2" name="Slide Number">
            <a:extLst>
              <a:ext uri="{FF2B5EF4-FFF2-40B4-BE49-F238E27FC236}">
                <a16:creationId xmlns:a16="http://schemas.microsoft.com/office/drawing/2014/main" id="{D5601DDB-E41F-8A0C-79E9-80F3141A5E83}"/>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30</a:t>
            </a:fld>
            <a:endParaRPr lang="en-US" noProof="0" dirty="0"/>
          </a:p>
        </p:txBody>
      </p:sp>
    </p:spTree>
    <p:extLst>
      <p:ext uri="{BB962C8B-B14F-4D97-AF65-F5344CB8AC3E}">
        <p14:creationId xmlns:p14="http://schemas.microsoft.com/office/powerpoint/2010/main" val="4142290780"/>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Border</a:t>
            </a:r>
          </a:p>
        </p:txBody>
      </p:sp>
      <p:sp>
        <p:nvSpPr>
          <p:cNvPr id="3" name="Text Placeholder 2"/>
          <p:cNvSpPr>
            <a:spLocks noGrp="1"/>
          </p:cNvSpPr>
          <p:nvPr>
            <p:ph type="body" sz="quarter" idx="10"/>
          </p:nvPr>
        </p:nvSpPr>
        <p:spPr>
          <a:xfrm>
            <a:off x="191940" y="1196707"/>
            <a:ext cx="11662560" cy="5527326"/>
          </a:xfrm>
        </p:spPr>
        <p:txBody>
          <a:bodyPr>
            <a:normAutofit/>
          </a:bodyPr>
          <a:lstStyle/>
          <a:p>
            <a:pPr>
              <a:lnSpc>
                <a:spcPct val="100000"/>
              </a:lnSpc>
              <a:buClr>
                <a:schemeClr val="tx1"/>
              </a:buClr>
            </a:pPr>
            <a:r>
              <a:rPr lang="en-US" sz="3399" b="1" dirty="0">
                <a:solidFill>
                  <a:schemeClr val="bg1"/>
                </a:solidFill>
              </a:rPr>
              <a:t>Border</a:t>
            </a:r>
            <a:r>
              <a:rPr lang="en-US" sz="3399" dirty="0"/>
              <a:t> – define the style of the borders:</a:t>
            </a:r>
          </a:p>
          <a:p>
            <a:pPr lvl="1">
              <a:lnSpc>
                <a:spcPct val="100000"/>
              </a:lnSpc>
              <a:buClr>
                <a:schemeClr val="tx1"/>
              </a:buClr>
            </a:pPr>
            <a:r>
              <a:rPr lang="en-US" sz="3199" b="1" dirty="0">
                <a:solidFill>
                  <a:schemeClr val="bg1"/>
                </a:solidFill>
                <a:latin typeface="Consolas" panose="020B0609020204030204" pitchFamily="49" charset="0"/>
              </a:rPr>
              <a:t>width</a:t>
            </a:r>
            <a:r>
              <a:rPr lang="en-US" sz="3199" dirty="0"/>
              <a:t> (e. g. </a:t>
            </a:r>
            <a:r>
              <a:rPr lang="en-US" sz="3199" b="1" dirty="0">
                <a:solidFill>
                  <a:schemeClr val="bg1"/>
                </a:solidFill>
              </a:rPr>
              <a:t>1px</a:t>
            </a:r>
            <a:r>
              <a:rPr lang="en-US" sz="3199" dirty="0"/>
              <a:t> / </a:t>
            </a:r>
            <a:r>
              <a:rPr lang="en-US" sz="3199" b="1" dirty="0">
                <a:solidFill>
                  <a:schemeClr val="bg1"/>
                </a:solidFill>
              </a:rPr>
              <a:t>2px</a:t>
            </a:r>
            <a:r>
              <a:rPr lang="en-US" sz="3199" dirty="0"/>
              <a:t> / </a:t>
            </a:r>
            <a:r>
              <a:rPr lang="en-US" sz="3199" b="1" dirty="0">
                <a:solidFill>
                  <a:schemeClr val="bg1"/>
                </a:solidFill>
              </a:rPr>
              <a:t>3px</a:t>
            </a:r>
            <a:r>
              <a:rPr lang="en-US" sz="3199" dirty="0"/>
              <a:t>)</a:t>
            </a:r>
            <a:endParaRPr lang="en-US" sz="3199" b="1" dirty="0">
              <a:solidFill>
                <a:schemeClr val="bg1"/>
              </a:solidFill>
              <a:latin typeface="Consolas" panose="020B0609020204030204" pitchFamily="49" charset="0"/>
            </a:endParaRPr>
          </a:p>
          <a:p>
            <a:pPr lvl="1">
              <a:lnSpc>
                <a:spcPct val="100000"/>
              </a:lnSpc>
              <a:buClr>
                <a:schemeClr val="tx1"/>
              </a:buClr>
            </a:pPr>
            <a:r>
              <a:rPr lang="en-US" sz="3199" b="1" dirty="0">
                <a:solidFill>
                  <a:schemeClr val="bg1"/>
                </a:solidFill>
                <a:latin typeface="Consolas" panose="020B0609020204030204" pitchFamily="49" charset="0"/>
              </a:rPr>
              <a:t>style</a:t>
            </a:r>
            <a:r>
              <a:rPr lang="en-US" sz="3199" dirty="0"/>
              <a:t> (e. g. </a:t>
            </a:r>
            <a:r>
              <a:rPr lang="en-US" sz="3199" b="1" dirty="0">
                <a:solidFill>
                  <a:schemeClr val="bg1"/>
                </a:solidFill>
              </a:rPr>
              <a:t>solid</a:t>
            </a:r>
            <a:r>
              <a:rPr lang="en-US" sz="3199" dirty="0"/>
              <a:t> / </a:t>
            </a:r>
            <a:r>
              <a:rPr lang="en-US" sz="3199" b="1" dirty="0">
                <a:solidFill>
                  <a:schemeClr val="bg1"/>
                </a:solidFill>
              </a:rPr>
              <a:t>dashed</a:t>
            </a:r>
            <a:r>
              <a:rPr lang="en-US" sz="3199" dirty="0"/>
              <a:t> / </a:t>
            </a:r>
            <a:r>
              <a:rPr lang="en-US" sz="3199" b="1" dirty="0">
                <a:solidFill>
                  <a:schemeClr val="bg1"/>
                </a:solidFill>
              </a:rPr>
              <a:t>dotted</a:t>
            </a:r>
            <a:r>
              <a:rPr lang="en-US" sz="3199" dirty="0"/>
              <a:t>)</a:t>
            </a:r>
          </a:p>
          <a:p>
            <a:pPr lvl="1">
              <a:lnSpc>
                <a:spcPct val="100000"/>
              </a:lnSpc>
              <a:buClr>
                <a:schemeClr val="tx1"/>
              </a:buClr>
            </a:pPr>
            <a:r>
              <a:rPr lang="en-US" sz="3199" b="1" dirty="0">
                <a:solidFill>
                  <a:schemeClr val="bg1"/>
                </a:solidFill>
                <a:latin typeface="Consolas" panose="020B0609020204030204" pitchFamily="49" charset="0"/>
              </a:rPr>
              <a:t>color</a:t>
            </a:r>
            <a:r>
              <a:rPr lang="en-US" sz="3199" dirty="0"/>
              <a:t> (e. g. </a:t>
            </a:r>
            <a:r>
              <a:rPr lang="en-US" sz="3199" b="1" dirty="0">
                <a:solidFill>
                  <a:schemeClr val="bg1"/>
                </a:solidFill>
              </a:rPr>
              <a:t>blue</a:t>
            </a:r>
            <a:r>
              <a:rPr lang="en-US" sz="3199" dirty="0"/>
              <a:t> / </a:t>
            </a:r>
            <a:r>
              <a:rPr lang="en-US" sz="3199" b="1" dirty="0">
                <a:solidFill>
                  <a:schemeClr val="bg1"/>
                </a:solidFill>
              </a:rPr>
              <a:t>#eee</a:t>
            </a:r>
            <a:r>
              <a:rPr lang="en-US" sz="3199" dirty="0"/>
              <a:t>)</a:t>
            </a:r>
            <a:endParaRPr lang="bg-BG" dirty="0"/>
          </a:p>
        </p:txBody>
      </p:sp>
      <p:pic>
        <p:nvPicPr>
          <p:cNvPr id="7" name="Picture 6"/>
          <p:cNvPicPr>
            <a:picLocks noChangeAspect="1"/>
          </p:cNvPicPr>
          <p:nvPr/>
        </p:nvPicPr>
        <p:blipFill>
          <a:blip r:embed="rId2">
            <a:clrChange>
              <a:clrFrom>
                <a:srgbClr val="FFFFFF"/>
              </a:clrFrom>
              <a:clrTo>
                <a:srgbClr val="FFFFFF">
                  <a:alpha val="0"/>
                </a:srgbClr>
              </a:clrTo>
            </a:clrChange>
          </a:blip>
          <a:stretch>
            <a:fillRect/>
          </a:stretch>
        </p:blipFill>
        <p:spPr>
          <a:xfrm>
            <a:off x="8535654" y="1242953"/>
            <a:ext cx="2738709" cy="2384565"/>
          </a:xfrm>
          <a:prstGeom prst="rect">
            <a:avLst/>
          </a:prstGeom>
          <a:ln>
            <a:noFill/>
          </a:ln>
          <a:effectLst>
            <a:outerShdw blurRad="292100" dist="139700" dir="2700000" algn="tl" rotWithShape="0">
              <a:srgbClr val="333333">
                <a:alpha val="65000"/>
              </a:srgbClr>
            </a:outerShdw>
          </a:effectLst>
        </p:spPr>
      </p:pic>
      <p:sp>
        <p:nvSpPr>
          <p:cNvPr id="8" name="Текстово поле 7"/>
          <p:cNvSpPr txBox="1"/>
          <p:nvPr/>
        </p:nvSpPr>
        <p:spPr>
          <a:xfrm>
            <a:off x="790092" y="4515871"/>
            <a:ext cx="5890756" cy="648828"/>
          </a:xfrm>
          <a:prstGeom prst="rect">
            <a:avLst/>
          </a:prstGeom>
          <a:solidFill>
            <a:schemeClr val="accent6">
              <a:lumMod val="75000"/>
              <a:alpha val="15000"/>
            </a:schemeClr>
          </a:solidFill>
          <a:ln w="12700">
            <a:solidFill>
              <a:schemeClr val="tx1">
                <a:lumMod val="75000"/>
              </a:schemeClr>
            </a:solidFill>
          </a:ln>
        </p:spPr>
        <p:txBody>
          <a:bodyPr vert="horz" wrap="square" lIns="143963" tIns="107972" rIns="143963" bIns="107972" rtlCol="0">
            <a:spAutoFit/>
          </a:bodyPr>
          <a:lstStyle/>
          <a:p>
            <a:r>
              <a:rPr lang="en-GB" sz="2799" b="1" noProof="1">
                <a:solidFill>
                  <a:srgbClr val="FF0000"/>
                </a:solidFill>
                <a:latin typeface="Consolas" panose="020B0609020204030204" pitchFamily="49" charset="0"/>
              </a:rPr>
              <a:t>border</a:t>
            </a:r>
            <a:r>
              <a:rPr lang="en-GB" sz="2799" b="1" noProof="1">
                <a:solidFill>
                  <a:schemeClr val="accent6">
                    <a:lumMod val="10000"/>
                  </a:schemeClr>
                </a:solidFill>
                <a:latin typeface="Consolas" panose="020B0609020204030204" pitchFamily="49" charset="0"/>
              </a:rPr>
              <a:t>:</a:t>
            </a:r>
            <a:r>
              <a:rPr lang="en-GB" sz="2799" b="1" noProof="1">
                <a:solidFill>
                  <a:srgbClr val="800000"/>
                </a:solidFill>
                <a:latin typeface="Consolas" panose="020B0609020204030204" pitchFamily="49" charset="0"/>
              </a:rPr>
              <a:t> </a:t>
            </a:r>
            <a:r>
              <a:rPr lang="en-GB" sz="2799" b="1" noProof="1">
                <a:solidFill>
                  <a:schemeClr val="accent2">
                    <a:lumMod val="75000"/>
                  </a:schemeClr>
                </a:solidFill>
                <a:latin typeface="Consolas" panose="020B0609020204030204" pitchFamily="49" charset="0"/>
              </a:rPr>
              <a:t>4px</a:t>
            </a:r>
            <a:r>
              <a:rPr lang="en-GB" sz="2799" b="1" noProof="1">
                <a:solidFill>
                  <a:srgbClr val="800000"/>
                </a:solidFill>
                <a:latin typeface="Consolas" panose="020B0609020204030204" pitchFamily="49" charset="0"/>
              </a:rPr>
              <a:t> </a:t>
            </a:r>
            <a:r>
              <a:rPr lang="en-GB" sz="2799" b="1" noProof="1">
                <a:solidFill>
                  <a:schemeClr val="accent3">
                    <a:lumMod val="50000"/>
                  </a:schemeClr>
                </a:solidFill>
                <a:latin typeface="Consolas" panose="020B0609020204030204" pitchFamily="49" charset="0"/>
              </a:rPr>
              <a:t>dashed</a:t>
            </a:r>
            <a:r>
              <a:rPr lang="en-GB" sz="2799" b="1" noProof="1">
                <a:solidFill>
                  <a:srgbClr val="800000"/>
                </a:solidFill>
                <a:latin typeface="Consolas" panose="020B0609020204030204" pitchFamily="49" charset="0"/>
              </a:rPr>
              <a:t> </a:t>
            </a:r>
            <a:r>
              <a:rPr lang="en-GB" sz="2799" b="1" noProof="1">
                <a:solidFill>
                  <a:schemeClr val="accent3">
                    <a:lumMod val="50000"/>
                  </a:schemeClr>
                </a:solidFill>
                <a:latin typeface="Consolas" panose="020B0609020204030204" pitchFamily="49" charset="0"/>
              </a:rPr>
              <a:t>navy</a:t>
            </a:r>
            <a:r>
              <a:rPr lang="en-GB" sz="2799" b="1" noProof="1">
                <a:solidFill>
                  <a:schemeClr val="accent6">
                    <a:lumMod val="10000"/>
                  </a:schemeClr>
                </a:solidFill>
                <a:latin typeface="Consolas" panose="020B0609020204030204" pitchFamily="49" charset="0"/>
              </a:rPr>
              <a:t>;</a:t>
            </a:r>
          </a:p>
        </p:txBody>
      </p:sp>
      <p:sp>
        <p:nvSpPr>
          <p:cNvPr id="10" name="Текстово поле 7"/>
          <p:cNvSpPr txBox="1"/>
          <p:nvPr/>
        </p:nvSpPr>
        <p:spPr>
          <a:xfrm>
            <a:off x="790092" y="5479469"/>
            <a:ext cx="5890756" cy="648828"/>
          </a:xfrm>
          <a:prstGeom prst="rect">
            <a:avLst/>
          </a:prstGeom>
          <a:solidFill>
            <a:schemeClr val="accent6">
              <a:lumMod val="75000"/>
              <a:alpha val="15000"/>
            </a:schemeClr>
          </a:solidFill>
          <a:ln w="12700">
            <a:solidFill>
              <a:schemeClr val="tx1">
                <a:lumMod val="75000"/>
              </a:schemeClr>
            </a:solidFill>
          </a:ln>
        </p:spPr>
        <p:txBody>
          <a:bodyPr vert="horz" wrap="square" lIns="143963" tIns="107972" rIns="143963" bIns="107972" rtlCol="0">
            <a:spAutoFit/>
          </a:bodyPr>
          <a:lstStyle/>
          <a:p>
            <a:r>
              <a:rPr lang="en-GB" sz="2799" b="1" noProof="1">
                <a:solidFill>
                  <a:srgbClr val="FF0000"/>
                </a:solidFill>
                <a:latin typeface="Consolas" panose="020B0609020204030204" pitchFamily="49" charset="0"/>
              </a:rPr>
              <a:t>border</a:t>
            </a:r>
            <a:r>
              <a:rPr lang="en-GB" sz="2799" b="1" noProof="1">
                <a:solidFill>
                  <a:schemeClr val="accent6">
                    <a:lumMod val="10000"/>
                  </a:schemeClr>
                </a:solidFill>
                <a:latin typeface="Consolas" panose="020B0609020204030204" pitchFamily="49" charset="0"/>
              </a:rPr>
              <a:t>:</a:t>
            </a:r>
            <a:r>
              <a:rPr lang="en-GB" sz="2799" b="1" noProof="1">
                <a:solidFill>
                  <a:srgbClr val="800000"/>
                </a:solidFill>
                <a:latin typeface="Consolas" panose="020B0609020204030204" pitchFamily="49" charset="0"/>
              </a:rPr>
              <a:t> </a:t>
            </a:r>
            <a:r>
              <a:rPr lang="en-GB" sz="2799" b="1" noProof="1">
                <a:solidFill>
                  <a:schemeClr val="accent2">
                    <a:lumMod val="75000"/>
                  </a:schemeClr>
                </a:solidFill>
                <a:latin typeface="Consolas" panose="020B0609020204030204" pitchFamily="49" charset="0"/>
              </a:rPr>
              <a:t>6px</a:t>
            </a:r>
            <a:r>
              <a:rPr lang="en-GB" sz="2799" b="1" noProof="1">
                <a:solidFill>
                  <a:srgbClr val="800000"/>
                </a:solidFill>
                <a:latin typeface="Consolas" panose="020B0609020204030204" pitchFamily="49" charset="0"/>
              </a:rPr>
              <a:t> </a:t>
            </a:r>
            <a:r>
              <a:rPr lang="en-GB" sz="2799" b="1" noProof="1">
                <a:solidFill>
                  <a:schemeClr val="accent3">
                    <a:lumMod val="50000"/>
                  </a:schemeClr>
                </a:solidFill>
                <a:latin typeface="Consolas" panose="020B0609020204030204" pitchFamily="49" charset="0"/>
              </a:rPr>
              <a:t>solid</a:t>
            </a:r>
            <a:r>
              <a:rPr lang="en-GB" sz="2799" b="1" noProof="1">
                <a:solidFill>
                  <a:srgbClr val="800000"/>
                </a:solidFill>
                <a:latin typeface="Consolas" panose="020B0609020204030204" pitchFamily="49" charset="0"/>
              </a:rPr>
              <a:t> </a:t>
            </a:r>
            <a:r>
              <a:rPr lang="en-GB" sz="2799" b="1" noProof="1">
                <a:solidFill>
                  <a:schemeClr val="accent3">
                    <a:lumMod val="50000"/>
                  </a:schemeClr>
                </a:solidFill>
                <a:latin typeface="Consolas" panose="020B0609020204030204" pitchFamily="49" charset="0"/>
              </a:rPr>
              <a:t>lightblue</a:t>
            </a:r>
            <a:r>
              <a:rPr lang="en-GB" sz="2799" b="1" noProof="1">
                <a:solidFill>
                  <a:schemeClr val="accent6">
                    <a:lumMod val="10000"/>
                  </a:schemeClr>
                </a:solidFill>
                <a:latin typeface="Consolas" panose="020B0609020204030204" pitchFamily="49" charset="0"/>
              </a:rPr>
              <a:t>;</a:t>
            </a:r>
          </a:p>
        </p:txBody>
      </p:sp>
      <p:pic>
        <p:nvPicPr>
          <p:cNvPr id="11" name="Picture 10"/>
          <p:cNvPicPr>
            <a:picLocks noChangeAspect="1"/>
          </p:cNvPicPr>
          <p:nvPr/>
        </p:nvPicPr>
        <p:blipFill>
          <a:blip r:embed="rId3">
            <a:clrChange>
              <a:clrFrom>
                <a:srgbClr val="FFFFFF"/>
              </a:clrFrom>
              <a:clrTo>
                <a:srgbClr val="FFFFFF">
                  <a:alpha val="0"/>
                </a:srgbClr>
              </a:clrTo>
            </a:clrChange>
          </a:blip>
          <a:stretch>
            <a:fillRect/>
          </a:stretch>
        </p:blipFill>
        <p:spPr>
          <a:xfrm>
            <a:off x="8571192" y="3825144"/>
            <a:ext cx="2626423" cy="2393130"/>
          </a:xfrm>
          <a:prstGeom prst="rect">
            <a:avLst/>
          </a:prstGeom>
          <a:ln>
            <a:noFill/>
          </a:ln>
          <a:effectLst>
            <a:outerShdw blurRad="292100" dist="139700" dir="2700000" algn="tl" rotWithShape="0">
              <a:srgbClr val="333333">
                <a:alpha val="65000"/>
              </a:srgbClr>
            </a:outerShdw>
          </a:effectLst>
        </p:spPr>
      </p:pic>
      <p:sp>
        <p:nvSpPr>
          <p:cNvPr id="12" name="AutoShape 7"/>
          <p:cNvSpPr>
            <a:spLocks noChangeArrowheads="1"/>
          </p:cNvSpPr>
          <p:nvPr/>
        </p:nvSpPr>
        <p:spPr bwMode="auto">
          <a:xfrm>
            <a:off x="1556170" y="3971884"/>
            <a:ext cx="1299830" cy="537116"/>
          </a:xfrm>
          <a:prstGeom prst="wedgeRoundRectCallout">
            <a:avLst>
              <a:gd name="adj1" fmla="val 26741"/>
              <a:gd name="adj2" fmla="val 81039"/>
              <a:gd name="adj3" fmla="val 16667"/>
            </a:avLst>
          </a:prstGeom>
          <a:solidFill>
            <a:schemeClr val="dk2">
              <a:alpha val="80000"/>
            </a:schemeClr>
          </a:solidFill>
          <a:ln w="1905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lnSpc>
                <a:spcPct val="90000"/>
              </a:lnSpc>
            </a:pPr>
            <a:r>
              <a:rPr lang="en-US" sz="2399" b="1" noProof="1">
                <a:solidFill>
                  <a:schemeClr val="bg2"/>
                </a:solidFill>
                <a:effectLst>
                  <a:outerShdw blurRad="38100" dist="38100" dir="2700000" algn="tl">
                    <a:srgbClr val="000000">
                      <a:alpha val="43137"/>
                    </a:srgbClr>
                  </a:outerShdw>
                </a:effectLst>
                <a:latin typeface="Consolas" panose="020B0609020204030204" pitchFamily="49" charset="0"/>
              </a:rPr>
              <a:t>width</a:t>
            </a:r>
          </a:p>
        </p:txBody>
      </p:sp>
      <p:sp>
        <p:nvSpPr>
          <p:cNvPr id="13" name="AutoShape 7"/>
          <p:cNvSpPr>
            <a:spLocks noChangeArrowheads="1"/>
          </p:cNvSpPr>
          <p:nvPr/>
        </p:nvSpPr>
        <p:spPr bwMode="auto">
          <a:xfrm>
            <a:off x="3167167" y="3971884"/>
            <a:ext cx="1299830" cy="537116"/>
          </a:xfrm>
          <a:prstGeom prst="wedgeRoundRectCallout">
            <a:avLst>
              <a:gd name="adj1" fmla="val 15778"/>
              <a:gd name="adj2" fmla="val 79210"/>
              <a:gd name="adj3" fmla="val 16667"/>
            </a:avLst>
          </a:prstGeom>
          <a:solidFill>
            <a:schemeClr val="dk2">
              <a:alpha val="80000"/>
            </a:schemeClr>
          </a:solidFill>
          <a:ln w="1905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lnSpc>
                <a:spcPct val="90000"/>
              </a:lnSpc>
            </a:pPr>
            <a:r>
              <a:rPr lang="en-US" sz="2399" b="1" noProof="1">
                <a:solidFill>
                  <a:schemeClr val="bg2"/>
                </a:solidFill>
                <a:effectLst>
                  <a:outerShdw blurRad="38100" dist="38100" dir="2700000" algn="tl">
                    <a:srgbClr val="000000">
                      <a:alpha val="43137"/>
                    </a:srgbClr>
                  </a:outerShdw>
                </a:effectLst>
                <a:latin typeface="Consolas" panose="020B0609020204030204" pitchFamily="49" charset="0"/>
              </a:rPr>
              <a:t>style</a:t>
            </a:r>
          </a:p>
        </p:txBody>
      </p:sp>
      <p:sp>
        <p:nvSpPr>
          <p:cNvPr id="14" name="AutoShape 7"/>
          <p:cNvSpPr>
            <a:spLocks noChangeArrowheads="1"/>
          </p:cNvSpPr>
          <p:nvPr/>
        </p:nvSpPr>
        <p:spPr bwMode="auto">
          <a:xfrm>
            <a:off x="4924007" y="4016884"/>
            <a:ext cx="1299830" cy="537116"/>
          </a:xfrm>
          <a:prstGeom prst="wedgeRoundRectCallout">
            <a:avLst>
              <a:gd name="adj1" fmla="val -33752"/>
              <a:gd name="adj2" fmla="val 79207"/>
              <a:gd name="adj3" fmla="val 16667"/>
            </a:avLst>
          </a:prstGeom>
          <a:solidFill>
            <a:schemeClr val="dk2">
              <a:alpha val="80000"/>
            </a:schemeClr>
          </a:solidFill>
          <a:ln w="1905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lnSpc>
                <a:spcPct val="90000"/>
              </a:lnSpc>
            </a:pPr>
            <a:r>
              <a:rPr lang="en-US" sz="2399" b="1" noProof="1">
                <a:solidFill>
                  <a:schemeClr val="bg2"/>
                </a:solidFill>
                <a:effectLst>
                  <a:outerShdw blurRad="38100" dist="38100" dir="2700000" algn="tl">
                    <a:srgbClr val="000000">
                      <a:alpha val="43137"/>
                    </a:srgbClr>
                  </a:outerShdw>
                </a:effectLst>
                <a:latin typeface="Consolas" panose="020B0609020204030204" pitchFamily="49" charset="0"/>
              </a:rPr>
              <a:t>color</a:t>
            </a:r>
          </a:p>
        </p:txBody>
      </p:sp>
      <p:sp>
        <p:nvSpPr>
          <p:cNvPr id="15" name="Slide Number">
            <a:extLst>
              <a:ext uri="{FF2B5EF4-FFF2-40B4-BE49-F238E27FC236}">
                <a16:creationId xmlns:a16="http://schemas.microsoft.com/office/drawing/2014/main" id="{2B9CD584-14BD-45F9-A0A5-D6C5F88180B5}"/>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31</a:t>
            </a:fld>
            <a:endParaRPr lang="en-US" noProof="0" dirty="0"/>
          </a:p>
        </p:txBody>
      </p:sp>
    </p:spTree>
    <p:extLst>
      <p:ext uri="{BB962C8B-B14F-4D97-AF65-F5344CB8AC3E}">
        <p14:creationId xmlns:p14="http://schemas.microsoft.com/office/powerpoint/2010/main" val="2068405141"/>
      </p:ext>
    </p:extLst>
  </p:cSld>
  <p:clrMapOvr>
    <a:masterClrMapping/>
  </p:clrMapOvr>
  <mc:AlternateContent xmlns:mc="http://schemas.openxmlformats.org/markup-compatibility/2006" xmlns:p14="http://schemas.microsoft.com/office/powerpoint/2010/main">
    <mc:Choice Requires="p14">
      <p:transition p14:dur="0" advClick="0" advTm="5000"/>
    </mc:Choice>
    <mc:Fallback xmlns="">
      <p:transition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2" grpId="0" animBg="1"/>
      <p:bldP spid="13" grpId="0" animBg="1"/>
      <p:bldP spid="14"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Border Properties</a:t>
            </a:r>
          </a:p>
        </p:txBody>
      </p:sp>
      <p:sp>
        <p:nvSpPr>
          <p:cNvPr id="6" name="Rectangle 5"/>
          <p:cNvSpPr>
            <a:spLocks noChangeArrowheads="1"/>
          </p:cNvSpPr>
          <p:nvPr/>
        </p:nvSpPr>
        <p:spPr bwMode="auto">
          <a:xfrm>
            <a:off x="204843" y="1269000"/>
            <a:ext cx="6566158" cy="5262979"/>
          </a:xfrm>
          <a:prstGeom prst="rect">
            <a:avLst/>
          </a:prstGeom>
          <a:solidFill>
            <a:schemeClr val="accent6">
              <a:lumMod val="75000"/>
              <a:alpha val="15000"/>
            </a:schemeClr>
          </a:solidFill>
          <a:ln w="12700">
            <a:solidFill>
              <a:schemeClr val="accent5">
                <a:lumMod val="60000"/>
                <a:lumOff val="40000"/>
              </a:schemeClr>
            </a:solidFill>
          </a:ln>
        </p:spPr>
        <p:txBody>
          <a:bodyPr wrap="square">
            <a:spAutoFit/>
          </a:bodyPr>
          <a:lstStyle/>
          <a:p>
            <a:r>
              <a:rPr lang="en-GB" sz="2800" b="1" dirty="0">
                <a:solidFill>
                  <a:srgbClr val="800000"/>
                </a:solidFill>
                <a:latin typeface="Consolas" panose="020B0609020204030204" pitchFamily="49" charset="0"/>
              </a:rPr>
              <a:t>div</a:t>
            </a:r>
            <a:r>
              <a:rPr lang="en-GB" sz="2800" b="1" dirty="0">
                <a:solidFill>
                  <a:srgbClr val="000000"/>
                </a:solidFill>
                <a:latin typeface="Consolas" panose="020B0609020204030204" pitchFamily="49" charset="0"/>
              </a:rPr>
              <a:t> {</a:t>
            </a:r>
          </a:p>
          <a:p>
            <a:r>
              <a:rPr lang="en-GB" sz="2800" b="1" dirty="0">
                <a:solidFill>
                  <a:srgbClr val="000000"/>
                </a:solidFill>
                <a:latin typeface="Consolas" panose="020B0609020204030204" pitchFamily="49" charset="0"/>
              </a:rPr>
              <a:t>  </a:t>
            </a:r>
            <a:r>
              <a:rPr lang="en-GB" sz="2800" b="1" dirty="0">
                <a:solidFill>
                  <a:srgbClr val="FF0000"/>
                </a:solidFill>
                <a:latin typeface="Consolas" panose="020B0609020204030204" pitchFamily="49" charset="0"/>
              </a:rPr>
              <a:t>width</a:t>
            </a:r>
            <a:r>
              <a:rPr lang="en-GB" sz="2800" b="1" dirty="0">
                <a:solidFill>
                  <a:srgbClr val="000000"/>
                </a:solidFill>
                <a:latin typeface="Consolas" panose="020B0609020204030204" pitchFamily="49" charset="0"/>
              </a:rPr>
              <a:t>: </a:t>
            </a:r>
            <a:r>
              <a:rPr lang="en-GB" sz="2800" b="1" dirty="0">
                <a:solidFill>
                  <a:srgbClr val="098658"/>
                </a:solidFill>
                <a:latin typeface="Consolas" panose="020B0609020204030204" pitchFamily="49" charset="0"/>
              </a:rPr>
              <a:t>160px</a:t>
            </a:r>
            <a:r>
              <a:rPr lang="en-GB" sz="2800" b="1" dirty="0">
                <a:solidFill>
                  <a:srgbClr val="000000"/>
                </a:solidFill>
                <a:latin typeface="Consolas" panose="020B0609020204030204" pitchFamily="49" charset="0"/>
              </a:rPr>
              <a:t>;</a:t>
            </a:r>
          </a:p>
          <a:p>
            <a:r>
              <a:rPr lang="en-GB" sz="2800" b="1" dirty="0">
                <a:solidFill>
                  <a:srgbClr val="000000"/>
                </a:solidFill>
                <a:latin typeface="Consolas" panose="020B0609020204030204" pitchFamily="49" charset="0"/>
              </a:rPr>
              <a:t>  </a:t>
            </a:r>
            <a:r>
              <a:rPr lang="en-GB" sz="2800" b="1" dirty="0">
                <a:solidFill>
                  <a:srgbClr val="FF0000"/>
                </a:solidFill>
                <a:latin typeface="Consolas" panose="020B0609020204030204" pitchFamily="49" charset="0"/>
              </a:rPr>
              <a:t>height</a:t>
            </a:r>
            <a:r>
              <a:rPr lang="en-GB" sz="2800" b="1" dirty="0">
                <a:solidFill>
                  <a:srgbClr val="000000"/>
                </a:solidFill>
                <a:latin typeface="Consolas" panose="020B0609020204030204" pitchFamily="49" charset="0"/>
              </a:rPr>
              <a:t>: </a:t>
            </a:r>
            <a:r>
              <a:rPr lang="en-GB" sz="2800" b="1" dirty="0">
                <a:solidFill>
                  <a:srgbClr val="098658"/>
                </a:solidFill>
                <a:latin typeface="Consolas" panose="020B0609020204030204" pitchFamily="49" charset="0"/>
              </a:rPr>
              <a:t>50px</a:t>
            </a:r>
            <a:r>
              <a:rPr lang="en-GB" sz="2800" b="1" dirty="0">
                <a:solidFill>
                  <a:srgbClr val="000000"/>
                </a:solidFill>
                <a:latin typeface="Consolas" panose="020B0609020204030204" pitchFamily="49" charset="0"/>
              </a:rPr>
              <a:t>;</a:t>
            </a:r>
          </a:p>
          <a:p>
            <a:r>
              <a:rPr lang="en-GB" sz="2800" b="1" dirty="0">
                <a:solidFill>
                  <a:srgbClr val="000000"/>
                </a:solidFill>
                <a:latin typeface="Consolas" panose="020B0609020204030204" pitchFamily="49" charset="0"/>
              </a:rPr>
              <a:t>  </a:t>
            </a:r>
            <a:r>
              <a:rPr lang="en-GB" sz="2800" b="1" dirty="0">
                <a:solidFill>
                  <a:srgbClr val="FF0000"/>
                </a:solidFill>
                <a:latin typeface="Consolas" panose="020B0609020204030204" pitchFamily="49" charset="0"/>
              </a:rPr>
              <a:t>border-width</a:t>
            </a:r>
            <a:r>
              <a:rPr lang="en-GB" sz="2800" b="1" dirty="0">
                <a:solidFill>
                  <a:srgbClr val="000000"/>
                </a:solidFill>
                <a:latin typeface="Consolas" panose="020B0609020204030204" pitchFamily="49" charset="0"/>
              </a:rPr>
              <a:t>: </a:t>
            </a:r>
            <a:r>
              <a:rPr lang="en-GB" sz="2800" b="1" dirty="0">
                <a:solidFill>
                  <a:srgbClr val="098658"/>
                </a:solidFill>
                <a:latin typeface="Consolas" panose="020B0609020204030204" pitchFamily="49" charset="0"/>
              </a:rPr>
              <a:t>2px</a:t>
            </a:r>
            <a:r>
              <a:rPr lang="en-GB" sz="2800" b="1" dirty="0">
                <a:solidFill>
                  <a:srgbClr val="000000"/>
                </a:solidFill>
                <a:latin typeface="Consolas" panose="020B0609020204030204" pitchFamily="49" charset="0"/>
              </a:rPr>
              <a:t>;</a:t>
            </a:r>
          </a:p>
          <a:p>
            <a:r>
              <a:rPr lang="en-GB" sz="2800" b="1" dirty="0">
                <a:solidFill>
                  <a:srgbClr val="000000"/>
                </a:solidFill>
                <a:latin typeface="Consolas" panose="020B0609020204030204" pitchFamily="49" charset="0"/>
              </a:rPr>
              <a:t>  </a:t>
            </a:r>
            <a:r>
              <a:rPr lang="en-GB" sz="2800" b="1" dirty="0">
                <a:solidFill>
                  <a:srgbClr val="FF0000"/>
                </a:solidFill>
                <a:latin typeface="Consolas" panose="020B0609020204030204" pitchFamily="49" charset="0"/>
              </a:rPr>
              <a:t>border-style</a:t>
            </a:r>
            <a:r>
              <a:rPr lang="en-GB" sz="2800" b="1" dirty="0">
                <a:solidFill>
                  <a:srgbClr val="000000"/>
                </a:solidFill>
                <a:latin typeface="Consolas" panose="020B0609020204030204" pitchFamily="49" charset="0"/>
              </a:rPr>
              <a:t>: </a:t>
            </a:r>
            <a:r>
              <a:rPr lang="en-GB" sz="2800" b="1" dirty="0">
                <a:solidFill>
                  <a:srgbClr val="0451A5"/>
                </a:solidFill>
                <a:latin typeface="Consolas" panose="020B0609020204030204" pitchFamily="49" charset="0"/>
              </a:rPr>
              <a:t>solid</a:t>
            </a:r>
            <a:r>
              <a:rPr lang="en-GB" sz="2800" b="1" dirty="0">
                <a:solidFill>
                  <a:srgbClr val="000000"/>
                </a:solidFill>
                <a:latin typeface="Consolas" panose="020B0609020204030204" pitchFamily="49" charset="0"/>
              </a:rPr>
              <a:t>;</a:t>
            </a:r>
          </a:p>
          <a:p>
            <a:r>
              <a:rPr lang="en-GB" sz="2800" b="1" dirty="0">
                <a:solidFill>
                  <a:srgbClr val="000000"/>
                </a:solidFill>
                <a:latin typeface="Consolas" panose="020B0609020204030204" pitchFamily="49" charset="0"/>
              </a:rPr>
              <a:t>  </a:t>
            </a:r>
            <a:r>
              <a:rPr lang="en-GB" sz="2800" b="1" dirty="0">
                <a:solidFill>
                  <a:srgbClr val="FF0000"/>
                </a:solidFill>
                <a:latin typeface="Consolas" panose="020B0609020204030204" pitchFamily="49" charset="0"/>
              </a:rPr>
              <a:t>border-</a:t>
            </a:r>
            <a:r>
              <a:rPr lang="en-GB" sz="2800" b="1" dirty="0" err="1">
                <a:solidFill>
                  <a:srgbClr val="FF0000"/>
                </a:solidFill>
                <a:latin typeface="Consolas" panose="020B0609020204030204" pitchFamily="49" charset="0"/>
              </a:rPr>
              <a:t>color</a:t>
            </a:r>
            <a:r>
              <a:rPr lang="en-GB" sz="2800" b="1" dirty="0">
                <a:solidFill>
                  <a:srgbClr val="000000"/>
                </a:solidFill>
                <a:latin typeface="Consolas" panose="020B0609020204030204" pitchFamily="49" charset="0"/>
              </a:rPr>
              <a:t>: </a:t>
            </a:r>
            <a:r>
              <a:rPr lang="en-GB" sz="2800" b="1" dirty="0">
                <a:solidFill>
                  <a:srgbClr val="0451A5"/>
                </a:solidFill>
                <a:latin typeface="Consolas" panose="020B0609020204030204" pitchFamily="49" charset="0"/>
              </a:rPr>
              <a:t>#0053ff</a:t>
            </a:r>
            <a:r>
              <a:rPr lang="en-GB" sz="2800" b="1" dirty="0">
                <a:solidFill>
                  <a:srgbClr val="000000"/>
                </a:solidFill>
                <a:latin typeface="Consolas" panose="020B0609020204030204" pitchFamily="49" charset="0"/>
              </a:rPr>
              <a:t>;</a:t>
            </a:r>
          </a:p>
          <a:p>
            <a:r>
              <a:rPr lang="en-GB" sz="2800" b="1" dirty="0">
                <a:solidFill>
                  <a:srgbClr val="000000"/>
                </a:solidFill>
                <a:latin typeface="Consolas" panose="020B0609020204030204" pitchFamily="49" charset="0"/>
              </a:rPr>
              <a:t>  </a:t>
            </a:r>
            <a:r>
              <a:rPr lang="en-GB" sz="2800" b="1" dirty="0">
                <a:solidFill>
                  <a:srgbClr val="FF0000"/>
                </a:solidFill>
                <a:latin typeface="Consolas" panose="020B0609020204030204" pitchFamily="49" charset="0"/>
              </a:rPr>
              <a:t>border-radius</a:t>
            </a:r>
            <a:r>
              <a:rPr lang="en-GB" sz="2800" b="1" dirty="0">
                <a:solidFill>
                  <a:srgbClr val="000000"/>
                </a:solidFill>
                <a:latin typeface="Consolas" panose="020B0609020204030204" pitchFamily="49" charset="0"/>
              </a:rPr>
              <a:t>: </a:t>
            </a:r>
            <a:r>
              <a:rPr lang="en-GB" sz="2800" b="1" dirty="0">
                <a:solidFill>
                  <a:srgbClr val="098658"/>
                </a:solidFill>
                <a:latin typeface="Consolas" panose="020B0609020204030204" pitchFamily="49" charset="0"/>
              </a:rPr>
              <a:t>15px</a:t>
            </a:r>
            <a:r>
              <a:rPr lang="en-GB" sz="2800" b="1" dirty="0">
                <a:solidFill>
                  <a:srgbClr val="000000"/>
                </a:solidFill>
                <a:latin typeface="Consolas" panose="020B0609020204030204" pitchFamily="49" charset="0"/>
              </a:rPr>
              <a:t>;</a:t>
            </a:r>
          </a:p>
          <a:p>
            <a:r>
              <a:rPr lang="en-GB" sz="2800" b="1" dirty="0">
                <a:solidFill>
                  <a:srgbClr val="000000"/>
                </a:solidFill>
                <a:latin typeface="Consolas" panose="020B0609020204030204" pitchFamily="49" charset="0"/>
              </a:rPr>
              <a:t>  </a:t>
            </a:r>
            <a:r>
              <a:rPr lang="en-GB" sz="2800" b="1" dirty="0">
                <a:solidFill>
                  <a:srgbClr val="FF0000"/>
                </a:solidFill>
                <a:latin typeface="Consolas" panose="020B0609020204030204" pitchFamily="49" charset="0"/>
              </a:rPr>
              <a:t>border-top-left-radius</a:t>
            </a:r>
            <a:r>
              <a:rPr lang="en-GB" sz="2800" b="1" dirty="0">
                <a:solidFill>
                  <a:srgbClr val="000000"/>
                </a:solidFill>
                <a:latin typeface="Consolas" panose="020B0609020204030204" pitchFamily="49" charset="0"/>
              </a:rPr>
              <a:t>: </a:t>
            </a:r>
            <a:r>
              <a:rPr lang="en-GB" sz="2800" b="1" dirty="0">
                <a:solidFill>
                  <a:srgbClr val="098658"/>
                </a:solidFill>
                <a:latin typeface="Consolas" panose="020B0609020204030204" pitchFamily="49" charset="0"/>
              </a:rPr>
              <a:t>30px</a:t>
            </a:r>
            <a:r>
              <a:rPr lang="en-GB" sz="2800" b="1" dirty="0">
                <a:solidFill>
                  <a:srgbClr val="000000"/>
                </a:solidFill>
                <a:latin typeface="Consolas" panose="020B0609020204030204" pitchFamily="49" charset="0"/>
              </a:rPr>
              <a:t>;</a:t>
            </a:r>
          </a:p>
          <a:p>
            <a:r>
              <a:rPr lang="en-GB" sz="2800" b="1" dirty="0">
                <a:solidFill>
                  <a:srgbClr val="000000"/>
                </a:solidFill>
                <a:latin typeface="Consolas" panose="020B0609020204030204" pitchFamily="49" charset="0"/>
              </a:rPr>
              <a:t>  </a:t>
            </a:r>
            <a:r>
              <a:rPr lang="en-GB" sz="2800" b="1" dirty="0">
                <a:solidFill>
                  <a:srgbClr val="FF0000"/>
                </a:solidFill>
                <a:latin typeface="Consolas" panose="020B0609020204030204" pitchFamily="49" charset="0"/>
              </a:rPr>
              <a:t>border-bottom-style</a:t>
            </a:r>
            <a:r>
              <a:rPr lang="en-GB" sz="2800" b="1" dirty="0">
                <a:solidFill>
                  <a:srgbClr val="000000"/>
                </a:solidFill>
                <a:latin typeface="Consolas" panose="020B0609020204030204" pitchFamily="49" charset="0"/>
              </a:rPr>
              <a:t>: </a:t>
            </a:r>
            <a:r>
              <a:rPr lang="en-GB" sz="2800" b="1" dirty="0">
                <a:solidFill>
                  <a:srgbClr val="0451A5"/>
                </a:solidFill>
                <a:latin typeface="Consolas" panose="020B0609020204030204" pitchFamily="49" charset="0"/>
              </a:rPr>
              <a:t>dotted</a:t>
            </a:r>
            <a:r>
              <a:rPr lang="en-GB" sz="2800" b="1" dirty="0">
                <a:solidFill>
                  <a:srgbClr val="000000"/>
                </a:solidFill>
                <a:latin typeface="Consolas" panose="020B0609020204030204" pitchFamily="49" charset="0"/>
              </a:rPr>
              <a:t>;</a:t>
            </a:r>
          </a:p>
          <a:p>
            <a:r>
              <a:rPr lang="en-GB" sz="2800" b="1" dirty="0">
                <a:solidFill>
                  <a:srgbClr val="000000"/>
                </a:solidFill>
                <a:latin typeface="Consolas" panose="020B0609020204030204" pitchFamily="49" charset="0"/>
              </a:rPr>
              <a:t>  </a:t>
            </a:r>
            <a:r>
              <a:rPr lang="en-GB" sz="2800" b="1" dirty="0">
                <a:solidFill>
                  <a:srgbClr val="FF0000"/>
                </a:solidFill>
                <a:latin typeface="Consolas" panose="020B0609020204030204" pitchFamily="49" charset="0"/>
              </a:rPr>
              <a:t>border-left-</a:t>
            </a:r>
            <a:r>
              <a:rPr lang="en-GB" sz="2800" b="1" dirty="0" err="1">
                <a:solidFill>
                  <a:srgbClr val="FF0000"/>
                </a:solidFill>
                <a:latin typeface="Consolas" panose="020B0609020204030204" pitchFamily="49" charset="0"/>
              </a:rPr>
              <a:t>color</a:t>
            </a:r>
            <a:r>
              <a:rPr lang="en-GB" sz="2800" b="1" dirty="0">
                <a:solidFill>
                  <a:srgbClr val="000000"/>
                </a:solidFill>
                <a:latin typeface="Consolas" panose="020B0609020204030204" pitchFamily="49" charset="0"/>
              </a:rPr>
              <a:t>: </a:t>
            </a:r>
            <a:r>
              <a:rPr lang="en-GB" sz="2800" b="1" dirty="0">
                <a:solidFill>
                  <a:srgbClr val="0451A5"/>
                </a:solidFill>
                <a:latin typeface="Consolas" panose="020B0609020204030204" pitchFamily="49" charset="0"/>
              </a:rPr>
              <a:t>#89af4c</a:t>
            </a:r>
            <a:r>
              <a:rPr lang="en-GB" sz="2800" b="1" dirty="0">
                <a:solidFill>
                  <a:srgbClr val="000000"/>
                </a:solidFill>
                <a:latin typeface="Consolas" panose="020B0609020204030204" pitchFamily="49" charset="0"/>
              </a:rPr>
              <a:t>;</a:t>
            </a:r>
          </a:p>
          <a:p>
            <a:r>
              <a:rPr lang="en-GB" sz="2800" b="1" dirty="0">
                <a:solidFill>
                  <a:srgbClr val="000000"/>
                </a:solidFill>
                <a:latin typeface="Consolas" panose="020B0609020204030204" pitchFamily="49" charset="0"/>
              </a:rPr>
              <a:t>  </a:t>
            </a:r>
            <a:r>
              <a:rPr lang="en-GB" sz="2800" b="1" dirty="0">
                <a:solidFill>
                  <a:srgbClr val="FF0000"/>
                </a:solidFill>
                <a:latin typeface="Consolas" panose="020B0609020204030204" pitchFamily="49" charset="0"/>
              </a:rPr>
              <a:t>text-align</a:t>
            </a:r>
            <a:r>
              <a:rPr lang="en-GB" sz="2800" b="1" dirty="0">
                <a:solidFill>
                  <a:srgbClr val="000000"/>
                </a:solidFill>
                <a:latin typeface="Consolas" panose="020B0609020204030204" pitchFamily="49" charset="0"/>
              </a:rPr>
              <a:t>: </a:t>
            </a:r>
            <a:r>
              <a:rPr lang="en-GB" sz="2800" b="1" dirty="0" err="1">
                <a:solidFill>
                  <a:srgbClr val="0451A5"/>
                </a:solidFill>
                <a:latin typeface="Consolas" panose="020B0609020204030204" pitchFamily="49" charset="0"/>
              </a:rPr>
              <a:t>center</a:t>
            </a:r>
            <a:r>
              <a:rPr lang="en-GB" sz="2800" b="1" dirty="0">
                <a:solidFill>
                  <a:srgbClr val="000000"/>
                </a:solidFill>
                <a:latin typeface="Consolas" panose="020B0609020204030204" pitchFamily="49" charset="0"/>
              </a:rPr>
              <a:t>;</a:t>
            </a:r>
          </a:p>
          <a:p>
            <a:r>
              <a:rPr lang="en-GB" sz="2800" b="1" dirty="0">
                <a:solidFill>
                  <a:srgbClr val="000000"/>
                </a:solidFill>
                <a:latin typeface="Consolas" panose="020B0609020204030204" pitchFamily="49" charset="0"/>
              </a:rPr>
              <a:t>}</a:t>
            </a:r>
          </a:p>
        </p:txBody>
      </p:sp>
      <p:pic>
        <p:nvPicPr>
          <p:cNvPr id="3" name="Picture 2"/>
          <p:cNvPicPr>
            <a:picLocks noChangeAspect="1"/>
          </p:cNvPicPr>
          <p:nvPr/>
        </p:nvPicPr>
        <p:blipFill rotWithShape="1">
          <a:blip r:embed="rId2" cstate="print">
            <a:extLst>
              <a:ext uri="{28A0092B-C50C-407E-A947-70E740481C1C}">
                <a14:useLocalDpi xmlns:a14="http://schemas.microsoft.com/office/drawing/2010/main" val="0"/>
              </a:ext>
            </a:extLst>
          </a:blip>
          <a:srcRect l="1998" r="8656"/>
          <a:stretch/>
        </p:blipFill>
        <p:spPr>
          <a:xfrm>
            <a:off x="6996000" y="2252141"/>
            <a:ext cx="4365000" cy="2353717"/>
          </a:xfrm>
          <a:prstGeom prst="rect">
            <a:avLst/>
          </a:prstGeom>
          <a:ln>
            <a:noFill/>
          </a:ln>
          <a:effectLst>
            <a:outerShdw blurRad="292100" dist="139700" dir="2700000" algn="tl" rotWithShape="0">
              <a:srgbClr val="333333">
                <a:alpha val="65000"/>
              </a:srgbClr>
            </a:outerShdw>
          </a:effectLst>
        </p:spPr>
      </p:pic>
      <p:sp>
        <p:nvSpPr>
          <p:cNvPr id="8" name="Slide Number">
            <a:extLst>
              <a:ext uri="{FF2B5EF4-FFF2-40B4-BE49-F238E27FC236}">
                <a16:creationId xmlns:a16="http://schemas.microsoft.com/office/drawing/2014/main" id="{FF47BCC3-2641-440A-A727-984EB27B4BD4}"/>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32</a:t>
            </a:fld>
            <a:endParaRPr lang="en-US" noProof="0" dirty="0"/>
          </a:p>
        </p:txBody>
      </p:sp>
    </p:spTree>
    <p:extLst>
      <p:ext uri="{BB962C8B-B14F-4D97-AF65-F5344CB8AC3E}">
        <p14:creationId xmlns:p14="http://schemas.microsoft.com/office/powerpoint/2010/main" val="1721534658"/>
      </p:ext>
    </p:extLst>
  </p:cSld>
  <p:clrMapOvr>
    <a:masterClrMapping/>
  </p:clrMapOvr>
  <mc:AlternateContent xmlns:mc="http://schemas.openxmlformats.org/markup-compatibility/2006" xmlns:p14="http://schemas.microsoft.com/office/powerpoint/2010/main">
    <mc:Choice Requires="p14">
      <p:transition p14:dur="0" advClick="0" advTm="5000"/>
    </mc:Choice>
    <mc:Fallback xmlns="">
      <p:transition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CSS Borders</a:t>
            </a:r>
            <a:endParaRPr lang="en-GB" dirty="0"/>
          </a:p>
        </p:txBody>
      </p:sp>
      <p:pic>
        <p:nvPicPr>
          <p:cNvPr id="1028" name="Picture 4" descr="http://www.geekchamp.com/upload/Tutorials/borders.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49583" y="1459144"/>
            <a:ext cx="7892835" cy="490355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5" name="Slide Number">
            <a:extLst>
              <a:ext uri="{FF2B5EF4-FFF2-40B4-BE49-F238E27FC236}">
                <a16:creationId xmlns:a16="http://schemas.microsoft.com/office/drawing/2014/main" id="{0BC5EFE9-E07D-423B-BB8E-240E0B032E52}"/>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33</a:t>
            </a:fld>
            <a:endParaRPr lang="en-US" noProof="0" dirty="0"/>
          </a:p>
        </p:txBody>
      </p:sp>
    </p:spTree>
    <p:extLst>
      <p:ext uri="{BB962C8B-B14F-4D97-AF65-F5344CB8AC3E}">
        <p14:creationId xmlns:p14="http://schemas.microsoft.com/office/powerpoint/2010/main" val="689839111"/>
      </p:ext>
    </p:extLst>
  </p:cSld>
  <p:clrMapOvr>
    <a:masterClrMapping/>
  </p:clrMapOvr>
  <mc:AlternateContent xmlns:mc="http://schemas.openxmlformats.org/markup-compatibility/2006" xmlns:p14="http://schemas.microsoft.com/office/powerpoint/2010/main">
    <mc:Choice Requires="p14">
      <p:transition p14:dur="0" advClick="0" advTm="5000"/>
    </mc:Choice>
    <mc:Fallback xmlns="">
      <p:transition advClick="0" advTm="5000"/>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phic 2" descr="Packing Box Open">
            <a:extLst>
              <a:ext uri="{FF2B5EF4-FFF2-40B4-BE49-F238E27FC236}">
                <a16:creationId xmlns:a16="http://schemas.microsoft.com/office/drawing/2014/main" id="{6D87839A-D04B-498B-A8CC-6A9EEF67395B}"/>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530450" y="1089000"/>
            <a:ext cx="3131100" cy="3131100"/>
          </a:xfrm>
          <a:prstGeom prst="rect">
            <a:avLst/>
          </a:prstGeom>
        </p:spPr>
      </p:pic>
      <p:sp>
        <p:nvSpPr>
          <p:cNvPr id="5" name="Title 4">
            <a:extLst>
              <a:ext uri="{FF2B5EF4-FFF2-40B4-BE49-F238E27FC236}">
                <a16:creationId xmlns:a16="http://schemas.microsoft.com/office/drawing/2014/main" id="{53EA3EF1-F667-4E64-B00E-60F18E5A1099}"/>
              </a:ext>
            </a:extLst>
          </p:cNvPr>
          <p:cNvSpPr>
            <a:spLocks noGrp="1"/>
          </p:cNvSpPr>
          <p:nvPr>
            <p:ph type="title" sz="quarter" idx="10"/>
          </p:nvPr>
        </p:nvSpPr>
        <p:spPr/>
        <p:txBody>
          <a:bodyPr/>
          <a:lstStyle/>
          <a:p>
            <a:r>
              <a:rPr lang="en-GB" dirty="0"/>
              <a:t>The CSS Box Model</a:t>
            </a:r>
          </a:p>
        </p:txBody>
      </p:sp>
    </p:spTree>
    <p:extLst>
      <p:ext uri="{BB962C8B-B14F-4D97-AF65-F5344CB8AC3E}">
        <p14:creationId xmlns:p14="http://schemas.microsoft.com/office/powerpoint/2010/main" val="2686130812"/>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Текстов контейнер 4">
            <a:extLst>
              <a:ext uri="{FF2B5EF4-FFF2-40B4-BE49-F238E27FC236}">
                <a16:creationId xmlns:a16="http://schemas.microsoft.com/office/drawing/2014/main" id="{9F4AAD1C-0D0A-0CDD-7FDA-658F3E78A14F}"/>
              </a:ext>
            </a:extLst>
          </p:cNvPr>
          <p:cNvSpPr>
            <a:spLocks noGrp="1"/>
          </p:cNvSpPr>
          <p:nvPr>
            <p:ph type="body" sz="quarter" idx="10"/>
          </p:nvPr>
        </p:nvSpPr>
        <p:spPr>
          <a:xfrm>
            <a:off x="190401" y="1196125"/>
            <a:ext cx="11724105" cy="3852875"/>
          </a:xfrm>
        </p:spPr>
        <p:txBody>
          <a:bodyPr>
            <a:normAutofit lnSpcReduction="10000"/>
          </a:bodyPr>
          <a:lstStyle/>
          <a:p>
            <a:pPr>
              <a:lnSpc>
                <a:spcPct val="110000"/>
              </a:lnSpc>
            </a:pPr>
            <a:r>
              <a:rPr lang="en-US" sz="3400" b="0" dirty="0"/>
              <a:t>In CSS we have several types of boxes that generally fit into the categories of block boxes and inline boxes. The type refers to how the box behaves in terms of page flow and in relation to other boxes on the page. Boxes have an </a:t>
            </a:r>
            <a:r>
              <a:rPr lang="en-US" sz="3400" b="1" dirty="0">
                <a:solidFill>
                  <a:schemeClr val="bg1"/>
                </a:solidFill>
              </a:rPr>
              <a:t>inner display type </a:t>
            </a:r>
            <a:r>
              <a:rPr lang="en-US" sz="3400" b="0" dirty="0"/>
              <a:t>and </a:t>
            </a:r>
            <a:r>
              <a:rPr lang="en-US" sz="3400" b="1" dirty="0">
                <a:solidFill>
                  <a:schemeClr val="bg1"/>
                </a:solidFill>
              </a:rPr>
              <a:t>an outer display type</a:t>
            </a:r>
          </a:p>
          <a:p>
            <a:pPr>
              <a:lnSpc>
                <a:spcPct val="110000"/>
              </a:lnSpc>
            </a:pPr>
            <a:r>
              <a:rPr lang="en-US" sz="3400" b="0" dirty="0"/>
              <a:t>In general, you can set various values for the display type using the </a:t>
            </a:r>
            <a:r>
              <a:rPr lang="en-US" sz="3400" b="1" i="1" dirty="0">
                <a:solidFill>
                  <a:schemeClr val="bg1"/>
                </a:solidFill>
              </a:rPr>
              <a:t>display</a:t>
            </a:r>
            <a:r>
              <a:rPr lang="en-US" sz="3400" b="0" dirty="0"/>
              <a:t> property, which can have various values</a:t>
            </a:r>
          </a:p>
        </p:txBody>
      </p:sp>
      <p:sp>
        <p:nvSpPr>
          <p:cNvPr id="4" name="Title 3">
            <a:extLst>
              <a:ext uri="{FF2B5EF4-FFF2-40B4-BE49-F238E27FC236}">
                <a16:creationId xmlns:a16="http://schemas.microsoft.com/office/drawing/2014/main" id="{E9A1DA41-F15A-4A36-BC07-5ABC6728BF4B}"/>
              </a:ext>
            </a:extLst>
          </p:cNvPr>
          <p:cNvSpPr>
            <a:spLocks noGrp="1"/>
          </p:cNvSpPr>
          <p:nvPr>
            <p:ph type="title"/>
          </p:nvPr>
        </p:nvSpPr>
        <p:spPr/>
        <p:txBody>
          <a:bodyPr/>
          <a:lstStyle/>
          <a:p>
            <a:pPr>
              <a:buClr>
                <a:schemeClr val="tx1"/>
              </a:buClr>
            </a:pPr>
            <a:r>
              <a:rPr lang="en-GB" sz="4000" b="1" dirty="0"/>
              <a:t>Block</a:t>
            </a:r>
            <a:r>
              <a:rPr lang="en-GB" sz="4000" dirty="0"/>
              <a:t> and </a:t>
            </a:r>
            <a:r>
              <a:rPr lang="en-GB" sz="4000" b="1" dirty="0"/>
              <a:t>Inline</a:t>
            </a:r>
            <a:r>
              <a:rPr lang="en-GB" sz="4000" dirty="0"/>
              <a:t> Boxes</a:t>
            </a:r>
            <a:endParaRPr lang="en-GB" sz="4000" dirty="0">
              <a:solidFill>
                <a:schemeClr val="bg1"/>
              </a:solidFill>
            </a:endParaRPr>
          </a:p>
        </p:txBody>
      </p:sp>
      <p:pic>
        <p:nvPicPr>
          <p:cNvPr id="2" name="Picture 1">
            <a:extLst>
              <a:ext uri="{FF2B5EF4-FFF2-40B4-BE49-F238E27FC236}">
                <a16:creationId xmlns:a16="http://schemas.microsoft.com/office/drawing/2014/main" id="{A90ECBF0-02B0-E1DB-CFCB-86B9ADB350CA}"/>
              </a:ext>
            </a:extLst>
          </p:cNvPr>
          <p:cNvPicPr>
            <a:picLocks noChangeAspect="1"/>
          </p:cNvPicPr>
          <p:nvPr/>
        </p:nvPicPr>
        <p:blipFill>
          <a:blip r:embed="rId2"/>
          <a:stretch>
            <a:fillRect/>
          </a:stretch>
        </p:blipFill>
        <p:spPr>
          <a:xfrm>
            <a:off x="3704246" y="4779000"/>
            <a:ext cx="4783507" cy="2218439"/>
          </a:xfrm>
          <a:prstGeom prst="rect">
            <a:avLst/>
          </a:prstGeom>
          <a:ln>
            <a:noFill/>
          </a:ln>
          <a:effectLst>
            <a:outerShdw blurRad="292100" dist="139700" dir="2700000" algn="tl" rotWithShape="0">
              <a:srgbClr val="333333">
                <a:alpha val="65000"/>
              </a:srgbClr>
            </a:outerShdw>
          </a:effectLst>
        </p:spPr>
      </p:pic>
      <p:sp>
        <p:nvSpPr>
          <p:cNvPr id="3" name="Slide Number">
            <a:extLst>
              <a:ext uri="{FF2B5EF4-FFF2-40B4-BE49-F238E27FC236}">
                <a16:creationId xmlns:a16="http://schemas.microsoft.com/office/drawing/2014/main" id="{7B71AEF2-C353-5FF5-F6FA-04A5A8705704}"/>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35</a:t>
            </a:fld>
            <a:endParaRPr lang="en-US" noProof="0" dirty="0"/>
          </a:p>
        </p:txBody>
      </p:sp>
    </p:spTree>
    <p:extLst>
      <p:ext uri="{BB962C8B-B14F-4D97-AF65-F5344CB8AC3E}">
        <p14:creationId xmlns:p14="http://schemas.microsoft.com/office/powerpoint/2010/main" val="4293891913"/>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7E573C8F-16C2-BC71-7716-7720C67B9DA0}"/>
              </a:ext>
            </a:extLst>
          </p:cNvPr>
          <p:cNvSpPr>
            <a:spLocks noGrp="1"/>
          </p:cNvSpPr>
          <p:nvPr>
            <p:ph type="sldNum" sz="quarter" idx="5"/>
          </p:nvPr>
        </p:nvSpPr>
        <p:spPr>
          <a:prstGeom prst="rect">
            <a:avLst/>
          </a:prstGeom>
        </p:spPr>
        <p:txBody>
          <a:bodyPr vert="horz" lIns="91440" tIns="45720" rIns="91440" bIns="45720" rtlCol="0" anchor="b"/>
          <a:lstStyle>
            <a:lvl1pPr algn="r">
              <a:defRPr sz="1000"/>
            </a:lvl1pPr>
          </a:lstStyle>
          <a:p>
            <a:fld id="{2BF067CD-8E6B-4360-9AA8-C5DF2A48A6D1}" type="slidenum">
              <a:rPr lang="en-US" noProof="0" smtClean="0"/>
              <a:pPr/>
              <a:t>36</a:t>
            </a:fld>
            <a:endParaRPr lang="en-US" noProof="0" dirty="0"/>
          </a:p>
        </p:txBody>
      </p:sp>
      <p:sp>
        <p:nvSpPr>
          <p:cNvPr id="5" name="Текстов контейнер 4">
            <a:extLst>
              <a:ext uri="{FF2B5EF4-FFF2-40B4-BE49-F238E27FC236}">
                <a16:creationId xmlns:a16="http://schemas.microsoft.com/office/drawing/2014/main" id="{CE373E09-A3EF-AED4-E729-C91C8ECE2924}"/>
              </a:ext>
            </a:extLst>
          </p:cNvPr>
          <p:cNvSpPr>
            <a:spLocks noGrp="1"/>
          </p:cNvSpPr>
          <p:nvPr>
            <p:ph type="body" sz="quarter" idx="10"/>
          </p:nvPr>
        </p:nvSpPr>
        <p:spPr/>
        <p:txBody>
          <a:bodyPr>
            <a:noAutofit/>
          </a:bodyPr>
          <a:lstStyle/>
          <a:p>
            <a:pPr>
              <a:lnSpc>
                <a:spcPct val="100000"/>
              </a:lnSpc>
            </a:pPr>
            <a:r>
              <a:rPr lang="en-US" sz="3000" b="0" dirty="0"/>
              <a:t>If a box has an outer display type of </a:t>
            </a:r>
            <a:r>
              <a:rPr lang="en-US" sz="3000" b="1" dirty="0">
                <a:solidFill>
                  <a:schemeClr val="bg1"/>
                </a:solidFill>
              </a:rPr>
              <a:t>block</a:t>
            </a:r>
            <a:r>
              <a:rPr lang="en-US" sz="3000" b="0" dirty="0"/>
              <a:t>, then:</a:t>
            </a:r>
          </a:p>
          <a:p>
            <a:pPr lvl="1">
              <a:lnSpc>
                <a:spcPct val="100000"/>
              </a:lnSpc>
            </a:pPr>
            <a:r>
              <a:rPr lang="en-US" sz="2800" b="0" dirty="0"/>
              <a:t>The box will break onto a new line</a:t>
            </a:r>
          </a:p>
          <a:p>
            <a:pPr lvl="1">
              <a:lnSpc>
                <a:spcPct val="100000"/>
              </a:lnSpc>
            </a:pPr>
            <a:r>
              <a:rPr lang="en-US" sz="2800" b="0" dirty="0"/>
              <a:t>The </a:t>
            </a:r>
            <a:r>
              <a:rPr lang="en-US" sz="2800" b="1" dirty="0">
                <a:solidFill>
                  <a:schemeClr val="bg1"/>
                </a:solidFill>
              </a:rPr>
              <a:t>width</a:t>
            </a:r>
            <a:r>
              <a:rPr lang="en-US" sz="2800" b="0" dirty="0"/>
              <a:t> and </a:t>
            </a:r>
            <a:r>
              <a:rPr lang="en-US" sz="2800" b="1" dirty="0">
                <a:solidFill>
                  <a:schemeClr val="bg1"/>
                </a:solidFill>
              </a:rPr>
              <a:t>height</a:t>
            </a:r>
            <a:r>
              <a:rPr lang="en-US" sz="2800" b="0" dirty="0"/>
              <a:t> properties are respected</a:t>
            </a:r>
          </a:p>
          <a:p>
            <a:pPr lvl="1">
              <a:lnSpc>
                <a:spcPct val="100000"/>
              </a:lnSpc>
              <a:buClr>
                <a:schemeClr val="tx1"/>
              </a:buClr>
            </a:pPr>
            <a:r>
              <a:rPr lang="en-US" sz="2800" b="1" dirty="0">
                <a:solidFill>
                  <a:schemeClr val="bg1"/>
                </a:solidFill>
              </a:rPr>
              <a:t>Padding</a:t>
            </a:r>
            <a:r>
              <a:rPr lang="en-US" sz="2800" b="0" dirty="0"/>
              <a:t>, </a:t>
            </a:r>
            <a:r>
              <a:rPr lang="en-US" sz="2800" b="1" dirty="0">
                <a:solidFill>
                  <a:schemeClr val="bg1"/>
                </a:solidFill>
              </a:rPr>
              <a:t>margin</a:t>
            </a:r>
            <a:r>
              <a:rPr lang="en-US" sz="2800" b="0" dirty="0"/>
              <a:t> and </a:t>
            </a:r>
            <a:r>
              <a:rPr lang="en-US" sz="2800" b="1" dirty="0">
                <a:solidFill>
                  <a:schemeClr val="bg1"/>
                </a:solidFill>
              </a:rPr>
              <a:t>border</a:t>
            </a:r>
            <a:r>
              <a:rPr lang="en-US" sz="2800" b="0" dirty="0"/>
              <a:t> will cause other </a:t>
            </a:r>
            <a:br>
              <a:rPr lang="bg-BG" sz="2800" b="0" dirty="0"/>
            </a:br>
            <a:r>
              <a:rPr lang="en-US" sz="2800" b="0" dirty="0"/>
              <a:t>elements to be pushed away from the box</a:t>
            </a:r>
          </a:p>
          <a:p>
            <a:pPr lvl="1">
              <a:lnSpc>
                <a:spcPct val="100000"/>
              </a:lnSpc>
              <a:buClr>
                <a:schemeClr val="tx1"/>
              </a:buClr>
            </a:pPr>
            <a:r>
              <a:rPr lang="en-US" sz="2800" b="0" dirty="0"/>
              <a:t>If </a:t>
            </a:r>
            <a:r>
              <a:rPr lang="en-US" sz="2800" b="1" dirty="0">
                <a:solidFill>
                  <a:schemeClr val="bg1"/>
                </a:solidFill>
              </a:rPr>
              <a:t>width</a:t>
            </a:r>
            <a:r>
              <a:rPr lang="en-US" sz="2800" b="0" dirty="0"/>
              <a:t> is not specified, the box will extend in </a:t>
            </a:r>
            <a:br>
              <a:rPr lang="en-US" sz="2800" b="0" dirty="0"/>
            </a:br>
            <a:r>
              <a:rPr lang="en-US" sz="2800" b="0" dirty="0"/>
              <a:t>the </a:t>
            </a:r>
            <a:r>
              <a:rPr lang="en-US" sz="2800" b="1" dirty="0">
                <a:solidFill>
                  <a:schemeClr val="bg1"/>
                </a:solidFill>
              </a:rPr>
              <a:t>inline</a:t>
            </a:r>
            <a:r>
              <a:rPr lang="en-US" sz="2800" b="0" dirty="0"/>
              <a:t> direction to fill the space available in </a:t>
            </a:r>
            <a:br>
              <a:rPr lang="en-US" sz="2800" b="0" dirty="0"/>
            </a:br>
            <a:r>
              <a:rPr lang="en-US" sz="2800" b="0" dirty="0"/>
              <a:t>its container</a:t>
            </a:r>
          </a:p>
          <a:p>
            <a:pPr lvl="1">
              <a:lnSpc>
                <a:spcPct val="100000"/>
              </a:lnSpc>
            </a:pPr>
            <a:r>
              <a:rPr lang="en-US" sz="2800" b="0" dirty="0"/>
              <a:t>Some HTML elements, such as </a:t>
            </a:r>
            <a:r>
              <a:rPr lang="en-US" sz="2800" b="1" dirty="0">
                <a:solidFill>
                  <a:schemeClr val="bg1"/>
                </a:solidFill>
              </a:rPr>
              <a:t>&lt;h1&gt; </a:t>
            </a:r>
            <a:r>
              <a:rPr lang="en-US" sz="2800" b="0" dirty="0"/>
              <a:t>and </a:t>
            </a:r>
            <a:r>
              <a:rPr lang="en-US" sz="2800" b="1" dirty="0">
                <a:solidFill>
                  <a:schemeClr val="bg1"/>
                </a:solidFill>
              </a:rPr>
              <a:t>&lt;p&gt;</a:t>
            </a:r>
            <a:r>
              <a:rPr lang="en-US" sz="2800" b="0" dirty="0"/>
              <a:t>, use </a:t>
            </a:r>
            <a:r>
              <a:rPr lang="en-US" sz="2800" b="1" dirty="0">
                <a:solidFill>
                  <a:schemeClr val="bg1"/>
                </a:solidFill>
              </a:rPr>
              <a:t>block</a:t>
            </a:r>
            <a:r>
              <a:rPr lang="en-US" sz="2800" b="0" dirty="0"/>
              <a:t> as their outer display type by default</a:t>
            </a:r>
          </a:p>
        </p:txBody>
      </p:sp>
      <p:sp>
        <p:nvSpPr>
          <p:cNvPr id="4" name="Title 3">
            <a:extLst>
              <a:ext uri="{FF2B5EF4-FFF2-40B4-BE49-F238E27FC236}">
                <a16:creationId xmlns:a16="http://schemas.microsoft.com/office/drawing/2014/main" id="{E9A1DA41-F15A-4A36-BC07-5ABC6728BF4B}"/>
              </a:ext>
            </a:extLst>
          </p:cNvPr>
          <p:cNvSpPr>
            <a:spLocks noGrp="1"/>
          </p:cNvSpPr>
          <p:nvPr>
            <p:ph type="title"/>
          </p:nvPr>
        </p:nvSpPr>
        <p:spPr/>
        <p:txBody>
          <a:bodyPr/>
          <a:lstStyle/>
          <a:p>
            <a:r>
              <a:rPr lang="en-GB" sz="4000" dirty="0"/>
              <a:t>Outer Display Type - Block</a:t>
            </a:r>
          </a:p>
        </p:txBody>
      </p:sp>
      <p:pic>
        <p:nvPicPr>
          <p:cNvPr id="2" name="Picture 1">
            <a:extLst>
              <a:ext uri="{FF2B5EF4-FFF2-40B4-BE49-F238E27FC236}">
                <a16:creationId xmlns:a16="http://schemas.microsoft.com/office/drawing/2014/main" id="{1407FF43-CBF1-7A4A-2567-0C34EEA34285}"/>
              </a:ext>
            </a:extLst>
          </p:cNvPr>
          <p:cNvPicPr>
            <a:picLocks noChangeAspect="1"/>
          </p:cNvPicPr>
          <p:nvPr/>
        </p:nvPicPr>
        <p:blipFill rotWithShape="1">
          <a:blip r:embed="rId2"/>
          <a:srcRect l="5799" r="4023"/>
          <a:stretch/>
        </p:blipFill>
        <p:spPr>
          <a:xfrm>
            <a:off x="8007946" y="2903008"/>
            <a:ext cx="4112498" cy="21150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462544639"/>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Текстов контейнер 4">
            <a:extLst>
              <a:ext uri="{FF2B5EF4-FFF2-40B4-BE49-F238E27FC236}">
                <a16:creationId xmlns:a16="http://schemas.microsoft.com/office/drawing/2014/main" id="{1F4B36CE-EB9F-8937-CA4C-38AFC65E2C13}"/>
              </a:ext>
            </a:extLst>
          </p:cNvPr>
          <p:cNvSpPr>
            <a:spLocks noGrp="1"/>
          </p:cNvSpPr>
          <p:nvPr>
            <p:ph type="body" sz="quarter" idx="10"/>
          </p:nvPr>
        </p:nvSpPr>
        <p:spPr>
          <a:xfrm>
            <a:off x="190402" y="1196125"/>
            <a:ext cx="11755598" cy="5528766"/>
          </a:xfrm>
        </p:spPr>
        <p:txBody>
          <a:bodyPr>
            <a:noAutofit/>
          </a:bodyPr>
          <a:lstStyle/>
          <a:p>
            <a:pPr>
              <a:lnSpc>
                <a:spcPct val="100000"/>
              </a:lnSpc>
            </a:pPr>
            <a:r>
              <a:rPr lang="en-US" sz="3000" b="0" dirty="0"/>
              <a:t>If a box has an outer display type of </a:t>
            </a:r>
            <a:r>
              <a:rPr lang="en-US" sz="3000" b="1" dirty="0"/>
              <a:t>inline</a:t>
            </a:r>
            <a:r>
              <a:rPr lang="en-US" sz="3000" b="0" dirty="0"/>
              <a:t>, then:</a:t>
            </a:r>
          </a:p>
          <a:p>
            <a:pPr lvl="1">
              <a:lnSpc>
                <a:spcPct val="100000"/>
              </a:lnSpc>
            </a:pPr>
            <a:r>
              <a:rPr lang="en-US" sz="2800" b="0" dirty="0"/>
              <a:t>The box will not break onto a new line</a:t>
            </a:r>
          </a:p>
          <a:p>
            <a:pPr lvl="1">
              <a:lnSpc>
                <a:spcPct val="100000"/>
              </a:lnSpc>
            </a:pPr>
            <a:r>
              <a:rPr lang="en-US" sz="2800" b="0" dirty="0"/>
              <a:t>The </a:t>
            </a:r>
            <a:r>
              <a:rPr lang="en-US" sz="2800" b="1" dirty="0">
                <a:solidFill>
                  <a:schemeClr val="bg1"/>
                </a:solidFill>
              </a:rPr>
              <a:t>width</a:t>
            </a:r>
            <a:r>
              <a:rPr lang="en-US" sz="2800" b="0" dirty="0"/>
              <a:t> and </a:t>
            </a:r>
            <a:r>
              <a:rPr lang="en-US" sz="2800" b="1" dirty="0">
                <a:solidFill>
                  <a:schemeClr val="bg1"/>
                </a:solidFill>
              </a:rPr>
              <a:t>height</a:t>
            </a:r>
            <a:r>
              <a:rPr lang="en-US" sz="2800" b="0" dirty="0"/>
              <a:t> properties will not apply</a:t>
            </a:r>
          </a:p>
          <a:p>
            <a:pPr lvl="1">
              <a:lnSpc>
                <a:spcPct val="100000"/>
              </a:lnSpc>
              <a:buClr>
                <a:schemeClr val="tx1"/>
              </a:buClr>
            </a:pPr>
            <a:r>
              <a:rPr lang="en-US" sz="2800" b="1" dirty="0">
                <a:solidFill>
                  <a:schemeClr val="bg1"/>
                </a:solidFill>
              </a:rPr>
              <a:t>Top</a:t>
            </a:r>
            <a:r>
              <a:rPr lang="en-US" sz="2800" b="0" dirty="0"/>
              <a:t> and </a:t>
            </a:r>
            <a:r>
              <a:rPr lang="en-US" sz="2800" b="1" dirty="0">
                <a:solidFill>
                  <a:schemeClr val="bg1"/>
                </a:solidFill>
              </a:rPr>
              <a:t>bottom</a:t>
            </a:r>
            <a:r>
              <a:rPr lang="en-US" sz="2800" b="0" dirty="0"/>
              <a:t> </a:t>
            </a:r>
            <a:r>
              <a:rPr lang="en-US" sz="2800" b="1" dirty="0">
                <a:solidFill>
                  <a:schemeClr val="bg1"/>
                </a:solidFill>
              </a:rPr>
              <a:t>padding</a:t>
            </a:r>
            <a:r>
              <a:rPr lang="en-US" sz="2800" b="0" dirty="0"/>
              <a:t>, </a:t>
            </a:r>
            <a:r>
              <a:rPr lang="en-US" sz="2800" b="1" dirty="0">
                <a:solidFill>
                  <a:schemeClr val="bg1"/>
                </a:solidFill>
              </a:rPr>
              <a:t>margins</a:t>
            </a:r>
            <a:r>
              <a:rPr lang="en-US" sz="2800" b="0" dirty="0"/>
              <a:t>, and </a:t>
            </a:r>
            <a:r>
              <a:rPr lang="en-US" sz="2800" b="1" dirty="0">
                <a:solidFill>
                  <a:schemeClr val="bg1"/>
                </a:solidFill>
              </a:rPr>
              <a:t>borders</a:t>
            </a:r>
            <a:r>
              <a:rPr lang="en-US" sz="2800" b="0" dirty="0"/>
              <a:t> will apply but will not cause other </a:t>
            </a:r>
            <a:r>
              <a:rPr lang="en-US" sz="2800" b="1" dirty="0"/>
              <a:t>inline</a:t>
            </a:r>
            <a:r>
              <a:rPr lang="en-US" sz="2800" b="0" dirty="0"/>
              <a:t> boxes to move away from the box</a:t>
            </a:r>
          </a:p>
          <a:p>
            <a:pPr lvl="1">
              <a:lnSpc>
                <a:spcPct val="100000"/>
              </a:lnSpc>
              <a:buClr>
                <a:schemeClr val="tx1"/>
              </a:buClr>
            </a:pPr>
            <a:r>
              <a:rPr lang="en-US" sz="2800" b="1" dirty="0">
                <a:solidFill>
                  <a:schemeClr val="bg1"/>
                </a:solidFill>
              </a:rPr>
              <a:t>Left</a:t>
            </a:r>
            <a:r>
              <a:rPr lang="en-US" sz="2800" b="0" dirty="0"/>
              <a:t> and </a:t>
            </a:r>
            <a:r>
              <a:rPr lang="en-US" sz="2800" b="1" dirty="0">
                <a:solidFill>
                  <a:schemeClr val="bg1"/>
                </a:solidFill>
              </a:rPr>
              <a:t>right</a:t>
            </a:r>
            <a:r>
              <a:rPr lang="en-US" sz="2800" b="0" dirty="0"/>
              <a:t> </a:t>
            </a:r>
            <a:r>
              <a:rPr lang="en-US" sz="2800" b="1" dirty="0">
                <a:solidFill>
                  <a:schemeClr val="bg1"/>
                </a:solidFill>
              </a:rPr>
              <a:t>padding</a:t>
            </a:r>
            <a:r>
              <a:rPr lang="en-US" sz="2800" b="0" dirty="0"/>
              <a:t>, </a:t>
            </a:r>
            <a:r>
              <a:rPr lang="en-US" sz="2800" b="1" dirty="0">
                <a:solidFill>
                  <a:schemeClr val="bg1"/>
                </a:solidFill>
              </a:rPr>
              <a:t>margins</a:t>
            </a:r>
            <a:r>
              <a:rPr lang="en-US" sz="2800" b="0" dirty="0"/>
              <a:t>, and </a:t>
            </a:r>
            <a:r>
              <a:rPr lang="en-US" sz="2800" b="1" dirty="0">
                <a:solidFill>
                  <a:schemeClr val="bg1"/>
                </a:solidFill>
              </a:rPr>
              <a:t>borders</a:t>
            </a:r>
            <a:r>
              <a:rPr lang="en-US" sz="2800" b="0" dirty="0"/>
              <a:t> will apply and will cause other </a:t>
            </a:r>
            <a:r>
              <a:rPr lang="en-US" sz="2800" b="1" dirty="0">
                <a:solidFill>
                  <a:schemeClr val="bg1"/>
                </a:solidFill>
              </a:rPr>
              <a:t>inline</a:t>
            </a:r>
            <a:r>
              <a:rPr lang="en-US" sz="2800" b="0" dirty="0"/>
              <a:t> boxes to move away from the box</a:t>
            </a:r>
          </a:p>
          <a:p>
            <a:pPr lvl="1">
              <a:lnSpc>
                <a:spcPct val="100000"/>
              </a:lnSpc>
            </a:pPr>
            <a:r>
              <a:rPr lang="en-US" sz="2800" b="0" dirty="0"/>
              <a:t>Some HTML elements, such as </a:t>
            </a:r>
            <a:r>
              <a:rPr lang="en-US" sz="2800" b="1" dirty="0">
                <a:solidFill>
                  <a:schemeClr val="bg1"/>
                </a:solidFill>
              </a:rPr>
              <a:t>&lt;a&gt;</a:t>
            </a:r>
            <a:r>
              <a:rPr lang="en-US" sz="2800" b="0" dirty="0"/>
              <a:t>, </a:t>
            </a:r>
            <a:r>
              <a:rPr lang="en-US" sz="2800" b="1" dirty="0">
                <a:solidFill>
                  <a:schemeClr val="bg1"/>
                </a:solidFill>
              </a:rPr>
              <a:t>&lt;span&gt;</a:t>
            </a:r>
            <a:r>
              <a:rPr lang="en-US" sz="2800" b="0" dirty="0"/>
              <a:t>, </a:t>
            </a:r>
            <a:r>
              <a:rPr lang="en-US" sz="2800" b="1" dirty="0">
                <a:solidFill>
                  <a:schemeClr val="bg1"/>
                </a:solidFill>
              </a:rPr>
              <a:t>&lt;</a:t>
            </a:r>
            <a:r>
              <a:rPr lang="en-US" sz="2800" b="1" dirty="0" err="1">
                <a:solidFill>
                  <a:schemeClr val="bg1"/>
                </a:solidFill>
              </a:rPr>
              <a:t>em</a:t>
            </a:r>
            <a:r>
              <a:rPr lang="en-US" sz="2800" b="1" dirty="0">
                <a:solidFill>
                  <a:schemeClr val="bg1"/>
                </a:solidFill>
              </a:rPr>
              <a:t>&gt; </a:t>
            </a:r>
            <a:r>
              <a:rPr lang="en-US" sz="2800" b="0" dirty="0"/>
              <a:t>and </a:t>
            </a:r>
            <a:r>
              <a:rPr lang="en-US" sz="2800" b="1" dirty="0">
                <a:solidFill>
                  <a:schemeClr val="bg1"/>
                </a:solidFill>
              </a:rPr>
              <a:t>&lt;strong&gt; </a:t>
            </a:r>
            <a:r>
              <a:rPr lang="en-US" sz="2800" b="0" dirty="0"/>
              <a:t>use inline as their outer display type by default</a:t>
            </a:r>
          </a:p>
        </p:txBody>
      </p:sp>
      <p:sp>
        <p:nvSpPr>
          <p:cNvPr id="4" name="Title 3">
            <a:extLst>
              <a:ext uri="{FF2B5EF4-FFF2-40B4-BE49-F238E27FC236}">
                <a16:creationId xmlns:a16="http://schemas.microsoft.com/office/drawing/2014/main" id="{E9A1DA41-F15A-4A36-BC07-5ABC6728BF4B}"/>
              </a:ext>
            </a:extLst>
          </p:cNvPr>
          <p:cNvSpPr>
            <a:spLocks noGrp="1"/>
          </p:cNvSpPr>
          <p:nvPr>
            <p:ph type="title"/>
          </p:nvPr>
        </p:nvSpPr>
        <p:spPr/>
        <p:txBody>
          <a:bodyPr/>
          <a:lstStyle/>
          <a:p>
            <a:r>
              <a:rPr lang="en-GB" sz="4000" b="1" dirty="0"/>
              <a:t>Outer Display </a:t>
            </a:r>
            <a:r>
              <a:rPr lang="en-GB" sz="4000" dirty="0"/>
              <a:t>T</a:t>
            </a:r>
            <a:r>
              <a:rPr lang="en-GB" sz="4000" b="1" dirty="0"/>
              <a:t>ype </a:t>
            </a:r>
            <a:r>
              <a:rPr lang="en-GB" sz="4000" dirty="0"/>
              <a:t>- </a:t>
            </a:r>
            <a:r>
              <a:rPr lang="en-GB" sz="4000" b="1" dirty="0"/>
              <a:t>Inline</a:t>
            </a:r>
          </a:p>
        </p:txBody>
      </p:sp>
      <p:pic>
        <p:nvPicPr>
          <p:cNvPr id="2" name="Picture 1">
            <a:extLst>
              <a:ext uri="{FF2B5EF4-FFF2-40B4-BE49-F238E27FC236}">
                <a16:creationId xmlns:a16="http://schemas.microsoft.com/office/drawing/2014/main" id="{3EEFAC75-77EE-19D3-B188-3366BE36C4E1}"/>
              </a:ext>
            </a:extLst>
          </p:cNvPr>
          <p:cNvPicPr>
            <a:picLocks noChangeAspect="1"/>
          </p:cNvPicPr>
          <p:nvPr/>
        </p:nvPicPr>
        <p:blipFill>
          <a:blip r:embed="rId2"/>
          <a:stretch>
            <a:fillRect/>
          </a:stretch>
        </p:blipFill>
        <p:spPr>
          <a:xfrm>
            <a:off x="8094791" y="1196125"/>
            <a:ext cx="3925598" cy="1820568"/>
          </a:xfrm>
          <a:prstGeom prst="rect">
            <a:avLst/>
          </a:prstGeom>
          <a:ln>
            <a:noFill/>
          </a:ln>
          <a:effectLst>
            <a:outerShdw blurRad="292100" dist="139700" dir="2700000" algn="tl" rotWithShape="0">
              <a:srgbClr val="333333">
                <a:alpha val="65000"/>
              </a:srgbClr>
            </a:outerShdw>
          </a:effectLst>
        </p:spPr>
      </p:pic>
      <p:sp>
        <p:nvSpPr>
          <p:cNvPr id="3" name="Slide Number">
            <a:extLst>
              <a:ext uri="{FF2B5EF4-FFF2-40B4-BE49-F238E27FC236}">
                <a16:creationId xmlns:a16="http://schemas.microsoft.com/office/drawing/2014/main" id="{727EAAC5-1E59-BE27-938B-052D94459246}"/>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37</a:t>
            </a:fld>
            <a:endParaRPr lang="en-US" noProof="0" dirty="0"/>
          </a:p>
        </p:txBody>
      </p:sp>
    </p:spTree>
    <p:extLst>
      <p:ext uri="{BB962C8B-B14F-4D97-AF65-F5344CB8AC3E}">
        <p14:creationId xmlns:p14="http://schemas.microsoft.com/office/powerpoint/2010/main" val="926215573"/>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ов контейнер 1">
            <a:extLst>
              <a:ext uri="{FF2B5EF4-FFF2-40B4-BE49-F238E27FC236}">
                <a16:creationId xmlns:a16="http://schemas.microsoft.com/office/drawing/2014/main" id="{149A8310-9970-7346-D2C2-D19C897B78CD}"/>
              </a:ext>
            </a:extLst>
          </p:cNvPr>
          <p:cNvSpPr>
            <a:spLocks noGrp="1"/>
          </p:cNvSpPr>
          <p:nvPr>
            <p:ph type="body" sz="quarter" idx="10"/>
          </p:nvPr>
        </p:nvSpPr>
        <p:spPr/>
        <p:txBody>
          <a:bodyPr>
            <a:normAutofit/>
          </a:bodyPr>
          <a:lstStyle/>
          <a:p>
            <a:pPr>
              <a:lnSpc>
                <a:spcPct val="110000"/>
              </a:lnSpc>
            </a:pPr>
            <a:r>
              <a:rPr lang="en-US" sz="3000" b="0" dirty="0"/>
              <a:t>The CSS box model defines how the different parts of a box — margin, border, padding, and content — work together to create a box that you can see on a page. Inline boxes use just some of the behavior defined in the box model</a:t>
            </a:r>
          </a:p>
          <a:p>
            <a:pPr>
              <a:lnSpc>
                <a:spcPct val="110000"/>
              </a:lnSpc>
            </a:pPr>
            <a:r>
              <a:rPr lang="en-US" sz="3000" b="0" dirty="0"/>
              <a:t>To add complexity, there is a standard and an alternate box model. By default, browsers use the standard box model</a:t>
            </a:r>
          </a:p>
        </p:txBody>
      </p:sp>
      <p:sp>
        <p:nvSpPr>
          <p:cNvPr id="4" name="Title 3">
            <a:extLst>
              <a:ext uri="{FF2B5EF4-FFF2-40B4-BE49-F238E27FC236}">
                <a16:creationId xmlns:a16="http://schemas.microsoft.com/office/drawing/2014/main" id="{E9A1DA41-F15A-4A36-BC07-5ABC6728BF4B}"/>
              </a:ext>
            </a:extLst>
          </p:cNvPr>
          <p:cNvSpPr>
            <a:spLocks noGrp="1"/>
          </p:cNvSpPr>
          <p:nvPr>
            <p:ph type="title"/>
          </p:nvPr>
        </p:nvSpPr>
        <p:spPr/>
        <p:txBody>
          <a:bodyPr>
            <a:normAutofit/>
          </a:bodyPr>
          <a:lstStyle/>
          <a:p>
            <a:r>
              <a:rPr lang="en-US" sz="4000" dirty="0"/>
              <a:t>What is the CSS Box Model?</a:t>
            </a:r>
            <a:endParaRPr lang="en-GB" sz="4000" dirty="0"/>
          </a:p>
        </p:txBody>
      </p:sp>
      <p:pic>
        <p:nvPicPr>
          <p:cNvPr id="5" name="Picture 2">
            <a:extLst>
              <a:ext uri="{FF2B5EF4-FFF2-40B4-BE49-F238E27FC236}">
                <a16:creationId xmlns:a16="http://schemas.microsoft.com/office/drawing/2014/main" id="{1A78EFBA-151D-A8AF-2363-888887AAA2EF}"/>
              </a:ext>
            </a:extLst>
          </p:cNvPr>
          <p:cNvPicPr>
            <a:picLocks noChangeAspect="1"/>
          </p:cNvPicPr>
          <p:nvPr/>
        </p:nvPicPr>
        <p:blipFill>
          <a:blip r:embed="rId2"/>
          <a:stretch>
            <a:fillRect/>
          </a:stretch>
        </p:blipFill>
        <p:spPr>
          <a:xfrm>
            <a:off x="8166000" y="3824567"/>
            <a:ext cx="3810000" cy="3024433"/>
          </a:xfrm>
          <a:prstGeom prst="rect">
            <a:avLst/>
          </a:prstGeom>
          <a:ln>
            <a:noFill/>
          </a:ln>
          <a:effectLst>
            <a:outerShdw blurRad="292100" dist="139700" dir="2700000" algn="tl" rotWithShape="0">
              <a:srgbClr val="333333">
                <a:alpha val="65000"/>
              </a:srgbClr>
            </a:outerShdw>
          </a:effectLst>
        </p:spPr>
      </p:pic>
      <p:sp>
        <p:nvSpPr>
          <p:cNvPr id="3" name="Slide Number">
            <a:extLst>
              <a:ext uri="{FF2B5EF4-FFF2-40B4-BE49-F238E27FC236}">
                <a16:creationId xmlns:a16="http://schemas.microsoft.com/office/drawing/2014/main" id="{6D979D2D-DA3E-9522-AA50-FA112A1A8BE6}"/>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38</a:t>
            </a:fld>
            <a:endParaRPr lang="en-US" noProof="0" dirty="0"/>
          </a:p>
        </p:txBody>
      </p:sp>
    </p:spTree>
    <p:extLst>
      <p:ext uri="{BB962C8B-B14F-4D97-AF65-F5344CB8AC3E}">
        <p14:creationId xmlns:p14="http://schemas.microsoft.com/office/powerpoint/2010/main" val="890273871"/>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Текстов контейнер 4">
            <a:extLst>
              <a:ext uri="{FF2B5EF4-FFF2-40B4-BE49-F238E27FC236}">
                <a16:creationId xmlns:a16="http://schemas.microsoft.com/office/drawing/2014/main" id="{E3A5D669-0E23-3E38-9D4F-143B05A07004}"/>
              </a:ext>
            </a:extLst>
          </p:cNvPr>
          <p:cNvSpPr>
            <a:spLocks noGrp="1"/>
          </p:cNvSpPr>
          <p:nvPr>
            <p:ph type="body" sz="quarter" idx="10"/>
          </p:nvPr>
        </p:nvSpPr>
        <p:spPr>
          <a:xfrm>
            <a:off x="190402" y="1196125"/>
            <a:ext cx="8020598" cy="5528766"/>
          </a:xfrm>
        </p:spPr>
        <p:txBody>
          <a:bodyPr>
            <a:normAutofit/>
          </a:bodyPr>
          <a:lstStyle/>
          <a:p>
            <a:pPr>
              <a:lnSpc>
                <a:spcPct val="120000"/>
              </a:lnSpc>
              <a:spcBef>
                <a:spcPts val="0"/>
              </a:spcBef>
              <a:spcAft>
                <a:spcPts val="0"/>
              </a:spcAft>
              <a:buClr>
                <a:schemeClr val="tx1"/>
              </a:buClr>
            </a:pPr>
            <a:r>
              <a:rPr lang="en-US" sz="3200" b="0" dirty="0"/>
              <a:t>Making up a block box in CSS we have the:</a:t>
            </a:r>
          </a:p>
          <a:p>
            <a:pPr lvl="1">
              <a:lnSpc>
                <a:spcPct val="120000"/>
              </a:lnSpc>
              <a:spcBef>
                <a:spcPts val="0"/>
              </a:spcBef>
              <a:spcAft>
                <a:spcPts val="0"/>
              </a:spcAft>
              <a:buClr>
                <a:schemeClr val="tx1"/>
              </a:buClr>
            </a:pPr>
            <a:r>
              <a:rPr lang="en-US" sz="3000" b="1" dirty="0">
                <a:solidFill>
                  <a:schemeClr val="bg1"/>
                </a:solidFill>
              </a:rPr>
              <a:t>Content box</a:t>
            </a:r>
            <a:r>
              <a:rPr lang="en-US" sz="3000" b="0" dirty="0"/>
              <a:t>: The area where your content is displayed; size it using properties like inline-size and block-size or width and height</a:t>
            </a:r>
            <a:br>
              <a:rPr lang="bg-BG" sz="3000" b="0" dirty="0"/>
            </a:br>
            <a:endParaRPr lang="en-US" sz="3000" b="0" dirty="0"/>
          </a:p>
          <a:p>
            <a:pPr lvl="1">
              <a:lnSpc>
                <a:spcPct val="120000"/>
              </a:lnSpc>
              <a:spcBef>
                <a:spcPts val="0"/>
              </a:spcBef>
              <a:spcAft>
                <a:spcPts val="0"/>
              </a:spcAft>
              <a:buClr>
                <a:schemeClr val="tx1"/>
              </a:buClr>
            </a:pPr>
            <a:r>
              <a:rPr lang="en-US" sz="3000" b="1" dirty="0">
                <a:solidFill>
                  <a:schemeClr val="bg1"/>
                </a:solidFill>
              </a:rPr>
              <a:t>Padding box</a:t>
            </a:r>
            <a:r>
              <a:rPr lang="en-US" sz="3000" b="0" dirty="0"/>
              <a:t>: The padding sits around the content as white space; size it using padding and related properties</a:t>
            </a:r>
          </a:p>
        </p:txBody>
      </p:sp>
      <p:sp>
        <p:nvSpPr>
          <p:cNvPr id="4" name="Title 3">
            <a:extLst>
              <a:ext uri="{FF2B5EF4-FFF2-40B4-BE49-F238E27FC236}">
                <a16:creationId xmlns:a16="http://schemas.microsoft.com/office/drawing/2014/main" id="{E9A1DA41-F15A-4A36-BC07-5ABC6728BF4B}"/>
              </a:ext>
            </a:extLst>
          </p:cNvPr>
          <p:cNvSpPr>
            <a:spLocks noGrp="1"/>
          </p:cNvSpPr>
          <p:nvPr>
            <p:ph type="title"/>
          </p:nvPr>
        </p:nvSpPr>
        <p:spPr/>
        <p:txBody>
          <a:bodyPr/>
          <a:lstStyle/>
          <a:p>
            <a:r>
              <a:rPr lang="en-GB" sz="4000" b="1" dirty="0"/>
              <a:t>Parts of a Box</a:t>
            </a:r>
            <a:endParaRPr lang="en-GB" sz="4000" b="1" dirty="0">
              <a:solidFill>
                <a:schemeClr val="bg1"/>
              </a:solidFill>
            </a:endParaRPr>
          </a:p>
        </p:txBody>
      </p:sp>
      <p:pic>
        <p:nvPicPr>
          <p:cNvPr id="3" name="Picture 2">
            <a:extLst>
              <a:ext uri="{FF2B5EF4-FFF2-40B4-BE49-F238E27FC236}">
                <a16:creationId xmlns:a16="http://schemas.microsoft.com/office/drawing/2014/main" id="{8598C1EF-4495-E879-AA03-726CA6DF1D56}"/>
              </a:ext>
            </a:extLst>
          </p:cNvPr>
          <p:cNvPicPr>
            <a:picLocks noChangeAspect="1"/>
          </p:cNvPicPr>
          <p:nvPr/>
        </p:nvPicPr>
        <p:blipFill>
          <a:blip r:embed="rId2"/>
          <a:stretch>
            <a:fillRect/>
          </a:stretch>
        </p:blipFill>
        <p:spPr>
          <a:xfrm>
            <a:off x="8041598" y="2388755"/>
            <a:ext cx="3960000" cy="3143505"/>
          </a:xfrm>
          <a:prstGeom prst="rect">
            <a:avLst/>
          </a:prstGeom>
          <a:ln>
            <a:noFill/>
          </a:ln>
          <a:effectLst>
            <a:outerShdw blurRad="292100" dist="139700" dir="2700000" algn="tl" rotWithShape="0">
              <a:srgbClr val="333333">
                <a:alpha val="65000"/>
              </a:srgbClr>
            </a:outerShdw>
          </a:effectLst>
        </p:spPr>
      </p:pic>
      <p:sp>
        <p:nvSpPr>
          <p:cNvPr id="2" name="Slide Number">
            <a:extLst>
              <a:ext uri="{FF2B5EF4-FFF2-40B4-BE49-F238E27FC236}">
                <a16:creationId xmlns:a16="http://schemas.microsoft.com/office/drawing/2014/main" id="{2D2FF199-7609-8390-17F3-1502C2DDAB97}"/>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39</a:t>
            </a:fld>
            <a:endParaRPr lang="en-US" noProof="0" dirty="0"/>
          </a:p>
        </p:txBody>
      </p:sp>
    </p:spTree>
    <p:extLst>
      <p:ext uri="{BB962C8B-B14F-4D97-AF65-F5344CB8AC3E}">
        <p14:creationId xmlns:p14="http://schemas.microsoft.com/office/powerpoint/2010/main" val="477211928"/>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Текстов контейнер 4">
            <a:extLst>
              <a:ext uri="{FF2B5EF4-FFF2-40B4-BE49-F238E27FC236}">
                <a16:creationId xmlns:a16="http://schemas.microsoft.com/office/drawing/2014/main" id="{E3A5D669-0E23-3E38-9D4F-143B05A07004}"/>
              </a:ext>
            </a:extLst>
          </p:cNvPr>
          <p:cNvSpPr>
            <a:spLocks noGrp="1"/>
          </p:cNvSpPr>
          <p:nvPr>
            <p:ph type="body" sz="quarter" idx="10"/>
          </p:nvPr>
        </p:nvSpPr>
        <p:spPr>
          <a:xfrm>
            <a:off x="190402" y="1196125"/>
            <a:ext cx="7750598" cy="5528766"/>
          </a:xfrm>
        </p:spPr>
        <p:txBody>
          <a:bodyPr>
            <a:normAutofit lnSpcReduction="10000"/>
          </a:bodyPr>
          <a:lstStyle/>
          <a:p>
            <a:pPr>
              <a:lnSpc>
                <a:spcPct val="120000"/>
              </a:lnSpc>
              <a:spcBef>
                <a:spcPts val="0"/>
              </a:spcBef>
              <a:spcAft>
                <a:spcPts val="0"/>
              </a:spcAft>
            </a:pPr>
            <a:r>
              <a:rPr lang="en-US" sz="3200" b="0" dirty="0"/>
              <a:t>Making up a block box in CSS we have the:</a:t>
            </a:r>
          </a:p>
          <a:p>
            <a:pPr lvl="1">
              <a:lnSpc>
                <a:spcPct val="120000"/>
              </a:lnSpc>
              <a:spcBef>
                <a:spcPts val="0"/>
              </a:spcBef>
              <a:spcAft>
                <a:spcPts val="0"/>
              </a:spcAft>
              <a:buClr>
                <a:schemeClr val="tx1"/>
              </a:buClr>
            </a:pPr>
            <a:r>
              <a:rPr lang="en-US" sz="3000" b="1" dirty="0">
                <a:solidFill>
                  <a:schemeClr val="bg1"/>
                </a:solidFill>
              </a:rPr>
              <a:t>Border box</a:t>
            </a:r>
            <a:r>
              <a:rPr lang="en-US" sz="3000" b="0" dirty="0"/>
              <a:t>: The border box wraps the content and any padding; size it using border and related properties</a:t>
            </a:r>
          </a:p>
          <a:p>
            <a:pPr lvl="1">
              <a:lnSpc>
                <a:spcPct val="120000"/>
              </a:lnSpc>
              <a:spcBef>
                <a:spcPts val="0"/>
              </a:spcBef>
              <a:spcAft>
                <a:spcPts val="0"/>
              </a:spcAft>
              <a:buClr>
                <a:schemeClr val="tx1"/>
              </a:buClr>
            </a:pPr>
            <a:endParaRPr lang="en-US" sz="3000" b="0" dirty="0"/>
          </a:p>
          <a:p>
            <a:pPr lvl="1">
              <a:lnSpc>
                <a:spcPct val="120000"/>
              </a:lnSpc>
              <a:spcBef>
                <a:spcPts val="0"/>
              </a:spcBef>
              <a:spcAft>
                <a:spcPts val="0"/>
              </a:spcAft>
              <a:buClr>
                <a:schemeClr val="tx1"/>
              </a:buClr>
            </a:pPr>
            <a:r>
              <a:rPr lang="en-US" sz="3000" b="1" dirty="0">
                <a:solidFill>
                  <a:schemeClr val="bg1"/>
                </a:solidFill>
              </a:rPr>
              <a:t>Margin box</a:t>
            </a:r>
            <a:r>
              <a:rPr lang="en-US" sz="3000" b="0" dirty="0"/>
              <a:t>: The margin is the outermost layer, wrapping the content, padding, and border as whitespace between this box and other elements; size it using margin and related properties</a:t>
            </a:r>
            <a:endParaRPr lang="en-US" sz="3000" dirty="0"/>
          </a:p>
        </p:txBody>
      </p:sp>
      <p:sp>
        <p:nvSpPr>
          <p:cNvPr id="4" name="Title 3">
            <a:extLst>
              <a:ext uri="{FF2B5EF4-FFF2-40B4-BE49-F238E27FC236}">
                <a16:creationId xmlns:a16="http://schemas.microsoft.com/office/drawing/2014/main" id="{E9A1DA41-F15A-4A36-BC07-5ABC6728BF4B}"/>
              </a:ext>
            </a:extLst>
          </p:cNvPr>
          <p:cNvSpPr>
            <a:spLocks noGrp="1"/>
          </p:cNvSpPr>
          <p:nvPr>
            <p:ph type="title"/>
          </p:nvPr>
        </p:nvSpPr>
        <p:spPr/>
        <p:txBody>
          <a:bodyPr/>
          <a:lstStyle/>
          <a:p>
            <a:pPr>
              <a:spcBef>
                <a:spcPts val="0"/>
              </a:spcBef>
              <a:spcAft>
                <a:spcPts val="0"/>
              </a:spcAft>
            </a:pPr>
            <a:r>
              <a:rPr lang="en-GB" sz="4000" b="1" dirty="0"/>
              <a:t>Parts of a Box</a:t>
            </a:r>
            <a:endParaRPr lang="en-GB" sz="4000" b="1" dirty="0">
              <a:solidFill>
                <a:schemeClr val="bg1"/>
              </a:solidFill>
            </a:endParaRPr>
          </a:p>
        </p:txBody>
      </p:sp>
      <p:pic>
        <p:nvPicPr>
          <p:cNvPr id="3" name="Picture 2">
            <a:extLst>
              <a:ext uri="{FF2B5EF4-FFF2-40B4-BE49-F238E27FC236}">
                <a16:creationId xmlns:a16="http://schemas.microsoft.com/office/drawing/2014/main" id="{212ADBDF-CC8B-DDE7-9133-12E9DF089108}"/>
              </a:ext>
            </a:extLst>
          </p:cNvPr>
          <p:cNvPicPr>
            <a:picLocks noChangeAspect="1"/>
          </p:cNvPicPr>
          <p:nvPr/>
        </p:nvPicPr>
        <p:blipFill>
          <a:blip r:embed="rId2"/>
          <a:stretch>
            <a:fillRect/>
          </a:stretch>
        </p:blipFill>
        <p:spPr>
          <a:xfrm>
            <a:off x="7926000" y="2388755"/>
            <a:ext cx="3960000" cy="3143505"/>
          </a:xfrm>
          <a:prstGeom prst="rect">
            <a:avLst/>
          </a:prstGeom>
          <a:ln>
            <a:noFill/>
          </a:ln>
          <a:effectLst>
            <a:outerShdw blurRad="292100" dist="139700" dir="2700000" algn="tl" rotWithShape="0">
              <a:srgbClr val="333333">
                <a:alpha val="65000"/>
              </a:srgbClr>
            </a:outerShdw>
          </a:effectLst>
        </p:spPr>
      </p:pic>
      <p:sp>
        <p:nvSpPr>
          <p:cNvPr id="2" name="Slide Number">
            <a:extLst>
              <a:ext uri="{FF2B5EF4-FFF2-40B4-BE49-F238E27FC236}">
                <a16:creationId xmlns:a16="http://schemas.microsoft.com/office/drawing/2014/main" id="{66E75BFE-A29A-4168-D6E9-B08E6C692DB4}"/>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40</a:t>
            </a:fld>
            <a:endParaRPr lang="en-US" noProof="0" dirty="0"/>
          </a:p>
        </p:txBody>
      </p:sp>
    </p:spTree>
    <p:extLst>
      <p:ext uri="{BB962C8B-B14F-4D97-AF65-F5344CB8AC3E}">
        <p14:creationId xmlns:p14="http://schemas.microsoft.com/office/powerpoint/2010/main" val="2527739763"/>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9A1DA41-F15A-4A36-BC07-5ABC6728BF4B}"/>
              </a:ext>
            </a:extLst>
          </p:cNvPr>
          <p:cNvSpPr>
            <a:spLocks noGrp="1"/>
          </p:cNvSpPr>
          <p:nvPr>
            <p:ph type="title"/>
          </p:nvPr>
        </p:nvSpPr>
        <p:spPr/>
        <p:txBody>
          <a:bodyPr/>
          <a:lstStyle/>
          <a:p>
            <a:r>
              <a:rPr lang="en-GB" dirty="0"/>
              <a:t>What is the CSS Box Model?</a:t>
            </a:r>
          </a:p>
        </p:txBody>
      </p:sp>
      <p:pic>
        <p:nvPicPr>
          <p:cNvPr id="5" name="Picture 4">
            <a:extLst>
              <a:ext uri="{FF2B5EF4-FFF2-40B4-BE49-F238E27FC236}">
                <a16:creationId xmlns:a16="http://schemas.microsoft.com/office/drawing/2014/main" id="{AB8C12CE-1112-FAF5-BCE6-989BB71E459A}"/>
              </a:ext>
            </a:extLst>
          </p:cNvPr>
          <p:cNvPicPr>
            <a:picLocks noChangeAspect="1"/>
          </p:cNvPicPr>
          <p:nvPr/>
        </p:nvPicPr>
        <p:blipFill>
          <a:blip r:embed="rId2"/>
          <a:stretch>
            <a:fillRect/>
          </a:stretch>
        </p:blipFill>
        <p:spPr>
          <a:xfrm>
            <a:off x="1749722" y="1629000"/>
            <a:ext cx="8692556" cy="4793689"/>
          </a:xfrm>
          <a:prstGeom prst="rect">
            <a:avLst/>
          </a:prstGeom>
          <a:ln>
            <a:noFill/>
          </a:ln>
          <a:effectLst>
            <a:outerShdw blurRad="292100" dist="139700" dir="2700000" algn="tl" rotWithShape="0">
              <a:srgbClr val="333333">
                <a:alpha val="65000"/>
              </a:srgbClr>
            </a:outerShdw>
          </a:effectLst>
        </p:spPr>
      </p:pic>
      <p:sp>
        <p:nvSpPr>
          <p:cNvPr id="2" name="Slide Number">
            <a:extLst>
              <a:ext uri="{FF2B5EF4-FFF2-40B4-BE49-F238E27FC236}">
                <a16:creationId xmlns:a16="http://schemas.microsoft.com/office/drawing/2014/main" id="{D95BB859-64A3-00BE-904D-30AE5AA9B5F2}"/>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41</a:t>
            </a:fld>
            <a:endParaRPr lang="en-US" noProof="0" dirty="0"/>
          </a:p>
        </p:txBody>
      </p:sp>
    </p:spTree>
    <p:extLst>
      <p:ext uri="{BB962C8B-B14F-4D97-AF65-F5344CB8AC3E}">
        <p14:creationId xmlns:p14="http://schemas.microsoft.com/office/powerpoint/2010/main" val="4284339986"/>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ов контейнер 1">
            <a:extLst>
              <a:ext uri="{FF2B5EF4-FFF2-40B4-BE49-F238E27FC236}">
                <a16:creationId xmlns:a16="http://schemas.microsoft.com/office/drawing/2014/main" id="{B536BDCC-B603-8419-FFBB-DECAD6060C6D}"/>
              </a:ext>
            </a:extLst>
          </p:cNvPr>
          <p:cNvSpPr>
            <a:spLocks noGrp="1"/>
          </p:cNvSpPr>
          <p:nvPr>
            <p:ph type="body" sz="quarter" idx="10"/>
          </p:nvPr>
        </p:nvSpPr>
        <p:spPr>
          <a:xfrm>
            <a:off x="190402" y="1196125"/>
            <a:ext cx="7885598" cy="5528766"/>
          </a:xfrm>
        </p:spPr>
        <p:txBody>
          <a:bodyPr>
            <a:normAutofit/>
          </a:bodyPr>
          <a:lstStyle/>
          <a:p>
            <a:r>
              <a:rPr lang="en-US" sz="3200" b="0" dirty="0"/>
              <a:t>In the standard box model, if you give a box an </a:t>
            </a:r>
            <a:r>
              <a:rPr lang="en-US" sz="3200" b="1" dirty="0">
                <a:solidFill>
                  <a:schemeClr val="bg1"/>
                </a:solidFill>
              </a:rPr>
              <a:t>inline-size</a:t>
            </a:r>
            <a:r>
              <a:rPr lang="en-US" sz="3200" b="0" dirty="0"/>
              <a:t> and a </a:t>
            </a:r>
            <a:r>
              <a:rPr lang="en-US" sz="3200" b="1" dirty="0">
                <a:solidFill>
                  <a:schemeClr val="bg1"/>
                </a:solidFill>
              </a:rPr>
              <a:t>block-size</a:t>
            </a:r>
            <a:r>
              <a:rPr lang="en-US" sz="3200" b="0" dirty="0"/>
              <a:t> (or width and a height) </a:t>
            </a:r>
            <a:r>
              <a:rPr lang="en-US" sz="3200" b="1" dirty="0">
                <a:solidFill>
                  <a:schemeClr val="bg1"/>
                </a:solidFill>
              </a:rPr>
              <a:t>attributes</a:t>
            </a:r>
            <a:r>
              <a:rPr lang="en-US" sz="3200" b="0" dirty="0"/>
              <a:t>, this defines the </a:t>
            </a:r>
            <a:r>
              <a:rPr lang="en-US" sz="3200" b="1" dirty="0">
                <a:solidFill>
                  <a:schemeClr val="bg1"/>
                </a:solidFill>
              </a:rPr>
              <a:t>inline-size</a:t>
            </a:r>
            <a:r>
              <a:rPr lang="en-US" sz="3200" b="0" dirty="0"/>
              <a:t> and </a:t>
            </a:r>
            <a:r>
              <a:rPr lang="en-US" sz="3200" b="1" dirty="0">
                <a:solidFill>
                  <a:schemeClr val="bg1"/>
                </a:solidFill>
              </a:rPr>
              <a:t>block-size</a:t>
            </a:r>
            <a:r>
              <a:rPr lang="en-US" sz="3200" b="0" dirty="0"/>
              <a:t> (width and height in horizontal languages) of the </a:t>
            </a:r>
            <a:r>
              <a:rPr lang="en-US" sz="3200" b="1" dirty="0">
                <a:solidFill>
                  <a:schemeClr val="bg1"/>
                </a:solidFill>
              </a:rPr>
              <a:t>content box</a:t>
            </a:r>
          </a:p>
          <a:p>
            <a:r>
              <a:rPr lang="en-US" sz="3200" b="0" dirty="0"/>
              <a:t>Any padding and border is then added to those dimensions to get the </a:t>
            </a:r>
            <a:r>
              <a:rPr lang="en-US" sz="3200" b="1" dirty="0"/>
              <a:t>total size </a:t>
            </a:r>
            <a:r>
              <a:rPr lang="en-US" sz="3200" b="0" dirty="0"/>
              <a:t>taken up by the box</a:t>
            </a:r>
            <a:endParaRPr lang="en-US" sz="3200" dirty="0"/>
          </a:p>
        </p:txBody>
      </p:sp>
      <p:sp>
        <p:nvSpPr>
          <p:cNvPr id="4" name="Title 3">
            <a:extLst>
              <a:ext uri="{FF2B5EF4-FFF2-40B4-BE49-F238E27FC236}">
                <a16:creationId xmlns:a16="http://schemas.microsoft.com/office/drawing/2014/main" id="{E9A1DA41-F15A-4A36-BC07-5ABC6728BF4B}"/>
              </a:ext>
            </a:extLst>
          </p:cNvPr>
          <p:cNvSpPr>
            <a:spLocks noGrp="1"/>
          </p:cNvSpPr>
          <p:nvPr>
            <p:ph type="title"/>
          </p:nvPr>
        </p:nvSpPr>
        <p:spPr/>
        <p:txBody>
          <a:bodyPr/>
          <a:lstStyle/>
          <a:p>
            <a:r>
              <a:rPr lang="en-GB" dirty="0"/>
              <a:t>The </a:t>
            </a:r>
            <a:r>
              <a:rPr lang="en-US" dirty="0"/>
              <a:t>S</a:t>
            </a:r>
            <a:r>
              <a:rPr lang="en-GB" dirty="0" err="1"/>
              <a:t>tandard</a:t>
            </a:r>
            <a:r>
              <a:rPr lang="en-GB" dirty="0"/>
              <a:t> CSS Box Model</a:t>
            </a:r>
          </a:p>
        </p:txBody>
      </p:sp>
      <p:pic>
        <p:nvPicPr>
          <p:cNvPr id="3" name="Picture 2">
            <a:extLst>
              <a:ext uri="{FF2B5EF4-FFF2-40B4-BE49-F238E27FC236}">
                <a16:creationId xmlns:a16="http://schemas.microsoft.com/office/drawing/2014/main" id="{E8B8A384-9BD2-09AB-5EDD-5C972AA0E642}"/>
              </a:ext>
            </a:extLst>
          </p:cNvPr>
          <p:cNvPicPr>
            <a:picLocks noChangeAspect="1"/>
          </p:cNvPicPr>
          <p:nvPr/>
        </p:nvPicPr>
        <p:blipFill>
          <a:blip r:embed="rId2"/>
          <a:stretch>
            <a:fillRect/>
          </a:stretch>
        </p:blipFill>
        <p:spPr>
          <a:xfrm>
            <a:off x="8069918" y="1728017"/>
            <a:ext cx="3778062" cy="4464982"/>
          </a:xfrm>
          <a:prstGeom prst="rect">
            <a:avLst/>
          </a:prstGeom>
          <a:ln>
            <a:noFill/>
          </a:ln>
          <a:effectLst>
            <a:outerShdw blurRad="292100" dist="139700" dir="2700000" algn="tl" rotWithShape="0">
              <a:srgbClr val="333333">
                <a:alpha val="65000"/>
              </a:srgbClr>
            </a:outerShdw>
          </a:effectLst>
        </p:spPr>
      </p:pic>
      <p:sp>
        <p:nvSpPr>
          <p:cNvPr id="5" name="Slide Number">
            <a:extLst>
              <a:ext uri="{FF2B5EF4-FFF2-40B4-BE49-F238E27FC236}">
                <a16:creationId xmlns:a16="http://schemas.microsoft.com/office/drawing/2014/main" id="{04C714D6-12F4-D92B-9DAE-533C565E7312}"/>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42</a:t>
            </a:fld>
            <a:endParaRPr lang="en-US" noProof="0" dirty="0"/>
          </a:p>
        </p:txBody>
      </p:sp>
    </p:spTree>
    <p:extLst>
      <p:ext uri="{BB962C8B-B14F-4D97-AF65-F5344CB8AC3E}">
        <p14:creationId xmlns:p14="http://schemas.microsoft.com/office/powerpoint/2010/main" val="316627692"/>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ов контейнер 1">
            <a:extLst>
              <a:ext uri="{FF2B5EF4-FFF2-40B4-BE49-F238E27FC236}">
                <a16:creationId xmlns:a16="http://schemas.microsoft.com/office/drawing/2014/main" id="{511E6CB6-92DF-132D-5ABA-6F029B5E838E}"/>
              </a:ext>
            </a:extLst>
          </p:cNvPr>
          <p:cNvSpPr>
            <a:spLocks noGrp="1"/>
          </p:cNvSpPr>
          <p:nvPr>
            <p:ph type="body" sz="quarter" idx="10"/>
          </p:nvPr>
        </p:nvSpPr>
        <p:spPr/>
        <p:txBody>
          <a:bodyPr>
            <a:normAutofit/>
          </a:bodyPr>
          <a:lstStyle/>
          <a:p>
            <a:r>
              <a:rPr lang="en-US" sz="3200" b="0" dirty="0"/>
              <a:t>If we assume that a box has the following CSS:</a:t>
            </a:r>
          </a:p>
          <a:p>
            <a:r>
              <a:rPr lang="en-US" sz="3200" b="0" dirty="0">
                <a:effectLst/>
              </a:rPr>
              <a:t>The actual space taken up by the box will be 410px wide</a:t>
            </a:r>
            <a:br>
              <a:rPr lang="bg-BG" sz="3200" b="0" dirty="0">
                <a:effectLst/>
              </a:rPr>
            </a:br>
            <a:r>
              <a:rPr lang="en-US" sz="3200" b="0" dirty="0">
                <a:effectLst/>
              </a:rPr>
              <a:t>(350 + 25 + 25 + 5 + 5) and 210px high (150 + 25 + 25 + 5 + 5)</a:t>
            </a:r>
            <a:endParaRPr lang="en-US" sz="3600" dirty="0"/>
          </a:p>
        </p:txBody>
      </p:sp>
      <p:sp>
        <p:nvSpPr>
          <p:cNvPr id="4" name="Title 3">
            <a:extLst>
              <a:ext uri="{FF2B5EF4-FFF2-40B4-BE49-F238E27FC236}">
                <a16:creationId xmlns:a16="http://schemas.microsoft.com/office/drawing/2014/main" id="{E9A1DA41-F15A-4A36-BC07-5ABC6728BF4B}"/>
              </a:ext>
            </a:extLst>
          </p:cNvPr>
          <p:cNvSpPr>
            <a:spLocks noGrp="1"/>
          </p:cNvSpPr>
          <p:nvPr>
            <p:ph type="title"/>
          </p:nvPr>
        </p:nvSpPr>
        <p:spPr/>
        <p:txBody>
          <a:bodyPr/>
          <a:lstStyle/>
          <a:p>
            <a:r>
              <a:rPr lang="en-GB" dirty="0"/>
              <a:t>The Standard CSS Box Model</a:t>
            </a:r>
          </a:p>
        </p:txBody>
      </p:sp>
      <p:pic>
        <p:nvPicPr>
          <p:cNvPr id="12" name="Picture 11">
            <a:extLst>
              <a:ext uri="{FF2B5EF4-FFF2-40B4-BE49-F238E27FC236}">
                <a16:creationId xmlns:a16="http://schemas.microsoft.com/office/drawing/2014/main" id="{C58747B9-DFEB-321C-BC48-36D4AD384332}"/>
              </a:ext>
            </a:extLst>
          </p:cNvPr>
          <p:cNvPicPr>
            <a:picLocks noChangeAspect="1"/>
          </p:cNvPicPr>
          <p:nvPr/>
        </p:nvPicPr>
        <p:blipFill>
          <a:blip r:embed="rId2"/>
          <a:stretch>
            <a:fillRect/>
          </a:stretch>
        </p:blipFill>
        <p:spPr>
          <a:xfrm>
            <a:off x="7221000" y="3429000"/>
            <a:ext cx="4345718" cy="2607431"/>
          </a:xfrm>
          <a:prstGeom prst="rect">
            <a:avLst/>
          </a:prstGeom>
          <a:ln>
            <a:noFill/>
          </a:ln>
          <a:effectLst>
            <a:outerShdw blurRad="292100" dist="139700" dir="2700000" algn="tl" rotWithShape="0">
              <a:srgbClr val="333333">
                <a:alpha val="65000"/>
              </a:srgbClr>
            </a:outerShdw>
          </a:effectLst>
        </p:spPr>
      </p:pic>
      <p:sp>
        <p:nvSpPr>
          <p:cNvPr id="3" name="Текстово поле 10">
            <a:extLst>
              <a:ext uri="{FF2B5EF4-FFF2-40B4-BE49-F238E27FC236}">
                <a16:creationId xmlns:a16="http://schemas.microsoft.com/office/drawing/2014/main" id="{44912C03-8F75-AD14-2C23-8C519CD054B1}"/>
              </a:ext>
            </a:extLst>
          </p:cNvPr>
          <p:cNvSpPr txBox="1"/>
          <p:nvPr/>
        </p:nvSpPr>
        <p:spPr>
          <a:xfrm>
            <a:off x="1056000" y="3204000"/>
            <a:ext cx="5040000" cy="3039531"/>
          </a:xfrm>
          <a:prstGeom prst="rect">
            <a:avLst/>
          </a:prstGeom>
          <a:solidFill>
            <a:schemeClr val="accent6">
              <a:lumMod val="75000"/>
              <a:alpha val="15000"/>
            </a:schemeClr>
          </a:solidFill>
          <a:ln w="12700">
            <a:solidFill>
              <a:schemeClr val="tx1">
                <a:lumMod val="75000"/>
              </a:schemeClr>
            </a:solidFill>
          </a:ln>
        </p:spPr>
        <p:txBody>
          <a:bodyPr vert="horz" wrap="square" lIns="143963" tIns="107972" rIns="143963" bIns="107972" rtlCol="0">
            <a:spAutoFit/>
          </a:bodyPr>
          <a:lstStyle/>
          <a:p>
            <a:pPr eaLnBrk="0" hangingPunct="0">
              <a:lnSpc>
                <a:spcPct val="110000"/>
              </a:lnSpc>
              <a:buClr>
                <a:schemeClr val="accent5">
                  <a:lumMod val="40000"/>
                  <a:lumOff val="60000"/>
                </a:schemeClr>
              </a:buClr>
              <a:buSzPct val="70000"/>
            </a:pPr>
            <a:r>
              <a:rPr lang="en-US" sz="2400" b="1" dirty="0">
                <a:latin typeface="Consolas" panose="020B0609020204030204" pitchFamily="49" charset="0"/>
              </a:rPr>
              <a:t>.box {</a:t>
            </a:r>
          </a:p>
          <a:p>
            <a:pPr eaLnBrk="0" hangingPunct="0">
              <a:lnSpc>
                <a:spcPct val="110000"/>
              </a:lnSpc>
              <a:buClr>
                <a:schemeClr val="accent5">
                  <a:lumMod val="40000"/>
                  <a:lumOff val="60000"/>
                </a:schemeClr>
              </a:buClr>
              <a:buSzPct val="70000"/>
            </a:pPr>
            <a:r>
              <a:rPr lang="en-US" sz="2400" b="1" dirty="0">
                <a:latin typeface="Consolas" panose="020B0609020204030204" pitchFamily="49" charset="0"/>
              </a:rPr>
              <a:t>  width: 350px;</a:t>
            </a:r>
          </a:p>
          <a:p>
            <a:pPr eaLnBrk="0" hangingPunct="0">
              <a:lnSpc>
                <a:spcPct val="110000"/>
              </a:lnSpc>
              <a:buClr>
                <a:schemeClr val="accent5">
                  <a:lumMod val="40000"/>
                  <a:lumOff val="60000"/>
                </a:schemeClr>
              </a:buClr>
              <a:buSzPct val="70000"/>
            </a:pPr>
            <a:r>
              <a:rPr lang="en-US" sz="2400" b="1" dirty="0">
                <a:latin typeface="Consolas" panose="020B0609020204030204" pitchFamily="49" charset="0"/>
              </a:rPr>
              <a:t>  height: 150px;</a:t>
            </a:r>
          </a:p>
          <a:p>
            <a:pPr eaLnBrk="0" hangingPunct="0">
              <a:lnSpc>
                <a:spcPct val="110000"/>
              </a:lnSpc>
              <a:buClr>
                <a:schemeClr val="accent5">
                  <a:lumMod val="40000"/>
                  <a:lumOff val="60000"/>
                </a:schemeClr>
              </a:buClr>
              <a:buSzPct val="70000"/>
            </a:pPr>
            <a:r>
              <a:rPr lang="en-US" sz="2400" b="1" dirty="0">
                <a:latin typeface="Consolas" panose="020B0609020204030204" pitchFamily="49" charset="0"/>
              </a:rPr>
              <a:t>  margin: 10px;</a:t>
            </a:r>
          </a:p>
          <a:p>
            <a:pPr eaLnBrk="0" hangingPunct="0">
              <a:lnSpc>
                <a:spcPct val="110000"/>
              </a:lnSpc>
              <a:buClr>
                <a:schemeClr val="accent5">
                  <a:lumMod val="40000"/>
                  <a:lumOff val="60000"/>
                </a:schemeClr>
              </a:buClr>
              <a:buSzPct val="70000"/>
            </a:pPr>
            <a:r>
              <a:rPr lang="en-US" sz="2400" b="1" dirty="0">
                <a:latin typeface="Consolas" panose="020B0609020204030204" pitchFamily="49" charset="0"/>
              </a:rPr>
              <a:t>  padding: 25px;</a:t>
            </a:r>
          </a:p>
          <a:p>
            <a:pPr eaLnBrk="0" hangingPunct="0">
              <a:lnSpc>
                <a:spcPct val="110000"/>
              </a:lnSpc>
              <a:buClr>
                <a:schemeClr val="accent5">
                  <a:lumMod val="40000"/>
                  <a:lumOff val="60000"/>
                </a:schemeClr>
              </a:buClr>
              <a:buSzPct val="70000"/>
            </a:pPr>
            <a:r>
              <a:rPr lang="en-US" sz="2400" b="1" dirty="0">
                <a:latin typeface="Consolas" panose="020B0609020204030204" pitchFamily="49" charset="0"/>
              </a:rPr>
              <a:t>  border: 5px solid black;</a:t>
            </a:r>
          </a:p>
          <a:p>
            <a:pPr eaLnBrk="0" hangingPunct="0">
              <a:lnSpc>
                <a:spcPct val="110000"/>
              </a:lnSpc>
              <a:buClr>
                <a:schemeClr val="accent5">
                  <a:lumMod val="40000"/>
                  <a:lumOff val="60000"/>
                </a:schemeClr>
              </a:buClr>
              <a:buSzPct val="70000"/>
            </a:pPr>
            <a:r>
              <a:rPr lang="en-US" sz="2400" b="1" dirty="0">
                <a:latin typeface="Consolas" panose="020B0609020204030204" pitchFamily="49" charset="0"/>
              </a:rPr>
              <a:t>}</a:t>
            </a:r>
          </a:p>
        </p:txBody>
      </p:sp>
      <p:sp>
        <p:nvSpPr>
          <p:cNvPr id="5" name="Slide Number">
            <a:extLst>
              <a:ext uri="{FF2B5EF4-FFF2-40B4-BE49-F238E27FC236}">
                <a16:creationId xmlns:a16="http://schemas.microsoft.com/office/drawing/2014/main" id="{C09185B3-760D-0E09-974D-0EF2390BA6D1}"/>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43</a:t>
            </a:fld>
            <a:endParaRPr lang="en-US" noProof="0" dirty="0"/>
          </a:p>
        </p:txBody>
      </p:sp>
    </p:spTree>
    <p:extLst>
      <p:ext uri="{BB962C8B-B14F-4D97-AF65-F5344CB8AC3E}">
        <p14:creationId xmlns:p14="http://schemas.microsoft.com/office/powerpoint/2010/main" val="1135653652"/>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ов контейнер 1">
            <a:extLst>
              <a:ext uri="{FF2B5EF4-FFF2-40B4-BE49-F238E27FC236}">
                <a16:creationId xmlns:a16="http://schemas.microsoft.com/office/drawing/2014/main" id="{56C6290E-5FB3-E945-2E8D-DAA2F9FFB197}"/>
              </a:ext>
            </a:extLst>
          </p:cNvPr>
          <p:cNvSpPr>
            <a:spLocks noGrp="1"/>
          </p:cNvSpPr>
          <p:nvPr>
            <p:ph type="body" sz="quarter" idx="10"/>
          </p:nvPr>
        </p:nvSpPr>
        <p:spPr>
          <a:xfrm>
            <a:off x="190402" y="1196125"/>
            <a:ext cx="8580034" cy="5528766"/>
          </a:xfrm>
        </p:spPr>
        <p:txBody>
          <a:bodyPr>
            <a:noAutofit/>
          </a:bodyPr>
          <a:lstStyle/>
          <a:p>
            <a:r>
              <a:rPr lang="en-US" sz="3400" b="0" dirty="0"/>
              <a:t>In the alternative box model, any </a:t>
            </a:r>
            <a:r>
              <a:rPr lang="en-US" sz="3400" b="1" dirty="0">
                <a:solidFill>
                  <a:schemeClr val="bg1"/>
                </a:solidFill>
              </a:rPr>
              <a:t>width</a:t>
            </a:r>
            <a:r>
              <a:rPr lang="en-US" sz="3400" b="0" dirty="0"/>
              <a:t> is the </a:t>
            </a:r>
            <a:r>
              <a:rPr lang="en-US" sz="3400" b="1" dirty="0">
                <a:solidFill>
                  <a:schemeClr val="bg1"/>
                </a:solidFill>
              </a:rPr>
              <a:t>width of the visible box </a:t>
            </a:r>
            <a:r>
              <a:rPr lang="en-US" sz="3400" b="0" dirty="0"/>
              <a:t>on the page</a:t>
            </a:r>
          </a:p>
          <a:p>
            <a:r>
              <a:rPr lang="en-US" sz="3400" b="0" dirty="0"/>
              <a:t>The </a:t>
            </a:r>
            <a:r>
              <a:rPr lang="en-US" sz="3400" b="1" dirty="0">
                <a:solidFill>
                  <a:schemeClr val="bg1"/>
                </a:solidFill>
              </a:rPr>
              <a:t>content area width</a:t>
            </a:r>
            <a:r>
              <a:rPr lang="en-US" sz="3400" b="0" dirty="0">
                <a:solidFill>
                  <a:schemeClr val="bg1"/>
                </a:solidFill>
              </a:rPr>
              <a:t> </a:t>
            </a:r>
            <a:r>
              <a:rPr lang="en-US" sz="3400" b="0" dirty="0"/>
              <a:t>is that </a:t>
            </a:r>
            <a:r>
              <a:rPr lang="en-US" sz="3400" b="1" dirty="0">
                <a:solidFill>
                  <a:schemeClr val="bg1"/>
                </a:solidFill>
              </a:rPr>
              <a:t>width minus</a:t>
            </a:r>
            <a:r>
              <a:rPr lang="en-US" sz="3400" b="0" dirty="0">
                <a:solidFill>
                  <a:schemeClr val="bg1"/>
                </a:solidFill>
              </a:rPr>
              <a:t> </a:t>
            </a:r>
            <a:r>
              <a:rPr lang="en-US" sz="3400" b="0" dirty="0"/>
              <a:t>the </a:t>
            </a:r>
            <a:r>
              <a:rPr lang="en-US" sz="3400" b="1" dirty="0">
                <a:solidFill>
                  <a:schemeClr val="bg1"/>
                </a:solidFill>
              </a:rPr>
              <a:t>width</a:t>
            </a:r>
            <a:r>
              <a:rPr lang="en-US" sz="3400" b="0" dirty="0"/>
              <a:t> for the </a:t>
            </a:r>
            <a:r>
              <a:rPr lang="en-US" sz="3400" b="1" dirty="0">
                <a:solidFill>
                  <a:schemeClr val="bg1"/>
                </a:solidFill>
              </a:rPr>
              <a:t>padding</a:t>
            </a:r>
            <a:r>
              <a:rPr lang="en-US" sz="3400" b="0" dirty="0"/>
              <a:t> and </a:t>
            </a:r>
            <a:r>
              <a:rPr lang="en-US" sz="3400" b="1" dirty="0">
                <a:solidFill>
                  <a:schemeClr val="bg1"/>
                </a:solidFill>
              </a:rPr>
              <a:t>border</a:t>
            </a:r>
            <a:r>
              <a:rPr lang="en-US" sz="3400" b="0" dirty="0"/>
              <a:t> (see image below)</a:t>
            </a:r>
          </a:p>
          <a:p>
            <a:r>
              <a:rPr lang="en-US" sz="3400" b="0" dirty="0"/>
              <a:t>No need to add up the border and padding to get the real size of the box</a:t>
            </a:r>
            <a:endParaRPr lang="en-US" sz="3400" dirty="0"/>
          </a:p>
        </p:txBody>
      </p:sp>
      <p:sp>
        <p:nvSpPr>
          <p:cNvPr id="4" name="Title 3">
            <a:extLst>
              <a:ext uri="{FF2B5EF4-FFF2-40B4-BE49-F238E27FC236}">
                <a16:creationId xmlns:a16="http://schemas.microsoft.com/office/drawing/2014/main" id="{E9A1DA41-F15A-4A36-BC07-5ABC6728BF4B}"/>
              </a:ext>
            </a:extLst>
          </p:cNvPr>
          <p:cNvSpPr>
            <a:spLocks noGrp="1"/>
          </p:cNvSpPr>
          <p:nvPr>
            <p:ph type="title"/>
          </p:nvPr>
        </p:nvSpPr>
        <p:spPr/>
        <p:txBody>
          <a:bodyPr/>
          <a:lstStyle/>
          <a:p>
            <a:r>
              <a:rPr lang="en-GB" dirty="0"/>
              <a:t>The Alternative CSS Box Model</a:t>
            </a:r>
          </a:p>
        </p:txBody>
      </p:sp>
      <p:pic>
        <p:nvPicPr>
          <p:cNvPr id="3" name="Picture 2">
            <a:extLst>
              <a:ext uri="{FF2B5EF4-FFF2-40B4-BE49-F238E27FC236}">
                <a16:creationId xmlns:a16="http://schemas.microsoft.com/office/drawing/2014/main" id="{4E203C92-C482-677D-0164-F0CA22BAFB6E}"/>
              </a:ext>
            </a:extLst>
          </p:cNvPr>
          <p:cNvPicPr>
            <a:picLocks noChangeAspect="1"/>
          </p:cNvPicPr>
          <p:nvPr/>
        </p:nvPicPr>
        <p:blipFill>
          <a:blip r:embed="rId2"/>
          <a:stretch>
            <a:fillRect/>
          </a:stretch>
        </p:blipFill>
        <p:spPr>
          <a:xfrm>
            <a:off x="8706000" y="2047108"/>
            <a:ext cx="3238062" cy="3826800"/>
          </a:xfrm>
          <a:prstGeom prst="rect">
            <a:avLst/>
          </a:prstGeom>
          <a:ln>
            <a:noFill/>
          </a:ln>
          <a:effectLst>
            <a:outerShdw blurRad="292100" dist="139700" dir="2700000" algn="tl" rotWithShape="0">
              <a:srgbClr val="333333">
                <a:alpha val="65000"/>
              </a:srgbClr>
            </a:outerShdw>
          </a:effectLst>
        </p:spPr>
      </p:pic>
      <p:sp>
        <p:nvSpPr>
          <p:cNvPr id="5" name="Slide Number">
            <a:extLst>
              <a:ext uri="{FF2B5EF4-FFF2-40B4-BE49-F238E27FC236}">
                <a16:creationId xmlns:a16="http://schemas.microsoft.com/office/drawing/2014/main" id="{7F404932-B395-F237-9423-AA0E488D4D0A}"/>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44</a:t>
            </a:fld>
            <a:endParaRPr lang="en-US" noProof="0" dirty="0"/>
          </a:p>
        </p:txBody>
      </p:sp>
    </p:spTree>
    <p:extLst>
      <p:ext uri="{BB962C8B-B14F-4D97-AF65-F5344CB8AC3E}">
        <p14:creationId xmlns:p14="http://schemas.microsoft.com/office/powerpoint/2010/main" val="4075447897"/>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ов контейнер 1">
            <a:extLst>
              <a:ext uri="{FF2B5EF4-FFF2-40B4-BE49-F238E27FC236}">
                <a16:creationId xmlns:a16="http://schemas.microsoft.com/office/drawing/2014/main" id="{F1B9D59B-4CF1-0D5D-B205-C1295260C673}"/>
              </a:ext>
            </a:extLst>
          </p:cNvPr>
          <p:cNvSpPr>
            <a:spLocks noGrp="1"/>
          </p:cNvSpPr>
          <p:nvPr>
            <p:ph type="body" sz="quarter" idx="10"/>
          </p:nvPr>
        </p:nvSpPr>
        <p:spPr/>
        <p:txBody>
          <a:bodyPr/>
          <a:lstStyle/>
          <a:p>
            <a:r>
              <a:rPr lang="en-US" sz="3600" b="0" dirty="0"/>
              <a:t>To turn on the alternative model for an element</a:t>
            </a:r>
            <a:r>
              <a:rPr lang="bg-BG" sz="3600" b="0" dirty="0"/>
              <a:t> </a:t>
            </a:r>
            <a:r>
              <a:rPr lang="en-GB" sz="3600" b="0" dirty="0"/>
              <a:t>use:</a:t>
            </a:r>
            <a:endParaRPr lang="en-US" dirty="0"/>
          </a:p>
        </p:txBody>
      </p:sp>
      <p:sp>
        <p:nvSpPr>
          <p:cNvPr id="4" name="Title 3">
            <a:extLst>
              <a:ext uri="{FF2B5EF4-FFF2-40B4-BE49-F238E27FC236}">
                <a16:creationId xmlns:a16="http://schemas.microsoft.com/office/drawing/2014/main" id="{E9A1DA41-F15A-4A36-BC07-5ABC6728BF4B}"/>
              </a:ext>
            </a:extLst>
          </p:cNvPr>
          <p:cNvSpPr>
            <a:spLocks noGrp="1"/>
          </p:cNvSpPr>
          <p:nvPr>
            <p:ph type="title"/>
          </p:nvPr>
        </p:nvSpPr>
        <p:spPr/>
        <p:txBody>
          <a:bodyPr/>
          <a:lstStyle/>
          <a:p>
            <a:r>
              <a:rPr lang="en-GB" dirty="0"/>
              <a:t>The Alternative CSS Box Model</a:t>
            </a:r>
          </a:p>
        </p:txBody>
      </p:sp>
      <p:sp>
        <p:nvSpPr>
          <p:cNvPr id="3" name="Текстово поле 10">
            <a:extLst>
              <a:ext uri="{FF2B5EF4-FFF2-40B4-BE49-F238E27FC236}">
                <a16:creationId xmlns:a16="http://schemas.microsoft.com/office/drawing/2014/main" id="{73D111E0-E50D-A587-B8EF-4F42BC7EE879}"/>
              </a:ext>
            </a:extLst>
          </p:cNvPr>
          <p:cNvSpPr txBox="1"/>
          <p:nvPr/>
        </p:nvSpPr>
        <p:spPr>
          <a:xfrm>
            <a:off x="1146000" y="2901722"/>
            <a:ext cx="4950000" cy="1414471"/>
          </a:xfrm>
          <a:prstGeom prst="rect">
            <a:avLst/>
          </a:prstGeom>
          <a:solidFill>
            <a:schemeClr val="accent6">
              <a:lumMod val="75000"/>
              <a:alpha val="15000"/>
            </a:schemeClr>
          </a:solidFill>
          <a:ln w="12700">
            <a:solidFill>
              <a:schemeClr val="tx1">
                <a:lumMod val="75000"/>
              </a:schemeClr>
            </a:solidFill>
          </a:ln>
        </p:spPr>
        <p:txBody>
          <a:bodyPr vert="horz" wrap="square" lIns="143963" tIns="107972" rIns="143963" bIns="107972" rtlCol="0">
            <a:spAutoFit/>
          </a:bodyPr>
          <a:lstStyle/>
          <a:p>
            <a:pPr eaLnBrk="0" hangingPunct="0">
              <a:lnSpc>
                <a:spcPct val="110000"/>
              </a:lnSpc>
              <a:buClr>
                <a:schemeClr val="accent5">
                  <a:lumMod val="40000"/>
                  <a:lumOff val="60000"/>
                </a:schemeClr>
              </a:buClr>
              <a:buSzPct val="70000"/>
            </a:pPr>
            <a:r>
              <a:rPr lang="en-US" sz="2400" b="1" dirty="0">
                <a:latin typeface="Consolas" panose="020B0609020204030204" pitchFamily="49" charset="0"/>
              </a:rPr>
              <a:t>.box {</a:t>
            </a:r>
          </a:p>
          <a:p>
            <a:pPr eaLnBrk="0" hangingPunct="0">
              <a:lnSpc>
                <a:spcPct val="110000"/>
              </a:lnSpc>
              <a:buClr>
                <a:schemeClr val="accent5">
                  <a:lumMod val="40000"/>
                  <a:lumOff val="60000"/>
                </a:schemeClr>
              </a:buClr>
              <a:buSzPct val="70000"/>
            </a:pPr>
            <a:r>
              <a:rPr lang="en-US" sz="2400" b="1" dirty="0">
                <a:latin typeface="Consolas" panose="020B0609020204030204" pitchFamily="49" charset="0"/>
              </a:rPr>
              <a:t>  box-sizing: border-box;</a:t>
            </a:r>
          </a:p>
          <a:p>
            <a:pPr eaLnBrk="0" hangingPunct="0">
              <a:lnSpc>
                <a:spcPct val="110000"/>
              </a:lnSpc>
              <a:buClr>
                <a:schemeClr val="accent5">
                  <a:lumMod val="40000"/>
                  <a:lumOff val="60000"/>
                </a:schemeClr>
              </a:buClr>
              <a:buSzPct val="70000"/>
            </a:pPr>
            <a:r>
              <a:rPr lang="en-US" sz="2400" b="1" dirty="0">
                <a:latin typeface="Consolas" panose="020B0609020204030204" pitchFamily="49" charset="0"/>
              </a:rPr>
              <a:t>}</a:t>
            </a:r>
          </a:p>
        </p:txBody>
      </p:sp>
      <p:pic>
        <p:nvPicPr>
          <p:cNvPr id="6" name="Picture 5">
            <a:extLst>
              <a:ext uri="{FF2B5EF4-FFF2-40B4-BE49-F238E27FC236}">
                <a16:creationId xmlns:a16="http://schemas.microsoft.com/office/drawing/2014/main" id="{5F661618-980A-50C2-4C1F-4021891DE112}"/>
              </a:ext>
            </a:extLst>
          </p:cNvPr>
          <p:cNvPicPr>
            <a:picLocks noChangeAspect="1"/>
          </p:cNvPicPr>
          <p:nvPr/>
        </p:nvPicPr>
        <p:blipFill>
          <a:blip r:embed="rId2"/>
          <a:stretch>
            <a:fillRect/>
          </a:stretch>
        </p:blipFill>
        <p:spPr>
          <a:xfrm>
            <a:off x="7131000" y="1809000"/>
            <a:ext cx="4072750" cy="4813250"/>
          </a:xfrm>
          <a:prstGeom prst="rect">
            <a:avLst/>
          </a:prstGeom>
          <a:ln>
            <a:noFill/>
          </a:ln>
          <a:effectLst>
            <a:outerShdw blurRad="292100" dist="139700" dir="2700000" algn="tl" rotWithShape="0">
              <a:srgbClr val="333333">
                <a:alpha val="65000"/>
              </a:srgbClr>
            </a:outerShdw>
          </a:effectLst>
        </p:spPr>
      </p:pic>
      <p:sp>
        <p:nvSpPr>
          <p:cNvPr id="5" name="Slide Number">
            <a:extLst>
              <a:ext uri="{FF2B5EF4-FFF2-40B4-BE49-F238E27FC236}">
                <a16:creationId xmlns:a16="http://schemas.microsoft.com/office/drawing/2014/main" id="{211DF7CC-4371-D298-3E41-FA7A2684FEA9}"/>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45</a:t>
            </a:fld>
            <a:endParaRPr lang="en-US" noProof="0" dirty="0"/>
          </a:p>
        </p:txBody>
      </p:sp>
    </p:spTree>
    <p:extLst>
      <p:ext uri="{BB962C8B-B14F-4D97-AF65-F5344CB8AC3E}">
        <p14:creationId xmlns:p14="http://schemas.microsoft.com/office/powerpoint/2010/main" val="2369045010"/>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Текстов контейнер 6">
            <a:extLst>
              <a:ext uri="{FF2B5EF4-FFF2-40B4-BE49-F238E27FC236}">
                <a16:creationId xmlns:a16="http://schemas.microsoft.com/office/drawing/2014/main" id="{24C35792-86F6-95DC-46C6-25F2273F0520}"/>
              </a:ext>
            </a:extLst>
          </p:cNvPr>
          <p:cNvSpPr>
            <a:spLocks noGrp="1"/>
          </p:cNvSpPr>
          <p:nvPr>
            <p:ph type="body" sz="quarter" idx="10"/>
          </p:nvPr>
        </p:nvSpPr>
        <p:spPr/>
        <p:txBody>
          <a:bodyPr>
            <a:normAutofit/>
          </a:bodyPr>
          <a:lstStyle/>
          <a:p>
            <a:r>
              <a:rPr lang="en-US" sz="3200" b="0" dirty="0"/>
              <a:t>If we assume the box has the same CSS as above:</a:t>
            </a:r>
          </a:p>
          <a:p>
            <a:r>
              <a:rPr lang="en-US" sz="3200" b="0" i="0" dirty="0">
                <a:effectLst/>
              </a:rPr>
              <a:t>Now, the actual space taken up by the box will be 350px in the inline direction and 150px in the block direction</a:t>
            </a:r>
            <a:endParaRPr lang="en-US" sz="3200" dirty="0"/>
          </a:p>
        </p:txBody>
      </p:sp>
      <p:sp>
        <p:nvSpPr>
          <p:cNvPr id="4" name="Title 3">
            <a:extLst>
              <a:ext uri="{FF2B5EF4-FFF2-40B4-BE49-F238E27FC236}">
                <a16:creationId xmlns:a16="http://schemas.microsoft.com/office/drawing/2014/main" id="{E9A1DA41-F15A-4A36-BC07-5ABC6728BF4B}"/>
              </a:ext>
            </a:extLst>
          </p:cNvPr>
          <p:cNvSpPr>
            <a:spLocks noGrp="1"/>
          </p:cNvSpPr>
          <p:nvPr>
            <p:ph type="title"/>
          </p:nvPr>
        </p:nvSpPr>
        <p:spPr/>
        <p:txBody>
          <a:bodyPr/>
          <a:lstStyle/>
          <a:p>
            <a:r>
              <a:rPr lang="en-GB" dirty="0"/>
              <a:t>The Alternative CSS Box Model</a:t>
            </a:r>
          </a:p>
        </p:txBody>
      </p:sp>
      <p:pic>
        <p:nvPicPr>
          <p:cNvPr id="2" name="Picture 1">
            <a:extLst>
              <a:ext uri="{FF2B5EF4-FFF2-40B4-BE49-F238E27FC236}">
                <a16:creationId xmlns:a16="http://schemas.microsoft.com/office/drawing/2014/main" id="{38BF175E-AC2F-7185-7B04-B2B3AD3A6899}"/>
              </a:ext>
            </a:extLst>
          </p:cNvPr>
          <p:cNvPicPr>
            <a:picLocks noChangeAspect="1"/>
          </p:cNvPicPr>
          <p:nvPr/>
        </p:nvPicPr>
        <p:blipFill>
          <a:blip r:embed="rId2"/>
          <a:stretch>
            <a:fillRect/>
          </a:stretch>
        </p:blipFill>
        <p:spPr>
          <a:xfrm>
            <a:off x="7315051" y="3298047"/>
            <a:ext cx="4337381" cy="2365844"/>
          </a:xfrm>
          <a:prstGeom prst="rect">
            <a:avLst/>
          </a:prstGeom>
          <a:ln>
            <a:noFill/>
          </a:ln>
          <a:effectLst>
            <a:outerShdw blurRad="292100" dist="139700" dir="2700000" algn="tl" rotWithShape="0">
              <a:srgbClr val="333333">
                <a:alpha val="65000"/>
              </a:srgbClr>
            </a:outerShdw>
          </a:effectLst>
        </p:spPr>
      </p:pic>
      <p:sp>
        <p:nvSpPr>
          <p:cNvPr id="5" name="Текстово поле 4">
            <a:extLst>
              <a:ext uri="{FF2B5EF4-FFF2-40B4-BE49-F238E27FC236}">
                <a16:creationId xmlns:a16="http://schemas.microsoft.com/office/drawing/2014/main" id="{DF72C936-19D1-352A-D826-DEC20739775C}"/>
              </a:ext>
            </a:extLst>
          </p:cNvPr>
          <p:cNvSpPr txBox="1"/>
          <p:nvPr/>
        </p:nvSpPr>
        <p:spPr>
          <a:xfrm>
            <a:off x="561000" y="3429000"/>
            <a:ext cx="6094476" cy="2209964"/>
          </a:xfrm>
          <a:prstGeom prst="rect">
            <a:avLst/>
          </a:prstGeom>
          <a:solidFill>
            <a:schemeClr val="accent6">
              <a:lumMod val="75000"/>
              <a:alpha val="15000"/>
            </a:schemeClr>
          </a:solidFill>
          <a:ln w="12700">
            <a:solidFill>
              <a:schemeClr val="tx1">
                <a:lumMod val="75000"/>
              </a:schemeClr>
            </a:solidFill>
          </a:ln>
        </p:spPr>
        <p:txBody>
          <a:bodyPr wrap="square">
            <a:spAutoFit/>
          </a:bodyPr>
          <a:lstStyle/>
          <a:p>
            <a:pPr eaLnBrk="0" hangingPunct="0">
              <a:lnSpc>
                <a:spcPct val="110000"/>
              </a:lnSpc>
              <a:buClr>
                <a:schemeClr val="accent5">
                  <a:lumMod val="40000"/>
                  <a:lumOff val="60000"/>
                </a:schemeClr>
              </a:buClr>
              <a:buSzPct val="70000"/>
            </a:pPr>
            <a:r>
              <a:rPr lang="en-US" sz="1800" b="1" dirty="0">
                <a:effectLst/>
                <a:latin typeface="Consolas" panose="020B0609020204030204" pitchFamily="49" charset="0"/>
              </a:rPr>
              <a:t>.box {</a:t>
            </a:r>
          </a:p>
          <a:p>
            <a:pPr eaLnBrk="0" hangingPunct="0">
              <a:lnSpc>
                <a:spcPct val="110000"/>
              </a:lnSpc>
              <a:buClr>
                <a:schemeClr val="accent5">
                  <a:lumMod val="40000"/>
                  <a:lumOff val="60000"/>
                </a:schemeClr>
              </a:buClr>
              <a:buSzPct val="70000"/>
            </a:pPr>
            <a:r>
              <a:rPr lang="en-US" sz="1800" b="1" dirty="0">
                <a:effectLst/>
                <a:latin typeface="Consolas" panose="020B0609020204030204" pitchFamily="49" charset="0"/>
              </a:rPr>
              <a:t>  width: 350px;</a:t>
            </a:r>
          </a:p>
          <a:p>
            <a:pPr eaLnBrk="0" hangingPunct="0">
              <a:lnSpc>
                <a:spcPct val="110000"/>
              </a:lnSpc>
              <a:buClr>
                <a:schemeClr val="accent5">
                  <a:lumMod val="40000"/>
                  <a:lumOff val="60000"/>
                </a:schemeClr>
              </a:buClr>
              <a:buSzPct val="70000"/>
            </a:pPr>
            <a:r>
              <a:rPr lang="en-US" sz="1800" b="1" dirty="0">
                <a:effectLst/>
                <a:latin typeface="Consolas" panose="020B0609020204030204" pitchFamily="49" charset="0"/>
              </a:rPr>
              <a:t>  height: 150px;</a:t>
            </a:r>
          </a:p>
          <a:p>
            <a:pPr eaLnBrk="0" hangingPunct="0">
              <a:lnSpc>
                <a:spcPct val="110000"/>
              </a:lnSpc>
              <a:buClr>
                <a:schemeClr val="accent5">
                  <a:lumMod val="40000"/>
                  <a:lumOff val="60000"/>
                </a:schemeClr>
              </a:buClr>
              <a:buSzPct val="70000"/>
            </a:pPr>
            <a:r>
              <a:rPr lang="en-US" sz="1800" b="1" dirty="0">
                <a:effectLst/>
                <a:latin typeface="Consolas" panose="020B0609020204030204" pitchFamily="49" charset="0"/>
              </a:rPr>
              <a:t>  margin: 10px;</a:t>
            </a:r>
          </a:p>
          <a:p>
            <a:pPr eaLnBrk="0" hangingPunct="0">
              <a:lnSpc>
                <a:spcPct val="110000"/>
              </a:lnSpc>
              <a:buClr>
                <a:schemeClr val="accent5">
                  <a:lumMod val="40000"/>
                  <a:lumOff val="60000"/>
                </a:schemeClr>
              </a:buClr>
              <a:buSzPct val="70000"/>
            </a:pPr>
            <a:r>
              <a:rPr lang="en-US" sz="1800" b="1" dirty="0">
                <a:effectLst/>
                <a:latin typeface="Consolas" panose="020B0609020204030204" pitchFamily="49" charset="0"/>
              </a:rPr>
              <a:t>  padding: 25px;</a:t>
            </a:r>
          </a:p>
          <a:p>
            <a:pPr eaLnBrk="0" hangingPunct="0">
              <a:lnSpc>
                <a:spcPct val="110000"/>
              </a:lnSpc>
              <a:buClr>
                <a:schemeClr val="accent5">
                  <a:lumMod val="40000"/>
                  <a:lumOff val="60000"/>
                </a:schemeClr>
              </a:buClr>
              <a:buSzPct val="70000"/>
            </a:pPr>
            <a:r>
              <a:rPr lang="en-US" sz="1800" b="1" dirty="0">
                <a:effectLst/>
                <a:latin typeface="Consolas" panose="020B0609020204030204" pitchFamily="49" charset="0"/>
              </a:rPr>
              <a:t>  border: 5px solid black;</a:t>
            </a:r>
          </a:p>
          <a:p>
            <a:pPr eaLnBrk="0" hangingPunct="0">
              <a:lnSpc>
                <a:spcPct val="110000"/>
              </a:lnSpc>
              <a:buClr>
                <a:schemeClr val="accent5">
                  <a:lumMod val="40000"/>
                  <a:lumOff val="60000"/>
                </a:schemeClr>
              </a:buClr>
              <a:buSzPct val="70000"/>
            </a:pPr>
            <a:r>
              <a:rPr lang="en-US" sz="1800" b="1" dirty="0">
                <a:effectLst/>
                <a:latin typeface="Consolas" panose="020B0609020204030204" pitchFamily="49" charset="0"/>
              </a:rPr>
              <a:t>}</a:t>
            </a:r>
          </a:p>
        </p:txBody>
      </p:sp>
      <p:sp>
        <p:nvSpPr>
          <p:cNvPr id="3" name="Slide Number">
            <a:extLst>
              <a:ext uri="{FF2B5EF4-FFF2-40B4-BE49-F238E27FC236}">
                <a16:creationId xmlns:a16="http://schemas.microsoft.com/office/drawing/2014/main" id="{702A5BE4-192B-0F8B-1209-37B4C9523F09}"/>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46</a:t>
            </a:fld>
            <a:endParaRPr lang="en-US" noProof="0" dirty="0"/>
          </a:p>
        </p:txBody>
      </p:sp>
    </p:spTree>
    <p:extLst>
      <p:ext uri="{BB962C8B-B14F-4D97-AF65-F5344CB8AC3E}">
        <p14:creationId xmlns:p14="http://schemas.microsoft.com/office/powerpoint/2010/main" val="1358368606"/>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Текстово поле 7">
            <a:extLst>
              <a:ext uri="{FF2B5EF4-FFF2-40B4-BE49-F238E27FC236}">
                <a16:creationId xmlns:a16="http://schemas.microsoft.com/office/drawing/2014/main" id="{D14F8F39-87C6-D309-FC76-D417141E8B9F}"/>
              </a:ext>
            </a:extLst>
          </p:cNvPr>
          <p:cNvSpPr txBox="1"/>
          <p:nvPr/>
        </p:nvSpPr>
        <p:spPr>
          <a:xfrm>
            <a:off x="696000" y="1972094"/>
            <a:ext cx="6094476" cy="2913811"/>
          </a:xfrm>
          <a:prstGeom prst="rect">
            <a:avLst/>
          </a:prstGeom>
          <a:solidFill>
            <a:schemeClr val="accent6">
              <a:lumMod val="75000"/>
              <a:alpha val="15000"/>
            </a:schemeClr>
          </a:solidFill>
          <a:ln w="12700">
            <a:solidFill>
              <a:schemeClr val="tx1">
                <a:lumMod val="75000"/>
              </a:schemeClr>
            </a:solidFill>
          </a:ln>
        </p:spPr>
        <p:txBody>
          <a:bodyPr wrap="square">
            <a:spAutoFit/>
          </a:bodyPr>
          <a:lstStyle/>
          <a:p>
            <a:pPr eaLnBrk="0" hangingPunct="0">
              <a:lnSpc>
                <a:spcPct val="110000"/>
              </a:lnSpc>
              <a:buClr>
                <a:schemeClr val="accent5">
                  <a:lumMod val="40000"/>
                  <a:lumOff val="60000"/>
                </a:schemeClr>
              </a:buClr>
              <a:buSzPct val="70000"/>
            </a:pPr>
            <a:r>
              <a:rPr lang="en-US" sz="2400" b="1" i="0" dirty="0">
                <a:solidFill>
                  <a:srgbClr val="859900"/>
                </a:solidFill>
                <a:effectLst/>
                <a:latin typeface="Consolas" panose="020B0609020204030204" pitchFamily="49" charset="0"/>
              </a:rPr>
              <a:t>html</a:t>
            </a:r>
            <a:r>
              <a:rPr lang="en-US" sz="2400" b="1" i="0" dirty="0">
                <a:solidFill>
                  <a:srgbClr val="657B83"/>
                </a:solidFill>
                <a:effectLst/>
                <a:latin typeface="Consolas" panose="020B0609020204030204" pitchFamily="49" charset="0"/>
              </a:rPr>
              <a:t> {</a:t>
            </a:r>
          </a:p>
          <a:p>
            <a:pPr eaLnBrk="0" hangingPunct="0">
              <a:lnSpc>
                <a:spcPct val="110000"/>
              </a:lnSpc>
              <a:buClr>
                <a:schemeClr val="accent5">
                  <a:lumMod val="40000"/>
                  <a:lumOff val="60000"/>
                </a:schemeClr>
              </a:buClr>
              <a:buSzPct val="70000"/>
            </a:pPr>
            <a:r>
              <a:rPr lang="en-US" sz="2400" b="1" i="0" dirty="0">
                <a:solidFill>
                  <a:srgbClr val="657B83"/>
                </a:solidFill>
                <a:effectLst/>
                <a:latin typeface="Consolas" panose="020B0609020204030204" pitchFamily="49" charset="0"/>
              </a:rPr>
              <a:t>  </a:t>
            </a:r>
            <a:r>
              <a:rPr lang="en-US" sz="2400" b="1" i="0" dirty="0">
                <a:solidFill>
                  <a:srgbClr val="B58900"/>
                </a:solidFill>
                <a:effectLst/>
                <a:latin typeface="Consolas" panose="020B0609020204030204" pitchFamily="49" charset="0"/>
              </a:rPr>
              <a:t>box-sizing</a:t>
            </a:r>
            <a:r>
              <a:rPr lang="en-US" sz="2400" b="1" i="0" dirty="0">
                <a:solidFill>
                  <a:srgbClr val="657B83"/>
                </a:solidFill>
                <a:effectLst/>
                <a:latin typeface="Consolas" panose="020B0609020204030204" pitchFamily="49" charset="0"/>
              </a:rPr>
              <a:t>: border-box;</a:t>
            </a:r>
          </a:p>
          <a:p>
            <a:pPr eaLnBrk="0" hangingPunct="0">
              <a:lnSpc>
                <a:spcPct val="110000"/>
              </a:lnSpc>
              <a:buClr>
                <a:schemeClr val="accent5">
                  <a:lumMod val="40000"/>
                  <a:lumOff val="60000"/>
                </a:schemeClr>
              </a:buClr>
              <a:buSzPct val="70000"/>
            </a:pPr>
            <a:r>
              <a:rPr lang="en-US" sz="2400" b="1" i="0" dirty="0">
                <a:solidFill>
                  <a:srgbClr val="657B83"/>
                </a:solidFill>
                <a:effectLst/>
                <a:latin typeface="Consolas" panose="020B0609020204030204" pitchFamily="49" charset="0"/>
              </a:rPr>
              <a:t>}</a:t>
            </a:r>
          </a:p>
          <a:p>
            <a:pPr eaLnBrk="0" hangingPunct="0">
              <a:lnSpc>
                <a:spcPct val="110000"/>
              </a:lnSpc>
              <a:buClr>
                <a:schemeClr val="accent5">
                  <a:lumMod val="40000"/>
                  <a:lumOff val="60000"/>
                </a:schemeClr>
              </a:buClr>
              <a:buSzPct val="70000"/>
            </a:pPr>
            <a:endParaRPr lang="en-US" sz="2400" b="1" dirty="0">
              <a:solidFill>
                <a:srgbClr val="657B83"/>
              </a:solidFill>
              <a:latin typeface="Consolas" panose="020B0609020204030204" pitchFamily="49" charset="0"/>
            </a:endParaRPr>
          </a:p>
          <a:p>
            <a:pPr eaLnBrk="0" hangingPunct="0">
              <a:lnSpc>
                <a:spcPct val="110000"/>
              </a:lnSpc>
              <a:buClr>
                <a:schemeClr val="accent5">
                  <a:lumMod val="40000"/>
                  <a:lumOff val="60000"/>
                </a:schemeClr>
              </a:buClr>
              <a:buSzPct val="70000"/>
            </a:pPr>
            <a:r>
              <a:rPr lang="en-US" sz="2400" b="1" i="0" dirty="0">
                <a:solidFill>
                  <a:srgbClr val="657B83"/>
                </a:solidFill>
                <a:effectLst/>
                <a:latin typeface="Consolas" panose="020B0609020204030204" pitchFamily="49" charset="0"/>
              </a:rPr>
              <a:t>*, *</a:t>
            </a:r>
            <a:r>
              <a:rPr lang="en-US" sz="2400" b="1" i="0" dirty="0">
                <a:solidFill>
                  <a:srgbClr val="CB4B16"/>
                </a:solidFill>
                <a:effectLst/>
                <a:latin typeface="Consolas" panose="020B0609020204030204" pitchFamily="49" charset="0"/>
              </a:rPr>
              <a:t>:before</a:t>
            </a:r>
            <a:r>
              <a:rPr lang="en-US" sz="2400" b="1" i="0" dirty="0">
                <a:solidFill>
                  <a:srgbClr val="657B83"/>
                </a:solidFill>
                <a:effectLst/>
                <a:latin typeface="Consolas" panose="020B0609020204030204" pitchFamily="49" charset="0"/>
              </a:rPr>
              <a:t>, *</a:t>
            </a:r>
            <a:r>
              <a:rPr lang="en-US" sz="2400" b="1" i="0" dirty="0">
                <a:solidFill>
                  <a:srgbClr val="CB4B16"/>
                </a:solidFill>
                <a:effectLst/>
                <a:latin typeface="Consolas" panose="020B0609020204030204" pitchFamily="49" charset="0"/>
              </a:rPr>
              <a:t>:after</a:t>
            </a:r>
            <a:r>
              <a:rPr lang="en-US" sz="2400" b="1" i="0" dirty="0">
                <a:solidFill>
                  <a:srgbClr val="657B83"/>
                </a:solidFill>
                <a:effectLst/>
                <a:latin typeface="Consolas" panose="020B0609020204030204" pitchFamily="49" charset="0"/>
              </a:rPr>
              <a:t> {</a:t>
            </a:r>
          </a:p>
          <a:p>
            <a:pPr eaLnBrk="0" hangingPunct="0">
              <a:lnSpc>
                <a:spcPct val="110000"/>
              </a:lnSpc>
              <a:buClr>
                <a:schemeClr val="accent5">
                  <a:lumMod val="40000"/>
                  <a:lumOff val="60000"/>
                </a:schemeClr>
              </a:buClr>
              <a:buSzPct val="70000"/>
            </a:pPr>
            <a:r>
              <a:rPr lang="en-US" sz="2400" b="1" dirty="0">
                <a:solidFill>
                  <a:srgbClr val="657B83"/>
                </a:solidFill>
                <a:latin typeface="Consolas" panose="020B0609020204030204" pitchFamily="49" charset="0"/>
              </a:rPr>
              <a:t>  </a:t>
            </a:r>
            <a:r>
              <a:rPr lang="en-US" sz="2400" b="1" i="0" dirty="0">
                <a:solidFill>
                  <a:srgbClr val="B58900"/>
                </a:solidFill>
                <a:effectLst/>
                <a:latin typeface="Consolas" panose="020B0609020204030204" pitchFamily="49" charset="0"/>
              </a:rPr>
              <a:t>box-sizing</a:t>
            </a:r>
            <a:r>
              <a:rPr lang="en-US" sz="2400" b="1" i="0" dirty="0">
                <a:solidFill>
                  <a:srgbClr val="657B83"/>
                </a:solidFill>
                <a:effectLst/>
                <a:latin typeface="Consolas" panose="020B0609020204030204" pitchFamily="49" charset="0"/>
              </a:rPr>
              <a:t>: inherit;</a:t>
            </a:r>
          </a:p>
          <a:p>
            <a:pPr eaLnBrk="0" hangingPunct="0">
              <a:lnSpc>
                <a:spcPct val="110000"/>
              </a:lnSpc>
              <a:buClr>
                <a:schemeClr val="accent5">
                  <a:lumMod val="40000"/>
                  <a:lumOff val="60000"/>
                </a:schemeClr>
              </a:buClr>
              <a:buSzPct val="70000"/>
            </a:pPr>
            <a:r>
              <a:rPr lang="en-US" sz="2400" b="1" i="0" dirty="0">
                <a:solidFill>
                  <a:srgbClr val="657B83"/>
                </a:solidFill>
                <a:effectLst/>
                <a:latin typeface="Consolas" panose="020B0609020204030204" pitchFamily="49" charset="0"/>
              </a:rPr>
              <a:t>}</a:t>
            </a:r>
            <a:endParaRPr lang="en-US" sz="2400" b="1" dirty="0">
              <a:effectLst/>
              <a:latin typeface="Consolas" panose="020B0609020204030204" pitchFamily="49" charset="0"/>
            </a:endParaRPr>
          </a:p>
        </p:txBody>
      </p:sp>
      <p:pic>
        <p:nvPicPr>
          <p:cNvPr id="2" name="Picture 1">
            <a:extLst>
              <a:ext uri="{FF2B5EF4-FFF2-40B4-BE49-F238E27FC236}">
                <a16:creationId xmlns:a16="http://schemas.microsoft.com/office/drawing/2014/main" id="{6AF7D3EF-D19E-2A83-2121-260242AA6F99}"/>
              </a:ext>
            </a:extLst>
          </p:cNvPr>
          <p:cNvPicPr>
            <a:picLocks noChangeAspect="1"/>
          </p:cNvPicPr>
          <p:nvPr/>
        </p:nvPicPr>
        <p:blipFill>
          <a:blip r:embed="rId2"/>
          <a:stretch>
            <a:fillRect/>
          </a:stretch>
        </p:blipFill>
        <p:spPr>
          <a:xfrm>
            <a:off x="7626000" y="1224000"/>
            <a:ext cx="4072750" cy="4813250"/>
          </a:xfrm>
          <a:prstGeom prst="rect">
            <a:avLst/>
          </a:prstGeom>
          <a:ln>
            <a:noFill/>
          </a:ln>
          <a:effectLst>
            <a:outerShdw blurRad="292100" dist="139700" dir="2700000" algn="tl" rotWithShape="0">
              <a:srgbClr val="333333">
                <a:alpha val="65000"/>
              </a:srgbClr>
            </a:outerShdw>
          </a:effectLst>
        </p:spPr>
      </p:pic>
      <p:sp>
        <p:nvSpPr>
          <p:cNvPr id="3" name="Title 3">
            <a:extLst>
              <a:ext uri="{FF2B5EF4-FFF2-40B4-BE49-F238E27FC236}">
                <a16:creationId xmlns:a16="http://schemas.microsoft.com/office/drawing/2014/main" id="{E3747E99-D6DF-D55E-F126-916CC7DB623B}"/>
              </a:ext>
            </a:extLst>
          </p:cNvPr>
          <p:cNvSpPr>
            <a:spLocks noGrp="1"/>
          </p:cNvSpPr>
          <p:nvPr>
            <p:ph type="title"/>
          </p:nvPr>
        </p:nvSpPr>
        <p:spPr>
          <a:xfrm>
            <a:off x="190406" y="100750"/>
            <a:ext cx="9715594" cy="882654"/>
          </a:xfrm>
        </p:spPr>
        <p:txBody>
          <a:bodyPr/>
          <a:lstStyle/>
          <a:p>
            <a:r>
              <a:rPr lang="en-GB" dirty="0"/>
              <a:t>Universal Box Sizing with Inheritance</a:t>
            </a:r>
          </a:p>
        </p:txBody>
      </p:sp>
      <p:sp>
        <p:nvSpPr>
          <p:cNvPr id="5" name="Slide Number">
            <a:extLst>
              <a:ext uri="{FF2B5EF4-FFF2-40B4-BE49-F238E27FC236}">
                <a16:creationId xmlns:a16="http://schemas.microsoft.com/office/drawing/2014/main" id="{378D80E3-5454-89C4-5271-5D1092EA825C}"/>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47</a:t>
            </a:fld>
            <a:endParaRPr lang="en-US" noProof="0" dirty="0"/>
          </a:p>
        </p:txBody>
      </p:sp>
    </p:spTree>
    <p:extLst>
      <p:ext uri="{BB962C8B-B14F-4D97-AF65-F5344CB8AC3E}">
        <p14:creationId xmlns:p14="http://schemas.microsoft.com/office/powerpoint/2010/main" val="765099191"/>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Box-sizing</a:t>
            </a:r>
          </a:p>
        </p:txBody>
      </p:sp>
      <p:sp>
        <p:nvSpPr>
          <p:cNvPr id="3" name="Text Placeholder 2"/>
          <p:cNvSpPr>
            <a:spLocks noGrp="1"/>
          </p:cNvSpPr>
          <p:nvPr>
            <p:ph type="body" sz="quarter" idx="10"/>
          </p:nvPr>
        </p:nvSpPr>
        <p:spPr>
          <a:xfrm>
            <a:off x="190402" y="1196125"/>
            <a:ext cx="11665598" cy="5528766"/>
          </a:xfrm>
        </p:spPr>
        <p:txBody>
          <a:bodyPr>
            <a:normAutofit/>
          </a:bodyPr>
          <a:lstStyle/>
          <a:p>
            <a:pPr>
              <a:lnSpc>
                <a:spcPct val="100000"/>
              </a:lnSpc>
              <a:buClr>
                <a:schemeClr val="tx1"/>
              </a:buClr>
            </a:pPr>
            <a:r>
              <a:rPr lang="en-US" dirty="0"/>
              <a:t>Sets how the total width and height of an element is calculated</a:t>
            </a:r>
          </a:p>
          <a:p>
            <a:pPr lvl="1">
              <a:lnSpc>
                <a:spcPct val="100000"/>
              </a:lnSpc>
              <a:buClr>
                <a:schemeClr val="tx1"/>
              </a:buClr>
              <a:buSzPct val="120000"/>
            </a:pPr>
            <a:r>
              <a:rPr lang="en-US" sz="3200" b="1" dirty="0">
                <a:solidFill>
                  <a:schemeClr val="bg1"/>
                </a:solidFill>
                <a:latin typeface="Consolas" panose="020B0609020204030204" pitchFamily="49" charset="0"/>
              </a:rPr>
              <a:t>content-box</a:t>
            </a:r>
            <a:r>
              <a:rPr lang="en-US" sz="3200" dirty="0"/>
              <a:t> - initial and default value</a:t>
            </a:r>
          </a:p>
          <a:p>
            <a:pPr lvl="1">
              <a:lnSpc>
                <a:spcPts val="3400"/>
              </a:lnSpc>
              <a:buClr>
                <a:schemeClr val="tx1"/>
              </a:buClr>
            </a:pPr>
            <a:r>
              <a:rPr lang="en-US" sz="3200" dirty="0"/>
              <a:t>The </a:t>
            </a:r>
            <a:r>
              <a:rPr lang="en-US" sz="3200" b="1" dirty="0">
                <a:solidFill>
                  <a:schemeClr val="bg1"/>
                </a:solidFill>
                <a:latin typeface="Consolas" panose="020B0609020204030204" pitchFamily="49" charset="0"/>
              </a:rPr>
              <a:t>width</a:t>
            </a:r>
            <a:r>
              <a:rPr lang="en-US" sz="3200" dirty="0"/>
              <a:t> and </a:t>
            </a:r>
            <a:r>
              <a:rPr lang="en-US" sz="3200" b="1" dirty="0">
                <a:solidFill>
                  <a:schemeClr val="bg1"/>
                </a:solidFill>
                <a:latin typeface="Consolas" panose="020B0609020204030204" pitchFamily="49" charset="0"/>
              </a:rPr>
              <a:t>height</a:t>
            </a:r>
            <a:r>
              <a:rPr lang="en-US" sz="3200" dirty="0">
                <a:solidFill>
                  <a:schemeClr val="bg1"/>
                </a:solidFill>
              </a:rPr>
              <a:t> </a:t>
            </a:r>
            <a:r>
              <a:rPr lang="en-US" sz="3200" dirty="0"/>
              <a:t>properties include the content</a:t>
            </a:r>
          </a:p>
          <a:p>
            <a:pPr lvl="1">
              <a:lnSpc>
                <a:spcPts val="3400"/>
              </a:lnSpc>
              <a:buClr>
                <a:schemeClr val="tx1"/>
              </a:buClr>
            </a:pPr>
            <a:r>
              <a:rPr lang="en-US" dirty="0"/>
              <a:t>They</a:t>
            </a:r>
            <a:r>
              <a:rPr lang="en-US" b="1" dirty="0">
                <a:solidFill>
                  <a:schemeClr val="bg1"/>
                </a:solidFill>
              </a:rPr>
              <a:t> do NOT include </a:t>
            </a:r>
            <a:r>
              <a:rPr lang="en-US" dirty="0"/>
              <a:t>the padding, border and margin</a:t>
            </a:r>
            <a:endParaRPr lang="bg-BG" dirty="0"/>
          </a:p>
        </p:txBody>
      </p:sp>
      <p:sp>
        <p:nvSpPr>
          <p:cNvPr id="8" name="Текстово поле 10"/>
          <p:cNvSpPr txBox="1"/>
          <p:nvPr/>
        </p:nvSpPr>
        <p:spPr>
          <a:xfrm>
            <a:off x="987030" y="4104000"/>
            <a:ext cx="5760000" cy="1941658"/>
          </a:xfrm>
          <a:prstGeom prst="rect">
            <a:avLst/>
          </a:prstGeom>
          <a:solidFill>
            <a:schemeClr val="accent6">
              <a:lumMod val="75000"/>
              <a:alpha val="15000"/>
            </a:schemeClr>
          </a:solidFill>
          <a:ln w="12700">
            <a:solidFill>
              <a:schemeClr val="tx1">
                <a:lumMod val="75000"/>
              </a:schemeClr>
            </a:solidFill>
          </a:ln>
        </p:spPr>
        <p:txBody>
          <a:bodyPr vert="horz" wrap="square" lIns="144000" tIns="108000" rIns="144000" bIns="108000" rtlCol="0">
            <a:spAutoFit/>
          </a:bodyPr>
          <a:lstStyle/>
          <a:p>
            <a:r>
              <a:rPr lang="en-GB" sz="2800" b="1" dirty="0">
                <a:solidFill>
                  <a:srgbClr val="800000"/>
                </a:solidFill>
                <a:latin typeface="Consolas" panose="020B0609020204030204" pitchFamily="49" charset="0"/>
              </a:rPr>
              <a:t>div</a:t>
            </a:r>
            <a:r>
              <a:rPr lang="en-GB" sz="2800" b="1" dirty="0">
                <a:solidFill>
                  <a:srgbClr val="000000"/>
                </a:solidFill>
                <a:latin typeface="Consolas" panose="020B0609020204030204" pitchFamily="49" charset="0"/>
              </a:rPr>
              <a:t> {</a:t>
            </a:r>
          </a:p>
          <a:p>
            <a:r>
              <a:rPr lang="en-GB" sz="2800" b="1" dirty="0">
                <a:solidFill>
                  <a:srgbClr val="000000"/>
                </a:solidFill>
                <a:latin typeface="Consolas" panose="020B0609020204030204" pitchFamily="49" charset="0"/>
              </a:rPr>
              <a:t>  </a:t>
            </a:r>
            <a:r>
              <a:rPr lang="en-GB" sz="2800" b="1" dirty="0">
                <a:solidFill>
                  <a:srgbClr val="FF0000"/>
                </a:solidFill>
                <a:latin typeface="Consolas" panose="020B0609020204030204" pitchFamily="49" charset="0"/>
              </a:rPr>
              <a:t>box-sizing</a:t>
            </a:r>
            <a:r>
              <a:rPr lang="en-GB" sz="2800" b="1" dirty="0">
                <a:solidFill>
                  <a:srgbClr val="000000"/>
                </a:solidFill>
                <a:latin typeface="Consolas" panose="020B0609020204030204" pitchFamily="49" charset="0"/>
              </a:rPr>
              <a:t>: </a:t>
            </a:r>
            <a:r>
              <a:rPr lang="en-GB" sz="2800" b="1" dirty="0">
                <a:solidFill>
                  <a:srgbClr val="0451A5"/>
                </a:solidFill>
                <a:latin typeface="Consolas" panose="020B0609020204030204" pitchFamily="49" charset="0"/>
              </a:rPr>
              <a:t>content-box</a:t>
            </a:r>
            <a:r>
              <a:rPr lang="en-GB" sz="2800" b="1" dirty="0">
                <a:solidFill>
                  <a:srgbClr val="000000"/>
                </a:solidFill>
                <a:latin typeface="Consolas" panose="020B0609020204030204" pitchFamily="49" charset="0"/>
              </a:rPr>
              <a:t>;</a:t>
            </a:r>
          </a:p>
          <a:p>
            <a:r>
              <a:rPr lang="en-GB" sz="2800" b="1" dirty="0">
                <a:solidFill>
                  <a:srgbClr val="000000"/>
                </a:solidFill>
                <a:latin typeface="Consolas" panose="020B0609020204030204" pitchFamily="49" charset="0"/>
              </a:rPr>
              <a:t>  </a:t>
            </a:r>
            <a:r>
              <a:rPr lang="en-GB" sz="2800" b="1" dirty="0">
                <a:solidFill>
                  <a:srgbClr val="FF0000"/>
                </a:solidFill>
                <a:latin typeface="Consolas" panose="020B0609020204030204" pitchFamily="49" charset="0"/>
              </a:rPr>
              <a:t>width</a:t>
            </a:r>
            <a:r>
              <a:rPr lang="en-GB" sz="2800" b="1" dirty="0">
                <a:solidFill>
                  <a:srgbClr val="000000"/>
                </a:solidFill>
                <a:latin typeface="Consolas" panose="020B0609020204030204" pitchFamily="49" charset="0"/>
              </a:rPr>
              <a:t>: </a:t>
            </a:r>
            <a:r>
              <a:rPr lang="en-GB" sz="2800" b="1" dirty="0">
                <a:solidFill>
                  <a:srgbClr val="098658"/>
                </a:solidFill>
                <a:latin typeface="Consolas" panose="020B0609020204030204" pitchFamily="49" charset="0"/>
              </a:rPr>
              <a:t>200px</a:t>
            </a:r>
            <a:r>
              <a:rPr lang="en-GB" sz="2800" b="1" dirty="0">
                <a:solidFill>
                  <a:srgbClr val="000000"/>
                </a:solidFill>
                <a:latin typeface="Consolas" panose="020B0609020204030204" pitchFamily="49" charset="0"/>
              </a:rPr>
              <a:t>;</a:t>
            </a:r>
          </a:p>
          <a:p>
            <a:r>
              <a:rPr lang="en-GB" sz="2800" b="1" dirty="0">
                <a:solidFill>
                  <a:srgbClr val="000000"/>
                </a:solidFill>
                <a:latin typeface="Consolas" panose="020B0609020204030204" pitchFamily="49" charset="0"/>
              </a:rPr>
              <a:t>}</a:t>
            </a:r>
          </a:p>
        </p:txBody>
      </p:sp>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43658" y="4104000"/>
            <a:ext cx="2095500" cy="1941658"/>
          </a:xfrm>
          <a:prstGeom prst="rect">
            <a:avLst/>
          </a:prstGeom>
          <a:ln>
            <a:noFill/>
          </a:ln>
          <a:effectLst>
            <a:outerShdw blurRad="292100" dist="139700" dir="2700000" algn="tl" rotWithShape="0">
              <a:srgbClr val="333333">
                <a:alpha val="65000"/>
              </a:srgbClr>
            </a:outerShdw>
          </a:effectLst>
        </p:spPr>
      </p:pic>
      <p:sp>
        <p:nvSpPr>
          <p:cNvPr id="10" name="Slide Number">
            <a:extLst>
              <a:ext uri="{FF2B5EF4-FFF2-40B4-BE49-F238E27FC236}">
                <a16:creationId xmlns:a16="http://schemas.microsoft.com/office/drawing/2014/main" id="{F5FEDF5C-5D6B-4EA4-B8A5-BFE26CAB64AB}"/>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48</a:t>
            </a:fld>
            <a:endParaRPr lang="en-US" noProof="0" dirty="0"/>
          </a:p>
        </p:txBody>
      </p:sp>
    </p:spTree>
    <p:extLst>
      <p:ext uri="{BB962C8B-B14F-4D97-AF65-F5344CB8AC3E}">
        <p14:creationId xmlns:p14="http://schemas.microsoft.com/office/powerpoint/2010/main" val="4286510551"/>
      </p:ext>
    </p:extLst>
  </p:cSld>
  <p:clrMapOvr>
    <a:masterClrMapping/>
  </p:clrMapOvr>
  <mc:AlternateContent xmlns:mc="http://schemas.openxmlformats.org/markup-compatibility/2006" xmlns:p14="http://schemas.microsoft.com/office/powerpoint/2010/main">
    <mc:Choice Requires="p14">
      <p:transition p14:dur="0" advClick="0" advTm="5000"/>
    </mc:Choice>
    <mc:Fallback xmlns="">
      <p:transition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Box-sizing</a:t>
            </a:r>
          </a:p>
        </p:txBody>
      </p:sp>
      <p:sp>
        <p:nvSpPr>
          <p:cNvPr id="3" name="Text Placeholder 2"/>
          <p:cNvSpPr>
            <a:spLocks noGrp="1"/>
          </p:cNvSpPr>
          <p:nvPr>
            <p:ph type="body" sz="quarter" idx="10"/>
          </p:nvPr>
        </p:nvSpPr>
        <p:spPr>
          <a:xfrm>
            <a:off x="190402" y="1313999"/>
            <a:ext cx="11665598" cy="5410891"/>
          </a:xfrm>
        </p:spPr>
        <p:txBody>
          <a:bodyPr>
            <a:normAutofit/>
          </a:bodyPr>
          <a:lstStyle/>
          <a:p>
            <a:pPr>
              <a:lnSpc>
                <a:spcPts val="3400"/>
              </a:lnSpc>
              <a:buClr>
                <a:schemeClr val="tx1"/>
              </a:buClr>
            </a:pPr>
            <a:r>
              <a:rPr lang="en-US" sz="3400" dirty="0"/>
              <a:t>The full width is: </a:t>
            </a:r>
            <a:r>
              <a:rPr lang="en-US" sz="3400" b="1" dirty="0">
                <a:solidFill>
                  <a:schemeClr val="bg1"/>
                </a:solidFill>
              </a:rPr>
              <a:t>200px + 2*10px + 2*5px = 230px</a:t>
            </a:r>
            <a:endParaRPr lang="bg-BG" sz="3400" dirty="0"/>
          </a:p>
        </p:txBody>
      </p:sp>
      <p:sp>
        <p:nvSpPr>
          <p:cNvPr id="8" name="Текстово поле 10"/>
          <p:cNvSpPr txBox="1"/>
          <p:nvPr/>
        </p:nvSpPr>
        <p:spPr>
          <a:xfrm>
            <a:off x="651000" y="2207283"/>
            <a:ext cx="6255439" cy="2803433"/>
          </a:xfrm>
          <a:prstGeom prst="rect">
            <a:avLst/>
          </a:prstGeom>
          <a:solidFill>
            <a:schemeClr val="accent6">
              <a:lumMod val="75000"/>
              <a:alpha val="15000"/>
            </a:schemeClr>
          </a:solidFill>
          <a:ln w="12700">
            <a:solidFill>
              <a:schemeClr val="tx1">
                <a:lumMod val="75000"/>
              </a:schemeClr>
            </a:solidFill>
          </a:ln>
        </p:spPr>
        <p:txBody>
          <a:bodyPr vert="horz" wrap="square" lIns="144000" tIns="108000" rIns="144000" bIns="108000" rtlCol="0">
            <a:spAutoFit/>
          </a:bodyPr>
          <a:lstStyle/>
          <a:p>
            <a:r>
              <a:rPr lang="en-GB" sz="2800" b="1" dirty="0">
                <a:solidFill>
                  <a:srgbClr val="800000"/>
                </a:solidFill>
                <a:latin typeface="Consolas" panose="020B0609020204030204" pitchFamily="49" charset="0"/>
              </a:rPr>
              <a:t>div</a:t>
            </a:r>
            <a:r>
              <a:rPr lang="en-GB" sz="2800" b="1" dirty="0">
                <a:solidFill>
                  <a:srgbClr val="000000"/>
                </a:solidFill>
                <a:latin typeface="Consolas" panose="020B0609020204030204" pitchFamily="49" charset="0"/>
              </a:rPr>
              <a:t> {</a:t>
            </a:r>
          </a:p>
          <a:p>
            <a:r>
              <a:rPr lang="en-GB" sz="2800" b="1" dirty="0">
                <a:solidFill>
                  <a:srgbClr val="000000"/>
                </a:solidFill>
                <a:latin typeface="Consolas" panose="020B0609020204030204" pitchFamily="49" charset="0"/>
              </a:rPr>
              <a:t>  </a:t>
            </a:r>
            <a:r>
              <a:rPr lang="en-GB" sz="2800" b="1" dirty="0">
                <a:solidFill>
                  <a:srgbClr val="FF0000"/>
                </a:solidFill>
                <a:latin typeface="Consolas" panose="020B0609020204030204" pitchFamily="49" charset="0"/>
              </a:rPr>
              <a:t>box-sizing</a:t>
            </a:r>
            <a:r>
              <a:rPr lang="en-GB" sz="2800" b="1" dirty="0">
                <a:solidFill>
                  <a:srgbClr val="000000"/>
                </a:solidFill>
                <a:latin typeface="Consolas" panose="020B0609020204030204" pitchFamily="49" charset="0"/>
              </a:rPr>
              <a:t>: </a:t>
            </a:r>
            <a:r>
              <a:rPr lang="en-GB" sz="2800" b="1" dirty="0">
                <a:solidFill>
                  <a:srgbClr val="0451A5"/>
                </a:solidFill>
                <a:latin typeface="Consolas" panose="020B0609020204030204" pitchFamily="49" charset="0"/>
              </a:rPr>
              <a:t>content-box</a:t>
            </a:r>
            <a:r>
              <a:rPr lang="en-GB" sz="2800" b="1" dirty="0">
                <a:solidFill>
                  <a:srgbClr val="000000"/>
                </a:solidFill>
                <a:latin typeface="Consolas" panose="020B0609020204030204" pitchFamily="49" charset="0"/>
              </a:rPr>
              <a:t>;</a:t>
            </a:r>
          </a:p>
          <a:p>
            <a:r>
              <a:rPr lang="en-GB" sz="2800" b="1" dirty="0">
                <a:solidFill>
                  <a:srgbClr val="000000"/>
                </a:solidFill>
                <a:latin typeface="Consolas" panose="020B0609020204030204" pitchFamily="49" charset="0"/>
              </a:rPr>
              <a:t>  </a:t>
            </a:r>
            <a:r>
              <a:rPr lang="en-GB" sz="2800" b="1" dirty="0">
                <a:solidFill>
                  <a:srgbClr val="FF0000"/>
                </a:solidFill>
                <a:latin typeface="Consolas" panose="020B0609020204030204" pitchFamily="49" charset="0"/>
              </a:rPr>
              <a:t>width</a:t>
            </a:r>
            <a:r>
              <a:rPr lang="en-GB" sz="2800" b="1" dirty="0">
                <a:solidFill>
                  <a:srgbClr val="000000"/>
                </a:solidFill>
                <a:latin typeface="Consolas" panose="020B0609020204030204" pitchFamily="49" charset="0"/>
              </a:rPr>
              <a:t>: </a:t>
            </a:r>
            <a:r>
              <a:rPr lang="en-GB" sz="2800" b="1" dirty="0">
                <a:solidFill>
                  <a:srgbClr val="098658"/>
                </a:solidFill>
                <a:latin typeface="Consolas" panose="020B0609020204030204" pitchFamily="49" charset="0"/>
              </a:rPr>
              <a:t>200px</a:t>
            </a:r>
            <a:r>
              <a:rPr lang="en-GB" sz="2800" b="1" dirty="0">
                <a:solidFill>
                  <a:srgbClr val="000000"/>
                </a:solidFill>
                <a:latin typeface="Consolas" panose="020B0609020204030204" pitchFamily="49" charset="0"/>
              </a:rPr>
              <a:t>;</a:t>
            </a:r>
          </a:p>
          <a:p>
            <a:r>
              <a:rPr lang="en-GB" sz="2800" b="1" dirty="0">
                <a:solidFill>
                  <a:srgbClr val="000000"/>
                </a:solidFill>
                <a:latin typeface="Consolas" panose="020B0609020204030204" pitchFamily="49" charset="0"/>
              </a:rPr>
              <a:t>  </a:t>
            </a:r>
            <a:r>
              <a:rPr lang="en-GB" sz="2800" b="1" dirty="0">
                <a:solidFill>
                  <a:srgbClr val="FF0000"/>
                </a:solidFill>
                <a:latin typeface="Consolas" panose="020B0609020204030204" pitchFamily="49" charset="0"/>
              </a:rPr>
              <a:t>border</a:t>
            </a:r>
            <a:r>
              <a:rPr lang="en-GB" sz="2800" b="1" dirty="0">
                <a:solidFill>
                  <a:srgbClr val="000000"/>
                </a:solidFill>
                <a:latin typeface="Consolas" panose="020B0609020204030204" pitchFamily="49" charset="0"/>
              </a:rPr>
              <a:t>: </a:t>
            </a:r>
            <a:r>
              <a:rPr lang="en-GB" sz="2800" b="1" dirty="0">
                <a:solidFill>
                  <a:srgbClr val="098658"/>
                </a:solidFill>
                <a:latin typeface="Consolas" panose="020B0609020204030204" pitchFamily="49" charset="0"/>
              </a:rPr>
              <a:t>10px</a:t>
            </a:r>
            <a:r>
              <a:rPr lang="en-GB" sz="2800" b="1" dirty="0">
                <a:solidFill>
                  <a:srgbClr val="000000"/>
                </a:solidFill>
                <a:latin typeface="Consolas" panose="020B0609020204030204" pitchFamily="49" charset="0"/>
              </a:rPr>
              <a:t> </a:t>
            </a:r>
            <a:r>
              <a:rPr lang="en-GB" sz="2800" b="1" dirty="0">
                <a:solidFill>
                  <a:srgbClr val="0451A5"/>
                </a:solidFill>
                <a:latin typeface="Consolas" panose="020B0609020204030204" pitchFamily="49" charset="0"/>
              </a:rPr>
              <a:t>solid</a:t>
            </a:r>
            <a:r>
              <a:rPr lang="en-GB" sz="2800" b="1" dirty="0">
                <a:solidFill>
                  <a:srgbClr val="000000"/>
                </a:solidFill>
                <a:latin typeface="Consolas" panose="020B0609020204030204" pitchFamily="49" charset="0"/>
              </a:rPr>
              <a:t> </a:t>
            </a:r>
            <a:r>
              <a:rPr lang="en-GB" sz="2800" b="1" dirty="0">
                <a:solidFill>
                  <a:srgbClr val="0451A5"/>
                </a:solidFill>
                <a:latin typeface="Consolas" panose="020B0609020204030204" pitchFamily="49" charset="0"/>
              </a:rPr>
              <a:t>#5b6dcd</a:t>
            </a:r>
            <a:r>
              <a:rPr lang="en-GB" sz="2800" b="1" dirty="0">
                <a:solidFill>
                  <a:srgbClr val="000000"/>
                </a:solidFill>
                <a:latin typeface="Consolas" panose="020B0609020204030204" pitchFamily="49" charset="0"/>
              </a:rPr>
              <a:t>;</a:t>
            </a:r>
          </a:p>
          <a:p>
            <a:r>
              <a:rPr lang="en-GB" sz="2800" b="1" dirty="0">
                <a:solidFill>
                  <a:srgbClr val="000000"/>
                </a:solidFill>
                <a:latin typeface="Consolas" panose="020B0609020204030204" pitchFamily="49" charset="0"/>
              </a:rPr>
              <a:t>  </a:t>
            </a:r>
            <a:r>
              <a:rPr lang="en-GB" sz="2800" b="1" dirty="0">
                <a:solidFill>
                  <a:srgbClr val="FF0000"/>
                </a:solidFill>
                <a:latin typeface="Consolas" panose="020B0609020204030204" pitchFamily="49" charset="0"/>
              </a:rPr>
              <a:t>padding</a:t>
            </a:r>
            <a:r>
              <a:rPr lang="en-GB" sz="2800" b="1" dirty="0">
                <a:solidFill>
                  <a:srgbClr val="000000"/>
                </a:solidFill>
                <a:latin typeface="Consolas" panose="020B0609020204030204" pitchFamily="49" charset="0"/>
              </a:rPr>
              <a:t>: </a:t>
            </a:r>
            <a:r>
              <a:rPr lang="en-GB" sz="2800" b="1" dirty="0">
                <a:solidFill>
                  <a:srgbClr val="098658"/>
                </a:solidFill>
                <a:latin typeface="Consolas" panose="020B0609020204030204" pitchFamily="49" charset="0"/>
              </a:rPr>
              <a:t>5px</a:t>
            </a:r>
            <a:r>
              <a:rPr lang="en-GB" sz="2800" b="1" dirty="0">
                <a:solidFill>
                  <a:srgbClr val="000000"/>
                </a:solidFill>
                <a:latin typeface="Consolas" panose="020B0609020204030204" pitchFamily="49" charset="0"/>
              </a:rPr>
              <a:t>;</a:t>
            </a:r>
          </a:p>
          <a:p>
            <a:r>
              <a:rPr lang="en-GB" sz="2800" b="1" dirty="0">
                <a:solidFill>
                  <a:srgbClr val="000000"/>
                </a:solidFill>
                <a:latin typeface="Consolas" panose="020B0609020204030204" pitchFamily="49" charset="0"/>
              </a:rPr>
              <a:t>}</a:t>
            </a: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51000" y="2330313"/>
            <a:ext cx="3354727" cy="2678866"/>
          </a:xfrm>
          <a:prstGeom prst="rect">
            <a:avLst/>
          </a:prstGeom>
          <a:ln>
            <a:noFill/>
          </a:ln>
          <a:effectLst>
            <a:outerShdw blurRad="292100" dist="139700" dir="2700000" algn="tl" rotWithShape="0">
              <a:srgbClr val="333333">
                <a:alpha val="65000"/>
              </a:srgbClr>
            </a:outerShdw>
          </a:effectLst>
        </p:spPr>
      </p:pic>
      <p:sp>
        <p:nvSpPr>
          <p:cNvPr id="7" name="Slide Number">
            <a:extLst>
              <a:ext uri="{FF2B5EF4-FFF2-40B4-BE49-F238E27FC236}">
                <a16:creationId xmlns:a16="http://schemas.microsoft.com/office/drawing/2014/main" id="{F655899E-51D5-462D-9EEC-69DEDA2A6226}"/>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49</a:t>
            </a:fld>
            <a:endParaRPr lang="en-US" noProof="0" dirty="0"/>
          </a:p>
        </p:txBody>
      </p:sp>
    </p:spTree>
    <p:extLst>
      <p:ext uri="{BB962C8B-B14F-4D97-AF65-F5344CB8AC3E}">
        <p14:creationId xmlns:p14="http://schemas.microsoft.com/office/powerpoint/2010/main" val="1806082813"/>
      </p:ext>
    </p:extLst>
  </p:cSld>
  <p:clrMapOvr>
    <a:masterClrMapping/>
  </p:clrMapOvr>
  <mc:AlternateContent xmlns:mc="http://schemas.openxmlformats.org/markup-compatibility/2006" xmlns:p14="http://schemas.microsoft.com/office/powerpoint/2010/main">
    <mc:Choice Requires="p14">
      <p:transition p14:dur="0" advClick="0" advTm="5000"/>
    </mc:Choice>
    <mc:Fallback xmlns="">
      <p:transition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Box-sizing</a:t>
            </a:r>
          </a:p>
        </p:txBody>
      </p:sp>
      <p:sp>
        <p:nvSpPr>
          <p:cNvPr id="3" name="Text Placeholder 2"/>
          <p:cNvSpPr>
            <a:spLocks noGrp="1"/>
          </p:cNvSpPr>
          <p:nvPr>
            <p:ph type="body" sz="quarter" idx="10"/>
          </p:nvPr>
        </p:nvSpPr>
        <p:spPr>
          <a:xfrm>
            <a:off x="190402" y="1196125"/>
            <a:ext cx="11665598" cy="5528766"/>
          </a:xfrm>
        </p:spPr>
        <p:txBody>
          <a:bodyPr>
            <a:normAutofit/>
          </a:bodyPr>
          <a:lstStyle/>
          <a:p>
            <a:pPr>
              <a:lnSpc>
                <a:spcPct val="100000"/>
              </a:lnSpc>
              <a:buClr>
                <a:schemeClr val="tx1"/>
              </a:buClr>
            </a:pPr>
            <a:r>
              <a:rPr lang="en-US" b="1" dirty="0">
                <a:solidFill>
                  <a:schemeClr val="bg1"/>
                </a:solidFill>
                <a:latin typeface="Consolas" panose="020B0609020204030204" pitchFamily="49" charset="0"/>
              </a:rPr>
              <a:t>border-box</a:t>
            </a:r>
            <a:r>
              <a:rPr lang="en-US" dirty="0"/>
              <a:t> - the </a:t>
            </a:r>
            <a:r>
              <a:rPr lang="en-US" b="1" dirty="0">
                <a:solidFill>
                  <a:schemeClr val="bg1"/>
                </a:solidFill>
                <a:latin typeface="Consolas" panose="020B0609020204030204" pitchFamily="49" charset="0"/>
              </a:rPr>
              <a:t>width</a:t>
            </a:r>
            <a:r>
              <a:rPr lang="en-US" dirty="0"/>
              <a:t> and </a:t>
            </a:r>
            <a:r>
              <a:rPr lang="en-US" b="1" dirty="0">
                <a:solidFill>
                  <a:schemeClr val="bg1"/>
                </a:solidFill>
                <a:latin typeface="Consolas" panose="020B0609020204030204" pitchFamily="49" charset="0"/>
              </a:rPr>
              <a:t>height</a:t>
            </a:r>
            <a:r>
              <a:rPr lang="en-US" dirty="0"/>
              <a:t> of the element apply to all parts of the element: the </a:t>
            </a:r>
            <a:r>
              <a:rPr lang="en-US" b="1" dirty="0">
                <a:solidFill>
                  <a:schemeClr val="bg1"/>
                </a:solidFill>
              </a:rPr>
              <a:t>content</a:t>
            </a:r>
            <a:r>
              <a:rPr lang="en-US" dirty="0"/>
              <a:t>, the </a:t>
            </a:r>
            <a:r>
              <a:rPr lang="en-US" b="1" dirty="0">
                <a:solidFill>
                  <a:schemeClr val="bg1"/>
                </a:solidFill>
              </a:rPr>
              <a:t>padding</a:t>
            </a:r>
            <a:r>
              <a:rPr lang="en-US" dirty="0"/>
              <a:t> and the </a:t>
            </a:r>
            <a:r>
              <a:rPr lang="en-US" b="1" dirty="0">
                <a:solidFill>
                  <a:schemeClr val="bg1"/>
                </a:solidFill>
              </a:rPr>
              <a:t>borders</a:t>
            </a:r>
            <a:endParaRPr lang="en-US" dirty="0">
              <a:solidFill>
                <a:schemeClr val="bg1"/>
              </a:solidFill>
            </a:endParaRPr>
          </a:p>
          <a:p>
            <a:pPr lvl="1">
              <a:lnSpc>
                <a:spcPts val="3400"/>
              </a:lnSpc>
              <a:buClr>
                <a:schemeClr val="tx1"/>
              </a:buClr>
            </a:pPr>
            <a:endParaRPr lang="en-US" dirty="0"/>
          </a:p>
          <a:p>
            <a:pPr lvl="1">
              <a:lnSpc>
                <a:spcPts val="3400"/>
              </a:lnSpc>
              <a:buClr>
                <a:schemeClr val="tx1"/>
              </a:buClr>
            </a:pPr>
            <a:endParaRPr lang="en-US" dirty="0"/>
          </a:p>
          <a:p>
            <a:pPr lvl="1">
              <a:lnSpc>
                <a:spcPts val="3400"/>
              </a:lnSpc>
              <a:buClr>
                <a:schemeClr val="tx1"/>
              </a:buClr>
            </a:pPr>
            <a:endParaRPr lang="en-US" dirty="0"/>
          </a:p>
          <a:p>
            <a:pPr lvl="1">
              <a:lnSpc>
                <a:spcPts val="3400"/>
              </a:lnSpc>
              <a:buClr>
                <a:schemeClr val="tx1"/>
              </a:buClr>
            </a:pPr>
            <a:endParaRPr lang="en-US" dirty="0"/>
          </a:p>
          <a:p>
            <a:pPr lvl="1">
              <a:lnSpc>
                <a:spcPts val="3400"/>
              </a:lnSpc>
              <a:buClr>
                <a:schemeClr val="tx1"/>
              </a:buClr>
            </a:pPr>
            <a:r>
              <a:rPr lang="en-US" dirty="0"/>
              <a:t>The full width is </a:t>
            </a:r>
            <a:r>
              <a:rPr lang="en-US" b="1" dirty="0">
                <a:solidFill>
                  <a:schemeClr val="bg1"/>
                </a:solidFill>
                <a:latin typeface="Consolas" panose="020B0609020204030204" pitchFamily="49" charset="0"/>
              </a:rPr>
              <a:t>200px</a:t>
            </a:r>
            <a:endParaRPr lang="en-US" dirty="0">
              <a:solidFill>
                <a:schemeClr val="bg1"/>
              </a:solidFill>
              <a:latin typeface="Consolas" panose="020B0609020204030204" pitchFamily="49" charset="0"/>
            </a:endParaRPr>
          </a:p>
          <a:p>
            <a:pPr lvl="1">
              <a:lnSpc>
                <a:spcPts val="3400"/>
              </a:lnSpc>
              <a:buClr>
                <a:schemeClr val="tx1"/>
              </a:buClr>
            </a:pPr>
            <a:r>
              <a:rPr lang="en-US" dirty="0"/>
              <a:t>The content width is equal to: </a:t>
            </a:r>
            <a:r>
              <a:rPr lang="en-US" b="1" dirty="0">
                <a:solidFill>
                  <a:schemeClr val="bg1"/>
                </a:solidFill>
              </a:rPr>
              <a:t>200px - 2*10px - 2*5px = 170px</a:t>
            </a:r>
            <a:endParaRPr lang="bg-BG" dirty="0"/>
          </a:p>
        </p:txBody>
      </p:sp>
      <p:sp>
        <p:nvSpPr>
          <p:cNvPr id="7" name="Текстово поле 10"/>
          <p:cNvSpPr txBox="1"/>
          <p:nvPr/>
        </p:nvSpPr>
        <p:spPr>
          <a:xfrm>
            <a:off x="696000" y="3112789"/>
            <a:ext cx="5115323" cy="1695437"/>
          </a:xfrm>
          <a:prstGeom prst="rect">
            <a:avLst/>
          </a:prstGeom>
          <a:solidFill>
            <a:schemeClr val="accent6">
              <a:lumMod val="75000"/>
              <a:alpha val="15000"/>
            </a:schemeClr>
          </a:solidFill>
          <a:ln w="12700">
            <a:solidFill>
              <a:schemeClr val="tx1">
                <a:lumMod val="75000"/>
              </a:schemeClr>
            </a:solidFill>
          </a:ln>
        </p:spPr>
        <p:txBody>
          <a:bodyPr vert="horz" wrap="square" lIns="144000" tIns="108000" rIns="144000" bIns="108000" rtlCol="0">
            <a:spAutoFit/>
          </a:bodyPr>
          <a:lstStyle/>
          <a:p>
            <a:r>
              <a:rPr lang="en-US" sz="2400" b="1" dirty="0">
                <a:solidFill>
                  <a:srgbClr val="FF0000"/>
                </a:solidFill>
                <a:latin typeface="Consolas" panose="020B0609020204030204" pitchFamily="49" charset="0"/>
              </a:rPr>
              <a:t>box-sizing</a:t>
            </a:r>
            <a:r>
              <a:rPr lang="en-US" sz="2400" b="1" dirty="0">
                <a:solidFill>
                  <a:srgbClr val="000000"/>
                </a:solidFill>
                <a:latin typeface="Consolas" panose="020B0609020204030204" pitchFamily="49" charset="0"/>
              </a:rPr>
              <a:t>: </a:t>
            </a:r>
            <a:r>
              <a:rPr lang="en-US" sz="2400" b="1" dirty="0">
                <a:solidFill>
                  <a:srgbClr val="0451A5"/>
                </a:solidFill>
                <a:latin typeface="Consolas" panose="020B0609020204030204" pitchFamily="49" charset="0"/>
              </a:rPr>
              <a:t>border-box</a:t>
            </a:r>
            <a:r>
              <a:rPr lang="en-US" sz="2400" b="1" dirty="0">
                <a:solidFill>
                  <a:srgbClr val="000000"/>
                </a:solidFill>
                <a:latin typeface="Consolas" panose="020B0609020204030204" pitchFamily="49" charset="0"/>
              </a:rPr>
              <a:t>;</a:t>
            </a:r>
          </a:p>
          <a:p>
            <a:r>
              <a:rPr lang="en-US" sz="2400" b="1" dirty="0">
                <a:solidFill>
                  <a:srgbClr val="FF0000"/>
                </a:solidFill>
                <a:latin typeface="Consolas" panose="020B0609020204030204" pitchFamily="49" charset="0"/>
              </a:rPr>
              <a:t>width</a:t>
            </a:r>
            <a:r>
              <a:rPr lang="en-US" sz="2400" b="1" dirty="0">
                <a:solidFill>
                  <a:srgbClr val="000000"/>
                </a:solidFill>
                <a:latin typeface="Consolas" panose="020B0609020204030204" pitchFamily="49" charset="0"/>
              </a:rPr>
              <a:t>: </a:t>
            </a:r>
            <a:r>
              <a:rPr lang="en-US" sz="2400" b="1" dirty="0">
                <a:solidFill>
                  <a:srgbClr val="09885A"/>
                </a:solidFill>
                <a:latin typeface="Consolas" panose="020B0609020204030204" pitchFamily="49" charset="0"/>
              </a:rPr>
              <a:t>200px</a:t>
            </a:r>
            <a:r>
              <a:rPr lang="en-US" sz="2400" b="1" dirty="0">
                <a:solidFill>
                  <a:srgbClr val="000000"/>
                </a:solidFill>
                <a:latin typeface="Consolas" panose="020B0609020204030204" pitchFamily="49" charset="0"/>
              </a:rPr>
              <a:t>;</a:t>
            </a:r>
          </a:p>
          <a:p>
            <a:r>
              <a:rPr lang="en-US" sz="2400" b="1" dirty="0">
                <a:solidFill>
                  <a:srgbClr val="FF0000"/>
                </a:solidFill>
                <a:latin typeface="Consolas" panose="020B0609020204030204" pitchFamily="49" charset="0"/>
              </a:rPr>
              <a:t>border</a:t>
            </a:r>
            <a:r>
              <a:rPr lang="en-US" sz="2400" b="1" dirty="0">
                <a:solidFill>
                  <a:srgbClr val="000000"/>
                </a:solidFill>
                <a:latin typeface="Consolas" panose="020B0609020204030204" pitchFamily="49" charset="0"/>
              </a:rPr>
              <a:t>: </a:t>
            </a:r>
            <a:r>
              <a:rPr lang="en-US" sz="2400" b="1" dirty="0">
                <a:solidFill>
                  <a:srgbClr val="09885A"/>
                </a:solidFill>
                <a:latin typeface="Consolas" panose="020B0609020204030204" pitchFamily="49" charset="0"/>
              </a:rPr>
              <a:t>10px</a:t>
            </a:r>
            <a:r>
              <a:rPr lang="en-US" sz="2400" b="1" dirty="0">
                <a:solidFill>
                  <a:srgbClr val="000000"/>
                </a:solidFill>
                <a:latin typeface="Consolas" panose="020B0609020204030204" pitchFamily="49" charset="0"/>
              </a:rPr>
              <a:t> </a:t>
            </a:r>
            <a:r>
              <a:rPr lang="en-US" sz="2400" b="1" dirty="0">
                <a:solidFill>
                  <a:srgbClr val="0451A5"/>
                </a:solidFill>
                <a:latin typeface="Consolas" panose="020B0609020204030204" pitchFamily="49" charset="0"/>
              </a:rPr>
              <a:t>solid</a:t>
            </a:r>
            <a:r>
              <a:rPr lang="en-US" sz="2400" b="1" dirty="0">
                <a:solidFill>
                  <a:srgbClr val="000000"/>
                </a:solidFill>
                <a:latin typeface="Consolas" panose="020B0609020204030204" pitchFamily="49" charset="0"/>
              </a:rPr>
              <a:t> </a:t>
            </a:r>
            <a:r>
              <a:rPr lang="en-US" sz="2400" b="1" dirty="0">
                <a:solidFill>
                  <a:srgbClr val="0451A5"/>
                </a:solidFill>
                <a:latin typeface="Consolas" panose="020B0609020204030204" pitchFamily="49" charset="0"/>
              </a:rPr>
              <a:t>#5b6dcd</a:t>
            </a:r>
            <a:r>
              <a:rPr lang="en-US" sz="2400" b="1" dirty="0">
                <a:solidFill>
                  <a:srgbClr val="000000"/>
                </a:solidFill>
                <a:latin typeface="Consolas" panose="020B0609020204030204" pitchFamily="49" charset="0"/>
              </a:rPr>
              <a:t>;</a:t>
            </a:r>
          </a:p>
          <a:p>
            <a:r>
              <a:rPr lang="en-US" sz="2400" b="1" dirty="0">
                <a:solidFill>
                  <a:srgbClr val="FF0000"/>
                </a:solidFill>
                <a:latin typeface="Consolas" panose="020B0609020204030204" pitchFamily="49" charset="0"/>
              </a:rPr>
              <a:t>padding</a:t>
            </a:r>
            <a:r>
              <a:rPr lang="en-US" sz="2400" b="1" dirty="0">
                <a:solidFill>
                  <a:srgbClr val="000000"/>
                </a:solidFill>
                <a:latin typeface="Consolas" panose="020B0609020204030204" pitchFamily="49" charset="0"/>
              </a:rPr>
              <a:t>: </a:t>
            </a:r>
            <a:r>
              <a:rPr lang="en-US" sz="2400" b="1" dirty="0">
                <a:solidFill>
                  <a:srgbClr val="09885A"/>
                </a:solidFill>
                <a:latin typeface="Consolas" panose="020B0609020204030204" pitchFamily="49" charset="0"/>
              </a:rPr>
              <a:t>5px</a:t>
            </a:r>
            <a:r>
              <a:rPr lang="en-US" sz="2400" b="1" dirty="0">
                <a:solidFill>
                  <a:srgbClr val="000000"/>
                </a:solidFill>
                <a:latin typeface="Consolas" panose="020B0609020204030204" pitchFamily="49" charset="0"/>
              </a:rPr>
              <a:t>;</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16000" y="2974669"/>
            <a:ext cx="2200275" cy="1971675"/>
          </a:xfrm>
          <a:prstGeom prst="rect">
            <a:avLst/>
          </a:prstGeom>
          <a:ln>
            <a:noFill/>
          </a:ln>
          <a:effectLst>
            <a:outerShdw blurRad="292100" dist="139700" dir="2700000" algn="tl" rotWithShape="0">
              <a:srgbClr val="333333">
                <a:alpha val="65000"/>
              </a:srgbClr>
            </a:outerShdw>
          </a:effectLst>
        </p:spPr>
      </p:pic>
      <p:sp>
        <p:nvSpPr>
          <p:cNvPr id="8" name="Slide Number">
            <a:extLst>
              <a:ext uri="{FF2B5EF4-FFF2-40B4-BE49-F238E27FC236}">
                <a16:creationId xmlns:a16="http://schemas.microsoft.com/office/drawing/2014/main" id="{8E5698D0-02A7-4557-BAD1-D9F754760072}"/>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50</a:t>
            </a:fld>
            <a:endParaRPr lang="en-US" noProof="0" dirty="0"/>
          </a:p>
        </p:txBody>
      </p:sp>
    </p:spTree>
    <p:extLst>
      <p:ext uri="{BB962C8B-B14F-4D97-AF65-F5344CB8AC3E}">
        <p14:creationId xmlns:p14="http://schemas.microsoft.com/office/powerpoint/2010/main" val="1529194443"/>
      </p:ext>
    </p:extLst>
  </p:cSld>
  <p:clrMapOvr>
    <a:masterClrMapping/>
  </p:clrMapOvr>
  <mc:AlternateContent xmlns:mc="http://schemas.openxmlformats.org/markup-compatibility/2006" xmlns:p14="http://schemas.microsoft.com/office/powerpoint/2010/main">
    <mc:Choice Requires="p14">
      <p:transition p14:dur="0" advClick="0" advTm="5000"/>
    </mc:Choice>
    <mc:Fallback xmlns="">
      <p:transition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Content-box vs Border-box</a:t>
            </a:r>
          </a:p>
        </p:txBody>
      </p:sp>
      <p:pic>
        <p:nvPicPr>
          <p:cNvPr id="14340" name="Picture 4" descr="Резултат с изображение за „content-box vs border-box“"/>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49887" y="1181330"/>
            <a:ext cx="5292225" cy="547417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5" name="Slide Number">
            <a:extLst>
              <a:ext uri="{FF2B5EF4-FFF2-40B4-BE49-F238E27FC236}">
                <a16:creationId xmlns:a16="http://schemas.microsoft.com/office/drawing/2014/main" id="{5E62CAA7-E06A-4240-B5A4-33E56E6099BD}"/>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51</a:t>
            </a:fld>
            <a:endParaRPr lang="en-US" noProof="0" dirty="0"/>
          </a:p>
        </p:txBody>
      </p:sp>
    </p:spTree>
    <p:extLst>
      <p:ext uri="{BB962C8B-B14F-4D97-AF65-F5344CB8AC3E}">
        <p14:creationId xmlns:p14="http://schemas.microsoft.com/office/powerpoint/2010/main" val="1308812377"/>
      </p:ext>
    </p:extLst>
  </p:cSld>
  <p:clrMapOvr>
    <a:masterClrMapping/>
  </p:clrMapOvr>
  <mc:AlternateContent xmlns:mc="http://schemas.openxmlformats.org/markup-compatibility/2006" xmlns:p14="http://schemas.microsoft.com/office/powerpoint/2010/main">
    <mc:Choice Requires="p14">
      <p:transition p14:dur="0" advClick="0" advTm="5000"/>
    </mc:Choice>
    <mc:Fallback xmlns="">
      <p:transition advClick="0" advTm="5000"/>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Universal Box-sizing</a:t>
            </a:r>
          </a:p>
        </p:txBody>
      </p:sp>
      <p:sp>
        <p:nvSpPr>
          <p:cNvPr id="3" name="Text Placeholder 2"/>
          <p:cNvSpPr>
            <a:spLocks noGrp="1"/>
          </p:cNvSpPr>
          <p:nvPr>
            <p:ph type="body" sz="quarter" idx="10"/>
          </p:nvPr>
        </p:nvSpPr>
        <p:spPr>
          <a:xfrm>
            <a:off x="190402" y="1196125"/>
            <a:ext cx="11665598" cy="5528766"/>
          </a:xfrm>
        </p:spPr>
        <p:txBody>
          <a:bodyPr>
            <a:normAutofit/>
          </a:bodyPr>
          <a:lstStyle/>
          <a:p>
            <a:pPr>
              <a:lnSpc>
                <a:spcPct val="100000"/>
              </a:lnSpc>
              <a:buClr>
                <a:schemeClr val="tx1"/>
              </a:buClr>
            </a:pPr>
            <a:r>
              <a:rPr lang="en-GB" dirty="0"/>
              <a:t>The box-sizing </a:t>
            </a:r>
            <a:r>
              <a:rPr lang="en-GB" b="1" dirty="0">
                <a:solidFill>
                  <a:schemeClr val="bg1"/>
                </a:solidFill>
              </a:rPr>
              <a:t>Reset</a:t>
            </a:r>
            <a:r>
              <a:rPr lang="en-GB" dirty="0"/>
              <a:t> takes care of the box-sizing of every element by setting it to border-box using universal CSS selector</a:t>
            </a:r>
          </a:p>
          <a:p>
            <a:pPr>
              <a:lnSpc>
                <a:spcPct val="100000"/>
              </a:lnSpc>
              <a:buClr>
                <a:schemeClr val="tx1"/>
              </a:buClr>
            </a:pPr>
            <a:r>
              <a:rPr lang="en-GB" dirty="0"/>
              <a:t>Save your </a:t>
            </a:r>
            <a:r>
              <a:rPr lang="en-GB" b="1" dirty="0">
                <a:solidFill>
                  <a:schemeClr val="bg1"/>
                </a:solidFill>
              </a:rPr>
              <a:t>time</a:t>
            </a:r>
            <a:r>
              <a:rPr lang="en-GB" dirty="0"/>
              <a:t> and don't write the same thing </a:t>
            </a:r>
            <a:r>
              <a:rPr lang="en-GB" b="1" dirty="0">
                <a:solidFill>
                  <a:schemeClr val="bg1"/>
                </a:solidFill>
              </a:rPr>
              <a:t>again-and-again</a:t>
            </a:r>
          </a:p>
          <a:p>
            <a:pPr>
              <a:lnSpc>
                <a:spcPct val="100000"/>
              </a:lnSpc>
              <a:buClr>
                <a:schemeClr val="tx1"/>
              </a:buClr>
            </a:pPr>
            <a:r>
              <a:rPr lang="en-GB" dirty="0"/>
              <a:t>Set the "</a:t>
            </a:r>
            <a:r>
              <a:rPr lang="en-GB" b="1" dirty="0">
                <a:solidFill>
                  <a:schemeClr val="bg1"/>
                </a:solidFill>
              </a:rPr>
              <a:t>universal box-sizing</a:t>
            </a:r>
            <a:r>
              <a:rPr lang="en-GB" dirty="0"/>
              <a:t>" with inheritance:</a:t>
            </a:r>
            <a:endParaRPr lang="bg-BG" dirty="0"/>
          </a:p>
        </p:txBody>
      </p:sp>
      <p:sp>
        <p:nvSpPr>
          <p:cNvPr id="7" name="Текстово поле 10"/>
          <p:cNvSpPr txBox="1"/>
          <p:nvPr/>
        </p:nvSpPr>
        <p:spPr>
          <a:xfrm>
            <a:off x="4110701" y="3667402"/>
            <a:ext cx="3825000" cy="2988098"/>
          </a:xfrm>
          <a:prstGeom prst="rect">
            <a:avLst/>
          </a:prstGeom>
          <a:solidFill>
            <a:schemeClr val="accent6">
              <a:lumMod val="75000"/>
              <a:alpha val="15000"/>
            </a:schemeClr>
          </a:solidFill>
          <a:ln w="12700">
            <a:solidFill>
              <a:schemeClr val="tx1">
                <a:lumMod val="75000"/>
              </a:schemeClr>
            </a:solidFill>
          </a:ln>
        </p:spPr>
        <p:txBody>
          <a:bodyPr vert="horz" wrap="square" lIns="144000" tIns="108000" rIns="144000" bIns="108000" rtlCol="0">
            <a:spAutoFit/>
          </a:bodyPr>
          <a:lstStyle/>
          <a:p>
            <a:r>
              <a:rPr lang="en-US" sz="2000" b="1" dirty="0">
                <a:solidFill>
                  <a:srgbClr val="800000"/>
                </a:solidFill>
                <a:latin typeface="Consolas" panose="020B0609020204030204" pitchFamily="49" charset="0"/>
              </a:rPr>
              <a:t>html</a:t>
            </a:r>
            <a:r>
              <a:rPr lang="en-US" sz="2000" b="1" dirty="0">
                <a:solidFill>
                  <a:srgbClr val="000000"/>
                </a:solidFill>
                <a:latin typeface="Consolas" panose="020B0609020204030204" pitchFamily="49" charset="0"/>
              </a:rPr>
              <a:t> {</a:t>
            </a:r>
          </a:p>
          <a:p>
            <a:r>
              <a:rPr lang="en-US" sz="2000" b="1" dirty="0">
                <a:solidFill>
                  <a:srgbClr val="000000"/>
                </a:solidFill>
                <a:latin typeface="Consolas" panose="020B0609020204030204" pitchFamily="49" charset="0"/>
              </a:rPr>
              <a:t>  </a:t>
            </a:r>
            <a:r>
              <a:rPr lang="en-US" sz="2000" b="1" dirty="0">
                <a:solidFill>
                  <a:srgbClr val="FF0000"/>
                </a:solidFill>
                <a:latin typeface="Consolas" panose="020B0609020204030204" pitchFamily="49" charset="0"/>
              </a:rPr>
              <a:t>box-sizing</a:t>
            </a:r>
            <a:r>
              <a:rPr lang="en-US" sz="2000" b="1" dirty="0">
                <a:solidFill>
                  <a:srgbClr val="000000"/>
                </a:solidFill>
                <a:latin typeface="Consolas" panose="020B0609020204030204" pitchFamily="49" charset="0"/>
              </a:rPr>
              <a:t>: </a:t>
            </a:r>
            <a:r>
              <a:rPr lang="en-US" sz="2000" b="1" dirty="0">
                <a:solidFill>
                  <a:srgbClr val="0451A5"/>
                </a:solidFill>
                <a:latin typeface="Consolas" panose="020B0609020204030204" pitchFamily="49" charset="0"/>
              </a:rPr>
              <a:t>border-box</a:t>
            </a:r>
            <a:r>
              <a:rPr lang="en-US" sz="2000" b="1" dirty="0">
                <a:solidFill>
                  <a:srgbClr val="000000"/>
                </a:solidFill>
                <a:latin typeface="Consolas" panose="020B0609020204030204" pitchFamily="49" charset="0"/>
              </a:rPr>
              <a:t>;</a:t>
            </a:r>
          </a:p>
          <a:p>
            <a:r>
              <a:rPr lang="en-US" sz="2000" b="1" dirty="0">
                <a:solidFill>
                  <a:srgbClr val="000000"/>
                </a:solidFill>
                <a:latin typeface="Consolas" panose="020B0609020204030204" pitchFamily="49" charset="0"/>
              </a:rPr>
              <a:t>}</a:t>
            </a:r>
          </a:p>
          <a:p>
            <a:br>
              <a:rPr lang="en-US" sz="2000" b="1" dirty="0">
                <a:solidFill>
                  <a:srgbClr val="000000"/>
                </a:solidFill>
                <a:latin typeface="Consolas" panose="020B0609020204030204" pitchFamily="49" charset="0"/>
              </a:rPr>
            </a:br>
            <a:r>
              <a:rPr lang="en-US" sz="2000" b="1" dirty="0">
                <a:solidFill>
                  <a:srgbClr val="800000"/>
                </a:solidFill>
                <a:latin typeface="Consolas" panose="020B0609020204030204" pitchFamily="49" charset="0"/>
              </a:rPr>
              <a:t>*</a:t>
            </a:r>
            <a:r>
              <a:rPr lang="en-US" sz="2000" b="1" dirty="0">
                <a:solidFill>
                  <a:srgbClr val="000000"/>
                </a:solidFill>
                <a:latin typeface="Consolas" panose="020B0609020204030204" pitchFamily="49" charset="0"/>
              </a:rPr>
              <a:t>,</a:t>
            </a:r>
          </a:p>
          <a:p>
            <a:r>
              <a:rPr lang="en-US" sz="2000" b="1" dirty="0">
                <a:solidFill>
                  <a:srgbClr val="800000"/>
                </a:solidFill>
                <a:latin typeface="Consolas" panose="020B0609020204030204" pitchFamily="49" charset="0"/>
              </a:rPr>
              <a:t>*:before</a:t>
            </a:r>
            <a:r>
              <a:rPr lang="en-US" sz="2000" b="1" dirty="0">
                <a:solidFill>
                  <a:srgbClr val="000000"/>
                </a:solidFill>
                <a:latin typeface="Consolas" panose="020B0609020204030204" pitchFamily="49" charset="0"/>
              </a:rPr>
              <a:t>,</a:t>
            </a:r>
          </a:p>
          <a:p>
            <a:r>
              <a:rPr lang="en-US" sz="2000" b="1" dirty="0">
                <a:solidFill>
                  <a:srgbClr val="800000"/>
                </a:solidFill>
                <a:latin typeface="Consolas" panose="020B0609020204030204" pitchFamily="49" charset="0"/>
              </a:rPr>
              <a:t>*:after</a:t>
            </a:r>
            <a:r>
              <a:rPr lang="en-US" sz="2000" b="1" dirty="0">
                <a:solidFill>
                  <a:srgbClr val="000000"/>
                </a:solidFill>
                <a:latin typeface="Consolas" panose="020B0609020204030204" pitchFamily="49" charset="0"/>
              </a:rPr>
              <a:t> {</a:t>
            </a:r>
          </a:p>
          <a:p>
            <a:r>
              <a:rPr lang="en-US" sz="2000" b="1" dirty="0">
                <a:solidFill>
                  <a:srgbClr val="000000"/>
                </a:solidFill>
                <a:latin typeface="Consolas" panose="020B0609020204030204" pitchFamily="49" charset="0"/>
              </a:rPr>
              <a:t>  </a:t>
            </a:r>
            <a:r>
              <a:rPr lang="en-US" sz="2000" b="1" dirty="0">
                <a:solidFill>
                  <a:srgbClr val="FF0000"/>
                </a:solidFill>
                <a:latin typeface="Consolas" panose="020B0609020204030204" pitchFamily="49" charset="0"/>
              </a:rPr>
              <a:t>box-sizing</a:t>
            </a:r>
            <a:r>
              <a:rPr lang="en-US" sz="2000" b="1" dirty="0">
                <a:solidFill>
                  <a:srgbClr val="000000"/>
                </a:solidFill>
                <a:latin typeface="Consolas" panose="020B0609020204030204" pitchFamily="49" charset="0"/>
              </a:rPr>
              <a:t>: </a:t>
            </a:r>
            <a:r>
              <a:rPr lang="en-US" sz="2000" b="1" dirty="0">
                <a:solidFill>
                  <a:srgbClr val="0451A5"/>
                </a:solidFill>
                <a:latin typeface="Consolas" panose="020B0609020204030204" pitchFamily="49" charset="0"/>
              </a:rPr>
              <a:t>inherit</a:t>
            </a:r>
            <a:r>
              <a:rPr lang="en-US" sz="2000" b="1" dirty="0">
                <a:solidFill>
                  <a:srgbClr val="000000"/>
                </a:solidFill>
                <a:latin typeface="Consolas" panose="020B0609020204030204" pitchFamily="49" charset="0"/>
              </a:rPr>
              <a:t>;</a:t>
            </a:r>
          </a:p>
          <a:p>
            <a:r>
              <a:rPr lang="en-US" sz="2000" b="1" dirty="0">
                <a:solidFill>
                  <a:srgbClr val="000000"/>
                </a:solidFill>
                <a:latin typeface="Consolas" panose="020B0609020204030204" pitchFamily="49" charset="0"/>
              </a:rPr>
              <a:t>}</a:t>
            </a:r>
          </a:p>
        </p:txBody>
      </p:sp>
      <p:sp>
        <p:nvSpPr>
          <p:cNvPr id="6" name="Slide Number">
            <a:extLst>
              <a:ext uri="{FF2B5EF4-FFF2-40B4-BE49-F238E27FC236}">
                <a16:creationId xmlns:a16="http://schemas.microsoft.com/office/drawing/2014/main" id="{C257F86A-E132-4098-BB83-FF7EBB9F190B}"/>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52</a:t>
            </a:fld>
            <a:endParaRPr lang="en-US" noProof="0" dirty="0"/>
          </a:p>
        </p:txBody>
      </p:sp>
    </p:spTree>
    <p:extLst>
      <p:ext uri="{BB962C8B-B14F-4D97-AF65-F5344CB8AC3E}">
        <p14:creationId xmlns:p14="http://schemas.microsoft.com/office/powerpoint/2010/main" val="1999776998"/>
      </p:ext>
    </p:extLst>
  </p:cSld>
  <p:clrMapOvr>
    <a:masterClrMapping/>
  </p:clrMapOvr>
  <mc:AlternateContent xmlns:mc="http://schemas.openxmlformats.org/markup-compatibility/2006" xmlns:p14="http://schemas.microsoft.com/office/powerpoint/2010/main">
    <mc:Choice Requires="p14">
      <p:transition p14:dur="0" advClick="0" advTm="5000"/>
    </mc:Choice>
    <mc:Fallback xmlns="">
      <p:transition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F0A5291-F0CB-4834-AD4C-71D04357642E}"/>
              </a:ext>
            </a:extLst>
          </p:cNvPr>
          <p:cNvSpPr>
            <a:spLocks noGrp="1"/>
          </p:cNvSpPr>
          <p:nvPr>
            <p:ph type="title" sz="quarter" idx="10"/>
          </p:nvPr>
        </p:nvSpPr>
        <p:spPr/>
        <p:txBody>
          <a:bodyPr/>
          <a:lstStyle/>
          <a:p>
            <a:r>
              <a:rPr lang="en-US" dirty="0"/>
              <a:t>Typography</a:t>
            </a:r>
            <a:endParaRPr lang="bg-BG" dirty="0"/>
          </a:p>
        </p:txBody>
      </p:sp>
      <p:pic>
        <p:nvPicPr>
          <p:cNvPr id="1026" name="Picture 2" descr="Typography - Free web icons">
            <a:extLst>
              <a:ext uri="{FF2B5EF4-FFF2-40B4-BE49-F238E27FC236}">
                <a16:creationId xmlns:a16="http://schemas.microsoft.com/office/drawing/2014/main" id="{7E3E8B53-62CE-EE44-7641-2A8F4D166E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81000" y="1385091"/>
            <a:ext cx="2614200" cy="2614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6568337"/>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Текстов контейнер 4">
            <a:extLst>
              <a:ext uri="{FF2B5EF4-FFF2-40B4-BE49-F238E27FC236}">
                <a16:creationId xmlns:a16="http://schemas.microsoft.com/office/drawing/2014/main" id="{BC09098B-5FDF-8A02-2BDC-B561234D97BC}"/>
              </a:ext>
            </a:extLst>
          </p:cNvPr>
          <p:cNvSpPr>
            <a:spLocks noGrp="1"/>
          </p:cNvSpPr>
          <p:nvPr>
            <p:ph type="body" sz="quarter" idx="10"/>
          </p:nvPr>
        </p:nvSpPr>
        <p:spPr/>
        <p:txBody>
          <a:bodyPr>
            <a:normAutofit lnSpcReduction="10000"/>
          </a:bodyPr>
          <a:lstStyle/>
          <a:p>
            <a:r>
              <a:rPr lang="en-GB" sz="3600" dirty="0"/>
              <a:t>Choosing a comfortable </a:t>
            </a:r>
            <a:r>
              <a:rPr lang="en-GB" sz="3600" b="1" dirty="0">
                <a:solidFill>
                  <a:schemeClr val="bg1"/>
                </a:solidFill>
              </a:rPr>
              <a:t>measure</a:t>
            </a:r>
          </a:p>
          <a:p>
            <a:pPr lvl="1">
              <a:lnSpc>
                <a:spcPct val="110000"/>
              </a:lnSpc>
            </a:pPr>
            <a:r>
              <a:rPr lang="en-US" sz="3400" b="0" i="1" dirty="0"/>
              <a:t>The </a:t>
            </a:r>
            <a:r>
              <a:rPr lang="en-US" sz="3400" b="1" i="1" dirty="0">
                <a:solidFill>
                  <a:schemeClr val="bg1"/>
                </a:solidFill>
              </a:rPr>
              <a:t>measure</a:t>
            </a:r>
            <a:r>
              <a:rPr lang="en-US" sz="3400" b="0" i="1" dirty="0"/>
              <a:t> is the number of characters in single line of a column of text</a:t>
            </a:r>
            <a:endParaRPr lang="en-US" sz="3400" b="0" dirty="0"/>
          </a:p>
          <a:p>
            <a:pPr lvl="1">
              <a:lnSpc>
                <a:spcPct val="110000"/>
              </a:lnSpc>
            </a:pPr>
            <a:r>
              <a:rPr lang="en-US" sz="3400" b="0" dirty="0"/>
              <a:t>Anything from 45 to 75 characters is widely regarded as a satisfactory length of line for a single-column page set in a serifed text face in a text size</a:t>
            </a:r>
          </a:p>
          <a:p>
            <a:pPr lvl="1">
              <a:lnSpc>
                <a:spcPct val="110000"/>
              </a:lnSpc>
            </a:pPr>
            <a:r>
              <a:rPr lang="en-US" sz="3400" b="0" dirty="0"/>
              <a:t>The 66-character line (counting both letters and spaces) is widely regarded as ideal. For multiple column work, a better average is 40 to 50 characters</a:t>
            </a:r>
          </a:p>
        </p:txBody>
      </p:sp>
      <p:sp>
        <p:nvSpPr>
          <p:cNvPr id="4" name="Title 3">
            <a:extLst>
              <a:ext uri="{FF2B5EF4-FFF2-40B4-BE49-F238E27FC236}">
                <a16:creationId xmlns:a16="http://schemas.microsoft.com/office/drawing/2014/main" id="{E9A1DA41-F15A-4A36-BC07-5ABC6728BF4B}"/>
              </a:ext>
            </a:extLst>
          </p:cNvPr>
          <p:cNvSpPr>
            <a:spLocks noGrp="1"/>
          </p:cNvSpPr>
          <p:nvPr>
            <p:ph type="title"/>
          </p:nvPr>
        </p:nvSpPr>
        <p:spPr/>
        <p:txBody>
          <a:bodyPr/>
          <a:lstStyle/>
          <a:p>
            <a:r>
              <a:rPr lang="en-GB" dirty="0"/>
              <a:t>Styling Text</a:t>
            </a:r>
          </a:p>
        </p:txBody>
      </p:sp>
    </p:spTree>
    <p:extLst>
      <p:ext uri="{BB962C8B-B14F-4D97-AF65-F5344CB8AC3E}">
        <p14:creationId xmlns:p14="http://schemas.microsoft.com/office/powerpoint/2010/main" val="2415535641"/>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Текстов контейнер 4">
            <a:extLst>
              <a:ext uri="{FF2B5EF4-FFF2-40B4-BE49-F238E27FC236}">
                <a16:creationId xmlns:a16="http://schemas.microsoft.com/office/drawing/2014/main" id="{2C0208B3-2EC5-3ED2-4A2A-60A5889723BD}"/>
              </a:ext>
            </a:extLst>
          </p:cNvPr>
          <p:cNvSpPr>
            <a:spLocks noGrp="1"/>
          </p:cNvSpPr>
          <p:nvPr>
            <p:ph type="body" sz="quarter" idx="10"/>
          </p:nvPr>
        </p:nvSpPr>
        <p:spPr/>
        <p:txBody>
          <a:bodyPr/>
          <a:lstStyle/>
          <a:p>
            <a:r>
              <a:rPr lang="en-GB" sz="3600" dirty="0"/>
              <a:t>Choose a basic </a:t>
            </a:r>
            <a:r>
              <a:rPr lang="en-GB" sz="3600" b="1" dirty="0">
                <a:solidFill>
                  <a:schemeClr val="bg1"/>
                </a:solidFill>
              </a:rPr>
              <a:t>leading</a:t>
            </a:r>
          </a:p>
          <a:p>
            <a:pPr lvl="1">
              <a:lnSpc>
                <a:spcPct val="110000"/>
              </a:lnSpc>
              <a:buClr>
                <a:schemeClr val="tx1"/>
              </a:buClr>
            </a:pPr>
            <a:r>
              <a:rPr lang="en-US" sz="3400" b="1" dirty="0">
                <a:solidFill>
                  <a:schemeClr val="bg1"/>
                </a:solidFill>
              </a:rPr>
              <a:t>Leading</a:t>
            </a:r>
            <a:r>
              <a:rPr lang="en-US" sz="3400" b="0" dirty="0"/>
              <a:t> (pronounced "</a:t>
            </a:r>
            <a:r>
              <a:rPr lang="en-US" sz="3400" b="0" dirty="0" err="1"/>
              <a:t>ledding</a:t>
            </a:r>
            <a:r>
              <a:rPr lang="en-US" sz="3400" dirty="0"/>
              <a:t>"</a:t>
            </a:r>
            <a:r>
              <a:rPr lang="en-US" sz="3400" b="0" dirty="0"/>
              <a:t>) is so called because, in mechanical presses, strips of lead are placed between lines of type to space the lines apart</a:t>
            </a:r>
          </a:p>
          <a:p>
            <a:pPr lvl="1">
              <a:lnSpc>
                <a:spcPct val="110000"/>
              </a:lnSpc>
            </a:pPr>
            <a:r>
              <a:rPr lang="en-US" sz="3400" b="0" dirty="0"/>
              <a:t>Leading is achieved in </a:t>
            </a:r>
            <a:r>
              <a:rPr lang="en-US" sz="3400" b="0" dirty="0" err="1"/>
              <a:t>css</a:t>
            </a:r>
            <a:r>
              <a:rPr lang="en-US" sz="3400" b="0" dirty="0"/>
              <a:t> through the line-height property</a:t>
            </a:r>
          </a:p>
        </p:txBody>
      </p:sp>
      <p:sp>
        <p:nvSpPr>
          <p:cNvPr id="4" name="Title 3">
            <a:extLst>
              <a:ext uri="{FF2B5EF4-FFF2-40B4-BE49-F238E27FC236}">
                <a16:creationId xmlns:a16="http://schemas.microsoft.com/office/drawing/2014/main" id="{E9A1DA41-F15A-4A36-BC07-5ABC6728BF4B}"/>
              </a:ext>
            </a:extLst>
          </p:cNvPr>
          <p:cNvSpPr>
            <a:spLocks noGrp="1"/>
          </p:cNvSpPr>
          <p:nvPr>
            <p:ph type="title"/>
          </p:nvPr>
        </p:nvSpPr>
        <p:spPr/>
        <p:txBody>
          <a:bodyPr/>
          <a:lstStyle/>
          <a:p>
            <a:r>
              <a:rPr lang="en-GB" dirty="0"/>
              <a:t>Styling Text</a:t>
            </a:r>
          </a:p>
        </p:txBody>
      </p:sp>
      <p:pic>
        <p:nvPicPr>
          <p:cNvPr id="2" name="Picture 1">
            <a:extLst>
              <a:ext uri="{FF2B5EF4-FFF2-40B4-BE49-F238E27FC236}">
                <a16:creationId xmlns:a16="http://schemas.microsoft.com/office/drawing/2014/main" id="{6E8EB439-6411-0033-0A27-846D18F7973D}"/>
              </a:ext>
            </a:extLst>
          </p:cNvPr>
          <p:cNvPicPr>
            <a:picLocks noChangeAspect="1"/>
          </p:cNvPicPr>
          <p:nvPr/>
        </p:nvPicPr>
        <p:blipFill>
          <a:blip r:embed="rId2"/>
          <a:stretch>
            <a:fillRect/>
          </a:stretch>
        </p:blipFill>
        <p:spPr>
          <a:xfrm>
            <a:off x="10371000" y="4861775"/>
            <a:ext cx="1397000" cy="1600200"/>
          </a:xfrm>
          <a:prstGeom prst="rect">
            <a:avLst/>
          </a:prstGeom>
          <a:ln>
            <a:noFill/>
          </a:ln>
          <a:effectLst>
            <a:outerShdw blurRad="292100" dist="139700" dir="2700000" algn="tl" rotWithShape="0">
              <a:srgbClr val="333333">
                <a:alpha val="65000"/>
              </a:srgbClr>
            </a:outerShdw>
          </a:effectLst>
        </p:spPr>
      </p:pic>
      <p:pic>
        <p:nvPicPr>
          <p:cNvPr id="3" name="Picture 2">
            <a:extLst>
              <a:ext uri="{FF2B5EF4-FFF2-40B4-BE49-F238E27FC236}">
                <a16:creationId xmlns:a16="http://schemas.microsoft.com/office/drawing/2014/main" id="{C052A5A1-E25C-29FA-E50F-427DED7CB3DB}"/>
              </a:ext>
            </a:extLst>
          </p:cNvPr>
          <p:cNvPicPr>
            <a:picLocks noChangeAspect="1"/>
          </p:cNvPicPr>
          <p:nvPr/>
        </p:nvPicPr>
        <p:blipFill>
          <a:blip r:embed="rId3"/>
          <a:stretch>
            <a:fillRect/>
          </a:stretch>
        </p:blipFill>
        <p:spPr>
          <a:xfrm>
            <a:off x="8663432" y="4760175"/>
            <a:ext cx="1193800" cy="17018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843304611"/>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ов контейнер 1">
            <a:extLst>
              <a:ext uri="{FF2B5EF4-FFF2-40B4-BE49-F238E27FC236}">
                <a16:creationId xmlns:a16="http://schemas.microsoft.com/office/drawing/2014/main" id="{17773533-E4E6-4A54-DD0B-56F95BF39020}"/>
              </a:ext>
            </a:extLst>
          </p:cNvPr>
          <p:cNvSpPr>
            <a:spLocks noGrp="1"/>
          </p:cNvSpPr>
          <p:nvPr>
            <p:ph type="body" sz="quarter" idx="10"/>
          </p:nvPr>
        </p:nvSpPr>
        <p:spPr/>
        <p:txBody>
          <a:bodyPr/>
          <a:lstStyle/>
          <a:p>
            <a:pPr>
              <a:lnSpc>
                <a:spcPct val="110000"/>
              </a:lnSpc>
            </a:pPr>
            <a:r>
              <a:rPr lang="en-US" sz="3600" b="0" dirty="0"/>
              <a:t>In typography, a font family </a:t>
            </a:r>
            <a:r>
              <a:rPr lang="en-US" sz="3600" b="1" dirty="0">
                <a:solidFill>
                  <a:schemeClr val="bg1"/>
                </a:solidFill>
              </a:rPr>
              <a:t>(also known as typeface)</a:t>
            </a:r>
            <a:r>
              <a:rPr lang="en-US" sz="3600" b="0" dirty="0">
                <a:solidFill>
                  <a:schemeClr val="accent6">
                    <a:lumMod val="50000"/>
                  </a:schemeClr>
                </a:solidFill>
              </a:rPr>
              <a:t> </a:t>
            </a:r>
            <a:r>
              <a:rPr lang="en-US" sz="3600" b="0" dirty="0"/>
              <a:t>is a set of one or more fonts each composed of glyphs that share common design features</a:t>
            </a:r>
          </a:p>
          <a:p>
            <a:pPr>
              <a:lnSpc>
                <a:spcPct val="110000"/>
              </a:lnSpc>
            </a:pPr>
            <a:r>
              <a:rPr lang="en-US" sz="3600" b="0" dirty="0"/>
              <a:t>Each font of a typeface has a specific weight, style, condensation, width, slant, italicization, ornamentation, and designer or foundry</a:t>
            </a:r>
          </a:p>
        </p:txBody>
      </p:sp>
      <p:sp>
        <p:nvSpPr>
          <p:cNvPr id="4" name="Title 3">
            <a:extLst>
              <a:ext uri="{FF2B5EF4-FFF2-40B4-BE49-F238E27FC236}">
                <a16:creationId xmlns:a16="http://schemas.microsoft.com/office/drawing/2014/main" id="{E9A1DA41-F15A-4A36-BC07-5ABC6728BF4B}"/>
              </a:ext>
            </a:extLst>
          </p:cNvPr>
          <p:cNvSpPr>
            <a:spLocks noGrp="1"/>
          </p:cNvSpPr>
          <p:nvPr>
            <p:ph type="title"/>
          </p:nvPr>
        </p:nvSpPr>
        <p:spPr/>
        <p:txBody>
          <a:bodyPr/>
          <a:lstStyle/>
          <a:p>
            <a:r>
              <a:rPr lang="en-GB" dirty="0"/>
              <a:t>Font Families</a:t>
            </a:r>
          </a:p>
        </p:txBody>
      </p:sp>
      <p:pic>
        <p:nvPicPr>
          <p:cNvPr id="5" name="Picture 4">
            <a:extLst>
              <a:ext uri="{FF2B5EF4-FFF2-40B4-BE49-F238E27FC236}">
                <a16:creationId xmlns:a16="http://schemas.microsoft.com/office/drawing/2014/main" id="{B99C23C5-6C8C-8FD9-D9F5-41DE7CCE43DC}"/>
              </a:ext>
            </a:extLst>
          </p:cNvPr>
          <p:cNvPicPr>
            <a:picLocks noChangeAspect="1"/>
          </p:cNvPicPr>
          <p:nvPr/>
        </p:nvPicPr>
        <p:blipFill>
          <a:blip r:embed="rId2"/>
          <a:stretch>
            <a:fillRect/>
          </a:stretch>
        </p:blipFill>
        <p:spPr>
          <a:xfrm>
            <a:off x="6079848" y="4907402"/>
            <a:ext cx="5712614" cy="171659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551761415"/>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ов контейнер 1">
            <a:extLst>
              <a:ext uri="{FF2B5EF4-FFF2-40B4-BE49-F238E27FC236}">
                <a16:creationId xmlns:a16="http://schemas.microsoft.com/office/drawing/2014/main" id="{03AF5C5E-B729-8C5D-7A89-2F982D6D3F68}"/>
              </a:ext>
            </a:extLst>
          </p:cNvPr>
          <p:cNvSpPr>
            <a:spLocks noGrp="1"/>
          </p:cNvSpPr>
          <p:nvPr>
            <p:ph type="body" sz="quarter" idx="10"/>
          </p:nvPr>
        </p:nvSpPr>
        <p:spPr/>
        <p:txBody>
          <a:bodyPr>
            <a:normAutofit/>
          </a:bodyPr>
          <a:lstStyle/>
          <a:p>
            <a:pPr>
              <a:lnSpc>
                <a:spcPct val="110000"/>
              </a:lnSpc>
            </a:pPr>
            <a:r>
              <a:rPr lang="en-US" sz="3600" b="0" dirty="0"/>
              <a:t>A computer font (or font) is implemented as a </a:t>
            </a:r>
            <a:r>
              <a:rPr lang="en-US" sz="3600" b="1" dirty="0">
                <a:solidFill>
                  <a:schemeClr val="bg1"/>
                </a:solidFill>
              </a:rPr>
              <a:t>digital data file</a:t>
            </a:r>
            <a:r>
              <a:rPr lang="en-US" sz="3600" b="0" dirty="0"/>
              <a:t> containing a set of </a:t>
            </a:r>
            <a:r>
              <a:rPr lang="en-US" sz="3600" b="1" dirty="0">
                <a:solidFill>
                  <a:schemeClr val="bg1"/>
                </a:solidFill>
              </a:rPr>
              <a:t>graphically related glyphs</a:t>
            </a:r>
            <a:r>
              <a:rPr lang="en-US" sz="3600" b="0" dirty="0"/>
              <a:t>, </a:t>
            </a:r>
            <a:r>
              <a:rPr lang="en-US" sz="3600" b="1" dirty="0">
                <a:solidFill>
                  <a:schemeClr val="bg1"/>
                </a:solidFill>
              </a:rPr>
              <a:t>characters</a:t>
            </a:r>
            <a:r>
              <a:rPr lang="en-US" sz="3600" b="0" dirty="0"/>
              <a:t>, or </a:t>
            </a:r>
            <a:r>
              <a:rPr lang="en-US" sz="3600" b="1" dirty="0">
                <a:solidFill>
                  <a:schemeClr val="bg1"/>
                </a:solidFill>
              </a:rPr>
              <a:t>symbols</a:t>
            </a:r>
            <a:r>
              <a:rPr lang="en-US" sz="3600" b="0" dirty="0"/>
              <a:t> such as dingbats</a:t>
            </a:r>
          </a:p>
          <a:p>
            <a:pPr>
              <a:lnSpc>
                <a:spcPct val="110000"/>
              </a:lnSpc>
            </a:pPr>
            <a:r>
              <a:rPr lang="en-US" sz="3600" b="0" dirty="0"/>
              <a:t>Although the term font first referred to a set of movable metal type pieces in one style and size, since the 1990s it is generally used to </a:t>
            </a:r>
            <a:r>
              <a:rPr lang="en-US" sz="3600" b="1" dirty="0"/>
              <a:t>refer to a set of digital shapes </a:t>
            </a:r>
            <a:r>
              <a:rPr lang="en-US" sz="3600" b="0" dirty="0"/>
              <a:t>in a single style, scalable to different sizes</a:t>
            </a:r>
          </a:p>
        </p:txBody>
      </p:sp>
      <p:sp>
        <p:nvSpPr>
          <p:cNvPr id="4" name="Title 3">
            <a:extLst>
              <a:ext uri="{FF2B5EF4-FFF2-40B4-BE49-F238E27FC236}">
                <a16:creationId xmlns:a16="http://schemas.microsoft.com/office/drawing/2014/main" id="{E9A1DA41-F15A-4A36-BC07-5ABC6728BF4B}"/>
              </a:ext>
            </a:extLst>
          </p:cNvPr>
          <p:cNvSpPr>
            <a:spLocks noGrp="1"/>
          </p:cNvSpPr>
          <p:nvPr>
            <p:ph type="title"/>
          </p:nvPr>
        </p:nvSpPr>
        <p:spPr/>
        <p:txBody>
          <a:bodyPr/>
          <a:lstStyle/>
          <a:p>
            <a:r>
              <a:rPr lang="en-GB" dirty="0"/>
              <a:t>Font</a:t>
            </a:r>
          </a:p>
        </p:txBody>
      </p:sp>
    </p:spTree>
    <p:extLst>
      <p:ext uri="{BB962C8B-B14F-4D97-AF65-F5344CB8AC3E}">
        <p14:creationId xmlns:p14="http://schemas.microsoft.com/office/powerpoint/2010/main" val="3034754422"/>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ов контейнер 1">
            <a:extLst>
              <a:ext uri="{FF2B5EF4-FFF2-40B4-BE49-F238E27FC236}">
                <a16:creationId xmlns:a16="http://schemas.microsoft.com/office/drawing/2014/main" id="{4289BA84-4D77-1541-9EFD-9A7F7DA8AF95}"/>
              </a:ext>
            </a:extLst>
          </p:cNvPr>
          <p:cNvSpPr>
            <a:spLocks noGrp="1"/>
          </p:cNvSpPr>
          <p:nvPr>
            <p:ph type="body" sz="quarter" idx="10"/>
          </p:nvPr>
        </p:nvSpPr>
        <p:spPr/>
        <p:txBody>
          <a:bodyPr>
            <a:normAutofit/>
          </a:bodyPr>
          <a:lstStyle/>
          <a:p>
            <a:pPr>
              <a:lnSpc>
                <a:spcPct val="110000"/>
              </a:lnSpc>
            </a:pPr>
            <a:r>
              <a:rPr lang="en-US" sz="3600" b="0" dirty="0"/>
              <a:t>serif</a:t>
            </a:r>
          </a:p>
          <a:p>
            <a:pPr>
              <a:lnSpc>
                <a:spcPct val="110000"/>
              </a:lnSpc>
            </a:pPr>
            <a:r>
              <a:rPr lang="en-US" sz="3600" b="0" dirty="0"/>
              <a:t>sans-serif</a:t>
            </a:r>
          </a:p>
          <a:p>
            <a:pPr>
              <a:lnSpc>
                <a:spcPct val="110000"/>
              </a:lnSpc>
            </a:pPr>
            <a:r>
              <a:rPr lang="en-US" sz="3600" b="0" dirty="0"/>
              <a:t>monospace</a:t>
            </a:r>
          </a:p>
          <a:p>
            <a:pPr>
              <a:lnSpc>
                <a:spcPct val="110000"/>
              </a:lnSpc>
            </a:pPr>
            <a:r>
              <a:rPr lang="en-US" sz="3600" b="0" dirty="0"/>
              <a:t>cursive</a:t>
            </a:r>
          </a:p>
          <a:p>
            <a:pPr>
              <a:lnSpc>
                <a:spcPct val="110000"/>
              </a:lnSpc>
            </a:pPr>
            <a:r>
              <a:rPr lang="en-US" sz="3600" b="0" dirty="0"/>
              <a:t>fantasy</a:t>
            </a:r>
          </a:p>
        </p:txBody>
      </p:sp>
      <p:sp>
        <p:nvSpPr>
          <p:cNvPr id="4" name="Title 3">
            <a:extLst>
              <a:ext uri="{FF2B5EF4-FFF2-40B4-BE49-F238E27FC236}">
                <a16:creationId xmlns:a16="http://schemas.microsoft.com/office/drawing/2014/main" id="{E9A1DA41-F15A-4A36-BC07-5ABC6728BF4B}"/>
              </a:ext>
            </a:extLst>
          </p:cNvPr>
          <p:cNvSpPr>
            <a:spLocks noGrp="1"/>
          </p:cNvSpPr>
          <p:nvPr>
            <p:ph type="title"/>
          </p:nvPr>
        </p:nvSpPr>
        <p:spPr/>
        <p:txBody>
          <a:bodyPr/>
          <a:lstStyle/>
          <a:p>
            <a:pPr>
              <a:buClr>
                <a:schemeClr val="tx1"/>
              </a:buClr>
            </a:pPr>
            <a:r>
              <a:rPr lang="en-GB" sz="4000" b="1" dirty="0"/>
              <a:t>Generic Font Families</a:t>
            </a:r>
          </a:p>
        </p:txBody>
      </p:sp>
      <p:pic>
        <p:nvPicPr>
          <p:cNvPr id="3" name="Picture 2">
            <a:extLst>
              <a:ext uri="{FF2B5EF4-FFF2-40B4-BE49-F238E27FC236}">
                <a16:creationId xmlns:a16="http://schemas.microsoft.com/office/drawing/2014/main" id="{477DE735-7F72-5E37-0F3C-B76AB818DC25}"/>
              </a:ext>
            </a:extLst>
          </p:cNvPr>
          <p:cNvPicPr>
            <a:picLocks noChangeAspect="1"/>
          </p:cNvPicPr>
          <p:nvPr/>
        </p:nvPicPr>
        <p:blipFill>
          <a:blip r:embed="rId2"/>
          <a:stretch>
            <a:fillRect/>
          </a:stretch>
        </p:blipFill>
        <p:spPr>
          <a:xfrm>
            <a:off x="7401000" y="1530091"/>
            <a:ext cx="3420000" cy="486083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615698744"/>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Текстов контейнер 6">
            <a:extLst>
              <a:ext uri="{FF2B5EF4-FFF2-40B4-BE49-F238E27FC236}">
                <a16:creationId xmlns:a16="http://schemas.microsoft.com/office/drawing/2014/main" id="{49ACD609-CAA1-A321-AB66-0EE4AA71DF32}"/>
              </a:ext>
            </a:extLst>
          </p:cNvPr>
          <p:cNvSpPr>
            <a:spLocks noGrp="1"/>
          </p:cNvSpPr>
          <p:nvPr>
            <p:ph type="body" sz="quarter" idx="10"/>
          </p:nvPr>
        </p:nvSpPr>
        <p:spPr/>
        <p:txBody>
          <a:bodyPr>
            <a:normAutofit/>
          </a:bodyPr>
          <a:lstStyle/>
          <a:p>
            <a:r>
              <a:rPr lang="en-GB" sz="3400" dirty="0"/>
              <a:t>An explanation of EMs</a:t>
            </a:r>
          </a:p>
          <a:p>
            <a:pPr lvl="1">
              <a:lnSpc>
                <a:spcPct val="110000"/>
              </a:lnSpc>
            </a:pPr>
            <a:r>
              <a:rPr lang="en-US" sz="3200" b="0" dirty="0"/>
              <a:t>Ems are so-called because they are thought to approximate the size of an uppercase letter M, although 1em is significantly larger than this</a:t>
            </a:r>
          </a:p>
        </p:txBody>
      </p:sp>
      <p:sp>
        <p:nvSpPr>
          <p:cNvPr id="4" name="Title 3">
            <a:extLst>
              <a:ext uri="{FF2B5EF4-FFF2-40B4-BE49-F238E27FC236}">
                <a16:creationId xmlns:a16="http://schemas.microsoft.com/office/drawing/2014/main" id="{E9A1DA41-F15A-4A36-BC07-5ABC6728BF4B}"/>
              </a:ext>
            </a:extLst>
          </p:cNvPr>
          <p:cNvSpPr>
            <a:spLocks noGrp="1"/>
          </p:cNvSpPr>
          <p:nvPr>
            <p:ph type="title"/>
          </p:nvPr>
        </p:nvSpPr>
        <p:spPr/>
        <p:txBody>
          <a:bodyPr/>
          <a:lstStyle/>
          <a:p>
            <a:r>
              <a:rPr lang="en-GB" dirty="0"/>
              <a:t>CSS Units - EM &amp; REM</a:t>
            </a:r>
          </a:p>
        </p:txBody>
      </p:sp>
      <p:pic>
        <p:nvPicPr>
          <p:cNvPr id="2" name="Picture 1" descr="A black and orange text&#10;&#10;Description automatically generated">
            <a:extLst>
              <a:ext uri="{FF2B5EF4-FFF2-40B4-BE49-F238E27FC236}">
                <a16:creationId xmlns:a16="http://schemas.microsoft.com/office/drawing/2014/main" id="{348E82BB-F306-F506-D9B5-05209EAC70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21470" y="3834000"/>
            <a:ext cx="8349059" cy="260609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314305313"/>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Текстов контейнер 6">
            <a:extLst>
              <a:ext uri="{FF2B5EF4-FFF2-40B4-BE49-F238E27FC236}">
                <a16:creationId xmlns:a16="http://schemas.microsoft.com/office/drawing/2014/main" id="{49ACD609-CAA1-A321-AB66-0EE4AA71DF32}"/>
              </a:ext>
            </a:extLst>
          </p:cNvPr>
          <p:cNvSpPr>
            <a:spLocks noGrp="1"/>
          </p:cNvSpPr>
          <p:nvPr>
            <p:ph type="body" sz="quarter" idx="10"/>
          </p:nvPr>
        </p:nvSpPr>
        <p:spPr/>
        <p:txBody>
          <a:bodyPr>
            <a:normAutofit/>
          </a:bodyPr>
          <a:lstStyle/>
          <a:p>
            <a:pPr>
              <a:lnSpc>
                <a:spcPct val="110000"/>
              </a:lnSpc>
            </a:pPr>
            <a:r>
              <a:rPr lang="en-US" sz="3400" b="0" dirty="0" err="1"/>
              <a:t>Bringhurst</a:t>
            </a:r>
            <a:r>
              <a:rPr lang="en-US" sz="3400" b="0" dirty="0"/>
              <a:t> describes the EM thus:</a:t>
            </a:r>
          </a:p>
          <a:p>
            <a:pPr lvl="1">
              <a:lnSpc>
                <a:spcPct val="110000"/>
              </a:lnSpc>
            </a:pPr>
            <a:r>
              <a:rPr lang="en-US" sz="3200" b="0" dirty="0"/>
              <a:t>The </a:t>
            </a:r>
            <a:r>
              <a:rPr lang="en-US" sz="3200" b="0" dirty="0" err="1"/>
              <a:t>em</a:t>
            </a:r>
            <a:r>
              <a:rPr lang="en-US" sz="3200" b="0" dirty="0"/>
              <a:t> is a </a:t>
            </a:r>
            <a:r>
              <a:rPr lang="en-US" sz="3200" b="1" dirty="0">
                <a:solidFill>
                  <a:schemeClr val="bg1"/>
                </a:solidFill>
              </a:rPr>
              <a:t>sliding measure</a:t>
            </a:r>
            <a:r>
              <a:rPr lang="en-US" sz="3200" b="0" dirty="0"/>
              <a:t>. One </a:t>
            </a:r>
            <a:r>
              <a:rPr lang="en-US" sz="3200" b="0" dirty="0" err="1"/>
              <a:t>em</a:t>
            </a:r>
            <a:r>
              <a:rPr lang="en-US" sz="3200" b="0" dirty="0"/>
              <a:t> is a distance equal to the </a:t>
            </a:r>
            <a:r>
              <a:rPr lang="en-US" sz="3200" b="1" dirty="0">
                <a:solidFill>
                  <a:schemeClr val="bg1"/>
                </a:solidFill>
              </a:rPr>
              <a:t>type size</a:t>
            </a:r>
          </a:p>
          <a:p>
            <a:pPr lvl="1">
              <a:lnSpc>
                <a:spcPct val="110000"/>
              </a:lnSpc>
            </a:pPr>
            <a:r>
              <a:rPr lang="en-US" sz="3200" b="0" dirty="0"/>
              <a:t>In </a:t>
            </a:r>
            <a:r>
              <a:rPr lang="en-US" sz="3200" b="1" dirty="0"/>
              <a:t>6-point type</a:t>
            </a:r>
            <a:r>
              <a:rPr lang="en-US" sz="3200" b="0" dirty="0"/>
              <a:t>, an </a:t>
            </a:r>
            <a:r>
              <a:rPr lang="en-US" sz="3200" b="0" dirty="0" err="1"/>
              <a:t>em</a:t>
            </a:r>
            <a:r>
              <a:rPr lang="en-US" sz="3200" b="0" dirty="0"/>
              <a:t> is </a:t>
            </a:r>
            <a:r>
              <a:rPr lang="en-US" sz="3200" b="1" dirty="0"/>
              <a:t>6 points</a:t>
            </a:r>
            <a:r>
              <a:rPr lang="en-US" sz="3200" b="0" dirty="0"/>
              <a:t>; in </a:t>
            </a:r>
            <a:r>
              <a:rPr lang="en-US" sz="3200" b="1" dirty="0"/>
              <a:t>12 point type</a:t>
            </a:r>
            <a:r>
              <a:rPr lang="en-US" sz="3200" b="0" dirty="0"/>
              <a:t> an </a:t>
            </a:r>
            <a:r>
              <a:rPr lang="en-US" sz="3200" b="0" dirty="0" err="1"/>
              <a:t>em</a:t>
            </a:r>
            <a:r>
              <a:rPr lang="en-US" sz="3200" b="0" dirty="0"/>
              <a:t> is </a:t>
            </a:r>
            <a:r>
              <a:rPr lang="en-US" sz="3200" b="1" dirty="0"/>
              <a:t>12</a:t>
            </a:r>
            <a:r>
              <a:rPr lang="en-US" sz="3200" b="0" dirty="0"/>
              <a:t> </a:t>
            </a:r>
            <a:r>
              <a:rPr lang="en-US" sz="3200" b="1" dirty="0"/>
              <a:t>points</a:t>
            </a:r>
            <a:r>
              <a:rPr lang="en-US" sz="3200" b="0" dirty="0"/>
              <a:t> and in </a:t>
            </a:r>
            <a:r>
              <a:rPr lang="en-US" sz="3200" b="1" dirty="0"/>
              <a:t>60 point type </a:t>
            </a:r>
            <a:r>
              <a:rPr lang="en-US" sz="3200" b="0" dirty="0"/>
              <a:t>an </a:t>
            </a:r>
            <a:r>
              <a:rPr lang="en-US" sz="3200" b="0" dirty="0" err="1"/>
              <a:t>em</a:t>
            </a:r>
            <a:r>
              <a:rPr lang="en-US" sz="3200" b="0" dirty="0"/>
              <a:t> is </a:t>
            </a:r>
            <a:r>
              <a:rPr lang="en-US" sz="3200" b="1" dirty="0"/>
              <a:t>60 points</a:t>
            </a:r>
            <a:endParaRPr lang="bg-BG" sz="3200" b="1" dirty="0"/>
          </a:p>
          <a:p>
            <a:pPr lvl="1">
              <a:lnSpc>
                <a:spcPct val="110000"/>
              </a:lnSpc>
            </a:pPr>
            <a:r>
              <a:rPr lang="en-US" sz="3200" b="0" dirty="0"/>
              <a:t>Thus, a one </a:t>
            </a:r>
            <a:r>
              <a:rPr lang="en-US" sz="3200" b="0" dirty="0" err="1"/>
              <a:t>em</a:t>
            </a:r>
            <a:r>
              <a:rPr lang="en-US" sz="3200" b="0" dirty="0"/>
              <a:t> space is </a:t>
            </a:r>
            <a:r>
              <a:rPr lang="en-US" sz="3200" b="1" dirty="0">
                <a:solidFill>
                  <a:schemeClr val="bg1"/>
                </a:solidFill>
              </a:rPr>
              <a:t>proportionately same </a:t>
            </a:r>
            <a:r>
              <a:rPr lang="en-US" sz="3200" b="0" dirty="0"/>
              <a:t>in any size</a:t>
            </a:r>
          </a:p>
        </p:txBody>
      </p:sp>
      <p:sp>
        <p:nvSpPr>
          <p:cNvPr id="4" name="Title 3">
            <a:extLst>
              <a:ext uri="{FF2B5EF4-FFF2-40B4-BE49-F238E27FC236}">
                <a16:creationId xmlns:a16="http://schemas.microsoft.com/office/drawing/2014/main" id="{E9A1DA41-F15A-4A36-BC07-5ABC6728BF4B}"/>
              </a:ext>
            </a:extLst>
          </p:cNvPr>
          <p:cNvSpPr>
            <a:spLocks noGrp="1"/>
          </p:cNvSpPr>
          <p:nvPr>
            <p:ph type="title"/>
          </p:nvPr>
        </p:nvSpPr>
        <p:spPr/>
        <p:txBody>
          <a:bodyPr/>
          <a:lstStyle/>
          <a:p>
            <a:r>
              <a:rPr lang="en-GB" dirty="0"/>
              <a:t>CSS Units - EM &amp; REM</a:t>
            </a:r>
          </a:p>
        </p:txBody>
      </p:sp>
    </p:spTree>
    <p:extLst>
      <p:ext uri="{BB962C8B-B14F-4D97-AF65-F5344CB8AC3E}">
        <p14:creationId xmlns:p14="http://schemas.microsoft.com/office/powerpoint/2010/main" val="190275065"/>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ов контейнер 1">
            <a:extLst>
              <a:ext uri="{FF2B5EF4-FFF2-40B4-BE49-F238E27FC236}">
                <a16:creationId xmlns:a16="http://schemas.microsoft.com/office/drawing/2014/main" id="{44F8B463-31C1-7B44-7C5C-7D48E88F03B2}"/>
              </a:ext>
            </a:extLst>
          </p:cNvPr>
          <p:cNvSpPr>
            <a:spLocks noGrp="1"/>
          </p:cNvSpPr>
          <p:nvPr>
            <p:ph type="body" sz="quarter" idx="10"/>
          </p:nvPr>
        </p:nvSpPr>
        <p:spPr/>
        <p:txBody>
          <a:bodyPr>
            <a:normAutofit/>
          </a:bodyPr>
          <a:lstStyle/>
          <a:p>
            <a:pPr>
              <a:lnSpc>
                <a:spcPct val="110000"/>
              </a:lnSpc>
            </a:pPr>
            <a:r>
              <a:rPr lang="en-US" sz="3600" b="0" dirty="0"/>
              <a:t>A technique to refer to and automatically download remote fonts was first specified in the CSS2 specification, which introduced the </a:t>
            </a:r>
            <a:r>
              <a:rPr lang="en-US" sz="3600" b="1" dirty="0"/>
              <a:t>'@font-face'</a:t>
            </a:r>
            <a:r>
              <a:rPr lang="en-US" sz="3600" b="0" dirty="0"/>
              <a:t> construct</a:t>
            </a:r>
          </a:p>
        </p:txBody>
      </p:sp>
      <p:sp>
        <p:nvSpPr>
          <p:cNvPr id="4" name="Title 3">
            <a:extLst>
              <a:ext uri="{FF2B5EF4-FFF2-40B4-BE49-F238E27FC236}">
                <a16:creationId xmlns:a16="http://schemas.microsoft.com/office/drawing/2014/main" id="{E9A1DA41-F15A-4A36-BC07-5ABC6728BF4B}"/>
              </a:ext>
            </a:extLst>
          </p:cNvPr>
          <p:cNvSpPr>
            <a:spLocks noGrp="1"/>
          </p:cNvSpPr>
          <p:nvPr>
            <p:ph type="title"/>
          </p:nvPr>
        </p:nvSpPr>
        <p:spPr/>
        <p:txBody>
          <a:bodyPr/>
          <a:lstStyle/>
          <a:p>
            <a:r>
              <a:rPr lang="en-GB" dirty="0"/>
              <a:t>Web Fonts</a:t>
            </a:r>
          </a:p>
        </p:txBody>
      </p:sp>
      <p:sp>
        <p:nvSpPr>
          <p:cNvPr id="5" name="TextBox 4">
            <a:extLst>
              <a:ext uri="{FF2B5EF4-FFF2-40B4-BE49-F238E27FC236}">
                <a16:creationId xmlns:a16="http://schemas.microsoft.com/office/drawing/2014/main" id="{0DD41962-B7DA-9334-DB0F-F1E870BA758E}"/>
              </a:ext>
            </a:extLst>
          </p:cNvPr>
          <p:cNvSpPr txBox="1"/>
          <p:nvPr/>
        </p:nvSpPr>
        <p:spPr>
          <a:xfrm>
            <a:off x="696000" y="3429000"/>
            <a:ext cx="11142704" cy="2800767"/>
          </a:xfrm>
          <a:prstGeom prst="rect">
            <a:avLst/>
          </a:prstGeom>
          <a:solidFill>
            <a:schemeClr val="accent6">
              <a:lumMod val="75000"/>
              <a:alpha val="15000"/>
            </a:schemeClr>
          </a:solidFill>
          <a:ln w="12700">
            <a:solidFill>
              <a:schemeClr val="tx1">
                <a:lumMod val="75000"/>
              </a:schemeClr>
            </a:solidFill>
          </a:ln>
        </p:spPr>
        <p:txBody>
          <a:bodyPr wrap="square">
            <a:spAutoFit/>
          </a:bodyPr>
          <a:lstStyle/>
          <a:p>
            <a:r>
              <a:rPr lang="en-US" sz="2200" b="1" dirty="0">
                <a:effectLst/>
                <a:latin typeface="Consolas" panose="020B0609020204030204" pitchFamily="49" charset="0"/>
              </a:rPr>
              <a:t>@font-face {</a:t>
            </a:r>
          </a:p>
          <a:p>
            <a:r>
              <a:rPr lang="en-US" sz="2200" b="1" dirty="0">
                <a:effectLst/>
                <a:latin typeface="Consolas" panose="020B0609020204030204" pitchFamily="49" charset="0"/>
              </a:rPr>
              <a:t>  font-family: "Trickster";</a:t>
            </a:r>
          </a:p>
          <a:p>
            <a:r>
              <a:rPr lang="en-US" sz="2200" b="1" dirty="0">
                <a:effectLst/>
                <a:latin typeface="Consolas" panose="020B0609020204030204" pitchFamily="49" charset="0"/>
              </a:rPr>
              <a:t>  </a:t>
            </a:r>
            <a:r>
              <a:rPr lang="en-US" sz="2200" b="1" dirty="0" err="1">
                <a:effectLst/>
                <a:latin typeface="Consolas" panose="020B0609020204030204" pitchFamily="49" charset="0"/>
              </a:rPr>
              <a:t>src</a:t>
            </a:r>
            <a:r>
              <a:rPr lang="en-US" sz="2200" b="1" dirty="0">
                <a:effectLst/>
                <a:latin typeface="Consolas" panose="020B0609020204030204" pitchFamily="49" charset="0"/>
              </a:rPr>
              <a:t>:</a:t>
            </a:r>
          </a:p>
          <a:p>
            <a:r>
              <a:rPr lang="en-US" sz="2200" b="1" dirty="0">
                <a:effectLst/>
                <a:latin typeface="Consolas" panose="020B0609020204030204" pitchFamily="49" charset="0"/>
              </a:rPr>
              <a:t>    local("Trickster"),</a:t>
            </a:r>
          </a:p>
          <a:p>
            <a:r>
              <a:rPr lang="en-US" sz="2200" b="1" dirty="0">
                <a:effectLst/>
                <a:latin typeface="Consolas" panose="020B0609020204030204" pitchFamily="49" charset="0"/>
              </a:rPr>
              <a:t>    </a:t>
            </a:r>
            <a:r>
              <a:rPr lang="en-US" sz="2200" b="1" dirty="0" err="1">
                <a:effectLst/>
                <a:latin typeface="Consolas" panose="020B0609020204030204" pitchFamily="49" charset="0"/>
              </a:rPr>
              <a:t>url</a:t>
            </a:r>
            <a:r>
              <a:rPr lang="en-US" sz="2200" b="1" dirty="0">
                <a:effectLst/>
                <a:latin typeface="Consolas" panose="020B0609020204030204" pitchFamily="49" charset="0"/>
              </a:rPr>
              <a:t>("trickster-COLRv1.otf") format("</a:t>
            </a:r>
            <a:r>
              <a:rPr lang="en-US" sz="2200" b="1" dirty="0" err="1">
                <a:effectLst/>
                <a:latin typeface="Consolas" panose="020B0609020204030204" pitchFamily="49" charset="0"/>
              </a:rPr>
              <a:t>opentype</a:t>
            </a:r>
            <a:r>
              <a:rPr lang="en-US" sz="2200" b="1" dirty="0">
                <a:effectLst/>
                <a:latin typeface="Consolas" panose="020B0609020204030204" pitchFamily="49" charset="0"/>
              </a:rPr>
              <a:t>") tech(color-COLRv1),</a:t>
            </a:r>
          </a:p>
          <a:p>
            <a:r>
              <a:rPr lang="en-US" sz="2200" b="1" dirty="0">
                <a:effectLst/>
                <a:latin typeface="Consolas" panose="020B0609020204030204" pitchFamily="49" charset="0"/>
              </a:rPr>
              <a:t>    </a:t>
            </a:r>
            <a:r>
              <a:rPr lang="en-US" sz="2200" b="1" dirty="0" err="1">
                <a:effectLst/>
                <a:latin typeface="Consolas" panose="020B0609020204030204" pitchFamily="49" charset="0"/>
              </a:rPr>
              <a:t>url</a:t>
            </a:r>
            <a:r>
              <a:rPr lang="en-US" sz="2200" b="1" dirty="0">
                <a:effectLst/>
                <a:latin typeface="Consolas" panose="020B0609020204030204" pitchFamily="49" charset="0"/>
              </a:rPr>
              <a:t>("trickster-</a:t>
            </a:r>
            <a:r>
              <a:rPr lang="en-US" sz="2200" b="1" dirty="0" err="1">
                <a:effectLst/>
                <a:latin typeface="Consolas" panose="020B0609020204030204" pitchFamily="49" charset="0"/>
              </a:rPr>
              <a:t>outline.otf</a:t>
            </a:r>
            <a:r>
              <a:rPr lang="en-US" sz="2200" b="1" dirty="0">
                <a:effectLst/>
                <a:latin typeface="Consolas" panose="020B0609020204030204" pitchFamily="49" charset="0"/>
              </a:rPr>
              <a:t>") format("</a:t>
            </a:r>
            <a:r>
              <a:rPr lang="en-US" sz="2200" b="1" dirty="0" err="1">
                <a:effectLst/>
                <a:latin typeface="Consolas" panose="020B0609020204030204" pitchFamily="49" charset="0"/>
              </a:rPr>
              <a:t>opentype</a:t>
            </a:r>
            <a:r>
              <a:rPr lang="en-US" sz="2200" b="1" dirty="0">
                <a:effectLst/>
                <a:latin typeface="Consolas" panose="020B0609020204030204" pitchFamily="49" charset="0"/>
              </a:rPr>
              <a:t>"),</a:t>
            </a:r>
          </a:p>
          <a:p>
            <a:r>
              <a:rPr lang="en-US" sz="2200" b="1" dirty="0">
                <a:effectLst/>
                <a:latin typeface="Consolas" panose="020B0609020204030204" pitchFamily="49" charset="0"/>
              </a:rPr>
              <a:t>    </a:t>
            </a:r>
            <a:r>
              <a:rPr lang="en-US" sz="2200" b="1" dirty="0" err="1">
                <a:effectLst/>
                <a:latin typeface="Consolas" panose="020B0609020204030204" pitchFamily="49" charset="0"/>
              </a:rPr>
              <a:t>url</a:t>
            </a:r>
            <a:r>
              <a:rPr lang="en-US" sz="2200" b="1" dirty="0">
                <a:effectLst/>
                <a:latin typeface="Consolas" panose="020B0609020204030204" pitchFamily="49" charset="0"/>
              </a:rPr>
              <a:t>("trickster-</a:t>
            </a:r>
            <a:r>
              <a:rPr lang="en-US" sz="2200" b="1" dirty="0" err="1">
                <a:effectLst/>
                <a:latin typeface="Consolas" panose="020B0609020204030204" pitchFamily="49" charset="0"/>
              </a:rPr>
              <a:t>outline.woff</a:t>
            </a:r>
            <a:r>
              <a:rPr lang="en-US" sz="2200" b="1" dirty="0">
                <a:effectLst/>
                <a:latin typeface="Consolas" panose="020B0609020204030204" pitchFamily="49" charset="0"/>
              </a:rPr>
              <a:t>") format("</a:t>
            </a:r>
            <a:r>
              <a:rPr lang="en-US" sz="2200" b="1" dirty="0" err="1">
                <a:effectLst/>
                <a:latin typeface="Consolas" panose="020B0609020204030204" pitchFamily="49" charset="0"/>
              </a:rPr>
              <a:t>woff</a:t>
            </a:r>
            <a:r>
              <a:rPr lang="en-US" sz="2200" b="1" dirty="0">
                <a:effectLst/>
                <a:latin typeface="Consolas" panose="020B0609020204030204" pitchFamily="49" charset="0"/>
              </a:rPr>
              <a:t>");</a:t>
            </a:r>
          </a:p>
          <a:p>
            <a:r>
              <a:rPr lang="en-US" sz="2200" b="1" dirty="0">
                <a:effectLst/>
                <a:latin typeface="Consolas" panose="020B0609020204030204" pitchFamily="49" charset="0"/>
              </a:rPr>
              <a:t>}</a:t>
            </a:r>
          </a:p>
        </p:txBody>
      </p:sp>
    </p:spTree>
    <p:extLst>
      <p:ext uri="{BB962C8B-B14F-4D97-AF65-F5344CB8AC3E}">
        <p14:creationId xmlns:p14="http://schemas.microsoft.com/office/powerpoint/2010/main" val="1308115969"/>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ов контейнер 1">
            <a:extLst>
              <a:ext uri="{FF2B5EF4-FFF2-40B4-BE49-F238E27FC236}">
                <a16:creationId xmlns:a16="http://schemas.microsoft.com/office/drawing/2014/main" id="{44F8B463-31C1-7B44-7C5C-7D48E88F03B2}"/>
              </a:ext>
            </a:extLst>
          </p:cNvPr>
          <p:cNvSpPr>
            <a:spLocks noGrp="1"/>
          </p:cNvSpPr>
          <p:nvPr>
            <p:ph type="body" sz="quarter" idx="10"/>
          </p:nvPr>
        </p:nvSpPr>
        <p:spPr/>
        <p:txBody>
          <a:bodyPr>
            <a:normAutofit/>
          </a:bodyPr>
          <a:lstStyle/>
          <a:p>
            <a:pPr>
              <a:lnSpc>
                <a:spcPct val="110000"/>
              </a:lnSpc>
            </a:pPr>
            <a:r>
              <a:rPr lang="en-US" sz="3600" b="0" dirty="0"/>
              <a:t>At the time, fetching font files from the web was </a:t>
            </a:r>
            <a:r>
              <a:rPr lang="en-US" sz="3600" b="1" dirty="0"/>
              <a:t>controversial</a:t>
            </a:r>
            <a:r>
              <a:rPr lang="en-US" sz="3600" b="0" dirty="0"/>
              <a:t> because fonts meant to be used only for certain web pages could also be downloaded and installed in breach of the font license</a:t>
            </a:r>
          </a:p>
        </p:txBody>
      </p:sp>
      <p:sp>
        <p:nvSpPr>
          <p:cNvPr id="4" name="Title 3">
            <a:extLst>
              <a:ext uri="{FF2B5EF4-FFF2-40B4-BE49-F238E27FC236}">
                <a16:creationId xmlns:a16="http://schemas.microsoft.com/office/drawing/2014/main" id="{E9A1DA41-F15A-4A36-BC07-5ABC6728BF4B}"/>
              </a:ext>
            </a:extLst>
          </p:cNvPr>
          <p:cNvSpPr>
            <a:spLocks noGrp="1"/>
          </p:cNvSpPr>
          <p:nvPr>
            <p:ph type="title"/>
          </p:nvPr>
        </p:nvSpPr>
        <p:spPr/>
        <p:txBody>
          <a:bodyPr/>
          <a:lstStyle/>
          <a:p>
            <a:r>
              <a:rPr lang="en-GB" dirty="0"/>
              <a:t>Web Fonts</a:t>
            </a:r>
          </a:p>
        </p:txBody>
      </p:sp>
      <p:pic>
        <p:nvPicPr>
          <p:cNvPr id="3" name="Picture 2">
            <a:extLst>
              <a:ext uri="{FF2B5EF4-FFF2-40B4-BE49-F238E27FC236}">
                <a16:creationId xmlns:a16="http://schemas.microsoft.com/office/drawing/2014/main" id="{F005B25C-6769-3216-8812-8D7D5FFE2BCB}"/>
              </a:ext>
            </a:extLst>
          </p:cNvPr>
          <p:cNvPicPr>
            <a:picLocks noChangeAspect="1"/>
          </p:cNvPicPr>
          <p:nvPr/>
        </p:nvPicPr>
        <p:blipFill>
          <a:blip r:embed="rId2"/>
          <a:stretch>
            <a:fillRect/>
          </a:stretch>
        </p:blipFill>
        <p:spPr>
          <a:xfrm>
            <a:off x="7221000" y="3969000"/>
            <a:ext cx="3733493" cy="261128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36705095"/>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ов контейнер 1">
            <a:extLst>
              <a:ext uri="{FF2B5EF4-FFF2-40B4-BE49-F238E27FC236}">
                <a16:creationId xmlns:a16="http://schemas.microsoft.com/office/drawing/2014/main" id="{1B73285A-0B47-1738-0378-5B788A159303}"/>
              </a:ext>
            </a:extLst>
          </p:cNvPr>
          <p:cNvSpPr>
            <a:spLocks noGrp="1"/>
          </p:cNvSpPr>
          <p:nvPr>
            <p:ph type="body" sz="quarter" idx="10"/>
          </p:nvPr>
        </p:nvSpPr>
        <p:spPr/>
        <p:txBody>
          <a:bodyPr/>
          <a:lstStyle/>
          <a:p>
            <a:r>
              <a:rPr lang="en-US" sz="3600" b="0" dirty="0"/>
              <a:t>In 2010, the </a:t>
            </a:r>
            <a:r>
              <a:rPr lang="en-US" sz="3600" b="1" dirty="0">
                <a:solidFill>
                  <a:schemeClr val="bg1"/>
                </a:solidFill>
              </a:rPr>
              <a:t>WOFF</a:t>
            </a:r>
            <a:r>
              <a:rPr lang="en-US" sz="3600" b="0" dirty="0"/>
              <a:t> compression method for TrueType and OpenType fonts was submitted to W3C by the Mozilla Foundation, Opera Software and Microsoft, and browsers have since added support</a:t>
            </a:r>
          </a:p>
        </p:txBody>
      </p:sp>
      <p:sp>
        <p:nvSpPr>
          <p:cNvPr id="4" name="Title 3">
            <a:extLst>
              <a:ext uri="{FF2B5EF4-FFF2-40B4-BE49-F238E27FC236}">
                <a16:creationId xmlns:a16="http://schemas.microsoft.com/office/drawing/2014/main" id="{E9A1DA41-F15A-4A36-BC07-5ABC6728BF4B}"/>
              </a:ext>
            </a:extLst>
          </p:cNvPr>
          <p:cNvSpPr>
            <a:spLocks noGrp="1"/>
          </p:cNvSpPr>
          <p:nvPr>
            <p:ph type="title"/>
          </p:nvPr>
        </p:nvSpPr>
        <p:spPr/>
        <p:txBody>
          <a:bodyPr/>
          <a:lstStyle/>
          <a:p>
            <a:r>
              <a:rPr lang="en-GB" dirty="0"/>
              <a:t>Web Fonts - WOFF</a:t>
            </a:r>
          </a:p>
        </p:txBody>
      </p:sp>
      <p:pic>
        <p:nvPicPr>
          <p:cNvPr id="3" name="Picture 2">
            <a:extLst>
              <a:ext uri="{FF2B5EF4-FFF2-40B4-BE49-F238E27FC236}">
                <a16:creationId xmlns:a16="http://schemas.microsoft.com/office/drawing/2014/main" id="{08E481AB-2B02-95E1-5348-62E201A3AE9B}"/>
              </a:ext>
            </a:extLst>
          </p:cNvPr>
          <p:cNvPicPr>
            <a:picLocks noChangeAspect="1"/>
          </p:cNvPicPr>
          <p:nvPr/>
        </p:nvPicPr>
        <p:blipFill>
          <a:blip r:embed="rId2"/>
          <a:stretch>
            <a:fillRect/>
          </a:stretch>
        </p:blipFill>
        <p:spPr>
          <a:xfrm>
            <a:off x="7086000" y="4104000"/>
            <a:ext cx="4532400" cy="237951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111530409"/>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a:xfrm>
            <a:off x="191940" y="1177048"/>
            <a:ext cx="11815018" cy="5527326"/>
          </a:xfrm>
        </p:spPr>
        <p:txBody>
          <a:bodyPr>
            <a:normAutofit/>
          </a:bodyPr>
          <a:lstStyle/>
          <a:p>
            <a:pPr>
              <a:lnSpc>
                <a:spcPct val="100000"/>
              </a:lnSpc>
              <a:spcBef>
                <a:spcPts val="0"/>
              </a:spcBef>
              <a:spcAft>
                <a:spcPts val="0"/>
              </a:spcAft>
              <a:buClr>
                <a:schemeClr val="tx1"/>
              </a:buClr>
            </a:pPr>
            <a:r>
              <a:rPr lang="en-US" sz="3199" b="1" dirty="0">
                <a:solidFill>
                  <a:schemeClr val="bg1"/>
                </a:solidFill>
              </a:rPr>
              <a:t>Font Awesome </a:t>
            </a:r>
            <a:r>
              <a:rPr lang="en-US" sz="3199" dirty="0"/>
              <a:t>provides vector icons, emojis, etc.</a:t>
            </a:r>
          </a:p>
          <a:p>
            <a:pPr lvl="1">
              <a:lnSpc>
                <a:spcPct val="100000"/>
              </a:lnSpc>
              <a:spcBef>
                <a:spcPts val="400"/>
              </a:spcBef>
              <a:spcAft>
                <a:spcPts val="400"/>
              </a:spcAft>
            </a:pPr>
            <a:r>
              <a:rPr lang="en-US" sz="2999" dirty="0"/>
              <a:t>Add the following link inside </a:t>
            </a:r>
            <a:r>
              <a:rPr lang="en-US" sz="2999" b="1" dirty="0">
                <a:solidFill>
                  <a:schemeClr val="bg1"/>
                </a:solidFill>
                <a:latin typeface="Consolas" panose="020B0609020204030204" pitchFamily="49" charset="0"/>
              </a:rPr>
              <a:t>&lt;head&gt;</a:t>
            </a:r>
            <a:r>
              <a:rPr lang="en-US" sz="2999" b="1" dirty="0">
                <a:solidFill>
                  <a:schemeClr val="bg1"/>
                </a:solidFill>
              </a:rPr>
              <a:t> </a:t>
            </a:r>
          </a:p>
          <a:p>
            <a:pPr lvl="1">
              <a:lnSpc>
                <a:spcPct val="100000"/>
              </a:lnSpc>
              <a:spcBef>
                <a:spcPts val="400"/>
              </a:spcBef>
              <a:spcAft>
                <a:spcPts val="400"/>
              </a:spcAft>
            </a:pPr>
            <a:r>
              <a:rPr lang="en-US" sz="2999" dirty="0"/>
              <a:t>Or import Font Awesome in the </a:t>
            </a:r>
            <a:r>
              <a:rPr lang="en-US" sz="2999" b="1" dirty="0">
                <a:solidFill>
                  <a:schemeClr val="bg1"/>
                </a:solidFill>
              </a:rPr>
              <a:t>CSS</a:t>
            </a:r>
            <a:r>
              <a:rPr lang="en-US" sz="2999" dirty="0">
                <a:solidFill>
                  <a:schemeClr val="bg1"/>
                </a:solidFill>
              </a:rPr>
              <a:t> </a:t>
            </a:r>
            <a:r>
              <a:rPr lang="en-US" sz="2999" dirty="0"/>
              <a:t>file</a:t>
            </a:r>
          </a:p>
          <a:p>
            <a:pPr lvl="1">
              <a:lnSpc>
                <a:spcPct val="100000"/>
              </a:lnSpc>
              <a:spcBef>
                <a:spcPts val="400"/>
              </a:spcBef>
              <a:spcAft>
                <a:spcPts val="400"/>
              </a:spcAft>
            </a:pPr>
            <a:r>
              <a:rPr lang="en-US" sz="2999" dirty="0"/>
              <a:t>Choose an icon</a:t>
            </a:r>
            <a:r>
              <a:rPr lang="en-US" sz="2999" dirty="0">
                <a:sym typeface="Wingdings" panose="05000000000000000000" pitchFamily="2" charset="2"/>
              </a:rPr>
              <a:t>  </a:t>
            </a:r>
            <a:r>
              <a:rPr lang="en-US" sz="2999" dirty="0"/>
              <a:t>copy the </a:t>
            </a:r>
            <a:r>
              <a:rPr lang="en-US" sz="2999" b="1" dirty="0">
                <a:solidFill>
                  <a:schemeClr val="bg1"/>
                </a:solidFill>
                <a:latin typeface="Consolas" panose="020B0609020204030204" pitchFamily="49" charset="0"/>
              </a:rPr>
              <a:t>&lt;i&gt;</a:t>
            </a:r>
            <a:r>
              <a:rPr lang="en-US" sz="2999" dirty="0"/>
              <a:t> element </a:t>
            </a:r>
            <a:r>
              <a:rPr lang="en-US" sz="2999" dirty="0">
                <a:sym typeface="Wingdings" panose="05000000000000000000" pitchFamily="2" charset="2"/>
              </a:rPr>
              <a:t> </a:t>
            </a:r>
            <a:r>
              <a:rPr lang="en-US" sz="2999" dirty="0"/>
              <a:t>paste it in your HTML file</a:t>
            </a:r>
          </a:p>
        </p:txBody>
      </p:sp>
      <p:sp>
        <p:nvSpPr>
          <p:cNvPr id="4" name="Title 3"/>
          <p:cNvSpPr>
            <a:spLocks noGrp="1"/>
          </p:cNvSpPr>
          <p:nvPr>
            <p:ph type="title"/>
          </p:nvPr>
        </p:nvSpPr>
        <p:spPr/>
        <p:txBody>
          <a:bodyPr/>
          <a:lstStyle/>
          <a:p>
            <a:r>
              <a:rPr lang="en-US" dirty="0"/>
              <a:t>Font Awesome</a:t>
            </a:r>
          </a:p>
        </p:txBody>
      </p:sp>
      <p:pic>
        <p:nvPicPr>
          <p:cNvPr id="7" name="Picture 6"/>
          <p:cNvPicPr>
            <a:picLocks noChangeAspect="1"/>
          </p:cNvPicPr>
          <p:nvPr/>
        </p:nvPicPr>
        <p:blipFill>
          <a:blip r:embed="rId2"/>
          <a:stretch>
            <a:fillRect/>
          </a:stretch>
        </p:blipFill>
        <p:spPr>
          <a:xfrm>
            <a:off x="7445650" y="1910501"/>
            <a:ext cx="2149699" cy="821613"/>
          </a:xfrm>
          <a:prstGeom prst="roundRect">
            <a:avLst>
              <a:gd name="adj" fmla="val 7927"/>
            </a:avLst>
          </a:prstGeom>
          <a:ln>
            <a:solidFill>
              <a:schemeClr val="bg2">
                <a:lumMod val="85000"/>
              </a:schemeClr>
            </a:solidFill>
          </a:ln>
        </p:spPr>
      </p:pic>
      <p:pic>
        <p:nvPicPr>
          <p:cNvPr id="6" name="Picture 5">
            <a:extLst>
              <a:ext uri="{FF2B5EF4-FFF2-40B4-BE49-F238E27FC236}">
                <a16:creationId xmlns:a16="http://schemas.microsoft.com/office/drawing/2014/main" id="{B2E0A02B-9AE2-4E76-B6D7-46369196435C}"/>
              </a:ext>
            </a:extLst>
          </p:cNvPr>
          <p:cNvPicPr>
            <a:picLocks noChangeAspect="1"/>
          </p:cNvPicPr>
          <p:nvPr/>
        </p:nvPicPr>
        <p:blipFill>
          <a:blip r:embed="rId3"/>
          <a:stretch>
            <a:fillRect/>
          </a:stretch>
        </p:blipFill>
        <p:spPr>
          <a:xfrm>
            <a:off x="9885350" y="1325268"/>
            <a:ext cx="1945460" cy="1410896"/>
          </a:xfrm>
          <a:prstGeom prst="roundRect">
            <a:avLst>
              <a:gd name="adj" fmla="val 4823"/>
            </a:avLst>
          </a:prstGeom>
          <a:ln>
            <a:solidFill>
              <a:schemeClr val="tx1">
                <a:lumMod val="20000"/>
                <a:lumOff val="80000"/>
              </a:schemeClr>
            </a:solidFill>
          </a:ln>
        </p:spPr>
      </p:pic>
      <p:sp>
        <p:nvSpPr>
          <p:cNvPr id="10" name="Slide Number">
            <a:extLst>
              <a:ext uri="{FF2B5EF4-FFF2-40B4-BE49-F238E27FC236}">
                <a16:creationId xmlns:a16="http://schemas.microsoft.com/office/drawing/2014/main" id="{022EE501-DBD6-4C24-8402-727E861AC01C}"/>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64</a:t>
            </a:fld>
            <a:endParaRPr lang="en-US" noProof="0" dirty="0"/>
          </a:p>
        </p:txBody>
      </p:sp>
      <p:sp>
        <p:nvSpPr>
          <p:cNvPr id="2" name="TextBox 4">
            <a:extLst>
              <a:ext uri="{FF2B5EF4-FFF2-40B4-BE49-F238E27FC236}">
                <a16:creationId xmlns:a16="http://schemas.microsoft.com/office/drawing/2014/main" id="{08E446BD-2635-783E-F1E2-4DA207DB4257}"/>
              </a:ext>
            </a:extLst>
          </p:cNvPr>
          <p:cNvSpPr txBox="1"/>
          <p:nvPr/>
        </p:nvSpPr>
        <p:spPr>
          <a:xfrm>
            <a:off x="692485" y="3670513"/>
            <a:ext cx="11142704" cy="2031325"/>
          </a:xfrm>
          <a:prstGeom prst="rect">
            <a:avLst/>
          </a:prstGeom>
          <a:solidFill>
            <a:schemeClr val="accent6">
              <a:lumMod val="75000"/>
              <a:alpha val="15000"/>
            </a:schemeClr>
          </a:solidFill>
          <a:ln w="12700">
            <a:solidFill>
              <a:schemeClr val="tx1">
                <a:lumMod val="75000"/>
              </a:schemeClr>
            </a:solidFill>
          </a:ln>
        </p:spPr>
        <p:txBody>
          <a:bodyPr wrap="square">
            <a:spAutoFit/>
          </a:bodyPr>
          <a:lstStyle/>
          <a:p>
            <a:pPr>
              <a:lnSpc>
                <a:spcPct val="90000"/>
              </a:lnSpc>
            </a:pPr>
            <a:r>
              <a:rPr lang="en-GB" sz="2000" b="1" noProof="1">
                <a:solidFill>
                  <a:srgbClr val="800000"/>
                </a:solidFill>
                <a:latin typeface="Consolas" panose="020B0609020204030204" pitchFamily="49" charset="0"/>
              </a:rPr>
              <a:t>&lt;head&gt;</a:t>
            </a:r>
            <a:endParaRPr lang="en-GB" sz="2000" b="1" noProof="1">
              <a:solidFill>
                <a:srgbClr val="000000"/>
              </a:solidFill>
              <a:latin typeface="Consolas" panose="020B0609020204030204" pitchFamily="49" charset="0"/>
            </a:endParaRPr>
          </a:p>
          <a:p>
            <a:pPr>
              <a:lnSpc>
                <a:spcPct val="90000"/>
              </a:lnSpc>
            </a:pPr>
            <a:r>
              <a:rPr lang="en-GB" sz="2000" b="1" noProof="1">
                <a:solidFill>
                  <a:srgbClr val="000000"/>
                </a:solidFill>
                <a:latin typeface="Consolas" panose="020B0609020204030204" pitchFamily="49" charset="0"/>
              </a:rPr>
              <a:t>  </a:t>
            </a:r>
            <a:r>
              <a:rPr lang="en-GB" sz="2000" b="1" noProof="1">
                <a:solidFill>
                  <a:srgbClr val="800000"/>
                </a:solidFill>
                <a:latin typeface="Consolas" panose="020B0609020204030204" pitchFamily="49" charset="0"/>
              </a:rPr>
              <a:t>&lt;link</a:t>
            </a:r>
            <a:r>
              <a:rPr lang="en-GB" sz="2000" b="1" noProof="1">
                <a:solidFill>
                  <a:srgbClr val="FF0000"/>
                </a:solidFill>
                <a:latin typeface="Consolas" panose="020B0609020204030204" pitchFamily="49" charset="0"/>
              </a:rPr>
              <a:t> rel</a:t>
            </a:r>
            <a:r>
              <a:rPr lang="en-GB" sz="2000" b="1" noProof="1">
                <a:solidFill>
                  <a:srgbClr val="000000"/>
                </a:solidFill>
                <a:latin typeface="Consolas" panose="020B0609020204030204" pitchFamily="49" charset="0"/>
              </a:rPr>
              <a:t>=</a:t>
            </a:r>
            <a:r>
              <a:rPr lang="en-GB" sz="2000" b="1" noProof="1">
                <a:solidFill>
                  <a:srgbClr val="0000FF"/>
                </a:solidFill>
                <a:latin typeface="Consolas" panose="020B0609020204030204" pitchFamily="49" charset="0"/>
              </a:rPr>
              <a:t>"stylesheet"</a:t>
            </a:r>
            <a:r>
              <a:rPr lang="en-GB" sz="2000" b="1" noProof="1">
                <a:solidFill>
                  <a:srgbClr val="FF0000"/>
                </a:solidFill>
                <a:latin typeface="Consolas" panose="020B0609020204030204" pitchFamily="49" charset="0"/>
              </a:rPr>
              <a:t> href</a:t>
            </a:r>
            <a:r>
              <a:rPr lang="en-GB" sz="2000" b="1" noProof="1">
                <a:solidFill>
                  <a:srgbClr val="000000"/>
                </a:solidFill>
                <a:latin typeface="Consolas" panose="020B0609020204030204" pitchFamily="49" charset="0"/>
              </a:rPr>
              <a:t>=</a:t>
            </a:r>
            <a:r>
              <a:rPr lang="en-GB" sz="2000" b="1" noProof="1">
                <a:solidFill>
                  <a:srgbClr val="0000FF"/>
                </a:solidFill>
                <a:latin typeface="Consolas" panose="020B0609020204030204" pitchFamily="49" charset="0"/>
              </a:rPr>
              <a:t>"https://use.fontawesome.com/releases/v5.10.2/css/all.css"</a:t>
            </a:r>
            <a:r>
              <a:rPr lang="en-GB" sz="2000" b="1" noProof="1">
                <a:solidFill>
                  <a:srgbClr val="800000"/>
                </a:solidFill>
                <a:latin typeface="Consolas" panose="020B0609020204030204" pitchFamily="49" charset="0"/>
              </a:rPr>
              <a:t>&gt;</a:t>
            </a:r>
            <a:endParaRPr lang="en-GB" sz="2000" b="1" noProof="1">
              <a:solidFill>
                <a:srgbClr val="000000"/>
              </a:solidFill>
              <a:latin typeface="Consolas" panose="020B0609020204030204" pitchFamily="49" charset="0"/>
            </a:endParaRPr>
          </a:p>
          <a:p>
            <a:pPr>
              <a:lnSpc>
                <a:spcPct val="90000"/>
              </a:lnSpc>
            </a:pPr>
            <a:r>
              <a:rPr lang="en-GB" sz="2000" b="1" noProof="1">
                <a:solidFill>
                  <a:srgbClr val="800000"/>
                </a:solidFill>
                <a:latin typeface="Consolas" panose="020B0609020204030204" pitchFamily="49" charset="0"/>
              </a:rPr>
              <a:t>&lt;/head&gt;</a:t>
            </a:r>
            <a:endParaRPr lang="en-GB" sz="2000" b="1" noProof="1">
              <a:solidFill>
                <a:srgbClr val="000000"/>
              </a:solidFill>
              <a:latin typeface="Consolas" panose="020B0609020204030204" pitchFamily="49" charset="0"/>
            </a:endParaRPr>
          </a:p>
          <a:p>
            <a:pPr>
              <a:lnSpc>
                <a:spcPct val="90000"/>
              </a:lnSpc>
            </a:pPr>
            <a:r>
              <a:rPr lang="en-GB" sz="2000" b="1" noProof="1">
                <a:solidFill>
                  <a:srgbClr val="800000"/>
                </a:solidFill>
                <a:latin typeface="Consolas" panose="020B0609020204030204" pitchFamily="49" charset="0"/>
              </a:rPr>
              <a:t>&lt;body&gt;</a:t>
            </a:r>
            <a:endParaRPr lang="en-GB" sz="2000" b="1" noProof="1">
              <a:solidFill>
                <a:srgbClr val="000000"/>
              </a:solidFill>
              <a:latin typeface="Consolas" panose="020B0609020204030204" pitchFamily="49" charset="0"/>
            </a:endParaRPr>
          </a:p>
          <a:p>
            <a:pPr>
              <a:lnSpc>
                <a:spcPct val="90000"/>
              </a:lnSpc>
            </a:pPr>
            <a:r>
              <a:rPr lang="en-GB" sz="2000" b="1" noProof="1">
                <a:solidFill>
                  <a:srgbClr val="800000"/>
                </a:solidFill>
                <a:latin typeface="Consolas" panose="020B0609020204030204" pitchFamily="49" charset="0"/>
              </a:rPr>
              <a:t>  &lt;a href="#"&gt;</a:t>
            </a:r>
            <a:r>
              <a:rPr lang="en-GB" sz="2000" b="1" noProof="1">
                <a:solidFill>
                  <a:schemeClr val="bg1"/>
                </a:solidFill>
                <a:latin typeface="Consolas" panose="020B0609020204030204" pitchFamily="49" charset="0"/>
              </a:rPr>
              <a:t>&lt;i </a:t>
            </a:r>
            <a:r>
              <a:rPr lang="en-GB" sz="2000" b="1" noProof="1">
                <a:solidFill>
                  <a:srgbClr val="FF0000"/>
                </a:solidFill>
                <a:latin typeface="Consolas" panose="020B0609020204030204" pitchFamily="49" charset="0"/>
              </a:rPr>
              <a:t>class</a:t>
            </a:r>
            <a:r>
              <a:rPr lang="en-GB" sz="2000" b="1" noProof="1">
                <a:solidFill>
                  <a:schemeClr val="accent6">
                    <a:lumMod val="10000"/>
                  </a:schemeClr>
                </a:solidFill>
                <a:latin typeface="Consolas" panose="020B0609020204030204" pitchFamily="49" charset="0"/>
              </a:rPr>
              <a:t>="</a:t>
            </a:r>
            <a:r>
              <a:rPr lang="en-GB" sz="2000" b="1" noProof="1">
                <a:solidFill>
                  <a:srgbClr val="0070C0"/>
                </a:solidFill>
                <a:latin typeface="Consolas" panose="020B0609020204030204" pitchFamily="49" charset="0"/>
              </a:rPr>
              <a:t>fa</a:t>
            </a:r>
            <a:r>
              <a:rPr lang="en-GB" sz="2000" b="1" noProof="1">
                <a:solidFill>
                  <a:schemeClr val="accent3">
                    <a:lumMod val="75000"/>
                  </a:schemeClr>
                </a:solidFill>
                <a:latin typeface="Consolas" panose="020B0609020204030204" pitchFamily="49" charset="0"/>
              </a:rPr>
              <a:t> </a:t>
            </a:r>
            <a:r>
              <a:rPr lang="en-GB" sz="2000" b="1" noProof="1">
                <a:solidFill>
                  <a:srgbClr val="0070C0"/>
                </a:solidFill>
                <a:latin typeface="Consolas" panose="020B0609020204030204" pitchFamily="49" charset="0"/>
              </a:rPr>
              <a:t>fa-home</a:t>
            </a:r>
            <a:r>
              <a:rPr lang="en-GB" sz="2000" b="1" noProof="1">
                <a:solidFill>
                  <a:schemeClr val="accent3">
                    <a:lumMod val="75000"/>
                  </a:schemeClr>
                </a:solidFill>
                <a:latin typeface="Consolas" panose="020B0609020204030204" pitchFamily="49" charset="0"/>
              </a:rPr>
              <a:t> </a:t>
            </a:r>
            <a:r>
              <a:rPr lang="en-GB" sz="2000" b="1" noProof="1">
                <a:solidFill>
                  <a:srgbClr val="0070C0"/>
                </a:solidFill>
                <a:latin typeface="Consolas" panose="020B0609020204030204" pitchFamily="49" charset="0"/>
              </a:rPr>
              <a:t>fa-fw</a:t>
            </a:r>
            <a:r>
              <a:rPr lang="en-GB" sz="2000" b="1" noProof="1">
                <a:solidFill>
                  <a:schemeClr val="accent6">
                    <a:lumMod val="10000"/>
                  </a:schemeClr>
                </a:solidFill>
                <a:latin typeface="Consolas" panose="020B0609020204030204" pitchFamily="49" charset="0"/>
              </a:rPr>
              <a:t>"</a:t>
            </a:r>
            <a:r>
              <a:rPr lang="en-GB" sz="2000" b="1" noProof="1">
                <a:solidFill>
                  <a:schemeClr val="bg1"/>
                </a:solidFill>
                <a:latin typeface="Consolas" panose="020B0609020204030204" pitchFamily="49" charset="0"/>
              </a:rPr>
              <a:t>&gt;&lt;/i&gt;</a:t>
            </a:r>
            <a:r>
              <a:rPr lang="en-GB" sz="2000" b="1" noProof="1">
                <a:solidFill>
                  <a:schemeClr val="accent6">
                    <a:lumMod val="10000"/>
                  </a:schemeClr>
                </a:solidFill>
                <a:latin typeface="Consolas" panose="020B0609020204030204" pitchFamily="49" charset="0"/>
              </a:rPr>
              <a:t>Home</a:t>
            </a:r>
            <a:r>
              <a:rPr lang="en-GB" sz="2000" b="1" noProof="1">
                <a:solidFill>
                  <a:srgbClr val="800000"/>
                </a:solidFill>
                <a:latin typeface="Consolas" panose="020B0609020204030204" pitchFamily="49" charset="0"/>
              </a:rPr>
              <a:t>&lt;/a&gt;</a:t>
            </a:r>
          </a:p>
          <a:p>
            <a:pPr>
              <a:lnSpc>
                <a:spcPct val="90000"/>
              </a:lnSpc>
            </a:pPr>
            <a:r>
              <a:rPr lang="en-GB" sz="2000" b="1" noProof="1">
                <a:solidFill>
                  <a:srgbClr val="800000"/>
                </a:solidFill>
                <a:latin typeface="Consolas" panose="020B0609020204030204" pitchFamily="49" charset="0"/>
              </a:rPr>
              <a:t>&lt;/body&gt;</a:t>
            </a:r>
            <a:endParaRPr lang="en-GB" sz="2000" b="1" noProof="1">
              <a:solidFill>
                <a:srgbClr val="000000"/>
              </a:solidFill>
              <a:latin typeface="Consolas" panose="020B0609020204030204" pitchFamily="49" charset="0"/>
            </a:endParaRPr>
          </a:p>
        </p:txBody>
      </p:sp>
      <p:sp>
        <p:nvSpPr>
          <p:cNvPr id="5" name="TextBox 4">
            <a:extLst>
              <a:ext uri="{FF2B5EF4-FFF2-40B4-BE49-F238E27FC236}">
                <a16:creationId xmlns:a16="http://schemas.microsoft.com/office/drawing/2014/main" id="{E58A2181-847F-7941-1686-469D070A2815}"/>
              </a:ext>
            </a:extLst>
          </p:cNvPr>
          <p:cNvSpPr txBox="1"/>
          <p:nvPr/>
        </p:nvSpPr>
        <p:spPr>
          <a:xfrm>
            <a:off x="692485" y="6003051"/>
            <a:ext cx="11142704" cy="400110"/>
          </a:xfrm>
          <a:prstGeom prst="rect">
            <a:avLst/>
          </a:prstGeom>
          <a:solidFill>
            <a:schemeClr val="accent6">
              <a:lumMod val="75000"/>
              <a:alpha val="15000"/>
            </a:schemeClr>
          </a:solidFill>
          <a:ln w="12700">
            <a:solidFill>
              <a:schemeClr val="tx1">
                <a:lumMod val="75000"/>
              </a:schemeClr>
            </a:solidFill>
          </a:ln>
        </p:spPr>
        <p:txBody>
          <a:bodyPr wrap="square">
            <a:spAutoFit/>
          </a:bodyPr>
          <a:lstStyle/>
          <a:p>
            <a:r>
              <a:rPr lang="en-GB" sz="2000" b="1" noProof="1">
                <a:solidFill>
                  <a:srgbClr val="0000FF"/>
                </a:solidFill>
                <a:latin typeface="Consolas" panose="020B0609020204030204" pitchFamily="49" charset="0"/>
              </a:rPr>
              <a:t>@import</a:t>
            </a:r>
            <a:r>
              <a:rPr lang="en-GB" sz="2000" b="1" noProof="1">
                <a:solidFill>
                  <a:srgbClr val="000000"/>
                </a:solidFill>
                <a:latin typeface="Consolas" panose="020B0609020204030204" pitchFamily="49" charset="0"/>
              </a:rPr>
              <a:t> </a:t>
            </a:r>
            <a:r>
              <a:rPr lang="en-GB" sz="2000" b="1" noProof="1">
                <a:solidFill>
                  <a:srgbClr val="A31515"/>
                </a:solidFill>
                <a:latin typeface="Consolas" panose="020B0609020204030204" pitchFamily="49" charset="0"/>
              </a:rPr>
              <a:t>'https://use.fontawesome.com/releases/v5.10.2/css/all.css'</a:t>
            </a:r>
            <a:r>
              <a:rPr lang="en-GB" sz="2000" b="1" noProof="1">
                <a:solidFill>
                  <a:srgbClr val="000000"/>
                </a:solidFill>
                <a:latin typeface="Consolas" panose="020B0609020204030204" pitchFamily="49" charset="0"/>
              </a:rPr>
              <a:t>;</a:t>
            </a:r>
          </a:p>
        </p:txBody>
      </p:sp>
    </p:spTree>
    <p:extLst>
      <p:ext uri="{BB962C8B-B14F-4D97-AF65-F5344CB8AC3E}">
        <p14:creationId xmlns:p14="http://schemas.microsoft.com/office/powerpoint/2010/main" val="3100797736"/>
      </p:ext>
    </p:extLst>
  </p:cSld>
  <p:clrMapOvr>
    <a:masterClrMapping/>
  </p:clrMapOvr>
  <mc:AlternateContent xmlns:mc="http://schemas.openxmlformats.org/markup-compatibility/2006" xmlns:p14="http://schemas.microsoft.com/office/powerpoint/2010/main">
    <mc:Choice Requires="p14">
      <p:transition p14:dur="0" advClick="0" advTm="5000"/>
    </mc:Choice>
    <mc:Fallback xmlns="">
      <p:transition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10F305C-29EC-448C-B7E2-A58384B75761}"/>
              </a:ext>
            </a:extLst>
          </p:cNvPr>
          <p:cNvSpPr>
            <a:spLocks noGrp="1"/>
          </p:cNvSpPr>
          <p:nvPr>
            <p:ph type="body" sz="quarter" idx="10"/>
          </p:nvPr>
        </p:nvSpPr>
        <p:spPr/>
        <p:txBody>
          <a:bodyPr/>
          <a:lstStyle/>
          <a:p>
            <a:r>
              <a:rPr lang="en-US" dirty="0"/>
              <a:t>Using </a:t>
            </a:r>
            <a:r>
              <a:rPr lang="en-US" b="1" dirty="0">
                <a:solidFill>
                  <a:schemeClr val="bg1"/>
                </a:solidFill>
                <a:latin typeface="Consolas" panose="020B0609020204030204" pitchFamily="49" charset="0"/>
              </a:rPr>
              <a:t>HTML</a:t>
            </a:r>
            <a:r>
              <a:rPr lang="en-US" dirty="0"/>
              <a:t>, </a:t>
            </a:r>
            <a:r>
              <a:rPr lang="en-US" b="1" dirty="0">
                <a:solidFill>
                  <a:schemeClr val="bg1"/>
                </a:solidFill>
                <a:latin typeface="Consolas" panose="020B0609020204030204" pitchFamily="49" charset="0"/>
              </a:rPr>
              <a:t>CSS</a:t>
            </a:r>
            <a:r>
              <a:rPr lang="en-US" b="1" dirty="0">
                <a:solidFill>
                  <a:schemeClr val="bg1"/>
                </a:solidFill>
              </a:rPr>
              <a:t> </a:t>
            </a:r>
            <a:r>
              <a:rPr lang="en-US" dirty="0"/>
              <a:t>and</a:t>
            </a:r>
            <a:r>
              <a:rPr lang="en-US" b="1" dirty="0">
                <a:solidFill>
                  <a:schemeClr val="bg1"/>
                </a:solidFill>
              </a:rPr>
              <a:t> Font Awesome icons</a:t>
            </a:r>
            <a:r>
              <a:rPr lang="en-US" dirty="0"/>
              <a:t> create a </a:t>
            </a:r>
            <a:r>
              <a:rPr lang="en-US" b="1" dirty="0">
                <a:solidFill>
                  <a:schemeClr val="bg1"/>
                </a:solidFill>
              </a:rPr>
              <a:t>navigation menu</a:t>
            </a:r>
            <a:r>
              <a:rPr lang="en-US" dirty="0"/>
              <a:t> and </a:t>
            </a:r>
            <a:r>
              <a:rPr lang="en-US" b="1" dirty="0">
                <a:solidFill>
                  <a:schemeClr val="bg1"/>
                </a:solidFill>
              </a:rPr>
              <a:t>buttons</a:t>
            </a:r>
            <a:r>
              <a:rPr lang="en-US" dirty="0"/>
              <a:t> like the following:</a:t>
            </a:r>
            <a:endParaRPr lang="bg-BG" dirty="0"/>
          </a:p>
        </p:txBody>
      </p:sp>
      <p:sp>
        <p:nvSpPr>
          <p:cNvPr id="4" name="Title 3">
            <a:extLst>
              <a:ext uri="{FF2B5EF4-FFF2-40B4-BE49-F238E27FC236}">
                <a16:creationId xmlns:a16="http://schemas.microsoft.com/office/drawing/2014/main" id="{1F677C9D-80C6-46C1-86AE-23DE0FFF0B8D}"/>
              </a:ext>
            </a:extLst>
          </p:cNvPr>
          <p:cNvSpPr>
            <a:spLocks noGrp="1"/>
          </p:cNvSpPr>
          <p:nvPr>
            <p:ph type="title"/>
          </p:nvPr>
        </p:nvSpPr>
        <p:spPr/>
        <p:txBody>
          <a:bodyPr>
            <a:normAutofit/>
          </a:bodyPr>
          <a:lstStyle/>
          <a:p>
            <a:r>
              <a:rPr lang="en-US" dirty="0"/>
              <a:t>Font Awesome Icons – Exercise</a:t>
            </a:r>
          </a:p>
        </p:txBody>
      </p:sp>
      <p:pic>
        <p:nvPicPr>
          <p:cNvPr id="11" name="Picture 10"/>
          <p:cNvPicPr>
            <a:picLocks noChangeAspect="1"/>
          </p:cNvPicPr>
          <p:nvPr/>
        </p:nvPicPr>
        <p:blipFill>
          <a:blip r:embed="rId2"/>
          <a:stretch>
            <a:fillRect/>
          </a:stretch>
        </p:blipFill>
        <p:spPr>
          <a:xfrm>
            <a:off x="427477" y="2530182"/>
            <a:ext cx="4627944" cy="3599512"/>
          </a:xfrm>
          <a:prstGeom prst="rect">
            <a:avLst/>
          </a:prstGeom>
          <a:ln>
            <a:solidFill>
              <a:schemeClr val="bg2">
                <a:lumMod val="85000"/>
              </a:schemeClr>
            </a:solidFill>
          </a:ln>
        </p:spPr>
      </p:pic>
      <p:pic>
        <p:nvPicPr>
          <p:cNvPr id="12" name="Picture 11"/>
          <p:cNvPicPr>
            <a:picLocks noChangeAspect="1"/>
          </p:cNvPicPr>
          <p:nvPr/>
        </p:nvPicPr>
        <p:blipFill>
          <a:blip r:embed="rId3"/>
          <a:stretch>
            <a:fillRect/>
          </a:stretch>
        </p:blipFill>
        <p:spPr>
          <a:xfrm>
            <a:off x="2451950" y="5748297"/>
            <a:ext cx="494871" cy="590945"/>
          </a:xfrm>
          <a:prstGeom prst="rect">
            <a:avLst/>
          </a:prstGeom>
        </p:spPr>
      </p:pic>
      <p:sp>
        <p:nvSpPr>
          <p:cNvPr id="13" name="TextBox 12">
            <a:extLst>
              <a:ext uri="{FF2B5EF4-FFF2-40B4-BE49-F238E27FC236}">
                <a16:creationId xmlns:a16="http://schemas.microsoft.com/office/drawing/2014/main" id="{4E007C9A-C930-4DA2-8F8F-38BBC6650E06}"/>
              </a:ext>
            </a:extLst>
          </p:cNvPr>
          <p:cNvSpPr txBox="1"/>
          <p:nvPr/>
        </p:nvSpPr>
        <p:spPr>
          <a:xfrm>
            <a:off x="5465191" y="2439259"/>
            <a:ext cx="6099327" cy="619047"/>
          </a:xfrm>
          <a:prstGeom prst="rect">
            <a:avLst/>
          </a:prstGeom>
          <a:noFill/>
          <a:ln w="12700">
            <a:noFill/>
          </a:ln>
        </p:spPr>
        <p:txBody>
          <a:bodyPr wrap="square">
            <a:spAutoFit/>
          </a:bodyPr>
          <a:lstStyle/>
          <a:p>
            <a:pPr marL="360255" indent="-360255" defTabSz="1218072">
              <a:lnSpc>
                <a:spcPct val="105000"/>
              </a:lnSpc>
              <a:spcBef>
                <a:spcPts val="600"/>
              </a:spcBef>
              <a:spcAft>
                <a:spcPts val="600"/>
              </a:spcAft>
              <a:buFont typeface="Wingdings" panose="05000000000000000000" pitchFamily="2" charset="2"/>
              <a:buChar char="§"/>
              <a:defRPr/>
            </a:pPr>
            <a:r>
              <a:rPr lang="en-US" sz="3397" dirty="0">
                <a:solidFill>
                  <a:srgbClr val="234465"/>
                </a:solidFill>
                <a:latin typeface="Calibri"/>
              </a:rPr>
              <a:t>Hints:</a:t>
            </a:r>
            <a:endParaRPr lang="bg-BG" sz="3397" dirty="0">
              <a:solidFill>
                <a:srgbClr val="234465"/>
              </a:solidFill>
              <a:latin typeface="Calibri"/>
            </a:endParaRPr>
          </a:p>
        </p:txBody>
      </p:sp>
      <p:sp>
        <p:nvSpPr>
          <p:cNvPr id="10" name="Slide Number">
            <a:extLst>
              <a:ext uri="{FF2B5EF4-FFF2-40B4-BE49-F238E27FC236}">
                <a16:creationId xmlns:a16="http://schemas.microsoft.com/office/drawing/2014/main" id="{73BAFCAF-73B7-4D9B-9336-4817CFBD227F}"/>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65</a:t>
            </a:fld>
            <a:endParaRPr lang="en-US" noProof="0" dirty="0"/>
          </a:p>
        </p:txBody>
      </p:sp>
      <p:sp>
        <p:nvSpPr>
          <p:cNvPr id="2" name="TextBox 4">
            <a:extLst>
              <a:ext uri="{FF2B5EF4-FFF2-40B4-BE49-F238E27FC236}">
                <a16:creationId xmlns:a16="http://schemas.microsoft.com/office/drawing/2014/main" id="{D2736D6D-87DB-9748-27BD-E029BF529744}"/>
              </a:ext>
            </a:extLst>
          </p:cNvPr>
          <p:cNvSpPr txBox="1"/>
          <p:nvPr/>
        </p:nvSpPr>
        <p:spPr>
          <a:xfrm>
            <a:off x="5936672" y="3188827"/>
            <a:ext cx="6099328" cy="2225225"/>
          </a:xfrm>
          <a:prstGeom prst="rect">
            <a:avLst/>
          </a:prstGeom>
          <a:solidFill>
            <a:schemeClr val="accent6">
              <a:lumMod val="75000"/>
              <a:alpha val="15000"/>
            </a:schemeClr>
          </a:solidFill>
          <a:ln w="12700">
            <a:solidFill>
              <a:schemeClr val="tx1">
                <a:lumMod val="75000"/>
              </a:schemeClr>
            </a:solidFill>
          </a:ln>
        </p:spPr>
        <p:txBody>
          <a:bodyPr wrap="square">
            <a:spAutoFit/>
          </a:bodyPr>
          <a:lstStyle/>
          <a:p>
            <a:pPr>
              <a:lnSpc>
                <a:spcPct val="90000"/>
              </a:lnSpc>
            </a:pPr>
            <a:r>
              <a:rPr lang="en-US" sz="2200" b="1" noProof="1">
                <a:solidFill>
                  <a:srgbClr val="A31515"/>
                </a:solidFill>
                <a:latin typeface="Consolas" panose="020B0609020204030204" pitchFamily="49" charset="0"/>
              </a:rPr>
              <a:t>&lt;i class</a:t>
            </a:r>
            <a:r>
              <a:rPr lang="en-US" sz="2200" b="1" noProof="1">
                <a:solidFill>
                  <a:srgbClr val="000000"/>
                </a:solidFill>
                <a:latin typeface="Consolas" panose="020B0609020204030204" pitchFamily="49" charset="0"/>
              </a:rPr>
              <a:t>="</a:t>
            </a:r>
            <a:r>
              <a:rPr lang="en-US" sz="2200" b="1" noProof="1">
                <a:solidFill>
                  <a:srgbClr val="0070C0"/>
                </a:solidFill>
                <a:latin typeface="Consolas" panose="020B0609020204030204" pitchFamily="49" charset="0"/>
              </a:rPr>
              <a:t>fas</a:t>
            </a:r>
            <a:r>
              <a:rPr lang="en-US" sz="2200" b="1" noProof="1">
                <a:solidFill>
                  <a:schemeClr val="accent3">
                    <a:lumMod val="75000"/>
                  </a:schemeClr>
                </a:solidFill>
                <a:latin typeface="Consolas" panose="020B0609020204030204" pitchFamily="49" charset="0"/>
              </a:rPr>
              <a:t> </a:t>
            </a:r>
            <a:r>
              <a:rPr lang="en-US" sz="2200" b="1" noProof="1">
                <a:solidFill>
                  <a:srgbClr val="0070C0"/>
                </a:solidFill>
                <a:latin typeface="Consolas" panose="020B0609020204030204" pitchFamily="49" charset="0"/>
              </a:rPr>
              <a:t>fa-home</a:t>
            </a:r>
            <a:r>
              <a:rPr lang="en-US" sz="2200" b="1" noProof="1">
                <a:solidFill>
                  <a:srgbClr val="000000"/>
                </a:solidFill>
                <a:latin typeface="Consolas" panose="020B0609020204030204" pitchFamily="49" charset="0"/>
              </a:rPr>
              <a:t>"</a:t>
            </a:r>
            <a:r>
              <a:rPr lang="en-US" sz="2200" b="1" noProof="1">
                <a:solidFill>
                  <a:srgbClr val="A31515"/>
                </a:solidFill>
                <a:latin typeface="Consolas" panose="020B0609020204030204" pitchFamily="49" charset="0"/>
              </a:rPr>
              <a:t>&gt;&lt;/i&gt;</a:t>
            </a:r>
          </a:p>
          <a:p>
            <a:pPr>
              <a:lnSpc>
                <a:spcPct val="90000"/>
              </a:lnSpc>
            </a:pPr>
            <a:r>
              <a:rPr lang="en-US" sz="2200" b="1" noProof="1">
                <a:solidFill>
                  <a:srgbClr val="A31515"/>
                </a:solidFill>
                <a:latin typeface="Consolas" panose="020B0609020204030204" pitchFamily="49" charset="0"/>
              </a:rPr>
              <a:t>&lt;i class</a:t>
            </a:r>
            <a:r>
              <a:rPr lang="en-US" sz="2200" b="1" noProof="1">
                <a:solidFill>
                  <a:srgbClr val="000000"/>
                </a:solidFill>
                <a:latin typeface="Consolas" panose="020B0609020204030204" pitchFamily="49" charset="0"/>
              </a:rPr>
              <a:t>="</a:t>
            </a:r>
            <a:r>
              <a:rPr lang="en-US" sz="2200" b="1" noProof="1">
                <a:solidFill>
                  <a:srgbClr val="0070C0"/>
                </a:solidFill>
                <a:latin typeface="Consolas" panose="020B0609020204030204" pitchFamily="49" charset="0"/>
              </a:rPr>
              <a:t>fas</a:t>
            </a:r>
            <a:r>
              <a:rPr lang="en-US" sz="2200" b="1" noProof="1">
                <a:solidFill>
                  <a:schemeClr val="accent3">
                    <a:lumMod val="75000"/>
                  </a:schemeClr>
                </a:solidFill>
                <a:latin typeface="Consolas" panose="020B0609020204030204" pitchFamily="49" charset="0"/>
              </a:rPr>
              <a:t> </a:t>
            </a:r>
            <a:r>
              <a:rPr lang="en-US" sz="2200" b="1" noProof="1">
                <a:solidFill>
                  <a:srgbClr val="0070C0"/>
                </a:solidFill>
                <a:latin typeface="Consolas" panose="020B0609020204030204" pitchFamily="49" charset="0"/>
              </a:rPr>
              <a:t>fa-book</a:t>
            </a:r>
            <a:r>
              <a:rPr lang="en-US" sz="2200" b="1" noProof="1">
                <a:solidFill>
                  <a:srgbClr val="000000"/>
                </a:solidFill>
                <a:latin typeface="Consolas" panose="020B0609020204030204" pitchFamily="49" charset="0"/>
              </a:rPr>
              <a:t>"</a:t>
            </a:r>
            <a:r>
              <a:rPr lang="en-US" sz="2200" b="1" noProof="1">
                <a:solidFill>
                  <a:srgbClr val="A31515"/>
                </a:solidFill>
                <a:latin typeface="Consolas" panose="020B0609020204030204" pitchFamily="49" charset="0"/>
              </a:rPr>
              <a:t>&gt;&lt;/i&gt;</a:t>
            </a:r>
          </a:p>
          <a:p>
            <a:pPr>
              <a:lnSpc>
                <a:spcPct val="90000"/>
              </a:lnSpc>
            </a:pPr>
            <a:r>
              <a:rPr lang="en-US" sz="2200" b="1" noProof="1">
                <a:solidFill>
                  <a:srgbClr val="A31515"/>
                </a:solidFill>
                <a:latin typeface="Consolas" panose="020B0609020204030204" pitchFamily="49" charset="0"/>
              </a:rPr>
              <a:t>&lt;i class</a:t>
            </a:r>
            <a:r>
              <a:rPr lang="en-US" sz="2200" b="1" noProof="1">
                <a:solidFill>
                  <a:srgbClr val="000000"/>
                </a:solidFill>
                <a:latin typeface="Consolas" panose="020B0609020204030204" pitchFamily="49" charset="0"/>
              </a:rPr>
              <a:t>="</a:t>
            </a:r>
            <a:r>
              <a:rPr lang="en-US" sz="2200" b="1" noProof="1">
                <a:solidFill>
                  <a:srgbClr val="0070C0"/>
                </a:solidFill>
                <a:latin typeface="Consolas" panose="020B0609020204030204" pitchFamily="49" charset="0"/>
              </a:rPr>
              <a:t>fas</a:t>
            </a:r>
            <a:r>
              <a:rPr lang="en-US" sz="2200" b="1" noProof="1">
                <a:solidFill>
                  <a:schemeClr val="accent3">
                    <a:lumMod val="75000"/>
                  </a:schemeClr>
                </a:solidFill>
                <a:latin typeface="Consolas" panose="020B0609020204030204" pitchFamily="49" charset="0"/>
              </a:rPr>
              <a:t> </a:t>
            </a:r>
            <a:r>
              <a:rPr lang="en-US" sz="2200" b="1" noProof="1">
                <a:solidFill>
                  <a:srgbClr val="0070C0"/>
                </a:solidFill>
                <a:latin typeface="Consolas" panose="020B0609020204030204" pitchFamily="49" charset="0"/>
              </a:rPr>
              <a:t>fa-pencil-alt</a:t>
            </a:r>
            <a:r>
              <a:rPr lang="en-US" sz="2200" b="1" noProof="1">
                <a:solidFill>
                  <a:srgbClr val="000000"/>
                </a:solidFill>
                <a:latin typeface="Consolas" panose="020B0609020204030204" pitchFamily="49" charset="0"/>
              </a:rPr>
              <a:t>"</a:t>
            </a:r>
            <a:r>
              <a:rPr lang="en-US" sz="2200" b="1" noProof="1">
                <a:solidFill>
                  <a:srgbClr val="A31515"/>
                </a:solidFill>
                <a:latin typeface="Consolas" panose="020B0609020204030204" pitchFamily="49" charset="0"/>
              </a:rPr>
              <a:t>&gt;&lt;/i&gt;</a:t>
            </a:r>
          </a:p>
          <a:p>
            <a:pPr>
              <a:lnSpc>
                <a:spcPct val="90000"/>
              </a:lnSpc>
            </a:pPr>
            <a:r>
              <a:rPr lang="en-US" sz="2200" b="1" noProof="1">
                <a:solidFill>
                  <a:srgbClr val="A31515"/>
                </a:solidFill>
                <a:latin typeface="Consolas" panose="020B0609020204030204" pitchFamily="49" charset="0"/>
              </a:rPr>
              <a:t>&lt;i class</a:t>
            </a:r>
            <a:r>
              <a:rPr lang="en-US" sz="2200" b="1" noProof="1">
                <a:solidFill>
                  <a:srgbClr val="000000"/>
                </a:solidFill>
                <a:latin typeface="Consolas" panose="020B0609020204030204" pitchFamily="49" charset="0"/>
              </a:rPr>
              <a:t>="</a:t>
            </a:r>
            <a:r>
              <a:rPr lang="en-US" sz="2200" b="1" noProof="1">
                <a:solidFill>
                  <a:srgbClr val="0070C0"/>
                </a:solidFill>
                <a:latin typeface="Consolas" panose="020B0609020204030204" pitchFamily="49" charset="0"/>
              </a:rPr>
              <a:t>fas</a:t>
            </a:r>
            <a:r>
              <a:rPr lang="en-US" sz="2200" b="1" noProof="1">
                <a:solidFill>
                  <a:schemeClr val="accent3">
                    <a:lumMod val="75000"/>
                  </a:schemeClr>
                </a:solidFill>
                <a:latin typeface="Consolas" panose="020B0609020204030204" pitchFamily="49" charset="0"/>
              </a:rPr>
              <a:t> </a:t>
            </a:r>
            <a:r>
              <a:rPr lang="en-US" sz="2200" b="1" noProof="1">
                <a:solidFill>
                  <a:srgbClr val="0070C0"/>
                </a:solidFill>
                <a:latin typeface="Consolas" panose="020B0609020204030204" pitchFamily="49" charset="0"/>
              </a:rPr>
              <a:t>fa-cogs</a:t>
            </a:r>
            <a:r>
              <a:rPr lang="en-US" sz="2200" b="1" noProof="1">
                <a:solidFill>
                  <a:srgbClr val="000000"/>
                </a:solidFill>
                <a:latin typeface="Consolas" panose="020B0609020204030204" pitchFamily="49" charset="0"/>
              </a:rPr>
              <a:t>"</a:t>
            </a:r>
            <a:r>
              <a:rPr lang="en-US" sz="2200" b="1" noProof="1">
                <a:solidFill>
                  <a:srgbClr val="A31515"/>
                </a:solidFill>
                <a:latin typeface="Consolas" panose="020B0609020204030204" pitchFamily="49" charset="0"/>
              </a:rPr>
              <a:t>&gt;&lt;/i&gt;</a:t>
            </a:r>
            <a:br>
              <a:rPr lang="en-US" sz="2200" b="1" noProof="1">
                <a:solidFill>
                  <a:srgbClr val="000000"/>
                </a:solidFill>
                <a:latin typeface="Consolas" panose="020B0609020204030204" pitchFamily="49" charset="0"/>
              </a:rPr>
            </a:br>
            <a:r>
              <a:rPr lang="en-US" sz="2200" b="1" noProof="1">
                <a:solidFill>
                  <a:srgbClr val="A31515"/>
                </a:solidFill>
                <a:latin typeface="Consolas" panose="020B0609020204030204" pitchFamily="49" charset="0"/>
              </a:rPr>
              <a:t>&lt;i class</a:t>
            </a:r>
            <a:r>
              <a:rPr lang="en-US" sz="2200" b="1" noProof="1">
                <a:solidFill>
                  <a:srgbClr val="000000"/>
                </a:solidFill>
                <a:latin typeface="Consolas" panose="020B0609020204030204" pitchFamily="49" charset="0"/>
              </a:rPr>
              <a:t>="</a:t>
            </a:r>
            <a:r>
              <a:rPr lang="en-US" sz="2200" b="1" noProof="1">
                <a:solidFill>
                  <a:srgbClr val="0070C0"/>
                </a:solidFill>
                <a:latin typeface="Consolas" panose="020B0609020204030204" pitchFamily="49" charset="0"/>
              </a:rPr>
              <a:t>fas</a:t>
            </a:r>
            <a:r>
              <a:rPr lang="en-US" sz="2200" b="1" noProof="1">
                <a:solidFill>
                  <a:schemeClr val="accent3">
                    <a:lumMod val="75000"/>
                  </a:schemeClr>
                </a:solidFill>
                <a:latin typeface="Consolas" panose="020B0609020204030204" pitchFamily="49" charset="0"/>
              </a:rPr>
              <a:t> </a:t>
            </a:r>
            <a:r>
              <a:rPr lang="en-US" sz="2200" b="1" noProof="1">
                <a:solidFill>
                  <a:srgbClr val="0070C0"/>
                </a:solidFill>
                <a:latin typeface="Consolas" panose="020B0609020204030204" pitchFamily="49" charset="0"/>
              </a:rPr>
              <a:t>fa-shopping-cart</a:t>
            </a:r>
            <a:r>
              <a:rPr lang="en-US" sz="2200" b="1" noProof="1">
                <a:solidFill>
                  <a:srgbClr val="000000"/>
                </a:solidFill>
                <a:latin typeface="Consolas" panose="020B0609020204030204" pitchFamily="49" charset="0"/>
              </a:rPr>
              <a:t>"</a:t>
            </a:r>
            <a:r>
              <a:rPr lang="en-US" sz="2200" b="1" noProof="1">
                <a:solidFill>
                  <a:srgbClr val="A31515"/>
                </a:solidFill>
                <a:latin typeface="Consolas" panose="020B0609020204030204" pitchFamily="49" charset="0"/>
              </a:rPr>
              <a:t>&gt;&lt;/i&gt;</a:t>
            </a:r>
          </a:p>
          <a:p>
            <a:pPr>
              <a:lnSpc>
                <a:spcPct val="90000"/>
              </a:lnSpc>
            </a:pPr>
            <a:r>
              <a:rPr lang="it-IT" sz="2200" b="1" noProof="1">
                <a:solidFill>
                  <a:srgbClr val="A31515"/>
                </a:solidFill>
                <a:latin typeface="Consolas" panose="020B0609020204030204" pitchFamily="49" charset="0"/>
              </a:rPr>
              <a:t>&lt;i class</a:t>
            </a:r>
            <a:r>
              <a:rPr lang="it-IT" sz="2200" b="1" noProof="1">
                <a:solidFill>
                  <a:srgbClr val="000000"/>
                </a:solidFill>
                <a:latin typeface="Consolas" panose="020B0609020204030204" pitchFamily="49" charset="0"/>
              </a:rPr>
              <a:t>="</a:t>
            </a:r>
            <a:r>
              <a:rPr lang="it-IT" sz="2200" b="1" noProof="1">
                <a:solidFill>
                  <a:srgbClr val="0070C0"/>
                </a:solidFill>
                <a:latin typeface="Consolas" panose="020B0609020204030204" pitchFamily="49" charset="0"/>
              </a:rPr>
              <a:t>fas</a:t>
            </a:r>
            <a:r>
              <a:rPr lang="it-IT" sz="2200" b="1" noProof="1">
                <a:solidFill>
                  <a:schemeClr val="accent3">
                    <a:lumMod val="75000"/>
                  </a:schemeClr>
                </a:solidFill>
                <a:latin typeface="Consolas" panose="020B0609020204030204" pitchFamily="49" charset="0"/>
              </a:rPr>
              <a:t> </a:t>
            </a:r>
            <a:r>
              <a:rPr lang="it-IT" sz="2200" b="1" noProof="1">
                <a:solidFill>
                  <a:srgbClr val="0070C0"/>
                </a:solidFill>
                <a:latin typeface="Consolas" panose="020B0609020204030204" pitchFamily="49" charset="0"/>
              </a:rPr>
              <a:t>fa-info-circle</a:t>
            </a:r>
            <a:r>
              <a:rPr lang="it-IT" sz="2200" b="1" noProof="1">
                <a:solidFill>
                  <a:srgbClr val="000000"/>
                </a:solidFill>
                <a:latin typeface="Consolas" panose="020B0609020204030204" pitchFamily="49" charset="0"/>
              </a:rPr>
              <a:t>"</a:t>
            </a:r>
            <a:r>
              <a:rPr lang="it-IT" sz="2200" b="1" noProof="1">
                <a:solidFill>
                  <a:srgbClr val="A31515"/>
                </a:solidFill>
                <a:latin typeface="Consolas" panose="020B0609020204030204" pitchFamily="49" charset="0"/>
              </a:rPr>
              <a:t>&gt;&lt;/i&gt;</a:t>
            </a:r>
          </a:p>
          <a:p>
            <a:pPr>
              <a:lnSpc>
                <a:spcPct val="90000"/>
              </a:lnSpc>
            </a:pPr>
            <a:r>
              <a:rPr lang="en-US" sz="2200" b="1" noProof="1">
                <a:solidFill>
                  <a:srgbClr val="A31515"/>
                </a:solidFill>
                <a:latin typeface="Consolas" panose="020B0609020204030204" pitchFamily="49" charset="0"/>
              </a:rPr>
              <a:t>&lt;i class</a:t>
            </a:r>
            <a:r>
              <a:rPr lang="en-US" sz="2200" b="1" noProof="1">
                <a:solidFill>
                  <a:srgbClr val="000000"/>
                </a:solidFill>
                <a:latin typeface="Consolas" panose="020B0609020204030204" pitchFamily="49" charset="0"/>
              </a:rPr>
              <a:t>="</a:t>
            </a:r>
            <a:r>
              <a:rPr lang="en-US" sz="2200" b="1" noProof="1">
                <a:solidFill>
                  <a:srgbClr val="0070C0"/>
                </a:solidFill>
                <a:latin typeface="Consolas" panose="020B0609020204030204" pitchFamily="49" charset="0"/>
              </a:rPr>
              <a:t>far</a:t>
            </a:r>
            <a:r>
              <a:rPr lang="en-US" sz="2200" b="1" noProof="1">
                <a:solidFill>
                  <a:schemeClr val="accent3">
                    <a:lumMod val="75000"/>
                  </a:schemeClr>
                </a:solidFill>
                <a:latin typeface="Consolas" panose="020B0609020204030204" pitchFamily="49" charset="0"/>
              </a:rPr>
              <a:t> </a:t>
            </a:r>
            <a:r>
              <a:rPr lang="en-US" sz="2200" b="1" noProof="1">
                <a:solidFill>
                  <a:srgbClr val="0070C0"/>
                </a:solidFill>
                <a:latin typeface="Consolas" panose="020B0609020204030204" pitchFamily="49" charset="0"/>
              </a:rPr>
              <a:t>fa-trash-alt</a:t>
            </a:r>
            <a:r>
              <a:rPr lang="en-US" sz="2200" b="1" noProof="1">
                <a:solidFill>
                  <a:srgbClr val="000000"/>
                </a:solidFill>
                <a:latin typeface="Consolas" panose="020B0609020204030204" pitchFamily="49" charset="0"/>
              </a:rPr>
              <a:t>"</a:t>
            </a:r>
            <a:r>
              <a:rPr lang="en-US" sz="2200" b="1" noProof="1">
                <a:solidFill>
                  <a:srgbClr val="A31515"/>
                </a:solidFill>
                <a:latin typeface="Consolas" panose="020B0609020204030204" pitchFamily="49" charset="0"/>
              </a:rPr>
              <a:t>&gt;&lt;/i&gt;</a:t>
            </a:r>
            <a:endParaRPr lang="en-GB" sz="2200" b="1" noProof="1">
              <a:solidFill>
                <a:srgbClr val="A31515"/>
              </a:solidFill>
              <a:latin typeface="Consolas" panose="020B0609020204030204" pitchFamily="49" charset="0"/>
            </a:endParaRPr>
          </a:p>
        </p:txBody>
      </p:sp>
    </p:spTree>
    <p:extLst>
      <p:ext uri="{BB962C8B-B14F-4D97-AF65-F5344CB8AC3E}">
        <p14:creationId xmlns:p14="http://schemas.microsoft.com/office/powerpoint/2010/main" val="127784203"/>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9A1DA41-F15A-4A36-BC07-5ABC6728BF4B}"/>
              </a:ext>
            </a:extLst>
          </p:cNvPr>
          <p:cNvSpPr>
            <a:spLocks noGrp="1"/>
          </p:cNvSpPr>
          <p:nvPr>
            <p:ph type="title" sz="quarter" idx="10"/>
          </p:nvPr>
        </p:nvSpPr>
        <p:spPr/>
        <p:txBody>
          <a:bodyPr/>
          <a:lstStyle/>
          <a:p>
            <a:r>
              <a:rPr lang="en-GB" dirty="0"/>
              <a:t>Position</a:t>
            </a:r>
          </a:p>
        </p:txBody>
      </p:sp>
      <p:pic>
        <p:nvPicPr>
          <p:cNvPr id="3" name="Graphic 2" descr="Packing Box Open">
            <a:extLst>
              <a:ext uri="{FF2B5EF4-FFF2-40B4-BE49-F238E27FC236}">
                <a16:creationId xmlns:a16="http://schemas.microsoft.com/office/drawing/2014/main" id="{E6899118-1D20-BBD4-C26B-4BE7B8815D6B}"/>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530450" y="1089000"/>
            <a:ext cx="3131100" cy="3131100"/>
          </a:xfrm>
          <a:prstGeom prst="rect">
            <a:avLst/>
          </a:prstGeom>
        </p:spPr>
      </p:pic>
    </p:spTree>
    <p:extLst>
      <p:ext uri="{BB962C8B-B14F-4D97-AF65-F5344CB8AC3E}">
        <p14:creationId xmlns:p14="http://schemas.microsoft.com/office/powerpoint/2010/main" val="2019207052"/>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ов контейнер 1">
            <a:extLst>
              <a:ext uri="{FF2B5EF4-FFF2-40B4-BE49-F238E27FC236}">
                <a16:creationId xmlns:a16="http://schemas.microsoft.com/office/drawing/2014/main" id="{E0756CC1-D00E-5EFB-FC0A-3006297D4CD2}"/>
              </a:ext>
            </a:extLst>
          </p:cNvPr>
          <p:cNvSpPr>
            <a:spLocks noGrp="1"/>
          </p:cNvSpPr>
          <p:nvPr>
            <p:ph type="body" sz="quarter" idx="10"/>
          </p:nvPr>
        </p:nvSpPr>
        <p:spPr/>
        <p:txBody>
          <a:bodyPr>
            <a:normAutofit/>
          </a:bodyPr>
          <a:lstStyle/>
          <a:p>
            <a:pPr>
              <a:lnSpc>
                <a:spcPct val="110000"/>
              </a:lnSpc>
            </a:pPr>
            <a:r>
              <a:rPr lang="en-US" sz="3000" b="0" dirty="0"/>
              <a:t>The position property specifies the type of positioning method used for an element (</a:t>
            </a:r>
            <a:r>
              <a:rPr lang="en-US" sz="3000" b="1" dirty="0">
                <a:solidFill>
                  <a:schemeClr val="bg1"/>
                </a:solidFill>
              </a:rPr>
              <a:t>static</a:t>
            </a:r>
            <a:r>
              <a:rPr lang="en-US" sz="3000" b="0" dirty="0"/>
              <a:t>, </a:t>
            </a:r>
            <a:r>
              <a:rPr lang="en-US" sz="3000" b="1" dirty="0">
                <a:solidFill>
                  <a:schemeClr val="bg1"/>
                </a:solidFill>
              </a:rPr>
              <a:t>relative</a:t>
            </a:r>
            <a:r>
              <a:rPr lang="en-US" sz="3000" b="0" dirty="0"/>
              <a:t>, </a:t>
            </a:r>
            <a:r>
              <a:rPr lang="en-US" sz="3000" b="1" dirty="0">
                <a:solidFill>
                  <a:schemeClr val="bg1"/>
                </a:solidFill>
              </a:rPr>
              <a:t>fixed</a:t>
            </a:r>
            <a:r>
              <a:rPr lang="en-US" sz="3000" b="0" dirty="0"/>
              <a:t>, </a:t>
            </a:r>
            <a:r>
              <a:rPr lang="en-US" sz="3000" b="1" dirty="0">
                <a:solidFill>
                  <a:schemeClr val="bg1"/>
                </a:solidFill>
              </a:rPr>
              <a:t>absolute</a:t>
            </a:r>
            <a:r>
              <a:rPr lang="en-US" sz="3000" b="0" dirty="0"/>
              <a:t> or </a:t>
            </a:r>
            <a:r>
              <a:rPr lang="en-US" sz="3000" b="1" dirty="0">
                <a:solidFill>
                  <a:schemeClr val="bg1"/>
                </a:solidFill>
              </a:rPr>
              <a:t>sticky</a:t>
            </a:r>
            <a:r>
              <a:rPr lang="en-US" sz="3000" b="0" dirty="0"/>
              <a:t>)</a:t>
            </a:r>
          </a:p>
          <a:p>
            <a:pPr>
              <a:lnSpc>
                <a:spcPct val="110000"/>
              </a:lnSpc>
            </a:pPr>
            <a:r>
              <a:rPr lang="en-US" sz="3000" b="0" dirty="0"/>
              <a:t>Elements are then positioned using the </a:t>
            </a:r>
            <a:r>
              <a:rPr lang="en-US" sz="3000" b="1" dirty="0">
                <a:solidFill>
                  <a:schemeClr val="bg1"/>
                </a:solidFill>
              </a:rPr>
              <a:t>top</a:t>
            </a:r>
            <a:r>
              <a:rPr lang="en-US" sz="3000" b="0" dirty="0"/>
              <a:t>, </a:t>
            </a:r>
            <a:r>
              <a:rPr lang="en-US" sz="3000" b="1" dirty="0">
                <a:solidFill>
                  <a:schemeClr val="bg1"/>
                </a:solidFill>
              </a:rPr>
              <a:t>bottom</a:t>
            </a:r>
            <a:r>
              <a:rPr lang="en-US" sz="3000" b="0" dirty="0"/>
              <a:t>, </a:t>
            </a:r>
            <a:r>
              <a:rPr lang="en-US" sz="3000" b="1" dirty="0">
                <a:solidFill>
                  <a:schemeClr val="bg1"/>
                </a:solidFill>
              </a:rPr>
              <a:t>left</a:t>
            </a:r>
            <a:r>
              <a:rPr lang="en-US" sz="3000" b="0" dirty="0"/>
              <a:t>, and </a:t>
            </a:r>
            <a:br>
              <a:rPr lang="en-US" sz="3000" b="0" dirty="0"/>
            </a:br>
            <a:r>
              <a:rPr lang="en-US" sz="3000" b="1" dirty="0">
                <a:solidFill>
                  <a:schemeClr val="bg1"/>
                </a:solidFill>
              </a:rPr>
              <a:t>right</a:t>
            </a:r>
            <a:r>
              <a:rPr lang="en-US" sz="3000" b="0" dirty="0"/>
              <a:t> properties</a:t>
            </a:r>
          </a:p>
          <a:p>
            <a:pPr>
              <a:lnSpc>
                <a:spcPct val="110000"/>
              </a:lnSpc>
            </a:pPr>
            <a:r>
              <a:rPr lang="en-US" sz="3000" b="0" dirty="0"/>
              <a:t>However, these properties will not work unless the position property </a:t>
            </a:r>
            <a:br>
              <a:rPr lang="en-US" sz="3000" b="0" dirty="0"/>
            </a:br>
            <a:r>
              <a:rPr lang="en-US" sz="3000" b="0" dirty="0"/>
              <a:t>is set first</a:t>
            </a:r>
          </a:p>
          <a:p>
            <a:pPr>
              <a:lnSpc>
                <a:spcPct val="110000"/>
              </a:lnSpc>
            </a:pPr>
            <a:r>
              <a:rPr lang="en-US" sz="3000" b="0" dirty="0"/>
              <a:t>They also work differently depending on the position value</a:t>
            </a:r>
          </a:p>
          <a:p>
            <a:pPr>
              <a:lnSpc>
                <a:spcPct val="110000"/>
              </a:lnSpc>
            </a:pPr>
            <a:r>
              <a:rPr lang="en-US" sz="3000" b="0" i="1" dirty="0">
                <a:hlinkClick r:id="rId2"/>
              </a:rPr>
              <a:t>Reference Documentation</a:t>
            </a:r>
            <a:endParaRPr lang="en-US" sz="3000" b="0" i="1" dirty="0"/>
          </a:p>
        </p:txBody>
      </p:sp>
      <p:sp>
        <p:nvSpPr>
          <p:cNvPr id="4" name="Title 3">
            <a:extLst>
              <a:ext uri="{FF2B5EF4-FFF2-40B4-BE49-F238E27FC236}">
                <a16:creationId xmlns:a16="http://schemas.microsoft.com/office/drawing/2014/main" id="{E9A1DA41-F15A-4A36-BC07-5ABC6728BF4B}"/>
              </a:ext>
            </a:extLst>
          </p:cNvPr>
          <p:cNvSpPr>
            <a:spLocks noGrp="1"/>
          </p:cNvSpPr>
          <p:nvPr>
            <p:ph type="title"/>
          </p:nvPr>
        </p:nvSpPr>
        <p:spPr/>
        <p:txBody>
          <a:bodyPr>
            <a:normAutofit/>
          </a:bodyPr>
          <a:lstStyle/>
          <a:p>
            <a:r>
              <a:rPr lang="en-GB" sz="4000" dirty="0"/>
              <a:t>Position</a:t>
            </a:r>
          </a:p>
        </p:txBody>
      </p:sp>
      <p:pic>
        <p:nvPicPr>
          <p:cNvPr id="3" name="Picture 2">
            <a:extLst>
              <a:ext uri="{FF2B5EF4-FFF2-40B4-BE49-F238E27FC236}">
                <a16:creationId xmlns:a16="http://schemas.microsoft.com/office/drawing/2014/main" id="{52385BF1-8D02-D379-5B0F-7822E339200F}"/>
              </a:ext>
            </a:extLst>
          </p:cNvPr>
          <p:cNvPicPr>
            <a:picLocks noChangeAspect="1"/>
          </p:cNvPicPr>
          <p:nvPr/>
        </p:nvPicPr>
        <p:blipFill rotWithShape="1">
          <a:blip r:embed="rId3"/>
          <a:srcRect t="9392" b="10355"/>
          <a:stretch/>
        </p:blipFill>
        <p:spPr>
          <a:xfrm>
            <a:off x="6512030" y="5260500"/>
            <a:ext cx="5241000" cy="1395000"/>
          </a:xfrm>
          <a:prstGeom prst="rect">
            <a:avLst/>
          </a:prstGeom>
          <a:ln>
            <a:noFill/>
          </a:ln>
          <a:effectLst>
            <a:outerShdw blurRad="292100" dist="139700" dir="2700000" algn="tl" rotWithShape="0">
              <a:srgbClr val="333333">
                <a:alpha val="65000"/>
              </a:srgbClr>
            </a:outerShdw>
          </a:effectLst>
        </p:spPr>
      </p:pic>
      <p:sp>
        <p:nvSpPr>
          <p:cNvPr id="5" name="Slide Number">
            <a:extLst>
              <a:ext uri="{FF2B5EF4-FFF2-40B4-BE49-F238E27FC236}">
                <a16:creationId xmlns:a16="http://schemas.microsoft.com/office/drawing/2014/main" id="{9EEAEB8C-5EA1-81CA-4D63-B01A9648BE98}"/>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67</a:t>
            </a:fld>
            <a:endParaRPr lang="en-US" noProof="0" dirty="0"/>
          </a:p>
        </p:txBody>
      </p:sp>
    </p:spTree>
    <p:extLst>
      <p:ext uri="{BB962C8B-B14F-4D97-AF65-F5344CB8AC3E}">
        <p14:creationId xmlns:p14="http://schemas.microsoft.com/office/powerpoint/2010/main" val="3954080204"/>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Position Static</a:t>
            </a:r>
          </a:p>
        </p:txBody>
      </p:sp>
      <p:sp>
        <p:nvSpPr>
          <p:cNvPr id="3" name="Text Placeholder 2"/>
          <p:cNvSpPr>
            <a:spLocks noGrp="1"/>
          </p:cNvSpPr>
          <p:nvPr>
            <p:ph type="body" sz="quarter" idx="10"/>
          </p:nvPr>
        </p:nvSpPr>
        <p:spPr/>
        <p:txBody>
          <a:bodyPr>
            <a:normAutofit/>
          </a:bodyPr>
          <a:lstStyle/>
          <a:p>
            <a:pPr>
              <a:buClr>
                <a:schemeClr val="tx1"/>
              </a:buClr>
            </a:pPr>
            <a:r>
              <a:rPr lang="en-US" dirty="0"/>
              <a:t>Static - the </a:t>
            </a:r>
            <a:r>
              <a:rPr lang="en-US" b="1" dirty="0">
                <a:solidFill>
                  <a:schemeClr val="bg1"/>
                </a:solidFill>
              </a:rPr>
              <a:t>default</a:t>
            </a:r>
            <a:r>
              <a:rPr lang="en-US" dirty="0"/>
              <a:t> state of every element</a:t>
            </a:r>
          </a:p>
          <a:p>
            <a:pPr lvl="1">
              <a:buClr>
                <a:schemeClr val="tx1"/>
              </a:buClr>
            </a:pPr>
            <a:r>
              <a:rPr lang="en-US" dirty="0"/>
              <a:t>Puts the element into its </a:t>
            </a:r>
            <a:r>
              <a:rPr lang="en-US" b="1" dirty="0">
                <a:solidFill>
                  <a:schemeClr val="bg1"/>
                </a:solidFill>
              </a:rPr>
              <a:t>normal position</a:t>
            </a:r>
            <a:br>
              <a:rPr lang="en-US" b="1" dirty="0">
                <a:solidFill>
                  <a:schemeClr val="bg1"/>
                </a:solidFill>
              </a:rPr>
            </a:br>
            <a:r>
              <a:rPr lang="en-US" dirty="0"/>
              <a:t>in the document layout flow</a:t>
            </a:r>
          </a:p>
          <a:p>
            <a:pPr>
              <a:buClr>
                <a:schemeClr val="tx1"/>
              </a:buClr>
            </a:pPr>
            <a:r>
              <a:rPr lang="en-US" dirty="0"/>
              <a:t>It will </a:t>
            </a:r>
            <a:r>
              <a:rPr lang="en-US" b="1" dirty="0">
                <a:solidFill>
                  <a:schemeClr val="bg1"/>
                </a:solidFill>
              </a:rPr>
              <a:t>NOT</a:t>
            </a:r>
            <a:r>
              <a:rPr lang="en-US" dirty="0"/>
              <a:t> react to the following properties: </a:t>
            </a:r>
            <a:r>
              <a:rPr lang="en-US" sz="3200" b="1" dirty="0">
                <a:solidFill>
                  <a:schemeClr val="bg1"/>
                </a:solidFill>
                <a:latin typeface="Consolas" panose="020B0609020204030204" pitchFamily="49" charset="0"/>
              </a:rPr>
              <a:t>top</a:t>
            </a:r>
            <a:r>
              <a:rPr lang="en-US" dirty="0"/>
              <a:t>, </a:t>
            </a:r>
            <a:r>
              <a:rPr lang="en-US" sz="3200" b="1" dirty="0">
                <a:solidFill>
                  <a:schemeClr val="bg1"/>
                </a:solidFill>
                <a:latin typeface="Consolas" panose="020B0609020204030204" pitchFamily="49" charset="0"/>
              </a:rPr>
              <a:t>bottom</a:t>
            </a:r>
            <a:r>
              <a:rPr lang="en-US" dirty="0"/>
              <a:t>, </a:t>
            </a:r>
            <a:r>
              <a:rPr lang="en-US" sz="3200" b="1" dirty="0">
                <a:solidFill>
                  <a:schemeClr val="bg1"/>
                </a:solidFill>
                <a:latin typeface="Consolas" panose="020B0609020204030204" pitchFamily="49" charset="0"/>
              </a:rPr>
              <a:t>left</a:t>
            </a:r>
            <a:r>
              <a:rPr lang="en-US" dirty="0"/>
              <a:t>, </a:t>
            </a:r>
            <a:r>
              <a:rPr lang="en-US" sz="3200" b="1" dirty="0">
                <a:solidFill>
                  <a:schemeClr val="bg1"/>
                </a:solidFill>
                <a:latin typeface="Consolas" panose="020B0609020204030204" pitchFamily="49" charset="0"/>
              </a:rPr>
              <a:t>right</a:t>
            </a:r>
            <a:r>
              <a:rPr lang="en-US" dirty="0"/>
              <a:t>, </a:t>
            </a:r>
            <a:r>
              <a:rPr lang="en-US" sz="3200" b="1" dirty="0">
                <a:solidFill>
                  <a:schemeClr val="bg1"/>
                </a:solidFill>
                <a:latin typeface="Consolas" panose="020B0609020204030204" pitchFamily="49" charset="0"/>
              </a:rPr>
              <a:t>z-index</a:t>
            </a:r>
            <a:endParaRPr lang="en-US" b="1" dirty="0">
              <a:solidFill>
                <a:schemeClr val="bg1"/>
              </a:solidFill>
              <a:latin typeface="Consolas" panose="020B0609020204030204" pitchFamily="49" charset="0"/>
            </a:endParaRPr>
          </a:p>
        </p:txBody>
      </p:sp>
      <p:sp>
        <p:nvSpPr>
          <p:cNvPr id="5" name="Текстово поле 10"/>
          <p:cNvSpPr txBox="1"/>
          <p:nvPr/>
        </p:nvSpPr>
        <p:spPr>
          <a:xfrm>
            <a:off x="8251430" y="1456996"/>
            <a:ext cx="3510000" cy="1326105"/>
          </a:xfrm>
          <a:prstGeom prst="rect">
            <a:avLst/>
          </a:prstGeom>
          <a:solidFill>
            <a:schemeClr val="accent6">
              <a:lumMod val="75000"/>
              <a:alpha val="15000"/>
            </a:schemeClr>
          </a:solidFill>
          <a:ln w="12700">
            <a:solidFill>
              <a:schemeClr val="tx1">
                <a:lumMod val="75000"/>
              </a:schemeClr>
            </a:solidFill>
          </a:ln>
        </p:spPr>
        <p:txBody>
          <a:bodyPr vert="horz" wrap="square" lIns="144000" tIns="108000" rIns="144000" bIns="108000" rtlCol="0">
            <a:spAutoFit/>
          </a:bodyPr>
          <a:lstStyle/>
          <a:p>
            <a:r>
              <a:rPr lang="en-GB" sz="2400" b="1" dirty="0">
                <a:solidFill>
                  <a:srgbClr val="800000"/>
                </a:solidFill>
                <a:latin typeface="Consolas" panose="020B0609020204030204" pitchFamily="49" charset="0"/>
              </a:rPr>
              <a:t>div</a:t>
            </a:r>
            <a:r>
              <a:rPr lang="en-GB" sz="2400" b="1" dirty="0">
                <a:solidFill>
                  <a:srgbClr val="000000"/>
                </a:solidFill>
                <a:latin typeface="Consolas" panose="020B0609020204030204" pitchFamily="49" charset="0"/>
              </a:rPr>
              <a:t> {</a:t>
            </a:r>
          </a:p>
          <a:p>
            <a:r>
              <a:rPr lang="en-GB" sz="2400" b="1" dirty="0">
                <a:solidFill>
                  <a:srgbClr val="000000"/>
                </a:solidFill>
                <a:latin typeface="Consolas" panose="020B0609020204030204" pitchFamily="49" charset="0"/>
              </a:rPr>
              <a:t>  </a:t>
            </a:r>
            <a:r>
              <a:rPr lang="en-GB" sz="2400" b="1" dirty="0">
                <a:solidFill>
                  <a:srgbClr val="FF0000"/>
                </a:solidFill>
                <a:latin typeface="Consolas" panose="020B0609020204030204" pitchFamily="49" charset="0"/>
              </a:rPr>
              <a:t>position</a:t>
            </a:r>
            <a:r>
              <a:rPr lang="en-GB" sz="2400" b="1" dirty="0">
                <a:solidFill>
                  <a:srgbClr val="000000"/>
                </a:solidFill>
                <a:latin typeface="Consolas" panose="020B0609020204030204" pitchFamily="49" charset="0"/>
              </a:rPr>
              <a:t>: </a:t>
            </a:r>
            <a:r>
              <a:rPr lang="en-GB" sz="2400" b="1" dirty="0">
                <a:solidFill>
                  <a:srgbClr val="0451A5"/>
                </a:solidFill>
                <a:latin typeface="Consolas" panose="020B0609020204030204" pitchFamily="49" charset="0"/>
              </a:rPr>
              <a:t>static</a:t>
            </a:r>
            <a:r>
              <a:rPr lang="en-GB" sz="2400" b="1" dirty="0">
                <a:solidFill>
                  <a:srgbClr val="000000"/>
                </a:solidFill>
                <a:latin typeface="Consolas" panose="020B0609020204030204" pitchFamily="49" charset="0"/>
              </a:rPr>
              <a:t>;</a:t>
            </a:r>
          </a:p>
          <a:p>
            <a:r>
              <a:rPr lang="en-GB" sz="2400" b="1" dirty="0">
                <a:solidFill>
                  <a:srgbClr val="000000"/>
                </a:solidFill>
                <a:latin typeface="Consolas" panose="020B0609020204030204" pitchFamily="49" charset="0"/>
              </a:rPr>
              <a:t>}</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31000" y="4084635"/>
            <a:ext cx="4039402" cy="2338078"/>
          </a:xfrm>
          <a:prstGeom prst="rect">
            <a:avLst/>
          </a:prstGeom>
          <a:ln>
            <a:noFill/>
          </a:ln>
          <a:effectLst>
            <a:outerShdw blurRad="292100" dist="139700" dir="2700000" algn="tl" rotWithShape="0">
              <a:srgbClr val="333333">
                <a:alpha val="65000"/>
              </a:srgbClr>
            </a:outerShdw>
          </a:effectLst>
        </p:spPr>
      </p:pic>
      <p:sp>
        <p:nvSpPr>
          <p:cNvPr id="7" name="Slide Number">
            <a:extLst>
              <a:ext uri="{FF2B5EF4-FFF2-40B4-BE49-F238E27FC236}">
                <a16:creationId xmlns:a16="http://schemas.microsoft.com/office/drawing/2014/main" id="{9561B5C7-2844-4F45-9B4F-1D5CAA36F40E}"/>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68</a:t>
            </a:fld>
            <a:endParaRPr lang="en-US" noProof="0" dirty="0"/>
          </a:p>
        </p:txBody>
      </p:sp>
      <p:pic>
        <p:nvPicPr>
          <p:cNvPr id="2" name="Picture 1">
            <a:extLst>
              <a:ext uri="{FF2B5EF4-FFF2-40B4-BE49-F238E27FC236}">
                <a16:creationId xmlns:a16="http://schemas.microsoft.com/office/drawing/2014/main" id="{3D42E385-77FE-3015-3FBE-9D29173468E9}"/>
              </a:ext>
            </a:extLst>
          </p:cNvPr>
          <p:cNvPicPr>
            <a:picLocks noChangeAspect="1"/>
          </p:cNvPicPr>
          <p:nvPr/>
        </p:nvPicPr>
        <p:blipFill>
          <a:blip r:embed="rId3"/>
          <a:stretch>
            <a:fillRect/>
          </a:stretch>
        </p:blipFill>
        <p:spPr>
          <a:xfrm>
            <a:off x="696000" y="4684448"/>
            <a:ext cx="5241000" cy="173826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737920813"/>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Position Relative</a:t>
            </a:r>
          </a:p>
        </p:txBody>
      </p:sp>
      <p:sp>
        <p:nvSpPr>
          <p:cNvPr id="3" name="Text Placeholder 2"/>
          <p:cNvSpPr>
            <a:spLocks noGrp="1"/>
          </p:cNvSpPr>
          <p:nvPr>
            <p:ph type="body" sz="quarter" idx="10"/>
          </p:nvPr>
        </p:nvSpPr>
        <p:spPr>
          <a:xfrm>
            <a:off x="190402" y="1196125"/>
            <a:ext cx="6085598" cy="5528766"/>
          </a:xfrm>
        </p:spPr>
        <p:txBody>
          <a:bodyPr>
            <a:normAutofit/>
          </a:bodyPr>
          <a:lstStyle/>
          <a:p>
            <a:pPr>
              <a:buClr>
                <a:schemeClr val="tx1"/>
              </a:buClr>
            </a:pPr>
            <a:r>
              <a:rPr lang="en-US" dirty="0"/>
              <a:t>It looks like static positioning, but once the positioned element has taken its place, you can then modify its final position with</a:t>
            </a:r>
            <a:r>
              <a:rPr lang="en-GB" dirty="0"/>
              <a:t> the </a:t>
            </a:r>
            <a:br>
              <a:rPr lang="en-GB" dirty="0"/>
            </a:br>
            <a:r>
              <a:rPr lang="en-GB" b="1" dirty="0">
                <a:solidFill>
                  <a:schemeClr val="bg1"/>
                </a:solidFill>
              </a:rPr>
              <a:t>positional properties</a:t>
            </a:r>
          </a:p>
        </p:txBody>
      </p:sp>
      <p:sp>
        <p:nvSpPr>
          <p:cNvPr id="7" name="Slide Number">
            <a:extLst>
              <a:ext uri="{FF2B5EF4-FFF2-40B4-BE49-F238E27FC236}">
                <a16:creationId xmlns:a16="http://schemas.microsoft.com/office/drawing/2014/main" id="{35976304-B80C-4C68-8DBC-7C96102CAB0E}"/>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69</a:t>
            </a:fld>
            <a:endParaRPr lang="en-US" noProof="0" dirty="0"/>
          </a:p>
        </p:txBody>
      </p:sp>
      <p:sp>
        <p:nvSpPr>
          <p:cNvPr id="9" name="Текстово поле 7">
            <a:extLst>
              <a:ext uri="{FF2B5EF4-FFF2-40B4-BE49-F238E27FC236}">
                <a16:creationId xmlns:a16="http://schemas.microsoft.com/office/drawing/2014/main" id="{E260C338-381A-4556-A948-2DD528A19FBA}"/>
              </a:ext>
            </a:extLst>
          </p:cNvPr>
          <p:cNvSpPr txBox="1"/>
          <p:nvPr/>
        </p:nvSpPr>
        <p:spPr>
          <a:xfrm>
            <a:off x="6485435" y="1279847"/>
            <a:ext cx="5623535" cy="882677"/>
          </a:xfrm>
          <a:prstGeom prst="rect">
            <a:avLst/>
          </a:prstGeom>
          <a:solidFill>
            <a:schemeClr val="accent6">
              <a:lumMod val="75000"/>
              <a:alpha val="15000"/>
            </a:schemeClr>
          </a:solidFill>
          <a:ln w="12700">
            <a:solidFill>
              <a:schemeClr val="tx1">
                <a:lumMod val="75000"/>
              </a:schemeClr>
            </a:solidFill>
          </a:ln>
        </p:spPr>
        <p:txBody>
          <a:bodyPr vert="horz" wrap="square" lIns="143963" tIns="107972" rIns="143963" bIns="107972" rtlCol="0">
            <a:spAutoFit/>
          </a:bodyPr>
          <a:lstStyle/>
          <a:p>
            <a:pPr>
              <a:lnSpc>
                <a:spcPct val="90000"/>
              </a:lnSpc>
            </a:pPr>
            <a:r>
              <a:rPr lang="en-GB" sz="2399" b="1" noProof="1">
                <a:solidFill>
                  <a:srgbClr val="800000"/>
                </a:solidFill>
                <a:latin typeface="Consolas" panose="020B0609020204030204" pitchFamily="49" charset="0"/>
              </a:rPr>
              <a:t>&lt;img src="cup.jpg"&gt;</a:t>
            </a:r>
          </a:p>
          <a:p>
            <a:pPr>
              <a:lnSpc>
                <a:spcPct val="90000"/>
              </a:lnSpc>
            </a:pPr>
            <a:r>
              <a:rPr lang="en-GB" sz="2399" b="1" noProof="1">
                <a:solidFill>
                  <a:srgbClr val="800000"/>
                </a:solidFill>
                <a:latin typeface="Consolas" panose="020B0609020204030204" pitchFamily="49" charset="0"/>
              </a:rPr>
              <a:t>&lt;img class="new" src="new.png"&gt;</a:t>
            </a:r>
            <a:endParaRPr lang="en-GB" sz="2399" b="1" dirty="0">
              <a:solidFill>
                <a:srgbClr val="000000"/>
              </a:solidFill>
              <a:latin typeface="Consolas" panose="020B0609020204030204" pitchFamily="49" charset="0"/>
            </a:endParaRPr>
          </a:p>
        </p:txBody>
      </p:sp>
      <p:sp>
        <p:nvSpPr>
          <p:cNvPr id="10" name="Текстово поле 9">
            <a:extLst>
              <a:ext uri="{FF2B5EF4-FFF2-40B4-BE49-F238E27FC236}">
                <a16:creationId xmlns:a16="http://schemas.microsoft.com/office/drawing/2014/main" id="{297EC1AE-E340-4CC9-9B7A-8A337519AC45}"/>
              </a:ext>
            </a:extLst>
          </p:cNvPr>
          <p:cNvSpPr txBox="1"/>
          <p:nvPr/>
        </p:nvSpPr>
        <p:spPr>
          <a:xfrm>
            <a:off x="6485435" y="2327792"/>
            <a:ext cx="3870000" cy="1879405"/>
          </a:xfrm>
          <a:prstGeom prst="rect">
            <a:avLst/>
          </a:prstGeom>
          <a:solidFill>
            <a:schemeClr val="accent6">
              <a:lumMod val="75000"/>
              <a:alpha val="15000"/>
            </a:schemeClr>
          </a:solidFill>
          <a:ln w="12700">
            <a:solidFill>
              <a:schemeClr val="tx1">
                <a:lumMod val="75000"/>
              </a:schemeClr>
            </a:solidFill>
          </a:ln>
        </p:spPr>
        <p:txBody>
          <a:bodyPr vert="horz" wrap="square" lIns="143963" tIns="107972" rIns="143963" bIns="107972" rtlCol="0">
            <a:spAutoFit/>
          </a:bodyPr>
          <a:lstStyle/>
          <a:p>
            <a:pPr>
              <a:lnSpc>
                <a:spcPct val="90000"/>
              </a:lnSpc>
            </a:pPr>
            <a:r>
              <a:rPr lang="en-GB" sz="2399" b="1" noProof="1">
                <a:solidFill>
                  <a:srgbClr val="800000"/>
                </a:solidFill>
                <a:latin typeface="Consolas" panose="020B0609020204030204" pitchFamily="49" charset="0"/>
              </a:rPr>
              <a:t>img.new</a:t>
            </a:r>
            <a:r>
              <a:rPr lang="en-GB" sz="2399" b="1" dirty="0">
                <a:solidFill>
                  <a:srgbClr val="000000"/>
                </a:solidFill>
                <a:latin typeface="Consolas" panose="020B0609020204030204" pitchFamily="49" charset="0"/>
              </a:rPr>
              <a:t> {</a:t>
            </a:r>
          </a:p>
          <a:p>
            <a:pPr>
              <a:lnSpc>
                <a:spcPct val="90000"/>
              </a:lnSpc>
            </a:pPr>
            <a:r>
              <a:rPr lang="en-US" sz="2399" b="1" dirty="0">
                <a:solidFill>
                  <a:srgbClr val="FF0000"/>
                </a:solidFill>
                <a:latin typeface="Consolas" panose="020B0609020204030204" pitchFamily="49" charset="0"/>
              </a:rPr>
              <a:t>  position</a:t>
            </a:r>
            <a:r>
              <a:rPr lang="en-US" sz="2399" b="1" dirty="0">
                <a:solidFill>
                  <a:srgbClr val="000000"/>
                </a:solidFill>
                <a:latin typeface="Consolas" panose="020B0609020204030204" pitchFamily="49" charset="0"/>
              </a:rPr>
              <a:t>: </a:t>
            </a:r>
            <a:r>
              <a:rPr lang="en-US" sz="2399" b="1" dirty="0">
                <a:solidFill>
                  <a:srgbClr val="0070C0"/>
                </a:solidFill>
                <a:latin typeface="Consolas" panose="020B0609020204030204" pitchFamily="49" charset="0"/>
              </a:rPr>
              <a:t>relative</a:t>
            </a:r>
            <a:r>
              <a:rPr lang="en-US" sz="2399" b="1" dirty="0">
                <a:solidFill>
                  <a:srgbClr val="000000"/>
                </a:solidFill>
                <a:latin typeface="Consolas" panose="020B0609020204030204" pitchFamily="49" charset="0"/>
              </a:rPr>
              <a:t>;</a:t>
            </a:r>
          </a:p>
          <a:p>
            <a:pPr>
              <a:lnSpc>
                <a:spcPct val="90000"/>
              </a:lnSpc>
            </a:pPr>
            <a:r>
              <a:rPr lang="en-US" sz="2399" b="1" dirty="0">
                <a:solidFill>
                  <a:srgbClr val="000000"/>
                </a:solidFill>
                <a:latin typeface="Consolas" panose="020B0609020204030204" pitchFamily="49" charset="0"/>
              </a:rPr>
              <a:t>  </a:t>
            </a:r>
            <a:r>
              <a:rPr lang="en-US" sz="2399" b="1" dirty="0">
                <a:solidFill>
                  <a:srgbClr val="FF0000"/>
                </a:solidFill>
                <a:latin typeface="Consolas" panose="020B0609020204030204" pitchFamily="49" charset="0"/>
              </a:rPr>
              <a:t>top</a:t>
            </a:r>
            <a:r>
              <a:rPr lang="en-US" sz="2399" b="1" dirty="0">
                <a:solidFill>
                  <a:srgbClr val="000000"/>
                </a:solidFill>
                <a:latin typeface="Consolas" panose="020B0609020204030204" pitchFamily="49" charset="0"/>
              </a:rPr>
              <a:t>: </a:t>
            </a:r>
            <a:r>
              <a:rPr lang="en-US" sz="2399" b="1" dirty="0">
                <a:solidFill>
                  <a:schemeClr val="accent2">
                    <a:lumMod val="75000"/>
                  </a:schemeClr>
                </a:solidFill>
                <a:latin typeface="Consolas" panose="020B0609020204030204" pitchFamily="49" charset="0"/>
              </a:rPr>
              <a:t>-200px</a:t>
            </a:r>
            <a:r>
              <a:rPr lang="en-US" sz="2399" b="1" dirty="0">
                <a:solidFill>
                  <a:srgbClr val="000000"/>
                </a:solidFill>
                <a:latin typeface="Consolas" panose="020B0609020204030204" pitchFamily="49" charset="0"/>
              </a:rPr>
              <a:t>;</a:t>
            </a:r>
          </a:p>
          <a:p>
            <a:pPr>
              <a:lnSpc>
                <a:spcPct val="90000"/>
              </a:lnSpc>
            </a:pPr>
            <a:r>
              <a:rPr lang="en-US" sz="2399" b="1" dirty="0">
                <a:solidFill>
                  <a:srgbClr val="000000"/>
                </a:solidFill>
                <a:latin typeface="Consolas" panose="020B0609020204030204" pitchFamily="49" charset="0"/>
              </a:rPr>
              <a:t>  </a:t>
            </a:r>
            <a:r>
              <a:rPr lang="en-US" sz="2399" b="1" dirty="0">
                <a:solidFill>
                  <a:srgbClr val="FF0000"/>
                </a:solidFill>
                <a:latin typeface="Consolas" panose="020B0609020204030204" pitchFamily="49" charset="0"/>
              </a:rPr>
              <a:t>right</a:t>
            </a:r>
            <a:r>
              <a:rPr lang="en-US" sz="2399" b="1" dirty="0">
                <a:solidFill>
                  <a:srgbClr val="000000"/>
                </a:solidFill>
                <a:latin typeface="Consolas" panose="020B0609020204030204" pitchFamily="49" charset="0"/>
              </a:rPr>
              <a:t>: </a:t>
            </a:r>
            <a:r>
              <a:rPr lang="en-US" sz="2399" b="1" dirty="0">
                <a:solidFill>
                  <a:schemeClr val="accent2">
                    <a:lumMod val="75000"/>
                  </a:schemeClr>
                </a:solidFill>
                <a:latin typeface="Consolas" panose="020B0609020204030204" pitchFamily="49" charset="0"/>
              </a:rPr>
              <a:t>150px</a:t>
            </a:r>
            <a:r>
              <a:rPr lang="en-US" sz="2399" b="1" dirty="0">
                <a:solidFill>
                  <a:srgbClr val="000000"/>
                </a:solidFill>
                <a:latin typeface="Consolas" panose="020B0609020204030204" pitchFamily="49" charset="0"/>
              </a:rPr>
              <a:t>;</a:t>
            </a:r>
            <a:endParaRPr lang="en-GB" sz="2399" b="1" dirty="0">
              <a:solidFill>
                <a:srgbClr val="000000"/>
              </a:solidFill>
              <a:latin typeface="Consolas" panose="020B0609020204030204" pitchFamily="49" charset="0"/>
            </a:endParaRPr>
          </a:p>
          <a:p>
            <a:pPr>
              <a:lnSpc>
                <a:spcPct val="90000"/>
              </a:lnSpc>
            </a:pPr>
            <a:r>
              <a:rPr lang="en-GB" sz="2399" b="1" dirty="0">
                <a:solidFill>
                  <a:srgbClr val="000000"/>
                </a:solidFill>
                <a:latin typeface="Consolas" panose="020B0609020204030204" pitchFamily="49" charset="0"/>
              </a:rPr>
              <a:t>}</a:t>
            </a:r>
          </a:p>
        </p:txBody>
      </p:sp>
      <p:pic>
        <p:nvPicPr>
          <p:cNvPr id="11" name="Picture 9">
            <a:extLst>
              <a:ext uri="{FF2B5EF4-FFF2-40B4-BE49-F238E27FC236}">
                <a16:creationId xmlns:a16="http://schemas.microsoft.com/office/drawing/2014/main" id="{525EA7B3-9E01-4BFF-94C5-0E8B797B87B8}"/>
              </a:ext>
            </a:extLst>
          </p:cNvPr>
          <p:cNvPicPr>
            <a:picLocks noChangeAspect="1"/>
          </p:cNvPicPr>
          <p:nvPr/>
        </p:nvPicPr>
        <p:blipFill>
          <a:blip r:embed="rId2"/>
          <a:stretch>
            <a:fillRect/>
          </a:stretch>
        </p:blipFill>
        <p:spPr>
          <a:xfrm>
            <a:off x="488320" y="4678307"/>
            <a:ext cx="3067192" cy="2002914"/>
          </a:xfrm>
          <a:prstGeom prst="rect">
            <a:avLst/>
          </a:prstGeom>
          <a:ln>
            <a:noFill/>
          </a:ln>
          <a:effectLst>
            <a:outerShdw blurRad="292100" dist="139700" dir="2700000" algn="tl" rotWithShape="0">
              <a:srgbClr val="333333">
                <a:alpha val="65000"/>
              </a:srgbClr>
            </a:outerShdw>
          </a:effectLst>
        </p:spPr>
      </p:pic>
      <p:sp>
        <p:nvSpPr>
          <p:cNvPr id="12" name="Right Arrow 8">
            <a:extLst>
              <a:ext uri="{FF2B5EF4-FFF2-40B4-BE49-F238E27FC236}">
                <a16:creationId xmlns:a16="http://schemas.microsoft.com/office/drawing/2014/main" id="{71969FB6-9AE1-473D-AC73-597AC5A574D8}"/>
              </a:ext>
            </a:extLst>
          </p:cNvPr>
          <p:cNvSpPr/>
          <p:nvPr/>
        </p:nvSpPr>
        <p:spPr bwMode="auto">
          <a:xfrm>
            <a:off x="4139435" y="5505543"/>
            <a:ext cx="581292" cy="422208"/>
          </a:xfrm>
          <a:prstGeom prst="rightArrow">
            <a:avLst>
              <a:gd name="adj1" fmla="val 50000"/>
              <a:gd name="adj2" fmla="val 47066"/>
            </a:avLst>
          </a:prstGeom>
          <a:solidFill>
            <a:schemeClr val="dk2">
              <a:alpha val="80000"/>
            </a:schemeClr>
          </a:solidFill>
          <a:ln w="1905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endParaRPr lang="en-US" sz="2799" b="1" dirty="0">
              <a:solidFill>
                <a:srgbClr val="FFFFFF"/>
              </a:solidFill>
              <a:effectLst>
                <a:outerShdw blurRad="38100" dist="38100" dir="2700000" algn="tl">
                  <a:srgbClr val="000000">
                    <a:alpha val="43137"/>
                  </a:srgbClr>
                </a:outerShdw>
              </a:effectLst>
            </a:endParaRPr>
          </a:p>
        </p:txBody>
      </p:sp>
      <p:pic>
        <p:nvPicPr>
          <p:cNvPr id="13" name="Picture 4">
            <a:extLst>
              <a:ext uri="{FF2B5EF4-FFF2-40B4-BE49-F238E27FC236}">
                <a16:creationId xmlns:a16="http://schemas.microsoft.com/office/drawing/2014/main" id="{06E159E6-1DB9-4A19-9EF8-A5EB2494B1F7}"/>
              </a:ext>
            </a:extLst>
          </p:cNvPr>
          <p:cNvPicPr>
            <a:picLocks noChangeAspect="1"/>
          </p:cNvPicPr>
          <p:nvPr/>
        </p:nvPicPr>
        <p:blipFill>
          <a:blip r:embed="rId3"/>
          <a:stretch>
            <a:fillRect/>
          </a:stretch>
        </p:blipFill>
        <p:spPr>
          <a:xfrm>
            <a:off x="5265002" y="4446615"/>
            <a:ext cx="2371242" cy="2310635"/>
          </a:xfrm>
          <a:prstGeom prst="rect">
            <a:avLst/>
          </a:prstGeom>
          <a:ln>
            <a:noFill/>
          </a:ln>
          <a:effectLst>
            <a:outerShdw blurRad="292100" dist="139700" dir="2700000" algn="tl" rotWithShape="0">
              <a:srgbClr val="333333">
                <a:alpha val="65000"/>
              </a:srgbClr>
            </a:outerShdw>
          </a:effectLst>
        </p:spPr>
      </p:pic>
      <p:pic>
        <p:nvPicPr>
          <p:cNvPr id="14" name="Picture 2" descr="https://www.internetingishard.com/html-and-css/advanced-positioning/css-positioning-schemes-790d5b.png">
            <a:extLst>
              <a:ext uri="{FF2B5EF4-FFF2-40B4-BE49-F238E27FC236}">
                <a16:creationId xmlns:a16="http://schemas.microsoft.com/office/drawing/2014/main" id="{14B3260E-8477-4597-BA91-084F52473980}"/>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a:stretch/>
        </p:blipFill>
        <p:spPr bwMode="auto">
          <a:xfrm>
            <a:off x="9133303" y="4576696"/>
            <a:ext cx="1545394" cy="200291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0757336"/>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2"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Текстов контейнер 4">
            <a:extLst>
              <a:ext uri="{FF2B5EF4-FFF2-40B4-BE49-F238E27FC236}">
                <a16:creationId xmlns:a16="http://schemas.microsoft.com/office/drawing/2014/main" id="{4ABCDDE1-E807-74AC-554D-43FBD5F2B06E}"/>
              </a:ext>
            </a:extLst>
          </p:cNvPr>
          <p:cNvSpPr>
            <a:spLocks noGrp="1"/>
          </p:cNvSpPr>
          <p:nvPr>
            <p:ph type="body" sz="quarter" idx="10"/>
          </p:nvPr>
        </p:nvSpPr>
        <p:spPr/>
        <p:txBody>
          <a:bodyPr/>
          <a:lstStyle/>
          <a:p>
            <a:pPr>
              <a:lnSpc>
                <a:spcPct val="120000"/>
              </a:lnSpc>
            </a:pPr>
            <a:r>
              <a:rPr lang="en-US" sz="3600" dirty="0"/>
              <a:t>This way we have to position the element based on a two </a:t>
            </a:r>
            <a:r>
              <a:rPr lang="en-US" sz="3600" dirty="0" err="1"/>
              <a:t>dimentional</a:t>
            </a:r>
            <a:r>
              <a:rPr lang="en-US" sz="3600" dirty="0"/>
              <a:t> coordinate system. We can use left, top, bottom, right to place the element exactly where we want</a:t>
            </a:r>
          </a:p>
        </p:txBody>
      </p:sp>
      <p:sp>
        <p:nvSpPr>
          <p:cNvPr id="4" name="Title 3">
            <a:extLst>
              <a:ext uri="{FF2B5EF4-FFF2-40B4-BE49-F238E27FC236}">
                <a16:creationId xmlns:a16="http://schemas.microsoft.com/office/drawing/2014/main" id="{E9A1DA41-F15A-4A36-BC07-5ABC6728BF4B}"/>
              </a:ext>
            </a:extLst>
          </p:cNvPr>
          <p:cNvSpPr>
            <a:spLocks noGrp="1"/>
          </p:cNvSpPr>
          <p:nvPr>
            <p:ph type="title"/>
          </p:nvPr>
        </p:nvSpPr>
        <p:spPr/>
        <p:txBody>
          <a:bodyPr>
            <a:normAutofit/>
          </a:bodyPr>
          <a:lstStyle/>
          <a:p>
            <a:r>
              <a:rPr lang="en-US" sz="4000" dirty="0"/>
              <a:t>Position Absolute</a:t>
            </a:r>
            <a:endParaRPr lang="en-GB" sz="4000" dirty="0"/>
          </a:p>
        </p:txBody>
      </p:sp>
      <p:sp>
        <p:nvSpPr>
          <p:cNvPr id="8" name="Текстово поле 10">
            <a:extLst>
              <a:ext uri="{FF2B5EF4-FFF2-40B4-BE49-F238E27FC236}">
                <a16:creationId xmlns:a16="http://schemas.microsoft.com/office/drawing/2014/main" id="{AFD9D407-BFB2-D20A-81DC-2560D1ACCACB}"/>
              </a:ext>
            </a:extLst>
          </p:cNvPr>
          <p:cNvSpPr txBox="1"/>
          <p:nvPr/>
        </p:nvSpPr>
        <p:spPr>
          <a:xfrm>
            <a:off x="966000" y="4354872"/>
            <a:ext cx="5040000" cy="1298349"/>
          </a:xfrm>
          <a:prstGeom prst="rect">
            <a:avLst/>
          </a:prstGeom>
          <a:solidFill>
            <a:schemeClr val="accent6">
              <a:lumMod val="75000"/>
              <a:alpha val="15000"/>
            </a:schemeClr>
          </a:solidFill>
          <a:ln w="12700">
            <a:solidFill>
              <a:schemeClr val="tx1">
                <a:lumMod val="75000"/>
              </a:schemeClr>
            </a:solidFill>
          </a:ln>
        </p:spPr>
        <p:txBody>
          <a:bodyPr vert="horz" wrap="square" lIns="143963" tIns="107972" rIns="143963" bIns="107972" rtlCol="0">
            <a:spAutoFit/>
          </a:bodyPr>
          <a:lstStyle>
            <a:defPPr>
              <a:defRPr lang="en-US"/>
            </a:defPPr>
            <a:lvl1pPr>
              <a:lnSpc>
                <a:spcPct val="90000"/>
              </a:lnSpc>
              <a:defRPr sz="2399" b="1">
                <a:solidFill>
                  <a:srgbClr val="800000"/>
                </a:solidFill>
                <a:latin typeface="Consolas" panose="020B0609020204030204" pitchFamily="49" charset="0"/>
              </a:defRPr>
            </a:lvl1pPr>
          </a:lstStyle>
          <a:p>
            <a:r>
              <a:rPr lang="en-US" sz="2600" dirty="0">
                <a:solidFill>
                  <a:schemeClr val="tx1"/>
                </a:solidFill>
              </a:rPr>
              <a:t>.box {</a:t>
            </a:r>
          </a:p>
          <a:p>
            <a:r>
              <a:rPr lang="en-US" sz="2600" dirty="0">
                <a:solidFill>
                  <a:schemeClr val="tx1"/>
                </a:solidFill>
              </a:rPr>
              <a:t>  position: absolute;</a:t>
            </a:r>
          </a:p>
          <a:p>
            <a:r>
              <a:rPr lang="en-US" sz="2600" dirty="0">
                <a:solidFill>
                  <a:schemeClr val="tx1"/>
                </a:solidFill>
              </a:rPr>
              <a:t>}</a:t>
            </a:r>
          </a:p>
        </p:txBody>
      </p:sp>
      <p:pic>
        <p:nvPicPr>
          <p:cNvPr id="2" name="Picture 1">
            <a:extLst>
              <a:ext uri="{FF2B5EF4-FFF2-40B4-BE49-F238E27FC236}">
                <a16:creationId xmlns:a16="http://schemas.microsoft.com/office/drawing/2014/main" id="{7E7A399C-1F1F-E970-7470-49F9B1F3EED6}"/>
              </a:ext>
            </a:extLst>
          </p:cNvPr>
          <p:cNvPicPr>
            <a:picLocks noChangeAspect="1"/>
          </p:cNvPicPr>
          <p:nvPr/>
        </p:nvPicPr>
        <p:blipFill>
          <a:blip r:embed="rId2"/>
          <a:stretch>
            <a:fillRect/>
          </a:stretch>
        </p:blipFill>
        <p:spPr>
          <a:xfrm>
            <a:off x="6276000" y="4059000"/>
            <a:ext cx="5241000" cy="1738265"/>
          </a:xfrm>
          <a:prstGeom prst="rect">
            <a:avLst/>
          </a:prstGeom>
          <a:ln>
            <a:noFill/>
          </a:ln>
          <a:effectLst>
            <a:outerShdw blurRad="292100" dist="139700" dir="2700000" algn="tl" rotWithShape="0">
              <a:srgbClr val="333333">
                <a:alpha val="65000"/>
              </a:srgbClr>
            </a:outerShdw>
          </a:effectLst>
        </p:spPr>
      </p:pic>
      <p:sp>
        <p:nvSpPr>
          <p:cNvPr id="3" name="Slide Number">
            <a:extLst>
              <a:ext uri="{FF2B5EF4-FFF2-40B4-BE49-F238E27FC236}">
                <a16:creationId xmlns:a16="http://schemas.microsoft.com/office/drawing/2014/main" id="{AA5F655F-86CA-1DC3-ED0D-886A73A2F51B}"/>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70</a:t>
            </a:fld>
            <a:endParaRPr lang="en-US" noProof="0" dirty="0"/>
          </a:p>
        </p:txBody>
      </p:sp>
    </p:spTree>
    <p:extLst>
      <p:ext uri="{BB962C8B-B14F-4D97-AF65-F5344CB8AC3E}">
        <p14:creationId xmlns:p14="http://schemas.microsoft.com/office/powerpoint/2010/main" val="1105147266"/>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Position Absolute</a:t>
            </a:r>
          </a:p>
        </p:txBody>
      </p:sp>
      <p:sp>
        <p:nvSpPr>
          <p:cNvPr id="3" name="Text Placeholder 2"/>
          <p:cNvSpPr>
            <a:spLocks noGrp="1"/>
          </p:cNvSpPr>
          <p:nvPr>
            <p:ph type="body" sz="quarter" idx="10"/>
          </p:nvPr>
        </p:nvSpPr>
        <p:spPr>
          <a:xfrm>
            <a:off x="190402" y="1196125"/>
            <a:ext cx="6850598" cy="1363484"/>
          </a:xfrm>
        </p:spPr>
        <p:txBody>
          <a:bodyPr>
            <a:normAutofit/>
          </a:bodyPr>
          <a:lstStyle/>
          <a:p>
            <a:pPr>
              <a:lnSpc>
                <a:spcPct val="100000"/>
              </a:lnSpc>
              <a:spcBef>
                <a:spcPts val="400"/>
              </a:spcBef>
              <a:spcAft>
                <a:spcPts val="400"/>
              </a:spcAft>
            </a:pPr>
            <a:r>
              <a:rPr lang="en-US" sz="3600" dirty="0"/>
              <a:t>Absolute positioning </a:t>
            </a:r>
            <a:r>
              <a:rPr lang="en-US" sz="3600" dirty="0">
                <a:sym typeface="Wingdings" panose="05000000000000000000" pitchFamily="2" charset="2"/>
              </a:rPr>
              <a:t> from</a:t>
            </a:r>
            <a:r>
              <a:rPr lang="en-US" sz="3600" dirty="0"/>
              <a:t> the </a:t>
            </a:r>
            <a:r>
              <a:rPr lang="en-US" sz="3600" b="1" dirty="0">
                <a:solidFill>
                  <a:schemeClr val="bg1"/>
                </a:solidFill>
              </a:rPr>
              <a:t>upper</a:t>
            </a:r>
            <a:r>
              <a:rPr lang="en-US" sz="3600" dirty="0"/>
              <a:t> </a:t>
            </a:r>
            <a:r>
              <a:rPr lang="en-US" sz="3600" b="1" dirty="0">
                <a:solidFill>
                  <a:schemeClr val="bg1"/>
                </a:solidFill>
              </a:rPr>
              <a:t>left</a:t>
            </a:r>
            <a:r>
              <a:rPr lang="en-US" sz="3600" dirty="0"/>
              <a:t> </a:t>
            </a:r>
            <a:r>
              <a:rPr lang="en-US" sz="3600" b="1" dirty="0">
                <a:solidFill>
                  <a:schemeClr val="bg1"/>
                </a:solidFill>
              </a:rPr>
              <a:t>corner</a:t>
            </a:r>
            <a:r>
              <a:rPr lang="en-US" sz="3600" dirty="0"/>
              <a:t> of the parent</a:t>
            </a:r>
          </a:p>
        </p:txBody>
      </p:sp>
      <p:sp>
        <p:nvSpPr>
          <p:cNvPr id="7" name="Slide Number">
            <a:extLst>
              <a:ext uri="{FF2B5EF4-FFF2-40B4-BE49-F238E27FC236}">
                <a16:creationId xmlns:a16="http://schemas.microsoft.com/office/drawing/2014/main" id="{49FB56F0-E299-479E-A4FA-919C20E86F73}"/>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71</a:t>
            </a:fld>
            <a:endParaRPr lang="en-US" noProof="0" dirty="0"/>
          </a:p>
        </p:txBody>
      </p:sp>
      <p:pic>
        <p:nvPicPr>
          <p:cNvPr id="8" name="Picture 5">
            <a:extLst>
              <a:ext uri="{FF2B5EF4-FFF2-40B4-BE49-F238E27FC236}">
                <a16:creationId xmlns:a16="http://schemas.microsoft.com/office/drawing/2014/main" id="{B74D2C20-2E6E-4901-A8D7-7DFC403565B8}"/>
              </a:ext>
            </a:extLst>
          </p:cNvPr>
          <p:cNvPicPr>
            <a:picLocks noChangeAspect="1"/>
          </p:cNvPicPr>
          <p:nvPr/>
        </p:nvPicPr>
        <p:blipFill rotWithShape="1">
          <a:blip r:embed="rId2"/>
          <a:srcRect b="9752"/>
          <a:stretch/>
        </p:blipFill>
        <p:spPr>
          <a:xfrm>
            <a:off x="7904977" y="1359000"/>
            <a:ext cx="3771023" cy="2298284"/>
          </a:xfrm>
          <a:prstGeom prst="rect">
            <a:avLst/>
          </a:prstGeom>
          <a:ln>
            <a:noFill/>
          </a:ln>
          <a:effectLst>
            <a:outerShdw blurRad="292100" dist="139700" dir="2700000" algn="tl" rotWithShape="0">
              <a:srgbClr val="333333">
                <a:alpha val="65000"/>
              </a:srgbClr>
            </a:outerShdw>
          </a:effectLst>
        </p:spPr>
      </p:pic>
      <p:sp>
        <p:nvSpPr>
          <p:cNvPr id="9" name="Down Arrow 10">
            <a:extLst>
              <a:ext uri="{FF2B5EF4-FFF2-40B4-BE49-F238E27FC236}">
                <a16:creationId xmlns:a16="http://schemas.microsoft.com/office/drawing/2014/main" id="{09604D18-F0DF-405E-8852-9E1105DF859A}"/>
              </a:ext>
            </a:extLst>
          </p:cNvPr>
          <p:cNvSpPr/>
          <p:nvPr/>
        </p:nvSpPr>
        <p:spPr bwMode="auto">
          <a:xfrm>
            <a:off x="9624652" y="3632954"/>
            <a:ext cx="307276" cy="395376"/>
          </a:xfrm>
          <a:prstGeom prst="downArrow">
            <a:avLst/>
          </a:prstGeom>
          <a:solidFill>
            <a:schemeClr val="dk2">
              <a:alpha val="80000"/>
            </a:schemeClr>
          </a:solidFill>
          <a:ln w="1905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endParaRPr lang="en-US" sz="2799" b="1" dirty="0">
              <a:solidFill>
                <a:srgbClr val="FFFFFF"/>
              </a:solidFill>
              <a:effectLst>
                <a:outerShdw blurRad="38100" dist="38100" dir="2700000" algn="tl">
                  <a:srgbClr val="000000">
                    <a:alpha val="43137"/>
                  </a:srgbClr>
                </a:outerShdw>
              </a:effectLst>
            </a:endParaRPr>
          </a:p>
        </p:txBody>
      </p:sp>
      <p:pic>
        <p:nvPicPr>
          <p:cNvPr id="10" name="Picture 11">
            <a:extLst>
              <a:ext uri="{FF2B5EF4-FFF2-40B4-BE49-F238E27FC236}">
                <a16:creationId xmlns:a16="http://schemas.microsoft.com/office/drawing/2014/main" id="{16C05034-5325-4A81-A9D0-30117CB13F91}"/>
              </a:ext>
            </a:extLst>
          </p:cNvPr>
          <p:cNvPicPr>
            <a:picLocks noChangeAspect="1"/>
          </p:cNvPicPr>
          <p:nvPr/>
        </p:nvPicPr>
        <p:blipFill>
          <a:blip r:embed="rId3"/>
          <a:stretch>
            <a:fillRect/>
          </a:stretch>
        </p:blipFill>
        <p:spPr>
          <a:xfrm>
            <a:off x="7904977" y="4084660"/>
            <a:ext cx="3747038" cy="2392499"/>
          </a:xfrm>
          <a:prstGeom prst="rect">
            <a:avLst/>
          </a:prstGeom>
          <a:ln>
            <a:noFill/>
          </a:ln>
          <a:effectLst>
            <a:outerShdw blurRad="292100" dist="139700" dir="2700000" algn="tl" rotWithShape="0">
              <a:srgbClr val="333333">
                <a:alpha val="65000"/>
              </a:srgbClr>
            </a:outerShdw>
          </a:effectLst>
        </p:spPr>
      </p:pic>
      <p:sp>
        <p:nvSpPr>
          <p:cNvPr id="11" name="AutoShape 7">
            <a:extLst>
              <a:ext uri="{FF2B5EF4-FFF2-40B4-BE49-F238E27FC236}">
                <a16:creationId xmlns:a16="http://schemas.microsoft.com/office/drawing/2014/main" id="{BF385274-C791-4C73-8CC3-854A6C93B3D6}"/>
              </a:ext>
            </a:extLst>
          </p:cNvPr>
          <p:cNvSpPr>
            <a:spLocks noChangeArrowheads="1"/>
          </p:cNvSpPr>
          <p:nvPr/>
        </p:nvSpPr>
        <p:spPr bwMode="auto">
          <a:xfrm>
            <a:off x="5960860" y="4584775"/>
            <a:ext cx="2160279" cy="914225"/>
          </a:xfrm>
          <a:prstGeom prst="wedgeRoundRectCallout">
            <a:avLst>
              <a:gd name="adj1" fmla="val 66855"/>
              <a:gd name="adj2" fmla="val -15477"/>
              <a:gd name="adj3" fmla="val 16667"/>
            </a:avLst>
          </a:prstGeom>
          <a:solidFill>
            <a:schemeClr val="dk2">
              <a:alpha val="80000"/>
            </a:schemeClr>
          </a:solidFill>
          <a:ln w="19050">
            <a:solidFill>
              <a:schemeClr val="tx1">
                <a:lumMod val="75000"/>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lnSpc>
                <a:spcPct val="90000"/>
              </a:lnSpc>
            </a:pPr>
            <a:r>
              <a:rPr lang="en-US" sz="2399" b="1" noProof="1">
                <a:solidFill>
                  <a:schemeClr val="bg2"/>
                </a:solidFill>
                <a:effectLst>
                  <a:outerShdw blurRad="38100" dist="38100" dir="2700000" algn="tl">
                    <a:srgbClr val="000000">
                      <a:alpha val="43137"/>
                    </a:srgbClr>
                  </a:outerShdw>
                </a:effectLst>
                <a:latin typeface="Consolas" panose="020B0609020204030204" pitchFamily="49" charset="0"/>
              </a:rPr>
              <a:t>&lt;h1&gt;</a:t>
            </a:r>
            <a:r>
              <a:rPr lang="en-US" sz="2399" b="1" noProof="1">
                <a:solidFill>
                  <a:schemeClr val="bg2"/>
                </a:solidFill>
                <a:effectLst>
                  <a:outerShdw blurRad="38100" dist="38100" dir="2700000" algn="tl">
                    <a:srgbClr val="000000">
                      <a:alpha val="43137"/>
                    </a:srgbClr>
                  </a:outerShdw>
                </a:effectLst>
              </a:rPr>
              <a:t> frees</a:t>
            </a:r>
            <a:r>
              <a:rPr lang="bg-BG" sz="2399" b="1" noProof="1">
                <a:solidFill>
                  <a:schemeClr val="bg2"/>
                </a:solidFill>
                <a:effectLst>
                  <a:outerShdw blurRad="38100" dist="38100" dir="2700000" algn="tl">
                    <a:srgbClr val="000000">
                      <a:alpha val="43137"/>
                    </a:srgbClr>
                  </a:outerShdw>
                </a:effectLst>
              </a:rPr>
              <a:t> </a:t>
            </a:r>
            <a:r>
              <a:rPr lang="en-US" sz="2399" b="1" noProof="1">
                <a:solidFill>
                  <a:schemeClr val="bg2"/>
                </a:solidFill>
                <a:effectLst>
                  <a:outerShdw blurRad="38100" dist="38100" dir="2700000" algn="tl">
                    <a:srgbClr val="000000">
                      <a:alpha val="43137"/>
                    </a:srgbClr>
                  </a:outerShdw>
                </a:effectLst>
              </a:rPr>
              <a:t>its original place</a:t>
            </a:r>
            <a:r>
              <a:rPr lang="en-US" sz="2399" b="1" noProof="1">
                <a:solidFill>
                  <a:schemeClr val="bg2"/>
                </a:solidFill>
                <a:effectLst>
                  <a:outerShdw blurRad="38100" dist="38100" dir="2700000" algn="tl">
                    <a:srgbClr val="000000">
                      <a:alpha val="43137"/>
                    </a:srgbClr>
                  </a:outerShdw>
                </a:effectLst>
                <a:latin typeface="Consolas" panose="020B0609020204030204" pitchFamily="49" charset="0"/>
              </a:rPr>
              <a:t> </a:t>
            </a:r>
          </a:p>
        </p:txBody>
      </p:sp>
      <p:sp>
        <p:nvSpPr>
          <p:cNvPr id="13" name="Текстово поле 7">
            <a:extLst>
              <a:ext uri="{FF2B5EF4-FFF2-40B4-BE49-F238E27FC236}">
                <a16:creationId xmlns:a16="http://schemas.microsoft.com/office/drawing/2014/main" id="{A1A2A468-1B31-4105-8911-A8308434D0C9}"/>
              </a:ext>
            </a:extLst>
          </p:cNvPr>
          <p:cNvSpPr txBox="1"/>
          <p:nvPr/>
        </p:nvSpPr>
        <p:spPr>
          <a:xfrm>
            <a:off x="502403" y="2708403"/>
            <a:ext cx="6226596" cy="914226"/>
          </a:xfrm>
          <a:prstGeom prst="rect">
            <a:avLst/>
          </a:prstGeom>
          <a:solidFill>
            <a:schemeClr val="accent6">
              <a:lumMod val="75000"/>
              <a:alpha val="15000"/>
            </a:schemeClr>
          </a:solidFill>
          <a:ln w="12700">
            <a:solidFill>
              <a:schemeClr val="tx1">
                <a:lumMod val="75000"/>
              </a:schemeClr>
            </a:solidFill>
          </a:ln>
        </p:spPr>
        <p:txBody>
          <a:bodyPr vert="horz" wrap="square" lIns="143963" tIns="107972" rIns="143963" bIns="107972" rtlCol="0">
            <a:spAutoFit/>
          </a:bodyPr>
          <a:lstStyle/>
          <a:p>
            <a:pPr>
              <a:lnSpc>
                <a:spcPct val="90000"/>
              </a:lnSpc>
            </a:pPr>
            <a:r>
              <a:rPr lang="en-GB" sz="2399" b="1" noProof="1">
                <a:solidFill>
                  <a:srgbClr val="800000"/>
                </a:solidFill>
                <a:latin typeface="Consolas" panose="020B0609020204030204" pitchFamily="49" charset="0"/>
              </a:rPr>
              <a:t>&lt;h1&gt;</a:t>
            </a:r>
            <a:r>
              <a:rPr lang="en-GB" sz="2399" b="1" noProof="1">
                <a:solidFill>
                  <a:schemeClr val="accent6">
                    <a:lumMod val="10000"/>
                  </a:schemeClr>
                </a:solidFill>
                <a:latin typeface="Consolas" panose="020B0609020204030204" pitchFamily="49" charset="0"/>
              </a:rPr>
              <a:t>Interior Design Studio</a:t>
            </a:r>
            <a:r>
              <a:rPr lang="en-GB" sz="2399" b="1" noProof="1">
                <a:solidFill>
                  <a:srgbClr val="800000"/>
                </a:solidFill>
                <a:latin typeface="Consolas" panose="020B0609020204030204" pitchFamily="49" charset="0"/>
              </a:rPr>
              <a:t>&lt;/h1&gt;</a:t>
            </a:r>
          </a:p>
          <a:p>
            <a:pPr>
              <a:lnSpc>
                <a:spcPct val="90000"/>
              </a:lnSpc>
            </a:pPr>
            <a:r>
              <a:rPr lang="en-GB" sz="2399" b="1" noProof="1">
                <a:solidFill>
                  <a:srgbClr val="800000"/>
                </a:solidFill>
                <a:latin typeface="Consolas" panose="020B0609020204030204" pitchFamily="49" charset="0"/>
              </a:rPr>
              <a:t>&lt;img src="living</a:t>
            </a:r>
            <a:r>
              <a:rPr lang="en-US" sz="2399" b="1" noProof="1">
                <a:solidFill>
                  <a:srgbClr val="800000"/>
                </a:solidFill>
                <a:latin typeface="Consolas" panose="020B0609020204030204" pitchFamily="49" charset="0"/>
              </a:rPr>
              <a:t>room</a:t>
            </a:r>
            <a:r>
              <a:rPr lang="en-GB" sz="2399" b="1" noProof="1">
                <a:solidFill>
                  <a:srgbClr val="800000"/>
                </a:solidFill>
                <a:latin typeface="Consolas" panose="020B0609020204030204" pitchFamily="49" charset="0"/>
              </a:rPr>
              <a:t>.jpg"&gt;</a:t>
            </a:r>
            <a:endParaRPr lang="en-GB" sz="2399" b="1" dirty="0">
              <a:solidFill>
                <a:srgbClr val="000000"/>
              </a:solidFill>
              <a:latin typeface="Consolas" panose="020B0609020204030204" pitchFamily="49" charset="0"/>
            </a:endParaRPr>
          </a:p>
        </p:txBody>
      </p:sp>
      <p:sp>
        <p:nvSpPr>
          <p:cNvPr id="14" name="Текстово поле 13">
            <a:extLst>
              <a:ext uri="{FF2B5EF4-FFF2-40B4-BE49-F238E27FC236}">
                <a16:creationId xmlns:a16="http://schemas.microsoft.com/office/drawing/2014/main" id="{75227D57-D0AB-42E3-9984-BAFF013AB52B}"/>
              </a:ext>
            </a:extLst>
          </p:cNvPr>
          <p:cNvSpPr txBox="1"/>
          <p:nvPr/>
        </p:nvSpPr>
        <p:spPr>
          <a:xfrm>
            <a:off x="502403" y="3965725"/>
            <a:ext cx="6219724" cy="2544237"/>
          </a:xfrm>
          <a:prstGeom prst="rect">
            <a:avLst/>
          </a:prstGeom>
          <a:solidFill>
            <a:schemeClr val="accent6">
              <a:lumMod val="75000"/>
              <a:alpha val="15000"/>
            </a:schemeClr>
          </a:solidFill>
          <a:ln w="12700">
            <a:solidFill>
              <a:schemeClr val="tx1">
                <a:lumMod val="75000"/>
              </a:schemeClr>
            </a:solidFill>
          </a:ln>
        </p:spPr>
        <p:txBody>
          <a:bodyPr vert="horz" wrap="square" lIns="143963" tIns="107972" rIns="143963" bIns="107972" rtlCol="0">
            <a:spAutoFit/>
          </a:bodyPr>
          <a:lstStyle/>
          <a:p>
            <a:pPr>
              <a:lnSpc>
                <a:spcPct val="90000"/>
              </a:lnSpc>
            </a:pPr>
            <a:r>
              <a:rPr lang="en-US" sz="2399" b="1" noProof="1">
                <a:solidFill>
                  <a:srgbClr val="800000"/>
                </a:solidFill>
                <a:latin typeface="Consolas" panose="020B0609020204030204" pitchFamily="49" charset="0"/>
              </a:rPr>
              <a:t>h1</a:t>
            </a:r>
            <a:r>
              <a:rPr lang="en-US" sz="2399" b="1" noProof="1">
                <a:solidFill>
                  <a:srgbClr val="000000"/>
                </a:solidFill>
                <a:latin typeface="Consolas" panose="020B0609020204030204" pitchFamily="49" charset="0"/>
              </a:rPr>
              <a:t> {</a:t>
            </a:r>
          </a:p>
          <a:p>
            <a:pPr>
              <a:lnSpc>
                <a:spcPct val="90000"/>
              </a:lnSpc>
            </a:pPr>
            <a:r>
              <a:rPr lang="en-US" sz="2399" b="1" noProof="1">
                <a:solidFill>
                  <a:srgbClr val="FF0000"/>
                </a:solidFill>
                <a:latin typeface="Consolas" panose="020B0609020204030204" pitchFamily="49" charset="0"/>
              </a:rPr>
              <a:t>  position</a:t>
            </a:r>
            <a:r>
              <a:rPr lang="en-US" sz="2399" b="1" noProof="1">
                <a:solidFill>
                  <a:srgbClr val="000000"/>
                </a:solidFill>
                <a:latin typeface="Consolas" panose="020B0609020204030204" pitchFamily="49" charset="0"/>
              </a:rPr>
              <a:t>: </a:t>
            </a:r>
            <a:r>
              <a:rPr lang="en-US" sz="2399" b="1" noProof="1">
                <a:solidFill>
                  <a:srgbClr val="0070C0"/>
                </a:solidFill>
                <a:latin typeface="Consolas" panose="020B0609020204030204" pitchFamily="49" charset="0"/>
              </a:rPr>
              <a:t>absolute</a:t>
            </a:r>
            <a:r>
              <a:rPr lang="en-US" sz="2399" b="1" noProof="1">
                <a:solidFill>
                  <a:srgbClr val="000000"/>
                </a:solidFill>
                <a:latin typeface="Consolas" panose="020B0609020204030204" pitchFamily="49" charset="0"/>
              </a:rPr>
              <a:t>;</a:t>
            </a:r>
          </a:p>
          <a:p>
            <a:pPr>
              <a:lnSpc>
                <a:spcPct val="90000"/>
              </a:lnSpc>
            </a:pPr>
            <a:r>
              <a:rPr lang="en-US" sz="2399" b="1" noProof="1">
                <a:solidFill>
                  <a:srgbClr val="000000"/>
                </a:solidFill>
                <a:latin typeface="Consolas" panose="020B0609020204030204" pitchFamily="49" charset="0"/>
              </a:rPr>
              <a:t>  </a:t>
            </a:r>
            <a:r>
              <a:rPr lang="en-US" sz="2399" b="1" noProof="1">
                <a:solidFill>
                  <a:srgbClr val="FF0000"/>
                </a:solidFill>
                <a:latin typeface="Consolas" panose="020B0609020204030204" pitchFamily="49" charset="0"/>
              </a:rPr>
              <a:t>top</a:t>
            </a:r>
            <a:r>
              <a:rPr lang="en-US" sz="2399" b="1" noProof="1">
                <a:solidFill>
                  <a:srgbClr val="000000"/>
                </a:solidFill>
                <a:latin typeface="Consolas" panose="020B0609020204030204" pitchFamily="49" charset="0"/>
              </a:rPr>
              <a:t>: </a:t>
            </a:r>
            <a:r>
              <a:rPr lang="en-US" sz="2399" b="1" noProof="1">
                <a:solidFill>
                  <a:schemeClr val="accent2">
                    <a:lumMod val="75000"/>
                  </a:schemeClr>
                </a:solidFill>
                <a:latin typeface="Consolas" panose="020B0609020204030204" pitchFamily="49" charset="0"/>
              </a:rPr>
              <a:t>60px</a:t>
            </a:r>
            <a:r>
              <a:rPr lang="en-US" sz="2399" b="1" noProof="1">
                <a:solidFill>
                  <a:srgbClr val="000000"/>
                </a:solidFill>
                <a:latin typeface="Consolas" panose="020B0609020204030204" pitchFamily="49" charset="0"/>
              </a:rPr>
              <a:t>;</a:t>
            </a:r>
          </a:p>
          <a:p>
            <a:pPr>
              <a:lnSpc>
                <a:spcPct val="90000"/>
              </a:lnSpc>
            </a:pPr>
            <a:r>
              <a:rPr lang="en-US" sz="2399" b="1" noProof="1">
                <a:solidFill>
                  <a:srgbClr val="000000"/>
                </a:solidFill>
                <a:latin typeface="Consolas" panose="020B0609020204030204" pitchFamily="49" charset="0"/>
              </a:rPr>
              <a:t>  </a:t>
            </a:r>
            <a:r>
              <a:rPr lang="en-US" sz="2399" b="1" noProof="1">
                <a:solidFill>
                  <a:srgbClr val="FF0000"/>
                </a:solidFill>
                <a:latin typeface="Consolas" panose="020B0609020204030204" pitchFamily="49" charset="0"/>
              </a:rPr>
              <a:t>left</a:t>
            </a:r>
            <a:r>
              <a:rPr lang="en-US" sz="2399" b="1" noProof="1">
                <a:solidFill>
                  <a:srgbClr val="000000"/>
                </a:solidFill>
                <a:latin typeface="Consolas" panose="020B0609020204030204" pitchFamily="49" charset="0"/>
              </a:rPr>
              <a:t>: </a:t>
            </a:r>
            <a:r>
              <a:rPr lang="en-US" sz="2399" b="1" noProof="1">
                <a:solidFill>
                  <a:schemeClr val="accent2">
                    <a:lumMod val="75000"/>
                  </a:schemeClr>
                </a:solidFill>
                <a:latin typeface="Consolas" panose="020B0609020204030204" pitchFamily="49" charset="0"/>
              </a:rPr>
              <a:t>180px</a:t>
            </a:r>
            <a:r>
              <a:rPr lang="en-US" sz="2399" b="1" noProof="1">
                <a:solidFill>
                  <a:srgbClr val="000000"/>
                </a:solidFill>
                <a:latin typeface="Consolas" panose="020B0609020204030204" pitchFamily="49" charset="0"/>
              </a:rPr>
              <a:t>;</a:t>
            </a:r>
          </a:p>
          <a:p>
            <a:pPr>
              <a:lnSpc>
                <a:spcPct val="90000"/>
              </a:lnSpc>
            </a:pPr>
            <a:r>
              <a:rPr lang="en-US" sz="2399" b="1" noProof="1">
                <a:solidFill>
                  <a:srgbClr val="000000"/>
                </a:solidFill>
                <a:latin typeface="Consolas" panose="020B0609020204030204" pitchFamily="49" charset="0"/>
              </a:rPr>
              <a:t>  </a:t>
            </a:r>
            <a:r>
              <a:rPr lang="en-US" sz="2399" b="1" noProof="1">
                <a:solidFill>
                  <a:srgbClr val="FF0000"/>
                </a:solidFill>
                <a:latin typeface="Consolas" panose="020B0609020204030204" pitchFamily="49" charset="0"/>
              </a:rPr>
              <a:t>color</a:t>
            </a:r>
            <a:r>
              <a:rPr lang="en-US" sz="2399" b="1" noProof="1">
                <a:solidFill>
                  <a:srgbClr val="000000"/>
                </a:solidFill>
                <a:latin typeface="Consolas" panose="020B0609020204030204" pitchFamily="49" charset="0"/>
              </a:rPr>
              <a:t>: </a:t>
            </a:r>
            <a:r>
              <a:rPr lang="en-US" sz="2399" b="1" noProof="1">
                <a:solidFill>
                  <a:srgbClr val="0070C0"/>
                </a:solidFill>
                <a:latin typeface="Consolas" panose="020B0609020204030204" pitchFamily="49" charset="0"/>
              </a:rPr>
              <a:t>antiquewhite</a:t>
            </a:r>
            <a:r>
              <a:rPr lang="en-US" sz="2399" b="1" noProof="1">
                <a:solidFill>
                  <a:srgbClr val="000000"/>
                </a:solidFill>
                <a:latin typeface="Consolas" panose="020B0609020204030204" pitchFamily="49" charset="0"/>
              </a:rPr>
              <a:t>;</a:t>
            </a:r>
          </a:p>
          <a:p>
            <a:pPr>
              <a:lnSpc>
                <a:spcPct val="90000"/>
              </a:lnSpc>
            </a:pPr>
            <a:r>
              <a:rPr lang="en-US" sz="2399" b="1" noProof="1">
                <a:solidFill>
                  <a:srgbClr val="000000"/>
                </a:solidFill>
                <a:latin typeface="Consolas" panose="020B0609020204030204" pitchFamily="49" charset="0"/>
              </a:rPr>
              <a:t>  </a:t>
            </a:r>
            <a:r>
              <a:rPr lang="en-US" sz="2399" b="1" noProof="1">
                <a:solidFill>
                  <a:srgbClr val="FF0000"/>
                </a:solidFill>
                <a:latin typeface="Consolas" panose="020B0609020204030204" pitchFamily="49" charset="0"/>
              </a:rPr>
              <a:t>text-shadow</a:t>
            </a:r>
            <a:r>
              <a:rPr lang="en-US" sz="2399" b="1" noProof="1">
                <a:solidFill>
                  <a:srgbClr val="000000"/>
                </a:solidFill>
                <a:latin typeface="Consolas" panose="020B0609020204030204" pitchFamily="49" charset="0"/>
              </a:rPr>
              <a:t>: </a:t>
            </a:r>
            <a:r>
              <a:rPr lang="en-US" sz="2399" b="1" noProof="1">
                <a:solidFill>
                  <a:schemeClr val="accent2">
                    <a:lumMod val="75000"/>
                  </a:schemeClr>
                </a:solidFill>
                <a:latin typeface="Consolas" panose="020B0609020204030204" pitchFamily="49" charset="0"/>
              </a:rPr>
              <a:t>1px 1px 20px </a:t>
            </a:r>
            <a:r>
              <a:rPr lang="en-US" sz="2399" b="1" noProof="1">
                <a:solidFill>
                  <a:srgbClr val="0070C0"/>
                </a:solidFill>
                <a:latin typeface="Consolas" panose="020B0609020204030204" pitchFamily="49" charset="0"/>
              </a:rPr>
              <a:t>black</a:t>
            </a:r>
            <a:r>
              <a:rPr lang="en-US" sz="2399" b="1" noProof="1">
                <a:solidFill>
                  <a:srgbClr val="000000"/>
                </a:solidFill>
                <a:latin typeface="Consolas" panose="020B0609020204030204" pitchFamily="49" charset="0"/>
              </a:rPr>
              <a:t>;</a:t>
            </a:r>
          </a:p>
          <a:p>
            <a:pPr>
              <a:lnSpc>
                <a:spcPct val="90000"/>
              </a:lnSpc>
            </a:pPr>
            <a:r>
              <a:rPr lang="en-US" sz="2399" b="1" noProof="1">
                <a:solidFill>
                  <a:srgbClr val="000000"/>
                </a:solidFill>
                <a:latin typeface="Consolas" panose="020B0609020204030204" pitchFamily="49" charset="0"/>
              </a:rPr>
              <a:t>}</a:t>
            </a:r>
          </a:p>
        </p:txBody>
      </p:sp>
    </p:spTree>
    <p:extLst>
      <p:ext uri="{BB962C8B-B14F-4D97-AF65-F5344CB8AC3E}">
        <p14:creationId xmlns:p14="http://schemas.microsoft.com/office/powerpoint/2010/main" val="3004553393"/>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3" grpId="0" animBg="1"/>
      <p:bldP spid="14"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Текстов контейнер 4">
            <a:extLst>
              <a:ext uri="{FF2B5EF4-FFF2-40B4-BE49-F238E27FC236}">
                <a16:creationId xmlns:a16="http://schemas.microsoft.com/office/drawing/2014/main" id="{4ABCDDE1-E807-74AC-554D-43FBD5F2B06E}"/>
              </a:ext>
            </a:extLst>
          </p:cNvPr>
          <p:cNvSpPr>
            <a:spLocks noGrp="1"/>
          </p:cNvSpPr>
          <p:nvPr>
            <p:ph type="body" sz="quarter" idx="10"/>
          </p:nvPr>
        </p:nvSpPr>
        <p:spPr>
          <a:xfrm>
            <a:off x="190402" y="1196125"/>
            <a:ext cx="11845598" cy="5528766"/>
          </a:xfrm>
        </p:spPr>
        <p:txBody>
          <a:bodyPr>
            <a:noAutofit/>
          </a:bodyPr>
          <a:lstStyle/>
          <a:p>
            <a:pPr>
              <a:lnSpc>
                <a:spcPct val="120000"/>
              </a:lnSpc>
            </a:pPr>
            <a:r>
              <a:rPr lang="en-US" sz="3200" b="0" dirty="0"/>
              <a:t>The element is </a:t>
            </a:r>
            <a:r>
              <a:rPr lang="en-US" sz="3200" b="1" dirty="0">
                <a:solidFill>
                  <a:schemeClr val="bg1"/>
                </a:solidFill>
              </a:rPr>
              <a:t>removed</a:t>
            </a:r>
            <a:r>
              <a:rPr lang="en-US" sz="3200" b="0" dirty="0"/>
              <a:t> from the normal document flow, and no space is created for the element in the page layout</a:t>
            </a:r>
            <a:endParaRPr lang="en-US" sz="3200" dirty="0"/>
          </a:p>
          <a:p>
            <a:pPr>
              <a:lnSpc>
                <a:spcPct val="120000"/>
              </a:lnSpc>
            </a:pPr>
            <a:r>
              <a:rPr lang="en-US" sz="3200" b="0" dirty="0"/>
              <a:t>The element is </a:t>
            </a:r>
            <a:r>
              <a:rPr lang="en-US" sz="3200" b="1" dirty="0">
                <a:solidFill>
                  <a:schemeClr val="bg1"/>
                </a:solidFill>
              </a:rPr>
              <a:t>positioned</a:t>
            </a:r>
            <a:r>
              <a:rPr lang="en-US" sz="3200" b="0" dirty="0"/>
              <a:t> relative to its initial containing block, which is the viewport in the case of visual media</a:t>
            </a:r>
            <a:endParaRPr lang="en-US" sz="3200" dirty="0"/>
          </a:p>
          <a:p>
            <a:pPr>
              <a:lnSpc>
                <a:spcPct val="120000"/>
              </a:lnSpc>
            </a:pPr>
            <a:r>
              <a:rPr lang="en-US" sz="3200" b="0" dirty="0"/>
              <a:t>Its final position is determined by the </a:t>
            </a:r>
            <a:r>
              <a:rPr lang="en-US" sz="3200" b="1" dirty="0">
                <a:solidFill>
                  <a:schemeClr val="bg1"/>
                </a:solidFill>
              </a:rPr>
              <a:t>values of top</a:t>
            </a:r>
            <a:r>
              <a:rPr lang="en-US" sz="3200" b="0" dirty="0"/>
              <a:t>, </a:t>
            </a:r>
            <a:r>
              <a:rPr lang="en-US" sz="3200" b="1" dirty="0">
                <a:solidFill>
                  <a:schemeClr val="bg1"/>
                </a:solidFill>
              </a:rPr>
              <a:t>right</a:t>
            </a:r>
            <a:r>
              <a:rPr lang="en-US" sz="3200" b="0" dirty="0"/>
              <a:t>, </a:t>
            </a:r>
            <a:r>
              <a:rPr lang="en-US" sz="3200" b="1" dirty="0">
                <a:solidFill>
                  <a:schemeClr val="bg1"/>
                </a:solidFill>
              </a:rPr>
              <a:t>bottom</a:t>
            </a:r>
            <a:r>
              <a:rPr lang="en-US" sz="3200" b="0" dirty="0"/>
              <a:t>, and </a:t>
            </a:r>
            <a:r>
              <a:rPr lang="en-US" sz="3200" b="1" dirty="0">
                <a:solidFill>
                  <a:schemeClr val="bg1"/>
                </a:solidFill>
              </a:rPr>
              <a:t>left</a:t>
            </a:r>
          </a:p>
        </p:txBody>
      </p:sp>
      <p:sp>
        <p:nvSpPr>
          <p:cNvPr id="4" name="Title 3">
            <a:extLst>
              <a:ext uri="{FF2B5EF4-FFF2-40B4-BE49-F238E27FC236}">
                <a16:creationId xmlns:a16="http://schemas.microsoft.com/office/drawing/2014/main" id="{E9A1DA41-F15A-4A36-BC07-5ABC6728BF4B}"/>
              </a:ext>
            </a:extLst>
          </p:cNvPr>
          <p:cNvSpPr>
            <a:spLocks noGrp="1"/>
          </p:cNvSpPr>
          <p:nvPr>
            <p:ph type="title"/>
          </p:nvPr>
        </p:nvSpPr>
        <p:spPr/>
        <p:txBody>
          <a:bodyPr>
            <a:normAutofit/>
          </a:bodyPr>
          <a:lstStyle/>
          <a:p>
            <a:r>
              <a:rPr lang="en-US" sz="4000" dirty="0"/>
              <a:t>Position Fixed</a:t>
            </a:r>
            <a:endParaRPr lang="en-GB" sz="4000" dirty="0"/>
          </a:p>
        </p:txBody>
      </p:sp>
      <p:pic>
        <p:nvPicPr>
          <p:cNvPr id="2" name="Picture 1">
            <a:extLst>
              <a:ext uri="{FF2B5EF4-FFF2-40B4-BE49-F238E27FC236}">
                <a16:creationId xmlns:a16="http://schemas.microsoft.com/office/drawing/2014/main" id="{A3ECECC4-20F0-ED77-4A45-A42EA67409CB}"/>
              </a:ext>
            </a:extLst>
          </p:cNvPr>
          <p:cNvPicPr>
            <a:picLocks noChangeAspect="1"/>
          </p:cNvPicPr>
          <p:nvPr/>
        </p:nvPicPr>
        <p:blipFill>
          <a:blip r:embed="rId2"/>
          <a:stretch>
            <a:fillRect/>
          </a:stretch>
        </p:blipFill>
        <p:spPr>
          <a:xfrm>
            <a:off x="5376000" y="5007801"/>
            <a:ext cx="5241000" cy="1738265"/>
          </a:xfrm>
          <a:prstGeom prst="rect">
            <a:avLst/>
          </a:prstGeom>
          <a:ln>
            <a:noFill/>
          </a:ln>
          <a:effectLst>
            <a:outerShdw blurRad="292100" dist="139700" dir="2700000" algn="tl" rotWithShape="0">
              <a:srgbClr val="333333">
                <a:alpha val="65000"/>
              </a:srgbClr>
            </a:outerShdw>
          </a:effectLst>
        </p:spPr>
      </p:pic>
      <p:sp>
        <p:nvSpPr>
          <p:cNvPr id="3" name="Slide Number">
            <a:extLst>
              <a:ext uri="{FF2B5EF4-FFF2-40B4-BE49-F238E27FC236}">
                <a16:creationId xmlns:a16="http://schemas.microsoft.com/office/drawing/2014/main" id="{C42FD5E8-8FD4-7D5A-E4E4-237DEECB742E}"/>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72</a:t>
            </a:fld>
            <a:endParaRPr lang="en-US" noProof="0" dirty="0"/>
          </a:p>
        </p:txBody>
      </p:sp>
      <p:sp>
        <p:nvSpPr>
          <p:cNvPr id="6" name="Текстово поле 10"/>
          <p:cNvSpPr txBox="1"/>
          <p:nvPr/>
        </p:nvSpPr>
        <p:spPr>
          <a:xfrm>
            <a:off x="693663" y="5144729"/>
            <a:ext cx="4275000" cy="1510771"/>
          </a:xfrm>
          <a:prstGeom prst="rect">
            <a:avLst/>
          </a:prstGeom>
          <a:solidFill>
            <a:schemeClr val="accent6">
              <a:lumMod val="75000"/>
              <a:alpha val="15000"/>
            </a:schemeClr>
          </a:solidFill>
          <a:ln w="12700">
            <a:solidFill>
              <a:schemeClr val="tx1">
                <a:lumMod val="75000"/>
              </a:schemeClr>
            </a:solidFill>
          </a:ln>
        </p:spPr>
        <p:txBody>
          <a:bodyPr vert="horz" wrap="square" lIns="144000" tIns="108000" rIns="144000" bIns="108000" rtlCol="0">
            <a:spAutoFit/>
          </a:bodyPr>
          <a:lstStyle/>
          <a:p>
            <a:r>
              <a:rPr lang="en-GB" sz="2800" b="1" dirty="0">
                <a:solidFill>
                  <a:srgbClr val="800000"/>
                </a:solidFill>
                <a:latin typeface="Consolas" panose="020B0609020204030204" pitchFamily="49" charset="0"/>
              </a:rPr>
              <a:t>div</a:t>
            </a:r>
            <a:r>
              <a:rPr lang="en-GB" sz="2800" b="1" dirty="0">
                <a:solidFill>
                  <a:srgbClr val="000000"/>
                </a:solidFill>
                <a:latin typeface="Consolas" panose="020B0609020204030204" pitchFamily="49" charset="0"/>
              </a:rPr>
              <a:t> {</a:t>
            </a:r>
          </a:p>
          <a:p>
            <a:r>
              <a:rPr lang="en-GB" sz="2800" b="1" dirty="0">
                <a:solidFill>
                  <a:srgbClr val="000000"/>
                </a:solidFill>
                <a:latin typeface="Consolas" panose="020B0609020204030204" pitchFamily="49" charset="0"/>
              </a:rPr>
              <a:t>  </a:t>
            </a:r>
            <a:r>
              <a:rPr lang="en-GB" sz="2800" b="1" dirty="0">
                <a:solidFill>
                  <a:srgbClr val="FF0000"/>
                </a:solidFill>
                <a:latin typeface="Consolas" panose="020B0609020204030204" pitchFamily="49" charset="0"/>
              </a:rPr>
              <a:t>position</a:t>
            </a:r>
            <a:r>
              <a:rPr lang="en-GB" sz="2800" b="1" dirty="0">
                <a:solidFill>
                  <a:srgbClr val="000000"/>
                </a:solidFill>
                <a:latin typeface="Consolas" panose="020B0609020204030204" pitchFamily="49" charset="0"/>
              </a:rPr>
              <a:t>: </a:t>
            </a:r>
            <a:r>
              <a:rPr lang="en-GB" sz="2800" b="1" dirty="0">
                <a:solidFill>
                  <a:srgbClr val="0451A5"/>
                </a:solidFill>
                <a:latin typeface="Consolas" panose="020B0609020204030204" pitchFamily="49" charset="0"/>
              </a:rPr>
              <a:t>fixed</a:t>
            </a:r>
            <a:r>
              <a:rPr lang="en-GB" sz="2800" b="1" dirty="0">
                <a:solidFill>
                  <a:srgbClr val="000000"/>
                </a:solidFill>
                <a:latin typeface="Consolas" panose="020B0609020204030204" pitchFamily="49" charset="0"/>
              </a:rPr>
              <a:t>;</a:t>
            </a:r>
          </a:p>
          <a:p>
            <a:r>
              <a:rPr lang="en-GB" sz="2800" b="1" dirty="0">
                <a:solidFill>
                  <a:srgbClr val="000000"/>
                </a:solidFill>
                <a:latin typeface="Consolas" panose="020B0609020204030204" pitchFamily="49" charset="0"/>
              </a:rPr>
              <a:t>}</a:t>
            </a:r>
          </a:p>
        </p:txBody>
      </p:sp>
    </p:spTree>
    <p:extLst>
      <p:ext uri="{BB962C8B-B14F-4D97-AF65-F5344CB8AC3E}">
        <p14:creationId xmlns:p14="http://schemas.microsoft.com/office/powerpoint/2010/main" val="1458513034"/>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Position Fixed</a:t>
            </a:r>
          </a:p>
        </p:txBody>
      </p:sp>
      <p:sp>
        <p:nvSpPr>
          <p:cNvPr id="3" name="Text Placeholder 2"/>
          <p:cNvSpPr>
            <a:spLocks noGrp="1"/>
          </p:cNvSpPr>
          <p:nvPr>
            <p:ph type="body" sz="quarter" idx="10"/>
          </p:nvPr>
        </p:nvSpPr>
        <p:spPr/>
        <p:txBody>
          <a:bodyPr>
            <a:normAutofit/>
          </a:bodyPr>
          <a:lstStyle/>
          <a:p>
            <a:pPr>
              <a:lnSpc>
                <a:spcPct val="120000"/>
              </a:lnSpc>
            </a:pPr>
            <a:r>
              <a:rPr lang="en-US" sz="3600" dirty="0"/>
              <a:t>This value </a:t>
            </a:r>
            <a:r>
              <a:rPr lang="en-US" sz="3600" b="1" dirty="0">
                <a:solidFill>
                  <a:schemeClr val="bg1"/>
                </a:solidFill>
              </a:rPr>
              <a:t>always creates </a:t>
            </a:r>
            <a:r>
              <a:rPr lang="en-US" sz="3600" dirty="0"/>
              <a:t>a </a:t>
            </a:r>
            <a:r>
              <a:rPr lang="en-US" sz="3600" b="1" dirty="0">
                <a:solidFill>
                  <a:schemeClr val="bg1"/>
                </a:solidFill>
              </a:rPr>
              <a:t>new stacking context</a:t>
            </a:r>
          </a:p>
          <a:p>
            <a:pPr>
              <a:lnSpc>
                <a:spcPct val="120000"/>
              </a:lnSpc>
            </a:pPr>
            <a:r>
              <a:rPr lang="en-US" sz="3600" dirty="0"/>
              <a:t>In printed documents, the element is placed in the </a:t>
            </a:r>
            <a:r>
              <a:rPr lang="en-US" sz="3600" b="1" dirty="0">
                <a:solidFill>
                  <a:schemeClr val="bg1"/>
                </a:solidFill>
              </a:rPr>
              <a:t>same position</a:t>
            </a:r>
            <a:r>
              <a:rPr lang="en-US" sz="3600" dirty="0"/>
              <a:t> on every page</a:t>
            </a: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46000" y="3699000"/>
            <a:ext cx="4500000" cy="2566667"/>
          </a:xfrm>
          <a:prstGeom prst="rect">
            <a:avLst/>
          </a:prstGeom>
          <a:ln>
            <a:noFill/>
          </a:ln>
          <a:effectLst>
            <a:outerShdw blurRad="292100" dist="139700" dir="2700000" algn="tl" rotWithShape="0">
              <a:srgbClr val="333333">
                <a:alpha val="65000"/>
              </a:srgbClr>
            </a:outerShdw>
          </a:effectLst>
        </p:spPr>
      </p:pic>
      <p:sp>
        <p:nvSpPr>
          <p:cNvPr id="8" name="Slide Number">
            <a:extLst>
              <a:ext uri="{FF2B5EF4-FFF2-40B4-BE49-F238E27FC236}">
                <a16:creationId xmlns:a16="http://schemas.microsoft.com/office/drawing/2014/main" id="{3D1B9D8A-6289-40A1-9E04-40A78E4E3D2A}"/>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73</a:t>
            </a:fld>
            <a:endParaRPr lang="en-US" noProof="0" dirty="0"/>
          </a:p>
        </p:txBody>
      </p:sp>
    </p:spTree>
    <p:extLst>
      <p:ext uri="{BB962C8B-B14F-4D97-AF65-F5344CB8AC3E}">
        <p14:creationId xmlns:p14="http://schemas.microsoft.com/office/powerpoint/2010/main" val="3063653849"/>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Текстов контейнер 4">
            <a:extLst>
              <a:ext uri="{FF2B5EF4-FFF2-40B4-BE49-F238E27FC236}">
                <a16:creationId xmlns:a16="http://schemas.microsoft.com/office/drawing/2014/main" id="{4ABCDDE1-E807-74AC-554D-43FBD5F2B06E}"/>
              </a:ext>
            </a:extLst>
          </p:cNvPr>
          <p:cNvSpPr>
            <a:spLocks noGrp="1"/>
          </p:cNvSpPr>
          <p:nvPr>
            <p:ph type="body" sz="quarter" idx="10"/>
          </p:nvPr>
        </p:nvSpPr>
        <p:spPr>
          <a:xfrm>
            <a:off x="190402" y="1196125"/>
            <a:ext cx="11845598" cy="5528766"/>
          </a:xfrm>
        </p:spPr>
        <p:txBody>
          <a:bodyPr>
            <a:normAutofit/>
          </a:bodyPr>
          <a:lstStyle/>
          <a:p>
            <a:pPr>
              <a:lnSpc>
                <a:spcPct val="120000"/>
              </a:lnSpc>
              <a:spcBef>
                <a:spcPts val="0"/>
              </a:spcBef>
            </a:pPr>
            <a:r>
              <a:rPr lang="en-US" sz="3000" b="0" dirty="0"/>
              <a:t>The element is </a:t>
            </a:r>
            <a:r>
              <a:rPr lang="en-US" sz="3000" b="1" dirty="0">
                <a:solidFill>
                  <a:schemeClr val="bg1"/>
                </a:solidFill>
              </a:rPr>
              <a:t>positioned</a:t>
            </a:r>
            <a:r>
              <a:rPr lang="en-US" sz="3000" b="0" dirty="0"/>
              <a:t> according to the </a:t>
            </a:r>
            <a:r>
              <a:rPr lang="en-US" sz="3000" b="1" dirty="0">
                <a:solidFill>
                  <a:schemeClr val="bg1"/>
                </a:solidFill>
              </a:rPr>
              <a:t>normal flow </a:t>
            </a:r>
            <a:r>
              <a:rPr lang="en-US" sz="3000" b="0" dirty="0"/>
              <a:t>of the document, and then offset relative to its </a:t>
            </a:r>
            <a:r>
              <a:rPr lang="en-US" sz="3000" b="1" dirty="0">
                <a:solidFill>
                  <a:schemeClr val="bg1"/>
                </a:solidFill>
              </a:rPr>
              <a:t>nearest scrolling ancestor </a:t>
            </a:r>
            <a:r>
              <a:rPr lang="en-US" sz="3000" b="0" dirty="0"/>
              <a:t>and </a:t>
            </a:r>
            <a:r>
              <a:rPr lang="en-US" sz="3000" b="1" dirty="0">
                <a:solidFill>
                  <a:schemeClr val="bg1"/>
                </a:solidFill>
              </a:rPr>
              <a:t>containing block </a:t>
            </a:r>
            <a:r>
              <a:rPr lang="en-US" sz="3000" b="0" dirty="0"/>
              <a:t>(nearest block-level ancestor), including table-related elements, based on the values of top, right, bottom, and left. </a:t>
            </a:r>
          </a:p>
          <a:p>
            <a:pPr>
              <a:lnSpc>
                <a:spcPct val="120000"/>
              </a:lnSpc>
              <a:spcBef>
                <a:spcPts val="0"/>
              </a:spcBef>
            </a:pPr>
            <a:r>
              <a:rPr lang="en-US" sz="3000" b="0" dirty="0"/>
              <a:t>The offset </a:t>
            </a:r>
            <a:r>
              <a:rPr lang="en-US" sz="3000" b="1" dirty="0">
                <a:solidFill>
                  <a:schemeClr val="bg1"/>
                </a:solidFill>
              </a:rPr>
              <a:t>does not affect </a:t>
            </a:r>
            <a:r>
              <a:rPr lang="en-US" sz="3000" b="0" dirty="0"/>
              <a:t>the position of any other elements.</a:t>
            </a:r>
          </a:p>
        </p:txBody>
      </p:sp>
      <p:sp>
        <p:nvSpPr>
          <p:cNvPr id="4" name="Title 3">
            <a:extLst>
              <a:ext uri="{FF2B5EF4-FFF2-40B4-BE49-F238E27FC236}">
                <a16:creationId xmlns:a16="http://schemas.microsoft.com/office/drawing/2014/main" id="{E9A1DA41-F15A-4A36-BC07-5ABC6728BF4B}"/>
              </a:ext>
            </a:extLst>
          </p:cNvPr>
          <p:cNvSpPr>
            <a:spLocks noGrp="1"/>
          </p:cNvSpPr>
          <p:nvPr>
            <p:ph type="title"/>
          </p:nvPr>
        </p:nvSpPr>
        <p:spPr/>
        <p:txBody>
          <a:bodyPr>
            <a:normAutofit/>
          </a:bodyPr>
          <a:lstStyle/>
          <a:p>
            <a:pPr>
              <a:spcBef>
                <a:spcPts val="0"/>
              </a:spcBef>
              <a:buClr>
                <a:schemeClr val="tx1"/>
              </a:buClr>
            </a:pPr>
            <a:r>
              <a:rPr lang="en-GB" sz="4000" dirty="0"/>
              <a:t>P</a:t>
            </a:r>
            <a:r>
              <a:rPr lang="en-GB" sz="4000" b="1" dirty="0"/>
              <a:t>osition</a:t>
            </a:r>
            <a:r>
              <a:rPr lang="en-GB" sz="4000" dirty="0"/>
              <a:t> S</a:t>
            </a:r>
            <a:r>
              <a:rPr lang="en-GB" sz="4000" b="1" dirty="0"/>
              <a:t>ticky</a:t>
            </a:r>
          </a:p>
        </p:txBody>
      </p:sp>
      <p:sp>
        <p:nvSpPr>
          <p:cNvPr id="8" name="Текстово поле 10">
            <a:extLst>
              <a:ext uri="{FF2B5EF4-FFF2-40B4-BE49-F238E27FC236}">
                <a16:creationId xmlns:a16="http://schemas.microsoft.com/office/drawing/2014/main" id="{AFD9D407-BFB2-D20A-81DC-2560D1ACCACB}"/>
              </a:ext>
            </a:extLst>
          </p:cNvPr>
          <p:cNvSpPr txBox="1"/>
          <p:nvPr/>
        </p:nvSpPr>
        <p:spPr>
          <a:xfrm>
            <a:off x="1191000" y="4805898"/>
            <a:ext cx="3650832" cy="1414471"/>
          </a:xfrm>
          <a:prstGeom prst="rect">
            <a:avLst/>
          </a:prstGeom>
          <a:solidFill>
            <a:schemeClr val="accent6">
              <a:lumMod val="75000"/>
              <a:alpha val="15000"/>
            </a:schemeClr>
          </a:solidFill>
          <a:ln w="12700">
            <a:solidFill>
              <a:schemeClr val="tx1">
                <a:lumMod val="75000"/>
              </a:schemeClr>
            </a:solidFill>
          </a:ln>
        </p:spPr>
        <p:txBody>
          <a:bodyPr vert="horz" wrap="square" lIns="143963" tIns="107972" rIns="143963" bIns="107972" rtlCol="0">
            <a:spAutoFit/>
          </a:bodyPr>
          <a:lstStyle/>
          <a:p>
            <a:pPr eaLnBrk="0" hangingPunct="0">
              <a:lnSpc>
                <a:spcPct val="110000"/>
              </a:lnSpc>
              <a:buClr>
                <a:schemeClr val="accent5">
                  <a:lumMod val="40000"/>
                  <a:lumOff val="60000"/>
                </a:schemeClr>
              </a:buClr>
              <a:buSzPct val="70000"/>
            </a:pPr>
            <a:r>
              <a:rPr lang="en-US" sz="2400" b="1" dirty="0">
                <a:latin typeface="Consolas" panose="020B0609020204030204" pitchFamily="49" charset="0"/>
              </a:rPr>
              <a:t>.box {</a:t>
            </a:r>
          </a:p>
          <a:p>
            <a:pPr eaLnBrk="0" hangingPunct="0">
              <a:lnSpc>
                <a:spcPct val="110000"/>
              </a:lnSpc>
              <a:buClr>
                <a:schemeClr val="accent5">
                  <a:lumMod val="40000"/>
                  <a:lumOff val="60000"/>
                </a:schemeClr>
              </a:buClr>
              <a:buSzPct val="70000"/>
            </a:pPr>
            <a:r>
              <a:rPr lang="en-US" sz="2400" b="1" dirty="0">
                <a:latin typeface="Consolas" panose="020B0609020204030204" pitchFamily="49" charset="0"/>
              </a:rPr>
              <a:t>  position: sticky;</a:t>
            </a:r>
          </a:p>
          <a:p>
            <a:pPr eaLnBrk="0" hangingPunct="0">
              <a:lnSpc>
                <a:spcPct val="110000"/>
              </a:lnSpc>
              <a:buClr>
                <a:schemeClr val="accent5">
                  <a:lumMod val="40000"/>
                  <a:lumOff val="60000"/>
                </a:schemeClr>
              </a:buClr>
              <a:buSzPct val="70000"/>
            </a:pPr>
            <a:r>
              <a:rPr lang="en-US" sz="2400" b="1" dirty="0">
                <a:latin typeface="Consolas" panose="020B0609020204030204" pitchFamily="49" charset="0"/>
              </a:rPr>
              <a:t>}</a:t>
            </a:r>
          </a:p>
        </p:txBody>
      </p:sp>
      <p:pic>
        <p:nvPicPr>
          <p:cNvPr id="2" name="Picture 1">
            <a:extLst>
              <a:ext uri="{FF2B5EF4-FFF2-40B4-BE49-F238E27FC236}">
                <a16:creationId xmlns:a16="http://schemas.microsoft.com/office/drawing/2014/main" id="{34B0CB4D-4F04-1087-F40D-0034AE4BE01F}"/>
              </a:ext>
            </a:extLst>
          </p:cNvPr>
          <p:cNvPicPr>
            <a:picLocks noChangeAspect="1"/>
          </p:cNvPicPr>
          <p:nvPr/>
        </p:nvPicPr>
        <p:blipFill>
          <a:blip r:embed="rId2"/>
          <a:stretch>
            <a:fillRect/>
          </a:stretch>
        </p:blipFill>
        <p:spPr>
          <a:xfrm>
            <a:off x="5459220" y="4644000"/>
            <a:ext cx="5241000" cy="1738265"/>
          </a:xfrm>
          <a:prstGeom prst="rect">
            <a:avLst/>
          </a:prstGeom>
          <a:ln>
            <a:noFill/>
          </a:ln>
          <a:effectLst>
            <a:outerShdw blurRad="292100" dist="139700" dir="2700000" algn="tl" rotWithShape="0">
              <a:srgbClr val="333333">
                <a:alpha val="65000"/>
              </a:srgbClr>
            </a:outerShdw>
          </a:effectLst>
        </p:spPr>
      </p:pic>
      <p:sp>
        <p:nvSpPr>
          <p:cNvPr id="3" name="Slide Number">
            <a:extLst>
              <a:ext uri="{FF2B5EF4-FFF2-40B4-BE49-F238E27FC236}">
                <a16:creationId xmlns:a16="http://schemas.microsoft.com/office/drawing/2014/main" id="{0CB65F5B-2DDA-63A2-AAD7-E6BFFA8243D9}"/>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74</a:t>
            </a:fld>
            <a:endParaRPr lang="en-US" noProof="0" dirty="0"/>
          </a:p>
        </p:txBody>
      </p:sp>
    </p:spTree>
    <p:extLst>
      <p:ext uri="{BB962C8B-B14F-4D97-AF65-F5344CB8AC3E}">
        <p14:creationId xmlns:p14="http://schemas.microsoft.com/office/powerpoint/2010/main" val="3736374048"/>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Текстов контейнер 4">
            <a:extLst>
              <a:ext uri="{FF2B5EF4-FFF2-40B4-BE49-F238E27FC236}">
                <a16:creationId xmlns:a16="http://schemas.microsoft.com/office/drawing/2014/main" id="{4ABCDDE1-E807-74AC-554D-43FBD5F2B06E}"/>
              </a:ext>
            </a:extLst>
          </p:cNvPr>
          <p:cNvSpPr>
            <a:spLocks noGrp="1"/>
          </p:cNvSpPr>
          <p:nvPr>
            <p:ph type="body" sz="quarter" idx="10"/>
          </p:nvPr>
        </p:nvSpPr>
        <p:spPr>
          <a:xfrm>
            <a:off x="190402" y="1196125"/>
            <a:ext cx="11811196" cy="5528766"/>
          </a:xfrm>
        </p:spPr>
        <p:txBody>
          <a:bodyPr>
            <a:normAutofit/>
          </a:bodyPr>
          <a:lstStyle/>
          <a:p>
            <a:pPr>
              <a:lnSpc>
                <a:spcPct val="120000"/>
              </a:lnSpc>
            </a:pPr>
            <a:r>
              <a:rPr lang="en-US" sz="3200" b="0" dirty="0"/>
              <a:t>The </a:t>
            </a:r>
            <a:r>
              <a:rPr lang="en-US" sz="3200" b="1" dirty="0">
                <a:solidFill>
                  <a:schemeClr val="bg1"/>
                </a:solidFill>
              </a:rPr>
              <a:t>z-index</a:t>
            </a:r>
            <a:r>
              <a:rPr lang="en-US" sz="3200" b="0" dirty="0"/>
              <a:t> CSS property sets the z-order of a positioned element and its descendants or flex items</a:t>
            </a:r>
          </a:p>
          <a:p>
            <a:pPr>
              <a:lnSpc>
                <a:spcPct val="120000"/>
              </a:lnSpc>
            </a:pPr>
            <a:r>
              <a:rPr lang="en-US" sz="3200" b="0" dirty="0"/>
              <a:t>Overlapping elements with a larger </a:t>
            </a:r>
            <a:r>
              <a:rPr lang="en-US" sz="3200" b="1" dirty="0">
                <a:solidFill>
                  <a:schemeClr val="bg1"/>
                </a:solidFill>
              </a:rPr>
              <a:t>z-index</a:t>
            </a:r>
            <a:r>
              <a:rPr lang="en-US" sz="3200" b="0" dirty="0"/>
              <a:t> cover those with a </a:t>
            </a:r>
            <a:br>
              <a:rPr lang="en-US" sz="3200" b="0" dirty="0"/>
            </a:br>
            <a:r>
              <a:rPr lang="en-US" sz="3200" b="0" dirty="0"/>
              <a:t>smaller one</a:t>
            </a:r>
          </a:p>
          <a:p>
            <a:pPr>
              <a:lnSpc>
                <a:spcPct val="120000"/>
              </a:lnSpc>
            </a:pPr>
            <a:r>
              <a:rPr lang="en-US" sz="3200" b="0" i="1" dirty="0">
                <a:hlinkClick r:id="rId2"/>
              </a:rPr>
              <a:t>Example</a:t>
            </a:r>
            <a:endParaRPr lang="en-US" sz="3200" b="0" i="1" dirty="0"/>
          </a:p>
        </p:txBody>
      </p:sp>
      <p:sp>
        <p:nvSpPr>
          <p:cNvPr id="4" name="Title 3">
            <a:extLst>
              <a:ext uri="{FF2B5EF4-FFF2-40B4-BE49-F238E27FC236}">
                <a16:creationId xmlns:a16="http://schemas.microsoft.com/office/drawing/2014/main" id="{E9A1DA41-F15A-4A36-BC07-5ABC6728BF4B}"/>
              </a:ext>
            </a:extLst>
          </p:cNvPr>
          <p:cNvSpPr>
            <a:spLocks noGrp="1"/>
          </p:cNvSpPr>
          <p:nvPr>
            <p:ph type="title"/>
          </p:nvPr>
        </p:nvSpPr>
        <p:spPr/>
        <p:txBody>
          <a:bodyPr/>
          <a:lstStyle/>
          <a:p>
            <a:r>
              <a:rPr lang="en-US" sz="4000" dirty="0"/>
              <a:t>Z-index</a:t>
            </a:r>
            <a:endParaRPr lang="en-GB" sz="4400" dirty="0"/>
          </a:p>
        </p:txBody>
      </p:sp>
      <p:sp>
        <p:nvSpPr>
          <p:cNvPr id="8" name="Текстово поле 10">
            <a:extLst>
              <a:ext uri="{FF2B5EF4-FFF2-40B4-BE49-F238E27FC236}">
                <a16:creationId xmlns:a16="http://schemas.microsoft.com/office/drawing/2014/main" id="{AFD9D407-BFB2-D20A-81DC-2560D1ACCACB}"/>
              </a:ext>
            </a:extLst>
          </p:cNvPr>
          <p:cNvSpPr txBox="1"/>
          <p:nvPr/>
        </p:nvSpPr>
        <p:spPr>
          <a:xfrm>
            <a:off x="921000" y="4824000"/>
            <a:ext cx="4010832" cy="1414471"/>
          </a:xfrm>
          <a:prstGeom prst="rect">
            <a:avLst/>
          </a:prstGeom>
          <a:solidFill>
            <a:schemeClr val="accent6">
              <a:lumMod val="75000"/>
              <a:alpha val="15000"/>
            </a:schemeClr>
          </a:solidFill>
          <a:ln w="12700">
            <a:solidFill>
              <a:schemeClr val="tx1">
                <a:lumMod val="75000"/>
              </a:schemeClr>
            </a:solidFill>
          </a:ln>
        </p:spPr>
        <p:txBody>
          <a:bodyPr vert="horz" wrap="square" lIns="143963" tIns="107972" rIns="143963" bIns="107972" rtlCol="0">
            <a:spAutoFit/>
          </a:bodyPr>
          <a:lstStyle/>
          <a:p>
            <a:pPr eaLnBrk="0" hangingPunct="0">
              <a:lnSpc>
                <a:spcPct val="110000"/>
              </a:lnSpc>
              <a:buClr>
                <a:schemeClr val="accent5">
                  <a:lumMod val="40000"/>
                  <a:lumOff val="60000"/>
                </a:schemeClr>
              </a:buClr>
              <a:buSzPct val="70000"/>
            </a:pPr>
            <a:r>
              <a:rPr lang="en-US" sz="2400" b="1" dirty="0">
                <a:latin typeface="Consolas" panose="020B0609020204030204" pitchFamily="49" charset="0"/>
              </a:rPr>
              <a:t>.box {</a:t>
            </a:r>
          </a:p>
          <a:p>
            <a:pPr eaLnBrk="0" hangingPunct="0">
              <a:lnSpc>
                <a:spcPct val="110000"/>
              </a:lnSpc>
              <a:buClr>
                <a:schemeClr val="accent5">
                  <a:lumMod val="40000"/>
                  <a:lumOff val="60000"/>
                </a:schemeClr>
              </a:buClr>
              <a:buSzPct val="70000"/>
            </a:pPr>
            <a:r>
              <a:rPr lang="en-US" sz="2400" b="1" dirty="0">
                <a:latin typeface="Consolas" panose="020B0609020204030204" pitchFamily="49" charset="0"/>
              </a:rPr>
              <a:t>  z-index: [number];</a:t>
            </a:r>
          </a:p>
          <a:p>
            <a:pPr eaLnBrk="0" hangingPunct="0">
              <a:lnSpc>
                <a:spcPct val="110000"/>
              </a:lnSpc>
              <a:buClr>
                <a:schemeClr val="accent5">
                  <a:lumMod val="40000"/>
                  <a:lumOff val="60000"/>
                </a:schemeClr>
              </a:buClr>
              <a:buSzPct val="70000"/>
            </a:pPr>
            <a:r>
              <a:rPr lang="en-US" sz="2400" b="1" dirty="0">
                <a:latin typeface="Consolas" panose="020B0609020204030204" pitchFamily="49" charset="0"/>
              </a:rPr>
              <a:t>}</a:t>
            </a:r>
          </a:p>
        </p:txBody>
      </p:sp>
      <p:pic>
        <p:nvPicPr>
          <p:cNvPr id="6" name="Picture 5">
            <a:extLst>
              <a:ext uri="{FF2B5EF4-FFF2-40B4-BE49-F238E27FC236}">
                <a16:creationId xmlns:a16="http://schemas.microsoft.com/office/drawing/2014/main" id="{C03F37DA-76CD-A3D4-1BF4-F1811EA1B384}"/>
              </a:ext>
            </a:extLst>
          </p:cNvPr>
          <p:cNvPicPr>
            <a:picLocks noChangeAspect="1"/>
          </p:cNvPicPr>
          <p:nvPr/>
        </p:nvPicPr>
        <p:blipFill>
          <a:blip r:embed="rId3"/>
          <a:stretch>
            <a:fillRect/>
          </a:stretch>
        </p:blipFill>
        <p:spPr>
          <a:xfrm>
            <a:off x="5909415" y="3495919"/>
            <a:ext cx="5346700" cy="3162300"/>
          </a:xfrm>
          <a:prstGeom prst="rect">
            <a:avLst/>
          </a:prstGeom>
          <a:ln>
            <a:noFill/>
          </a:ln>
          <a:effectLst>
            <a:outerShdw blurRad="292100" dist="139700" dir="2700000" algn="tl" rotWithShape="0">
              <a:srgbClr val="333333">
                <a:alpha val="65000"/>
              </a:srgbClr>
            </a:outerShdw>
          </a:effectLst>
        </p:spPr>
      </p:pic>
      <p:sp>
        <p:nvSpPr>
          <p:cNvPr id="2" name="Slide Number">
            <a:extLst>
              <a:ext uri="{FF2B5EF4-FFF2-40B4-BE49-F238E27FC236}">
                <a16:creationId xmlns:a16="http://schemas.microsoft.com/office/drawing/2014/main" id="{AEBD2530-08B1-5363-3559-CC366CBB6F17}"/>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75</a:t>
            </a:fld>
            <a:endParaRPr lang="en-US" noProof="0" dirty="0"/>
          </a:p>
        </p:txBody>
      </p:sp>
    </p:spTree>
    <p:extLst>
      <p:ext uri="{BB962C8B-B14F-4D97-AF65-F5344CB8AC3E}">
        <p14:creationId xmlns:p14="http://schemas.microsoft.com/office/powerpoint/2010/main" val="326392055"/>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Z-index</a:t>
            </a:r>
          </a:p>
        </p:txBody>
      </p:sp>
      <p:sp>
        <p:nvSpPr>
          <p:cNvPr id="3" name="Text Placeholder 2"/>
          <p:cNvSpPr>
            <a:spLocks noGrp="1"/>
          </p:cNvSpPr>
          <p:nvPr>
            <p:ph type="body" sz="quarter" idx="10"/>
          </p:nvPr>
        </p:nvSpPr>
        <p:spPr/>
        <p:txBody>
          <a:bodyPr>
            <a:normAutofit/>
          </a:bodyPr>
          <a:lstStyle/>
          <a:p>
            <a:pPr>
              <a:buClr>
                <a:schemeClr val="tx1"/>
              </a:buClr>
            </a:pPr>
            <a:r>
              <a:rPr lang="en-US" dirty="0"/>
              <a:t>Defines the order of the elements on the </a:t>
            </a:r>
            <a:r>
              <a:rPr lang="en-US" b="1" dirty="0">
                <a:solidFill>
                  <a:schemeClr val="bg1"/>
                </a:solidFill>
              </a:rPr>
              <a:t>z-axis</a:t>
            </a:r>
            <a:r>
              <a:rPr lang="en-US" dirty="0"/>
              <a:t>. It only works on positioned elements (</a:t>
            </a:r>
            <a:r>
              <a:rPr lang="en-US" b="1" dirty="0">
                <a:solidFill>
                  <a:schemeClr val="bg1"/>
                </a:solidFill>
              </a:rPr>
              <a:t>anything apart from static</a:t>
            </a:r>
            <a:r>
              <a:rPr lang="en-US" dirty="0"/>
              <a:t>)</a:t>
            </a:r>
          </a:p>
          <a:p>
            <a:pPr lvl="1">
              <a:buClr>
                <a:schemeClr val="tx1"/>
              </a:buClr>
            </a:pPr>
            <a:r>
              <a:rPr lang="en-US" dirty="0"/>
              <a:t>Default value: </a:t>
            </a:r>
            <a:r>
              <a:rPr lang="en-US" b="1" dirty="0">
                <a:solidFill>
                  <a:schemeClr val="bg1"/>
                </a:solidFill>
                <a:latin typeface="Consolas" panose="020B0609020204030204" pitchFamily="49" charset="0"/>
              </a:rPr>
              <a:t>z-index:</a:t>
            </a:r>
            <a:r>
              <a:rPr lang="en-US" dirty="0"/>
              <a:t> </a:t>
            </a:r>
            <a:r>
              <a:rPr lang="en-US" b="1" dirty="0">
                <a:solidFill>
                  <a:schemeClr val="bg1"/>
                </a:solidFill>
                <a:latin typeface="Consolas" panose="020B0609020204030204" pitchFamily="49" charset="0"/>
              </a:rPr>
              <a:t>auto;</a:t>
            </a:r>
          </a:p>
          <a:p>
            <a:pPr lvl="1">
              <a:buClr>
                <a:schemeClr val="tx1"/>
              </a:buClr>
            </a:pPr>
            <a:r>
              <a:rPr lang="en-US" dirty="0"/>
              <a:t>The order is defined by the order in the HTML code:</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55300" y="3980717"/>
            <a:ext cx="8881399" cy="1912688"/>
          </a:xfrm>
          <a:prstGeom prst="rect">
            <a:avLst/>
          </a:prstGeom>
          <a:ln>
            <a:noFill/>
          </a:ln>
          <a:effectLst>
            <a:outerShdw blurRad="292100" dist="139700" dir="2700000" algn="tl" rotWithShape="0">
              <a:srgbClr val="333333">
                <a:alpha val="65000"/>
              </a:srgbClr>
            </a:outerShdw>
          </a:effectLst>
        </p:spPr>
      </p:pic>
      <p:sp>
        <p:nvSpPr>
          <p:cNvPr id="7" name="Slide Number">
            <a:extLst>
              <a:ext uri="{FF2B5EF4-FFF2-40B4-BE49-F238E27FC236}">
                <a16:creationId xmlns:a16="http://schemas.microsoft.com/office/drawing/2014/main" id="{79435484-1EE8-41FF-9E69-E22BA0489DAD}"/>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76</a:t>
            </a:fld>
            <a:endParaRPr lang="en-US" noProof="0" dirty="0"/>
          </a:p>
        </p:txBody>
      </p:sp>
    </p:spTree>
    <p:extLst>
      <p:ext uri="{BB962C8B-B14F-4D97-AF65-F5344CB8AC3E}">
        <p14:creationId xmlns:p14="http://schemas.microsoft.com/office/powerpoint/2010/main" val="3807865643"/>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Z-index</a:t>
            </a:r>
          </a:p>
        </p:txBody>
      </p:sp>
      <p:sp>
        <p:nvSpPr>
          <p:cNvPr id="3" name="Text Placeholder 2"/>
          <p:cNvSpPr>
            <a:spLocks noGrp="1"/>
          </p:cNvSpPr>
          <p:nvPr>
            <p:ph type="body" sz="quarter" idx="10"/>
          </p:nvPr>
        </p:nvSpPr>
        <p:spPr/>
        <p:txBody>
          <a:bodyPr>
            <a:normAutofit/>
          </a:bodyPr>
          <a:lstStyle/>
          <a:p>
            <a:pPr>
              <a:buClr>
                <a:schemeClr val="tx1"/>
              </a:buClr>
            </a:pPr>
            <a:r>
              <a:rPr lang="en-US" dirty="0"/>
              <a:t>The z-index value is relative to the other ones</a:t>
            </a:r>
          </a:p>
          <a:p>
            <a:pPr>
              <a:buClr>
                <a:schemeClr val="tx1"/>
              </a:buClr>
            </a:pPr>
            <a:r>
              <a:rPr lang="en-US" dirty="0"/>
              <a:t>The target element is move in </a:t>
            </a:r>
            <a:r>
              <a:rPr lang="en-US" b="1" dirty="0">
                <a:solidFill>
                  <a:schemeClr val="bg1"/>
                </a:solidFill>
              </a:rPr>
              <a:t>front</a:t>
            </a:r>
            <a:r>
              <a:rPr lang="en-US" dirty="0">
                <a:solidFill>
                  <a:schemeClr val="bg1"/>
                </a:solidFill>
              </a:rPr>
              <a:t> </a:t>
            </a:r>
            <a:r>
              <a:rPr lang="en-US" dirty="0"/>
              <a:t>of its siblings</a:t>
            </a:r>
            <a:endParaRPr lang="en-US" b="1" dirty="0">
              <a:solidFill>
                <a:schemeClr val="bg1"/>
              </a:solidFill>
            </a:endParaRPr>
          </a:p>
          <a:p>
            <a:pPr lvl="1">
              <a:buClr>
                <a:schemeClr val="tx1"/>
              </a:buClr>
            </a:pPr>
            <a:r>
              <a:rPr lang="en-US" b="1" dirty="0">
                <a:solidFill>
                  <a:schemeClr val="bg1"/>
                </a:solidFill>
                <a:latin typeface="Consolas" panose="020B0609020204030204" pitchFamily="49" charset="0"/>
              </a:rPr>
              <a:t>z-index:</a:t>
            </a:r>
            <a:r>
              <a:rPr lang="en-US" dirty="0"/>
              <a:t> </a:t>
            </a:r>
            <a:r>
              <a:rPr lang="en-US" b="1" dirty="0">
                <a:solidFill>
                  <a:schemeClr val="bg1"/>
                </a:solidFill>
                <a:latin typeface="Consolas" panose="020B0609020204030204" pitchFamily="49" charset="0"/>
              </a:rPr>
              <a:t>1;</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49433" y="3429000"/>
            <a:ext cx="9893134" cy="2160001"/>
          </a:xfrm>
          <a:prstGeom prst="rect">
            <a:avLst/>
          </a:prstGeom>
          <a:ln>
            <a:noFill/>
          </a:ln>
          <a:effectLst>
            <a:outerShdw blurRad="292100" dist="139700" dir="2700000" algn="tl" rotWithShape="0">
              <a:srgbClr val="333333">
                <a:alpha val="65000"/>
              </a:srgbClr>
            </a:outerShdw>
          </a:effectLst>
        </p:spPr>
      </p:pic>
      <p:sp>
        <p:nvSpPr>
          <p:cNvPr id="6" name="Slide Number">
            <a:extLst>
              <a:ext uri="{FF2B5EF4-FFF2-40B4-BE49-F238E27FC236}">
                <a16:creationId xmlns:a16="http://schemas.microsoft.com/office/drawing/2014/main" id="{2F2FD41F-590A-4042-8FA8-44ED94DE0B58}"/>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77</a:t>
            </a:fld>
            <a:endParaRPr lang="en-US" noProof="0" dirty="0"/>
          </a:p>
        </p:txBody>
      </p:sp>
    </p:spTree>
    <p:extLst>
      <p:ext uri="{BB962C8B-B14F-4D97-AF65-F5344CB8AC3E}">
        <p14:creationId xmlns:p14="http://schemas.microsoft.com/office/powerpoint/2010/main" val="3902363040"/>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Z-index</a:t>
            </a:r>
          </a:p>
        </p:txBody>
      </p:sp>
      <p:sp>
        <p:nvSpPr>
          <p:cNvPr id="3" name="Text Placeholder 2"/>
          <p:cNvSpPr>
            <a:spLocks noGrp="1"/>
          </p:cNvSpPr>
          <p:nvPr>
            <p:ph type="body" sz="quarter" idx="10"/>
          </p:nvPr>
        </p:nvSpPr>
        <p:spPr/>
        <p:txBody>
          <a:bodyPr>
            <a:normAutofit/>
          </a:bodyPr>
          <a:lstStyle/>
          <a:p>
            <a:pPr>
              <a:buClr>
                <a:schemeClr val="tx1"/>
              </a:buClr>
            </a:pPr>
            <a:r>
              <a:rPr lang="en-US" dirty="0"/>
              <a:t>You can use </a:t>
            </a:r>
            <a:r>
              <a:rPr lang="en-US" b="1" dirty="0">
                <a:solidFill>
                  <a:schemeClr val="bg1"/>
                </a:solidFill>
              </a:rPr>
              <a:t>negative</a:t>
            </a:r>
            <a:r>
              <a:rPr lang="en-US" dirty="0"/>
              <a:t> values</a:t>
            </a:r>
          </a:p>
          <a:p>
            <a:pPr>
              <a:buClr>
                <a:schemeClr val="tx1"/>
              </a:buClr>
            </a:pPr>
            <a:r>
              <a:rPr lang="en-US" dirty="0"/>
              <a:t>The target element is moved </a:t>
            </a:r>
            <a:r>
              <a:rPr lang="en-US" b="1" dirty="0">
                <a:solidFill>
                  <a:schemeClr val="bg1"/>
                </a:solidFill>
              </a:rPr>
              <a:t>behind</a:t>
            </a:r>
            <a:r>
              <a:rPr lang="en-US" dirty="0"/>
              <a:t> its </a:t>
            </a:r>
            <a:r>
              <a:rPr lang="en-US" b="1" dirty="0">
                <a:solidFill>
                  <a:schemeClr val="bg1"/>
                </a:solidFill>
              </a:rPr>
              <a:t>siblings</a:t>
            </a:r>
          </a:p>
          <a:p>
            <a:pPr lvl="1">
              <a:buClr>
                <a:schemeClr val="tx1"/>
              </a:buClr>
            </a:pPr>
            <a:r>
              <a:rPr lang="en-US" sz="3200" b="1" dirty="0">
                <a:solidFill>
                  <a:schemeClr val="bg1"/>
                </a:solidFill>
                <a:latin typeface="Consolas" panose="020B0609020204030204" pitchFamily="49" charset="0"/>
              </a:rPr>
              <a:t>z-index:</a:t>
            </a:r>
            <a:r>
              <a:rPr lang="en-US" dirty="0"/>
              <a:t> </a:t>
            </a:r>
            <a:r>
              <a:rPr lang="en-US" sz="3200" b="1" dirty="0">
                <a:solidFill>
                  <a:schemeClr val="bg1"/>
                </a:solidFill>
                <a:latin typeface="Consolas" panose="020B0609020204030204" pitchFamily="49" charset="0"/>
              </a:rPr>
              <a:t>-1;</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8500" y="3429000"/>
            <a:ext cx="10575000" cy="2269842"/>
          </a:xfrm>
          <a:prstGeom prst="rect">
            <a:avLst/>
          </a:prstGeom>
          <a:ln>
            <a:noFill/>
          </a:ln>
          <a:effectLst>
            <a:outerShdw blurRad="292100" dist="139700" dir="2700000" algn="tl" rotWithShape="0">
              <a:srgbClr val="333333">
                <a:alpha val="65000"/>
              </a:srgbClr>
            </a:outerShdw>
          </a:effectLst>
        </p:spPr>
      </p:pic>
      <p:sp>
        <p:nvSpPr>
          <p:cNvPr id="7" name="Slide Number">
            <a:extLst>
              <a:ext uri="{FF2B5EF4-FFF2-40B4-BE49-F238E27FC236}">
                <a16:creationId xmlns:a16="http://schemas.microsoft.com/office/drawing/2014/main" id="{BB9B38C5-0B9F-4F60-AA14-89C05C0475BA}"/>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78</a:t>
            </a:fld>
            <a:endParaRPr lang="en-US" noProof="0" dirty="0"/>
          </a:p>
        </p:txBody>
      </p:sp>
    </p:spTree>
    <p:extLst>
      <p:ext uri="{BB962C8B-B14F-4D97-AF65-F5344CB8AC3E}">
        <p14:creationId xmlns:p14="http://schemas.microsoft.com/office/powerpoint/2010/main" val="1067846263"/>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Текстов контейнер 2">
            <a:extLst>
              <a:ext uri="{FF2B5EF4-FFF2-40B4-BE49-F238E27FC236}">
                <a16:creationId xmlns:a16="http://schemas.microsoft.com/office/drawing/2014/main" id="{5F20F2DD-4C9F-CE9F-CBEE-F01D312C775B}"/>
              </a:ext>
            </a:extLst>
          </p:cNvPr>
          <p:cNvSpPr>
            <a:spLocks noGrp="1"/>
          </p:cNvSpPr>
          <p:nvPr>
            <p:ph type="body" sz="quarter" idx="10"/>
          </p:nvPr>
        </p:nvSpPr>
        <p:spPr/>
        <p:txBody>
          <a:bodyPr>
            <a:normAutofit fontScale="92500" lnSpcReduction="10000"/>
          </a:bodyPr>
          <a:lstStyle/>
          <a:p>
            <a:pPr>
              <a:lnSpc>
                <a:spcPct val="150000"/>
              </a:lnSpc>
              <a:buClr>
                <a:schemeClr val="tx1"/>
              </a:buClr>
            </a:pPr>
            <a:r>
              <a:rPr lang="en-US" sz="3200" u="sng" dirty="0">
                <a:solidFill>
                  <a:schemeClr val="bg1"/>
                </a:solidFill>
                <a:hlinkClick r:id="rId2"/>
              </a:rPr>
              <a:t>https://developer.mozilla.org/en-US/docs/Web/CSS/CSS_Box_Model</a:t>
            </a:r>
            <a:endParaRPr lang="en-US" sz="3200" u="sng" dirty="0">
              <a:solidFill>
                <a:schemeClr val="bg1"/>
              </a:solidFill>
            </a:endParaRPr>
          </a:p>
          <a:p>
            <a:pPr>
              <a:lnSpc>
                <a:spcPct val="150000"/>
              </a:lnSpc>
              <a:buClr>
                <a:schemeClr val="tx1"/>
              </a:buClr>
            </a:pPr>
            <a:r>
              <a:rPr lang="en-US" sz="3200" u="sng" dirty="0">
                <a:solidFill>
                  <a:schemeClr val="bg1"/>
                </a:solidFill>
                <a:hlinkClick r:id="rId3"/>
              </a:rPr>
              <a:t>https://developer.mozilla.org/en-US/docs/Web/CSS/display</a:t>
            </a:r>
            <a:endParaRPr lang="en-US" sz="3200" u="sng" dirty="0">
              <a:solidFill>
                <a:schemeClr val="bg1"/>
              </a:solidFill>
            </a:endParaRPr>
          </a:p>
          <a:p>
            <a:pPr>
              <a:lnSpc>
                <a:spcPct val="150000"/>
              </a:lnSpc>
              <a:buClr>
                <a:schemeClr val="tx1"/>
              </a:buClr>
            </a:pPr>
            <a:r>
              <a:rPr lang="en-US" sz="3200" u="sng" dirty="0">
                <a:solidFill>
                  <a:schemeClr val="bg1"/>
                </a:solidFill>
                <a:hlinkClick r:id="rId4"/>
              </a:rPr>
              <a:t>https://developer.mozilla.org/en-US/docs/Web/CSS/box-sizing</a:t>
            </a:r>
            <a:endParaRPr lang="en-US" sz="3200" u="sng" dirty="0">
              <a:solidFill>
                <a:schemeClr val="bg1"/>
              </a:solidFill>
            </a:endParaRPr>
          </a:p>
          <a:p>
            <a:pPr>
              <a:lnSpc>
                <a:spcPct val="150000"/>
              </a:lnSpc>
              <a:buClr>
                <a:schemeClr val="tx1"/>
              </a:buClr>
            </a:pPr>
            <a:r>
              <a:rPr lang="en-US" sz="3200" u="sng" dirty="0">
                <a:solidFill>
                  <a:schemeClr val="bg1"/>
                </a:solidFill>
                <a:hlinkClick r:id="rId5"/>
              </a:rPr>
              <a:t>https://css-tricks.com/the-css-box-model</a:t>
            </a:r>
            <a:endParaRPr lang="en-US" sz="3200" u="sng" dirty="0">
              <a:solidFill>
                <a:schemeClr val="bg1"/>
              </a:solidFill>
            </a:endParaRPr>
          </a:p>
          <a:p>
            <a:pPr>
              <a:lnSpc>
                <a:spcPct val="150000"/>
              </a:lnSpc>
              <a:buClr>
                <a:schemeClr val="tx1"/>
              </a:buClr>
            </a:pPr>
            <a:r>
              <a:rPr lang="en-US" sz="3200" u="sng" dirty="0">
                <a:solidFill>
                  <a:schemeClr val="bg1"/>
                </a:solidFill>
                <a:hlinkClick r:id="rId6"/>
              </a:rPr>
              <a:t>https://css-tricks.com/box-sizing</a:t>
            </a:r>
            <a:endParaRPr lang="en-US" sz="3200" u="sng" dirty="0">
              <a:solidFill>
                <a:schemeClr val="bg1"/>
              </a:solidFill>
            </a:endParaRPr>
          </a:p>
          <a:p>
            <a:pPr>
              <a:lnSpc>
                <a:spcPct val="150000"/>
              </a:lnSpc>
              <a:buClr>
                <a:schemeClr val="tx1"/>
              </a:buClr>
            </a:pPr>
            <a:r>
              <a:rPr lang="en-US" sz="3200" u="sng" dirty="0">
                <a:solidFill>
                  <a:schemeClr val="bg1"/>
                </a:solidFill>
                <a:hlinkClick r:id="rId7"/>
              </a:rPr>
              <a:t>https://www.paulirish.com/2012/box-sizing-border-box-ftw/</a:t>
            </a:r>
            <a:endParaRPr lang="en-US" sz="3200" u="sng" dirty="0">
              <a:solidFill>
                <a:schemeClr val="bg1"/>
              </a:solidFill>
            </a:endParaRPr>
          </a:p>
          <a:p>
            <a:pPr>
              <a:lnSpc>
                <a:spcPct val="150000"/>
              </a:lnSpc>
              <a:buClr>
                <a:schemeClr val="tx1"/>
              </a:buClr>
            </a:pPr>
            <a:r>
              <a:rPr lang="en-US" sz="3200" u="sng">
                <a:solidFill>
                  <a:schemeClr val="bg1"/>
                </a:solidFill>
              </a:rPr>
              <a:t>https://www.w3schools.com/css/css_icons.asp</a:t>
            </a:r>
            <a:endParaRPr lang="en-US" sz="3200" u="sng" dirty="0">
              <a:solidFill>
                <a:schemeClr val="bg1"/>
              </a:solidFill>
            </a:endParaRPr>
          </a:p>
        </p:txBody>
      </p:sp>
      <p:sp>
        <p:nvSpPr>
          <p:cNvPr id="4" name="Title 3">
            <a:extLst>
              <a:ext uri="{FF2B5EF4-FFF2-40B4-BE49-F238E27FC236}">
                <a16:creationId xmlns:a16="http://schemas.microsoft.com/office/drawing/2014/main" id="{E9A1DA41-F15A-4A36-BC07-5ABC6728BF4B}"/>
              </a:ext>
            </a:extLst>
          </p:cNvPr>
          <p:cNvSpPr>
            <a:spLocks noGrp="1"/>
          </p:cNvSpPr>
          <p:nvPr>
            <p:ph type="title"/>
          </p:nvPr>
        </p:nvSpPr>
        <p:spPr/>
        <p:txBody>
          <a:bodyPr/>
          <a:lstStyle/>
          <a:p>
            <a:r>
              <a:rPr lang="en-GB" dirty="0"/>
              <a:t>Resources – Box Model</a:t>
            </a:r>
          </a:p>
        </p:txBody>
      </p:sp>
      <p:sp>
        <p:nvSpPr>
          <p:cNvPr id="2" name="Slide Number">
            <a:extLst>
              <a:ext uri="{FF2B5EF4-FFF2-40B4-BE49-F238E27FC236}">
                <a16:creationId xmlns:a16="http://schemas.microsoft.com/office/drawing/2014/main" id="{3B1D56E6-50DC-7EB6-55E4-8A3E79FD3FA8}"/>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79</a:t>
            </a:fld>
            <a:endParaRPr lang="en-US" noProof="0" dirty="0"/>
          </a:p>
        </p:txBody>
      </p:sp>
    </p:spTree>
    <p:extLst>
      <p:ext uri="{BB962C8B-B14F-4D97-AF65-F5344CB8AC3E}">
        <p14:creationId xmlns:p14="http://schemas.microsoft.com/office/powerpoint/2010/main" val="2241672400"/>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Текстов контейнер 2">
            <a:extLst>
              <a:ext uri="{FF2B5EF4-FFF2-40B4-BE49-F238E27FC236}">
                <a16:creationId xmlns:a16="http://schemas.microsoft.com/office/drawing/2014/main" id="{B6C35CF2-863E-92F0-7CDB-930BFAF59BB1}"/>
              </a:ext>
            </a:extLst>
          </p:cNvPr>
          <p:cNvSpPr>
            <a:spLocks noGrp="1"/>
          </p:cNvSpPr>
          <p:nvPr>
            <p:ph type="body" sz="quarter" idx="10"/>
          </p:nvPr>
        </p:nvSpPr>
        <p:spPr>
          <a:xfrm>
            <a:off x="111000" y="1089000"/>
            <a:ext cx="11818096" cy="5528766"/>
          </a:xfrm>
        </p:spPr>
        <p:txBody>
          <a:bodyPr>
            <a:noAutofit/>
          </a:bodyPr>
          <a:lstStyle/>
          <a:p>
            <a:pPr>
              <a:lnSpc>
                <a:spcPct val="150000"/>
              </a:lnSpc>
              <a:buClr>
                <a:schemeClr val="tx1"/>
              </a:buClr>
            </a:pPr>
            <a:r>
              <a:rPr lang="en-US" sz="2600" u="sng" dirty="0">
                <a:solidFill>
                  <a:schemeClr val="bg1"/>
                </a:solidFill>
                <a:hlinkClick r:id="rId2"/>
              </a:rPr>
              <a:t>https://developer.mozilla.org/en-US/docs/Web/CSS/position</a:t>
            </a:r>
            <a:endParaRPr lang="en-US" sz="2600" u="sng" dirty="0">
              <a:solidFill>
                <a:schemeClr val="bg1"/>
              </a:solidFill>
            </a:endParaRPr>
          </a:p>
          <a:p>
            <a:pPr>
              <a:lnSpc>
                <a:spcPct val="150000"/>
              </a:lnSpc>
              <a:buClr>
                <a:schemeClr val="tx1"/>
              </a:buClr>
            </a:pPr>
            <a:r>
              <a:rPr lang="en-US" sz="2600" u="sng" dirty="0">
                <a:solidFill>
                  <a:schemeClr val="bg1"/>
                </a:solidFill>
                <a:hlinkClick r:id="rId3"/>
              </a:rPr>
              <a:t>https://developer.mozilla.org/en-US/docs/Web/CSS/z-index</a:t>
            </a:r>
            <a:endParaRPr lang="en-US" sz="2600" u="sng" dirty="0">
              <a:solidFill>
                <a:schemeClr val="bg1"/>
              </a:solidFill>
            </a:endParaRPr>
          </a:p>
          <a:p>
            <a:pPr>
              <a:lnSpc>
                <a:spcPct val="150000"/>
              </a:lnSpc>
              <a:buClr>
                <a:schemeClr val="tx1"/>
              </a:buClr>
            </a:pPr>
            <a:r>
              <a:rPr lang="en-US" sz="2600" u="sng" dirty="0">
                <a:solidFill>
                  <a:schemeClr val="bg1"/>
                </a:solidFill>
                <a:hlinkClick r:id="rId4"/>
              </a:rPr>
              <a:t>https://developer.mozilla.org/en-US/docs/Web/CSS/CSS_positioned_layout/Understanding_z-index</a:t>
            </a:r>
            <a:endParaRPr lang="en-US" sz="2600" u="sng" dirty="0">
              <a:solidFill>
                <a:schemeClr val="bg1"/>
              </a:solidFill>
            </a:endParaRPr>
          </a:p>
          <a:p>
            <a:pPr>
              <a:lnSpc>
                <a:spcPct val="150000"/>
              </a:lnSpc>
              <a:buClr>
                <a:schemeClr val="tx1"/>
              </a:buClr>
            </a:pPr>
            <a:r>
              <a:rPr lang="en-US" sz="2600" u="sng" dirty="0">
                <a:solidFill>
                  <a:schemeClr val="bg1"/>
                </a:solidFill>
                <a:hlinkClick r:id="rId5"/>
              </a:rPr>
              <a:t>https://interactive-examples.mdn.mozilla.net/pages/css/position.html</a:t>
            </a:r>
            <a:endParaRPr lang="en-US" sz="2600" u="sng" dirty="0">
              <a:solidFill>
                <a:schemeClr val="bg1"/>
              </a:solidFill>
            </a:endParaRPr>
          </a:p>
          <a:p>
            <a:pPr>
              <a:lnSpc>
                <a:spcPct val="150000"/>
              </a:lnSpc>
              <a:buClr>
                <a:schemeClr val="tx1"/>
              </a:buClr>
            </a:pPr>
            <a:r>
              <a:rPr lang="en-US" sz="2600" u="sng" dirty="0">
                <a:solidFill>
                  <a:schemeClr val="bg1"/>
                </a:solidFill>
                <a:hlinkClick r:id="rId6"/>
              </a:rPr>
              <a:t>https://css-tricks.com/video-screencasts/198-about-the-position-property/</a:t>
            </a:r>
            <a:endParaRPr lang="en-US" sz="2600" u="sng" dirty="0">
              <a:solidFill>
                <a:schemeClr val="bg1"/>
              </a:solidFill>
              <a:hlinkClick r:id="" action="ppaction://noaction"/>
            </a:endParaRPr>
          </a:p>
          <a:p>
            <a:pPr>
              <a:lnSpc>
                <a:spcPct val="150000"/>
              </a:lnSpc>
              <a:buClr>
                <a:schemeClr val="tx1"/>
              </a:buClr>
            </a:pPr>
            <a:r>
              <a:rPr lang="en-US" sz="2600" u="sng" dirty="0">
                <a:solidFill>
                  <a:schemeClr val="bg1"/>
                </a:solidFill>
                <a:hlinkClick r:id="rId7"/>
              </a:rPr>
              <a:t>https://css-tricks.com/almanac/properties/p/position/</a:t>
            </a:r>
            <a:endParaRPr lang="en-US" sz="2600" u="sng" dirty="0">
              <a:solidFill>
                <a:schemeClr val="bg1"/>
              </a:solidFill>
              <a:hlinkClick r:id="" action="ppaction://noaction"/>
            </a:endParaRPr>
          </a:p>
          <a:p>
            <a:pPr>
              <a:lnSpc>
                <a:spcPct val="150000"/>
              </a:lnSpc>
              <a:buClr>
                <a:schemeClr val="tx1"/>
              </a:buClr>
            </a:pPr>
            <a:r>
              <a:rPr lang="en-US" sz="2600" u="sng" dirty="0">
                <a:solidFill>
                  <a:schemeClr val="bg1"/>
                </a:solidFill>
                <a:hlinkClick r:id="rId8"/>
              </a:rPr>
              <a:t>https://css-tricks.com/position-sticky-2/</a:t>
            </a:r>
            <a:endParaRPr lang="en-US" sz="2600" u="sng" dirty="0">
              <a:solidFill>
                <a:schemeClr val="bg1"/>
              </a:solidFill>
            </a:endParaRPr>
          </a:p>
        </p:txBody>
      </p:sp>
      <p:sp>
        <p:nvSpPr>
          <p:cNvPr id="4" name="Title 3">
            <a:extLst>
              <a:ext uri="{FF2B5EF4-FFF2-40B4-BE49-F238E27FC236}">
                <a16:creationId xmlns:a16="http://schemas.microsoft.com/office/drawing/2014/main" id="{E9A1DA41-F15A-4A36-BC07-5ABC6728BF4B}"/>
              </a:ext>
            </a:extLst>
          </p:cNvPr>
          <p:cNvSpPr>
            <a:spLocks noGrp="1"/>
          </p:cNvSpPr>
          <p:nvPr>
            <p:ph type="title"/>
          </p:nvPr>
        </p:nvSpPr>
        <p:spPr/>
        <p:txBody>
          <a:bodyPr/>
          <a:lstStyle/>
          <a:p>
            <a:r>
              <a:rPr lang="en-GB" dirty="0"/>
              <a:t>Resources – Position</a:t>
            </a:r>
          </a:p>
        </p:txBody>
      </p:sp>
      <p:sp>
        <p:nvSpPr>
          <p:cNvPr id="2" name="Slide Number">
            <a:extLst>
              <a:ext uri="{FF2B5EF4-FFF2-40B4-BE49-F238E27FC236}">
                <a16:creationId xmlns:a16="http://schemas.microsoft.com/office/drawing/2014/main" id="{2497666C-C7E2-CF54-0266-AB60F9C66EB8}"/>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80</a:t>
            </a:fld>
            <a:endParaRPr lang="en-US" noProof="0" dirty="0"/>
          </a:p>
        </p:txBody>
      </p:sp>
    </p:spTree>
    <p:extLst>
      <p:ext uri="{BB962C8B-B14F-4D97-AF65-F5344CB8AC3E}">
        <p14:creationId xmlns:p14="http://schemas.microsoft.com/office/powerpoint/2010/main" val="2987984971"/>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lide Number">
            <a:extLst>
              <a:ext uri="{FF2B5EF4-FFF2-40B4-BE49-F238E27FC236}">
                <a16:creationId xmlns:a16="http://schemas.microsoft.com/office/drawing/2014/main" id="{C1780DB1-0AF0-4108-AFE1-9DA99F0DBCB8}"/>
              </a:ext>
            </a:extLst>
          </p:cNvPr>
          <p:cNvSpPr>
            <a:spLocks noGrp="1"/>
          </p:cNvSpPr>
          <p:nvPr>
            <p:ph type="sldNum" sz="quarter" idx="5"/>
          </p:nvPr>
        </p:nvSpPr>
        <p:spPr>
          <a:prstGeom prst="rect">
            <a:avLst/>
          </a:prstGeom>
        </p:spPr>
        <p:txBody>
          <a:bodyPr vert="horz" lIns="91440" tIns="45720" rIns="91440" bIns="45720" rtlCol="0" anchor="b"/>
          <a:lstStyle>
            <a:lvl1pPr algn="r">
              <a:defRPr sz="1000"/>
            </a:lvl1pPr>
          </a:lstStyle>
          <a:p>
            <a:fld id="{2BF067CD-8E6B-4360-9AA8-C5DF2A48A6D1}" type="slidenum">
              <a:rPr lang="en-US" noProof="0" smtClean="0"/>
              <a:pPr/>
              <a:t>81</a:t>
            </a:fld>
            <a:endParaRPr lang="en-US" noProof="0" dirty="0"/>
          </a:p>
        </p:txBody>
      </p:sp>
      <p:sp>
        <p:nvSpPr>
          <p:cNvPr id="14" name="Text Placeholder 4">
            <a:extLst>
              <a:ext uri="{FF2B5EF4-FFF2-40B4-BE49-F238E27FC236}">
                <a16:creationId xmlns:a16="http://schemas.microsoft.com/office/drawing/2014/main" id="{0E49D336-45B6-44D3-97C4-E28F8DEA2022}"/>
              </a:ext>
            </a:extLst>
          </p:cNvPr>
          <p:cNvSpPr>
            <a:spLocks noGrp="1"/>
          </p:cNvSpPr>
          <p:nvPr>
            <p:ph type="body" sz="quarter" idx="10"/>
          </p:nvPr>
        </p:nvSpPr>
        <p:spPr/>
        <p:txBody>
          <a:bodyPr/>
          <a:lstStyle>
            <a:lvl1pPr marL="514350" indent="-514350">
              <a:buFont typeface="Wingdings" panose="05000000000000000000" pitchFamily="2" charset="2"/>
              <a:buChar char="§"/>
              <a:defRPr>
                <a:solidFill>
                  <a:schemeClr val="bg2"/>
                </a:solidFill>
              </a:defRPr>
            </a:lvl1pPr>
            <a:lvl2pPr marL="1123935" indent="-514350">
              <a:buFont typeface="Wingdings" panose="05000000000000000000" pitchFamily="2" charset="2"/>
              <a:buChar char="§"/>
              <a:defRPr>
                <a:solidFill>
                  <a:schemeClr val="tx1"/>
                </a:solidFill>
              </a:defRPr>
            </a:lvl2pPr>
            <a:lvl3pPr marL="1733520" indent="-514350">
              <a:buFont typeface="Wingdings" panose="05000000000000000000" pitchFamily="2" charset="2"/>
              <a:buChar char="§"/>
              <a:defRPr>
                <a:solidFill>
                  <a:schemeClr val="tx1"/>
                </a:solidFill>
              </a:defRPr>
            </a:lvl3pPr>
            <a:lvl4pPr marL="2343105" indent="-514350">
              <a:buFont typeface="Wingdings" panose="05000000000000000000" pitchFamily="2" charset="2"/>
              <a:buChar char="§"/>
              <a:defRPr>
                <a:solidFill>
                  <a:schemeClr val="tx1"/>
                </a:solidFill>
              </a:defRPr>
            </a:lvl4pPr>
            <a:lvl5pPr marL="2952689" indent="-514350">
              <a:buFont typeface="Wingdings" panose="05000000000000000000" pitchFamily="2" charset="2"/>
              <a:buChar char="§"/>
              <a:defRPr>
                <a:solidFill>
                  <a:schemeClr val="tx1"/>
                </a:solidFill>
              </a:defRPr>
            </a:lvl5pPr>
          </a:lstStyle>
          <a:p>
            <a:pPr lvl="0"/>
            <a:r>
              <a:rPr lang="en-US" dirty="0"/>
              <a:t>…</a:t>
            </a:r>
          </a:p>
          <a:p>
            <a:pPr lvl="0"/>
            <a:r>
              <a:rPr lang="en-GB" dirty="0"/>
              <a:t>…</a:t>
            </a:r>
            <a:endParaRPr lang="en-US" dirty="0"/>
          </a:p>
          <a:p>
            <a:pPr lvl="0"/>
            <a:r>
              <a:rPr lang="en-GB" dirty="0"/>
              <a:t>…</a:t>
            </a:r>
            <a:endParaRPr lang="en-US" dirty="0"/>
          </a:p>
          <a:p>
            <a:pPr lvl="0"/>
            <a:endParaRPr lang="en-US" dirty="0"/>
          </a:p>
        </p:txBody>
      </p:sp>
      <p:sp>
        <p:nvSpPr>
          <p:cNvPr id="4" name="Title 3"/>
          <p:cNvSpPr>
            <a:spLocks noGrp="1"/>
          </p:cNvSpPr>
          <p:nvPr>
            <p:ph type="title"/>
          </p:nvPr>
        </p:nvSpPr>
        <p:spPr/>
        <p:txBody>
          <a:bodyPr>
            <a:normAutofit/>
          </a:bodyPr>
          <a:lstStyle/>
          <a:p>
            <a:r>
              <a:rPr lang="en-US" dirty="0"/>
              <a:t>Summary</a:t>
            </a:r>
          </a:p>
        </p:txBody>
      </p:sp>
      <p:grpSp>
        <p:nvGrpSpPr>
          <p:cNvPr id="9" name="Group 8">
            <a:extLst>
              <a:ext uri="{FF2B5EF4-FFF2-40B4-BE49-F238E27FC236}">
                <a16:creationId xmlns:a16="http://schemas.microsoft.com/office/drawing/2014/main" id="{EBAFE522-EB7D-4931-A015-9A7E8A98517D}"/>
              </a:ext>
            </a:extLst>
          </p:cNvPr>
          <p:cNvGrpSpPr/>
          <p:nvPr/>
        </p:nvGrpSpPr>
        <p:grpSpPr>
          <a:xfrm>
            <a:off x="193481" y="1420275"/>
            <a:ext cx="8630747" cy="5298959"/>
            <a:chOff x="472011" y="1508786"/>
            <a:chExt cx="3799787" cy="4865561"/>
          </a:xfrm>
        </p:grpSpPr>
        <p:sp>
          <p:nvSpPr>
            <p:cNvPr id="10" name="Rounded Rectangle 10">
              <a:extLst>
                <a:ext uri="{FF2B5EF4-FFF2-40B4-BE49-F238E27FC236}">
                  <a16:creationId xmlns:a16="http://schemas.microsoft.com/office/drawing/2014/main" id="{18F78F23-3D09-4B63-8DF9-D49CFBB145EE}"/>
                </a:ext>
              </a:extLst>
            </p:cNvPr>
            <p:cNvSpPr/>
            <p:nvPr/>
          </p:nvSpPr>
          <p:spPr>
            <a:xfrm>
              <a:off x="472011" y="1508786"/>
              <a:ext cx="3799787" cy="4865561"/>
            </a:xfrm>
            <a:prstGeom prst="roundRect">
              <a:avLst>
                <a:gd name="adj" fmla="val 396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398" dirty="0"/>
            </a:p>
          </p:txBody>
        </p:sp>
        <p:sp>
          <p:nvSpPr>
            <p:cNvPr id="11" name="Rounded Rectangle 16">
              <a:extLst>
                <a:ext uri="{FF2B5EF4-FFF2-40B4-BE49-F238E27FC236}">
                  <a16:creationId xmlns:a16="http://schemas.microsoft.com/office/drawing/2014/main" id="{F12C06CE-2BBE-46C2-B718-813794C58DF9}"/>
                </a:ext>
              </a:extLst>
            </p:cNvPr>
            <p:cNvSpPr/>
            <p:nvPr/>
          </p:nvSpPr>
          <p:spPr>
            <a:xfrm>
              <a:off x="540767" y="1781251"/>
              <a:ext cx="85794" cy="4320631"/>
            </a:xfrm>
            <a:prstGeom prst="roundRect">
              <a:avLst>
                <a:gd name="adj" fmla="val 50000"/>
              </a:avLst>
            </a:prstGeom>
            <a:solidFill>
              <a:schemeClr val="bg2">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398">
                <a:solidFill>
                  <a:schemeClr val="bg1"/>
                </a:solidFill>
              </a:endParaRPr>
            </a:p>
          </p:txBody>
        </p:sp>
        <p:sp>
          <p:nvSpPr>
            <p:cNvPr id="12" name="Half Frame 11">
              <a:extLst>
                <a:ext uri="{FF2B5EF4-FFF2-40B4-BE49-F238E27FC236}">
                  <a16:creationId xmlns:a16="http://schemas.microsoft.com/office/drawing/2014/main" id="{66CDBB1E-AF3C-43FC-9F34-2DD691F81726}"/>
                </a:ext>
              </a:extLst>
            </p:cNvPr>
            <p:cNvSpPr/>
            <p:nvPr/>
          </p:nvSpPr>
          <p:spPr>
            <a:xfrm rot="5400000">
              <a:off x="3762569" y="1912372"/>
              <a:ext cx="669775" cy="238503"/>
            </a:xfrm>
            <a:prstGeom prst="halfFrame">
              <a:avLst>
                <a:gd name="adj1" fmla="val 23728"/>
                <a:gd name="adj2" fmla="val 24642"/>
              </a:avLst>
            </a:prstGeom>
            <a:solidFill>
              <a:schemeClr val="bg2">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398">
                <a:solidFill>
                  <a:schemeClr val="tx1"/>
                </a:solidFill>
              </a:endParaRPr>
            </a:p>
          </p:txBody>
        </p:sp>
      </p:grpSp>
      <p:pic>
        <p:nvPicPr>
          <p:cNvPr id="13" name="Picture 12">
            <a:extLst>
              <a:ext uri="{FF2B5EF4-FFF2-40B4-BE49-F238E27FC236}">
                <a16:creationId xmlns:a16="http://schemas.microsoft.com/office/drawing/2014/main" id="{CCC3A316-993C-4741-8826-E104F27650A3}"/>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flipH="1">
            <a:off x="8824227" y="3276682"/>
            <a:ext cx="2881926" cy="3118969"/>
          </a:xfrm>
          <a:prstGeom prst="rect">
            <a:avLst/>
          </a:prstGeom>
        </p:spPr>
      </p:pic>
      <p:sp>
        <p:nvSpPr>
          <p:cNvPr id="15" name="Content Placeholder 4">
            <a:extLst>
              <a:ext uri="{FF2B5EF4-FFF2-40B4-BE49-F238E27FC236}">
                <a16:creationId xmlns:a16="http://schemas.microsoft.com/office/drawing/2014/main" id="{373AC257-A0F4-4265-8C0F-3CB5C237A93D}"/>
              </a:ext>
            </a:extLst>
          </p:cNvPr>
          <p:cNvSpPr txBox="1">
            <a:spLocks/>
          </p:cNvSpPr>
          <p:nvPr/>
        </p:nvSpPr>
        <p:spPr>
          <a:xfrm>
            <a:off x="561296" y="1717010"/>
            <a:ext cx="8150986" cy="4678641"/>
          </a:xfrm>
          <a:prstGeom prst="rect">
            <a:avLst/>
          </a:prstGeom>
        </p:spPr>
        <p:txBody>
          <a:bodyPr vert="horz" lIns="107972" tIns="35991" rIns="107972" bIns="35991" rtlCol="0">
            <a:noAutofit/>
          </a:bodyPr>
          <a:lstStyle>
            <a:lvl1pPr marL="456915" indent="-456915" algn="l" defTabSz="1218438" rtl="0" eaLnBrk="1" latinLnBrk="1" hangingPunct="1">
              <a:lnSpc>
                <a:spcPct val="105000"/>
              </a:lnSpc>
              <a:spcBef>
                <a:spcPts val="600"/>
              </a:spcBef>
              <a:spcAft>
                <a:spcPts val="600"/>
              </a:spcAft>
              <a:buFont typeface="Wingdings" panose="05000000000000000000" pitchFamily="2" charset="2"/>
              <a:buChar char="§"/>
              <a:defRPr sz="3398" kern="1200">
                <a:solidFill>
                  <a:schemeClr val="tx1"/>
                </a:solidFill>
                <a:latin typeface="+mn-lt"/>
                <a:ea typeface="+mn-ea"/>
                <a:cs typeface="+mn-cs"/>
              </a:defRPr>
            </a:lvl1pPr>
            <a:lvl2pPr marL="989981" indent="-380762" algn="l" defTabSz="1218438" rtl="0" eaLnBrk="1" latinLnBrk="1" hangingPunct="1">
              <a:lnSpc>
                <a:spcPct val="105000"/>
              </a:lnSpc>
              <a:spcBef>
                <a:spcPts val="600"/>
              </a:spcBef>
              <a:spcAft>
                <a:spcPts val="600"/>
              </a:spcAft>
              <a:buFont typeface="Wingdings" panose="05000000000000000000" pitchFamily="2" charset="2"/>
              <a:buChar char="§"/>
              <a:defRPr sz="3198" kern="1200">
                <a:solidFill>
                  <a:schemeClr val="tx1"/>
                </a:solidFill>
                <a:latin typeface="+mn-lt"/>
                <a:ea typeface="+mn-ea"/>
                <a:cs typeface="+mn-cs"/>
              </a:defRPr>
            </a:lvl2pPr>
            <a:lvl3pPr marL="1523048" indent="-304610" algn="l" defTabSz="1218438" rtl="0" eaLnBrk="1" latinLnBrk="1" hangingPunct="1">
              <a:lnSpc>
                <a:spcPct val="105000"/>
              </a:lnSpc>
              <a:spcBef>
                <a:spcPts val="600"/>
              </a:spcBef>
              <a:spcAft>
                <a:spcPts val="600"/>
              </a:spcAft>
              <a:buFont typeface="Wingdings" panose="05000000000000000000" pitchFamily="2" charset="2"/>
              <a:buChar char="§"/>
              <a:defRPr sz="2998" kern="1200">
                <a:solidFill>
                  <a:schemeClr val="tx1"/>
                </a:solidFill>
                <a:latin typeface="+mn-lt"/>
                <a:ea typeface="+mn-ea"/>
                <a:cs typeface="+mn-cs"/>
              </a:defRPr>
            </a:lvl3pPr>
            <a:lvl4pPr marL="2132267" indent="-304610" algn="l" defTabSz="1218438" rtl="0" eaLnBrk="1" latinLnBrk="1" hangingPunct="1">
              <a:lnSpc>
                <a:spcPct val="105000"/>
              </a:lnSpc>
              <a:spcBef>
                <a:spcPts val="600"/>
              </a:spcBef>
              <a:spcAft>
                <a:spcPts val="600"/>
              </a:spcAft>
              <a:buFont typeface="Wingdings" panose="05000000000000000000" pitchFamily="2" charset="2"/>
              <a:buChar char="§"/>
              <a:defRPr sz="2798" kern="1200">
                <a:solidFill>
                  <a:schemeClr val="tx1"/>
                </a:solidFill>
                <a:latin typeface="+mn-lt"/>
                <a:ea typeface="+mn-ea"/>
                <a:cs typeface="+mn-cs"/>
              </a:defRPr>
            </a:lvl4pPr>
            <a:lvl5pPr marL="2741485" indent="-304610" algn="l" defTabSz="1218438" rtl="0" eaLnBrk="1" latinLnBrk="1" hangingPunct="1">
              <a:lnSpc>
                <a:spcPct val="105000"/>
              </a:lnSpc>
              <a:spcBef>
                <a:spcPts val="600"/>
              </a:spcBef>
              <a:spcAft>
                <a:spcPts val="600"/>
              </a:spcAft>
              <a:buFont typeface="Wingdings" panose="05000000000000000000" pitchFamily="2" charset="2"/>
              <a:buChar char="§"/>
              <a:defRPr sz="2598" kern="1200">
                <a:solidFill>
                  <a:schemeClr val="tx1"/>
                </a:solidFill>
                <a:latin typeface="+mn-lt"/>
                <a:ea typeface="+mn-ea"/>
                <a:cs typeface="+mn-cs"/>
              </a:defRPr>
            </a:lvl5pPr>
            <a:lvl6pPr marL="3350704" indent="-304610" algn="l" defTabSz="1218438" rtl="0" eaLnBrk="1" latinLnBrk="1" hangingPunct="1">
              <a:spcBef>
                <a:spcPct val="20000"/>
              </a:spcBef>
              <a:buFont typeface="Arial" pitchFamily="34" charset="0"/>
              <a:buChar char="•"/>
              <a:defRPr sz="2665" kern="1200">
                <a:solidFill>
                  <a:schemeClr val="tx1"/>
                </a:solidFill>
                <a:latin typeface="+mn-lt"/>
                <a:ea typeface="+mn-ea"/>
                <a:cs typeface="+mn-cs"/>
              </a:defRPr>
            </a:lvl6pPr>
            <a:lvl7pPr marL="3959924" indent="-304610" algn="l" defTabSz="1218438" rtl="0" eaLnBrk="1" latinLnBrk="1" hangingPunct="1">
              <a:spcBef>
                <a:spcPct val="20000"/>
              </a:spcBef>
              <a:buFont typeface="Arial" pitchFamily="34" charset="0"/>
              <a:buChar char="•"/>
              <a:defRPr sz="2665" kern="1200">
                <a:solidFill>
                  <a:schemeClr val="tx1"/>
                </a:solidFill>
                <a:latin typeface="+mn-lt"/>
                <a:ea typeface="+mn-ea"/>
                <a:cs typeface="+mn-cs"/>
              </a:defRPr>
            </a:lvl7pPr>
            <a:lvl8pPr marL="4569143" indent="-304610" algn="l" defTabSz="1218438" rtl="0" eaLnBrk="1" latinLnBrk="1" hangingPunct="1">
              <a:spcBef>
                <a:spcPct val="20000"/>
              </a:spcBef>
              <a:buFont typeface="Arial" pitchFamily="34" charset="0"/>
              <a:buChar char="•"/>
              <a:defRPr sz="2665" kern="1200">
                <a:solidFill>
                  <a:schemeClr val="tx1"/>
                </a:solidFill>
                <a:latin typeface="+mn-lt"/>
                <a:ea typeface="+mn-ea"/>
                <a:cs typeface="+mn-cs"/>
              </a:defRPr>
            </a:lvl8pPr>
            <a:lvl9pPr marL="5178362" indent="-304610" algn="l" defTabSz="1218438" rtl="0" eaLnBrk="1" latinLnBrk="1" hangingPunct="1">
              <a:spcBef>
                <a:spcPct val="20000"/>
              </a:spcBef>
              <a:buFont typeface="Arial" pitchFamily="34" charset="0"/>
              <a:buChar char="•"/>
              <a:defRPr sz="2665" kern="1200">
                <a:solidFill>
                  <a:schemeClr val="tx1"/>
                </a:solidFill>
                <a:latin typeface="+mn-lt"/>
                <a:ea typeface="+mn-ea"/>
                <a:cs typeface="+mn-cs"/>
              </a:defRPr>
            </a:lvl9pPr>
          </a:lstStyle>
          <a:p>
            <a:pPr marL="457200" indent="-457200">
              <a:lnSpc>
                <a:spcPct val="100000"/>
              </a:lnSpc>
              <a:buClr>
                <a:schemeClr val="bg2"/>
              </a:buClr>
            </a:pPr>
            <a:r>
              <a:rPr lang="en-US" sz="3200" b="1" dirty="0">
                <a:solidFill>
                  <a:schemeClr val="bg2"/>
                </a:solidFill>
              </a:rPr>
              <a:t>What is </a:t>
            </a:r>
            <a:r>
              <a:rPr lang="en-US" sz="3200" b="1" dirty="0">
                <a:solidFill>
                  <a:schemeClr val="bg1"/>
                </a:solidFill>
              </a:rPr>
              <a:t>Box Model</a:t>
            </a:r>
            <a:r>
              <a:rPr lang="en-US" sz="3200" b="1" dirty="0">
                <a:solidFill>
                  <a:schemeClr val="bg2"/>
                </a:solidFill>
              </a:rPr>
              <a:t>?</a:t>
            </a:r>
          </a:p>
          <a:p>
            <a:pPr marL="457200" indent="-457200">
              <a:lnSpc>
                <a:spcPct val="100000"/>
              </a:lnSpc>
              <a:buClr>
                <a:schemeClr val="bg2"/>
              </a:buClr>
            </a:pPr>
            <a:r>
              <a:rPr lang="en-US" sz="3200" b="1" dirty="0">
                <a:solidFill>
                  <a:schemeClr val="bg1"/>
                </a:solidFill>
              </a:rPr>
              <a:t>Width</a:t>
            </a:r>
            <a:r>
              <a:rPr lang="en-US" sz="3200" b="1" dirty="0">
                <a:solidFill>
                  <a:schemeClr val="bg2"/>
                </a:solidFill>
              </a:rPr>
              <a:t> and </a:t>
            </a:r>
            <a:r>
              <a:rPr lang="en-US" sz="3200" b="1" dirty="0">
                <a:solidFill>
                  <a:schemeClr val="bg1"/>
                </a:solidFill>
              </a:rPr>
              <a:t>Height</a:t>
            </a:r>
            <a:r>
              <a:rPr lang="en-US" sz="3200" b="1" dirty="0">
                <a:solidFill>
                  <a:schemeClr val="bg2"/>
                </a:solidFill>
              </a:rPr>
              <a:t> to the elements</a:t>
            </a:r>
          </a:p>
          <a:p>
            <a:pPr marL="457200" indent="-457200">
              <a:lnSpc>
                <a:spcPct val="100000"/>
              </a:lnSpc>
              <a:buClr>
                <a:schemeClr val="bg2"/>
              </a:buClr>
            </a:pPr>
            <a:r>
              <a:rPr lang="en-US" sz="3200" b="1" dirty="0">
                <a:solidFill>
                  <a:schemeClr val="bg2"/>
                </a:solidFill>
              </a:rPr>
              <a:t>What are the </a:t>
            </a:r>
            <a:r>
              <a:rPr lang="en-US" sz="3200" b="1" dirty="0">
                <a:solidFill>
                  <a:schemeClr val="bg1"/>
                </a:solidFill>
              </a:rPr>
              <a:t>Padding</a:t>
            </a:r>
            <a:r>
              <a:rPr lang="en-US" sz="3200" b="1" dirty="0">
                <a:solidFill>
                  <a:schemeClr val="bg2"/>
                </a:solidFill>
              </a:rPr>
              <a:t>, </a:t>
            </a:r>
            <a:r>
              <a:rPr lang="en-US" sz="3200" b="1" dirty="0">
                <a:solidFill>
                  <a:schemeClr val="bg1"/>
                </a:solidFill>
              </a:rPr>
              <a:t>Border</a:t>
            </a:r>
            <a:r>
              <a:rPr lang="en-US" sz="3200" b="1" dirty="0">
                <a:solidFill>
                  <a:schemeClr val="bg2"/>
                </a:solidFill>
              </a:rPr>
              <a:t> and </a:t>
            </a:r>
            <a:r>
              <a:rPr lang="en-US" sz="3200" b="1" dirty="0">
                <a:solidFill>
                  <a:schemeClr val="bg1"/>
                </a:solidFill>
              </a:rPr>
              <a:t>Margin</a:t>
            </a:r>
            <a:r>
              <a:rPr lang="en-US" sz="3200" b="1" dirty="0">
                <a:solidFill>
                  <a:schemeClr val="bg2"/>
                </a:solidFill>
              </a:rPr>
              <a:t>?</a:t>
            </a:r>
          </a:p>
          <a:p>
            <a:pPr marL="457200" indent="-457200">
              <a:lnSpc>
                <a:spcPct val="100000"/>
              </a:lnSpc>
              <a:buClr>
                <a:schemeClr val="bg2"/>
              </a:buClr>
            </a:pPr>
            <a:r>
              <a:rPr lang="en-US" sz="3200" b="1" dirty="0">
                <a:solidFill>
                  <a:schemeClr val="bg2"/>
                </a:solidFill>
              </a:rPr>
              <a:t>What is </a:t>
            </a:r>
            <a:r>
              <a:rPr lang="en-US" sz="3200" b="1" dirty="0">
                <a:solidFill>
                  <a:schemeClr val="bg1"/>
                </a:solidFill>
              </a:rPr>
              <a:t>Box-sizing</a:t>
            </a:r>
            <a:r>
              <a:rPr lang="en-US" sz="3200" b="1" dirty="0">
                <a:solidFill>
                  <a:schemeClr val="bg2"/>
                </a:solidFill>
              </a:rPr>
              <a:t>?</a:t>
            </a:r>
          </a:p>
          <a:p>
            <a:pPr marL="457200" indent="-457200">
              <a:lnSpc>
                <a:spcPct val="100000"/>
              </a:lnSpc>
              <a:buClr>
                <a:schemeClr val="bg2"/>
              </a:buClr>
            </a:pPr>
            <a:r>
              <a:rPr lang="en-US" sz="3200" b="1" dirty="0">
                <a:solidFill>
                  <a:schemeClr val="bg2"/>
                </a:solidFill>
              </a:rPr>
              <a:t>How to reset </a:t>
            </a:r>
            <a:r>
              <a:rPr lang="en-US" sz="3200" b="1" dirty="0">
                <a:solidFill>
                  <a:schemeClr val="bg1"/>
                </a:solidFill>
              </a:rPr>
              <a:t>Box-sizing</a:t>
            </a:r>
            <a:r>
              <a:rPr lang="en-US" sz="3200" b="1" dirty="0">
                <a:solidFill>
                  <a:schemeClr val="bg2"/>
                </a:solidFill>
              </a:rPr>
              <a:t>?</a:t>
            </a:r>
          </a:p>
          <a:p>
            <a:pPr marL="457200" indent="-457200">
              <a:lnSpc>
                <a:spcPct val="100000"/>
              </a:lnSpc>
              <a:buClr>
                <a:schemeClr val="bg2"/>
              </a:buClr>
            </a:pPr>
            <a:r>
              <a:rPr lang="en-GB" sz="3200" b="1" dirty="0">
                <a:solidFill>
                  <a:schemeClr val="bg2"/>
                </a:solidFill>
              </a:rPr>
              <a:t>Positioning properties</a:t>
            </a:r>
          </a:p>
          <a:p>
            <a:pPr marL="457200" indent="-457200">
              <a:lnSpc>
                <a:spcPct val="100000"/>
              </a:lnSpc>
              <a:buClr>
                <a:schemeClr val="bg2"/>
              </a:buClr>
            </a:pPr>
            <a:r>
              <a:rPr lang="en-GB" sz="3200" b="1" dirty="0">
                <a:solidFill>
                  <a:schemeClr val="bg1"/>
                </a:solidFill>
              </a:rPr>
              <a:t>Z-Index</a:t>
            </a:r>
            <a:endParaRPr lang="en-US" sz="3200" b="1" dirty="0">
              <a:solidFill>
                <a:schemeClr val="bg1"/>
              </a:solidFill>
            </a:endParaRPr>
          </a:p>
        </p:txBody>
      </p:sp>
    </p:spTree>
    <p:extLst>
      <p:ext uri="{BB962C8B-B14F-4D97-AF65-F5344CB8AC3E}">
        <p14:creationId xmlns:p14="http://schemas.microsoft.com/office/powerpoint/2010/main" val="1623176265"/>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Body"/>
          <p:cNvSpPr>
            <a:spLocks noGrp="1"/>
          </p:cNvSpPr>
          <p:nvPr>
            <p:ph idx="4294967295"/>
          </p:nvPr>
        </p:nvSpPr>
        <p:spPr>
          <a:xfrm>
            <a:off x="190404" y="1179000"/>
            <a:ext cx="8695596" cy="5490000"/>
          </a:xfrm>
        </p:spPr>
        <p:txBody>
          <a:bodyPr>
            <a:normAutofit/>
          </a:bodyPr>
          <a:lstStyle/>
          <a:p>
            <a:pPr>
              <a:lnSpc>
                <a:spcPct val="100000"/>
              </a:lnSpc>
            </a:pPr>
            <a:r>
              <a:rPr lang="en-US" sz="3200" dirty="0"/>
              <a:t>Software University – High-Quality Education, Profession and Job for Software Developers</a:t>
            </a:r>
          </a:p>
          <a:p>
            <a:pPr lvl="1"/>
            <a:r>
              <a:rPr lang="en-US" sz="3000" noProof="1">
                <a:hlinkClick r:id="rId3"/>
              </a:rPr>
              <a:t>softuni.bg</a:t>
            </a:r>
            <a:r>
              <a:rPr lang="en-US" sz="3000" noProof="1"/>
              <a:t>, </a:t>
            </a:r>
            <a:r>
              <a:rPr lang="en-US" sz="3000" noProof="1">
                <a:hlinkClick r:id="rId4"/>
              </a:rPr>
              <a:t>about.softuni.bg</a:t>
            </a:r>
            <a:r>
              <a:rPr lang="en-US" sz="3000" noProof="1"/>
              <a:t> </a:t>
            </a:r>
          </a:p>
          <a:p>
            <a:pPr>
              <a:lnSpc>
                <a:spcPct val="100000"/>
              </a:lnSpc>
            </a:pPr>
            <a:r>
              <a:rPr lang="en-US" sz="3200" dirty="0"/>
              <a:t>Software University Foundation</a:t>
            </a:r>
            <a:endParaRPr lang="bg-BG" sz="3200" dirty="0"/>
          </a:p>
          <a:p>
            <a:pPr lvl="1"/>
            <a:r>
              <a:rPr lang="en-US" sz="3000" noProof="1">
                <a:hlinkClick r:id="rId5"/>
              </a:rPr>
              <a:t>softuni.foundation</a:t>
            </a:r>
            <a:endParaRPr lang="en-US" sz="3000" noProof="1"/>
          </a:p>
          <a:p>
            <a:pPr>
              <a:lnSpc>
                <a:spcPct val="100000"/>
              </a:lnSpc>
            </a:pPr>
            <a:r>
              <a:rPr lang="en-US" sz="3200" dirty="0"/>
              <a:t>Software University @ Facebook</a:t>
            </a:r>
          </a:p>
          <a:p>
            <a:pPr lvl="1"/>
            <a:r>
              <a:rPr lang="en-US" sz="3000" noProof="1">
                <a:hlinkClick r:id="rId6"/>
              </a:rPr>
              <a:t>facebook.com/SoftwareUniversity</a:t>
            </a:r>
            <a:endParaRPr lang="en-US" sz="3000" noProof="1"/>
          </a:p>
        </p:txBody>
      </p:sp>
      <p:sp>
        <p:nvSpPr>
          <p:cNvPr id="3" name="Slide Title"/>
          <p:cNvSpPr>
            <a:spLocks noGrp="1"/>
          </p:cNvSpPr>
          <p:nvPr>
            <p:ph type="title"/>
          </p:nvPr>
        </p:nvSpPr>
        <p:spPr/>
        <p:txBody>
          <a:bodyPr/>
          <a:lstStyle/>
          <a:p>
            <a:r>
              <a:rPr lang="en-US" dirty="0"/>
              <a:t>Trainings @ Software University</a:t>
            </a:r>
            <a:r>
              <a:rPr lang="bg-BG" dirty="0"/>
              <a:t> (</a:t>
            </a:r>
            <a:r>
              <a:rPr lang="en-US" dirty="0"/>
              <a:t>SoftUni)</a:t>
            </a:r>
          </a:p>
        </p:txBody>
      </p:sp>
      <p:sp>
        <p:nvSpPr>
          <p:cNvPr id="5" name="Slide Number">
            <a:extLst>
              <a:ext uri="{FF2B5EF4-FFF2-40B4-BE49-F238E27FC236}">
                <a16:creationId xmlns:a16="http://schemas.microsoft.com/office/drawing/2014/main" id="{DD2EA64D-70B4-41B4-A07A-3B1B9FFE5325}"/>
              </a:ext>
            </a:extLst>
          </p:cNvPr>
          <p:cNvSpPr txBox="1">
            <a:spLocks/>
          </p:cNvSpPr>
          <p:nvPr/>
        </p:nvSpPr>
        <p:spPr>
          <a:xfrm>
            <a:off x="11753030" y="6507000"/>
            <a:ext cx="367414" cy="297000"/>
          </a:xfrm>
          <a:prstGeom prst="rect">
            <a:avLst/>
          </a:prstGeom>
        </p:spPr>
        <p:txBody>
          <a:bodyPr vert="horz" lIns="91440" tIns="45720" rIns="91440" bIns="45720" rtlCol="0" anchor="b"/>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BF067CD-8E6B-4360-9AA8-C5DF2A48A6D1}" type="slidenum">
              <a:rPr lang="en-US" smtClean="0"/>
              <a:pPr/>
              <a:t>82</a:t>
            </a:fld>
            <a:endParaRPr lang="en-US" dirty="0"/>
          </a:p>
        </p:txBody>
      </p:sp>
    </p:spTree>
    <p:extLst>
      <p:ext uri="{BB962C8B-B14F-4D97-AF65-F5344CB8AC3E}">
        <p14:creationId xmlns:p14="http://schemas.microsoft.com/office/powerpoint/2010/main" val="100454681"/>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Body">
            <a:extLst>
              <a:ext uri="{FF2B5EF4-FFF2-40B4-BE49-F238E27FC236}">
                <a16:creationId xmlns:a16="http://schemas.microsoft.com/office/drawing/2014/main" id="{980F49B1-E4BE-4389-A747-7AB9B71AD920}"/>
              </a:ext>
            </a:extLst>
          </p:cNvPr>
          <p:cNvSpPr>
            <a:spLocks noGrp="1"/>
          </p:cNvSpPr>
          <p:nvPr>
            <p:ph type="body" sz="quarter" idx="10"/>
          </p:nvPr>
        </p:nvSpPr>
        <p:spPr>
          <a:xfrm>
            <a:off x="190402" y="1269001"/>
            <a:ext cx="11818096" cy="5455890"/>
          </a:xfrm>
        </p:spPr>
        <p:txBody>
          <a:bodyPr/>
          <a:lstStyle/>
          <a:p>
            <a:pPr>
              <a:lnSpc>
                <a:spcPct val="120000"/>
              </a:lnSpc>
            </a:pPr>
            <a:r>
              <a:rPr lang="en-US" dirty="0"/>
              <a:t>This course (slides, examples, demos, exercises, homework, documents, videos and other assets) is </a:t>
            </a:r>
            <a:r>
              <a:rPr lang="en-US" b="1" dirty="0"/>
              <a:t>copyrighted content</a:t>
            </a:r>
            <a:endParaRPr lang="en-US" dirty="0"/>
          </a:p>
          <a:p>
            <a:pPr>
              <a:lnSpc>
                <a:spcPct val="120000"/>
              </a:lnSpc>
            </a:pPr>
            <a:r>
              <a:rPr lang="en-US" dirty="0"/>
              <a:t>Unauthorized copy, reproduction or use is illegal</a:t>
            </a:r>
          </a:p>
          <a:p>
            <a:pPr>
              <a:lnSpc>
                <a:spcPct val="120000"/>
              </a:lnSpc>
            </a:pPr>
            <a:r>
              <a:rPr lang="en-US" dirty="0"/>
              <a:t>© SoftUni – </a:t>
            </a:r>
            <a:r>
              <a:rPr lang="en-US" dirty="0">
                <a:hlinkClick r:id="rId3"/>
              </a:rPr>
              <a:t>https://about.softuni.bg/</a:t>
            </a:r>
            <a:endParaRPr lang="en-US" dirty="0"/>
          </a:p>
          <a:p>
            <a:pPr>
              <a:lnSpc>
                <a:spcPct val="120000"/>
              </a:lnSpc>
            </a:pPr>
            <a:r>
              <a:rPr lang="en-US" dirty="0"/>
              <a:t>© Software University – </a:t>
            </a:r>
            <a:r>
              <a:rPr lang="en-US" dirty="0">
                <a:hlinkClick r:id="rId4"/>
              </a:rPr>
              <a:t>https://softuni.bg</a:t>
            </a:r>
            <a:endParaRPr lang="bg-BG" dirty="0"/>
          </a:p>
        </p:txBody>
      </p:sp>
      <p:pic>
        <p:nvPicPr>
          <p:cNvPr id="6" name="Picture License" descr="License">
            <a:extLst>
              <a:ext uri="{FF2B5EF4-FFF2-40B4-BE49-F238E27FC236}">
                <a16:creationId xmlns:a16="http://schemas.microsoft.com/office/drawing/2014/main" id="{A10A2585-858C-4B1E-8846-27CF1C15729E}"/>
              </a:ext>
            </a:extLst>
          </p:cNvPr>
          <p:cNvPicPr>
            <a:picLocks noChangeAspect="1"/>
          </p:cNvPicPr>
          <p:nvPr/>
        </p:nvPicPr>
        <p:blipFill>
          <a:blip r:embed="rId5" cstate="print">
            <a:clrChange>
              <a:clrFrom>
                <a:srgbClr val="FFFFFF"/>
              </a:clrFrom>
              <a:clrTo>
                <a:srgbClr val="FFFFFF">
                  <a:alpha val="0"/>
                </a:srgbClr>
              </a:clrTo>
            </a:clrChange>
          </a:blip>
          <a:stretch>
            <a:fillRect/>
          </a:stretch>
        </p:blipFill>
        <p:spPr>
          <a:xfrm>
            <a:off x="9745023" y="4445455"/>
            <a:ext cx="1930977" cy="2043545"/>
          </a:xfrm>
          <a:prstGeom prst="rect">
            <a:avLst/>
          </a:prstGeom>
        </p:spPr>
      </p:pic>
      <p:sp>
        <p:nvSpPr>
          <p:cNvPr id="3" name="Slide Title">
            <a:extLst>
              <a:ext uri="{FF2B5EF4-FFF2-40B4-BE49-F238E27FC236}">
                <a16:creationId xmlns:a16="http://schemas.microsoft.com/office/drawing/2014/main" id="{E5F1FB41-80C3-4816-BC47-CCC50632E6E8}"/>
              </a:ext>
            </a:extLst>
          </p:cNvPr>
          <p:cNvSpPr>
            <a:spLocks noGrp="1"/>
          </p:cNvSpPr>
          <p:nvPr>
            <p:ph type="title"/>
          </p:nvPr>
        </p:nvSpPr>
        <p:spPr/>
        <p:txBody>
          <a:bodyPr/>
          <a:lstStyle/>
          <a:p>
            <a:r>
              <a:rPr lang="en-US" dirty="0"/>
              <a:t>License</a:t>
            </a:r>
            <a:endParaRPr lang="bg-BG" dirty="0"/>
          </a:p>
        </p:txBody>
      </p:sp>
      <p:sp>
        <p:nvSpPr>
          <p:cNvPr id="7" name="Slide Number">
            <a:extLst>
              <a:ext uri="{FF2B5EF4-FFF2-40B4-BE49-F238E27FC236}">
                <a16:creationId xmlns:a16="http://schemas.microsoft.com/office/drawing/2014/main" id="{B7A5D82D-D249-445C-8E67-9EA189AA347E}"/>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83</a:t>
            </a:fld>
            <a:endParaRPr lang="en-US" noProof="0" dirty="0"/>
          </a:p>
        </p:txBody>
      </p:sp>
    </p:spTree>
    <p:extLst>
      <p:ext uri="{BB962C8B-B14F-4D97-AF65-F5344CB8AC3E}">
        <p14:creationId xmlns:p14="http://schemas.microsoft.com/office/powerpoint/2010/main" val="1966641488"/>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
</file>

<file path=ppt/theme/theme1.xml><?xml version="1.0" encoding="utf-8"?>
<a:theme xmlns:a="http://schemas.openxmlformats.org/drawingml/2006/main" name="SoftUni">
  <a:themeElements>
    <a:clrScheme name="SoftUni">
      <a:dk1>
        <a:srgbClr val="234465"/>
      </a:dk1>
      <a:lt1>
        <a:srgbClr val="FFA000"/>
      </a:lt1>
      <a:dk2>
        <a:srgbClr val="234465"/>
      </a:dk2>
      <a:lt2>
        <a:srgbClr val="FFFFFF"/>
      </a:lt2>
      <a:accent1>
        <a:srgbClr val="FFA000"/>
      </a:accent1>
      <a:accent2>
        <a:srgbClr val="00B050"/>
      </a:accent2>
      <a:accent3>
        <a:srgbClr val="44A9F8"/>
      </a:accent3>
      <a:accent4>
        <a:srgbClr val="7030A0"/>
      </a:accent4>
      <a:accent5>
        <a:srgbClr val="67748E"/>
      </a:accent5>
      <a:accent6>
        <a:srgbClr val="F4F5F7"/>
      </a:accent6>
      <a:hlink>
        <a:srgbClr val="F2AC44"/>
      </a:hlink>
      <a:folHlink>
        <a:srgbClr val="F6C781"/>
      </a:folHlink>
    </a:clrScheme>
    <a:fontScheme name="SoftUni">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dk2">
            <a:alpha val="80000"/>
          </a:schemeClr>
        </a:solidFill>
        <a:ln w="19050">
          <a:solidFill>
            <a:schemeClr val="tx1">
              <a:lumMod val="75000"/>
              <a:alpha val="80000"/>
            </a:schemeClr>
          </a:solidFill>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2800" b="1" dirty="0">
            <a:solidFill>
              <a:srgbClr val="FFFFFF"/>
            </a:solidFill>
            <a:effectLst>
              <a:outerShdw blurRad="38100" dist="38100" dir="2700000" algn="tl">
                <a:srgbClr val="000000">
                  <a:alpha val="43137"/>
                </a:srgbClr>
              </a:outerShdw>
            </a:effectLst>
          </a:defRPr>
        </a:defPPr>
      </a:lstStyle>
      <a:style>
        <a:lnRef idx="2">
          <a:schemeClr val="accent1">
            <a:shade val="50000"/>
          </a:schemeClr>
        </a:lnRef>
        <a:fillRef idx="1001">
          <a:schemeClr val="dk2"/>
        </a:fillRef>
        <a:effectRef idx="0">
          <a:schemeClr val="accent1"/>
        </a:effectRef>
        <a:fontRef idx="minor">
          <a:schemeClr val="lt1"/>
        </a:fontRef>
      </a:style>
    </a:spDef>
    <a:txDef>
      <a:spPr>
        <a:solidFill>
          <a:schemeClr val="accent6">
            <a:lumMod val="75000"/>
            <a:alpha val="15000"/>
          </a:schemeClr>
        </a:solidFill>
        <a:ln w="12700">
          <a:solidFill>
            <a:schemeClr val="tx1">
              <a:lumMod val="75000"/>
            </a:schemeClr>
          </a:solidFill>
        </a:ln>
      </a:spPr>
      <a:bodyPr vert="horz" wrap="square" lIns="144000" tIns="108000" rIns="144000" bIns="108000" rtlCol="0">
        <a:spAutoFit/>
      </a:bodyPr>
      <a:lstStyle>
        <a:defPPr algn="l" eaLnBrk="0" hangingPunct="0">
          <a:lnSpc>
            <a:spcPct val="110000"/>
          </a:lnSpc>
          <a:buClr>
            <a:schemeClr val="accent5">
              <a:lumMod val="40000"/>
              <a:lumOff val="60000"/>
            </a:schemeClr>
          </a:buClr>
          <a:buSzPct val="70000"/>
          <a:defRPr sz="2400" dirty="0"/>
        </a:defPPr>
      </a:lstStyle>
    </a:txDef>
  </a:objectDefaults>
  <a:extraClrSchemeLst/>
  <a:extLst>
    <a:ext uri="{05A4C25C-085E-4340-85A3-A5531E510DB2}">
      <thm15:themeFamily xmlns:thm15="http://schemas.microsoft.com/office/thememl/2012/main" name="SoftUni" id="{D61FAD9B-6E74-4E03-BFE4-B363D484F1DA}" vid="{7089C1A3-635B-4B03-A017-DAF10A3A396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4642</TotalTime>
  <Words>4548</Words>
  <Application>Microsoft Office PowerPoint</Application>
  <PresentationFormat>Widescreen</PresentationFormat>
  <Paragraphs>624</Paragraphs>
  <Slides>83</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83</vt:i4>
      </vt:variant>
    </vt:vector>
  </HeadingPairs>
  <TitlesOfParts>
    <vt:vector size="90" baseType="lpstr">
      <vt:lpstr>Arial</vt:lpstr>
      <vt:lpstr>Calibri</vt:lpstr>
      <vt:lpstr>Consolas</vt:lpstr>
      <vt:lpstr>Lato</vt:lpstr>
      <vt:lpstr>Wingdings</vt:lpstr>
      <vt:lpstr>Wingdings 2</vt:lpstr>
      <vt:lpstr>SoftUni</vt:lpstr>
      <vt:lpstr>CSS Box Model and Position</vt:lpstr>
      <vt:lpstr>What is Box Model?</vt:lpstr>
      <vt:lpstr>CSS Basic Box Model</vt:lpstr>
      <vt:lpstr>Box Model – CSS Properties</vt:lpstr>
      <vt:lpstr>Display</vt:lpstr>
      <vt:lpstr>Display - block</vt:lpstr>
      <vt:lpstr>Display - block</vt:lpstr>
      <vt:lpstr>Block Elements – Example</vt:lpstr>
      <vt:lpstr>Display - inline</vt:lpstr>
      <vt:lpstr>Display - inline</vt:lpstr>
      <vt:lpstr>Inline Elements – Example</vt:lpstr>
      <vt:lpstr>Display – inline-block</vt:lpstr>
      <vt:lpstr>Inline-Block Elements – Example</vt:lpstr>
      <vt:lpstr>Width</vt:lpstr>
      <vt:lpstr>Width</vt:lpstr>
      <vt:lpstr>Min-width</vt:lpstr>
      <vt:lpstr>Max-width</vt:lpstr>
      <vt:lpstr>Width – Example </vt:lpstr>
      <vt:lpstr>Height</vt:lpstr>
      <vt:lpstr>Height</vt:lpstr>
      <vt:lpstr>Min-height</vt:lpstr>
      <vt:lpstr>Max-height</vt:lpstr>
      <vt:lpstr>Margins and Paddings</vt:lpstr>
      <vt:lpstr>Margins and Paddings</vt:lpstr>
      <vt:lpstr>Margin</vt:lpstr>
      <vt:lpstr>Margin</vt:lpstr>
      <vt:lpstr>Padding</vt:lpstr>
      <vt:lpstr>Padding</vt:lpstr>
      <vt:lpstr>Shorthand Margin / Padding</vt:lpstr>
      <vt:lpstr>Border</vt:lpstr>
      <vt:lpstr>Border</vt:lpstr>
      <vt:lpstr>Border Properties</vt:lpstr>
      <vt:lpstr>CSS Borders</vt:lpstr>
      <vt:lpstr>The CSS Box Model</vt:lpstr>
      <vt:lpstr>Block and Inline Boxes</vt:lpstr>
      <vt:lpstr>Outer Display Type - Block</vt:lpstr>
      <vt:lpstr>Outer Display Type - Inline</vt:lpstr>
      <vt:lpstr>What is the CSS Box Model?</vt:lpstr>
      <vt:lpstr>Parts of a Box</vt:lpstr>
      <vt:lpstr>Parts of a Box</vt:lpstr>
      <vt:lpstr>What is the CSS Box Model?</vt:lpstr>
      <vt:lpstr>The Standard CSS Box Model</vt:lpstr>
      <vt:lpstr>The Standard CSS Box Model</vt:lpstr>
      <vt:lpstr>The Alternative CSS Box Model</vt:lpstr>
      <vt:lpstr>The Alternative CSS Box Model</vt:lpstr>
      <vt:lpstr>The Alternative CSS Box Model</vt:lpstr>
      <vt:lpstr>Universal Box Sizing with Inheritance</vt:lpstr>
      <vt:lpstr>Box-sizing</vt:lpstr>
      <vt:lpstr>Box-sizing</vt:lpstr>
      <vt:lpstr>Box-sizing</vt:lpstr>
      <vt:lpstr>Content-box vs Border-box</vt:lpstr>
      <vt:lpstr>Universal Box-sizing</vt:lpstr>
      <vt:lpstr>Typography</vt:lpstr>
      <vt:lpstr>Styling Text</vt:lpstr>
      <vt:lpstr>Styling Text</vt:lpstr>
      <vt:lpstr>Font Families</vt:lpstr>
      <vt:lpstr>Font</vt:lpstr>
      <vt:lpstr>Generic Font Families</vt:lpstr>
      <vt:lpstr>CSS Units - EM &amp; REM</vt:lpstr>
      <vt:lpstr>CSS Units - EM &amp; REM</vt:lpstr>
      <vt:lpstr>Web Fonts</vt:lpstr>
      <vt:lpstr>Web Fonts</vt:lpstr>
      <vt:lpstr>Web Fonts - WOFF</vt:lpstr>
      <vt:lpstr>Font Awesome</vt:lpstr>
      <vt:lpstr>Font Awesome Icons – Exercise</vt:lpstr>
      <vt:lpstr>Position</vt:lpstr>
      <vt:lpstr>Position</vt:lpstr>
      <vt:lpstr>Position Static</vt:lpstr>
      <vt:lpstr>Position Relative</vt:lpstr>
      <vt:lpstr>Position Absolute</vt:lpstr>
      <vt:lpstr>Position Absolute</vt:lpstr>
      <vt:lpstr>Position Fixed</vt:lpstr>
      <vt:lpstr>Position Fixed</vt:lpstr>
      <vt:lpstr>Position Sticky</vt:lpstr>
      <vt:lpstr>Z-index</vt:lpstr>
      <vt:lpstr>Z-index</vt:lpstr>
      <vt:lpstr>Z-index</vt:lpstr>
      <vt:lpstr>Z-index</vt:lpstr>
      <vt:lpstr>Resources – Box Model</vt:lpstr>
      <vt:lpstr>Resources – Position</vt:lpstr>
      <vt:lpstr>Summary</vt:lpstr>
      <vt:lpstr>Trainings @ Software University (SoftUni)</vt:lpstr>
      <vt:lpstr>License</vt:lpstr>
    </vt:vector>
  </TitlesOfParts>
  <Company>SoftUni – https://about.softuni.bg/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HTML and CSS</dc:title>
  <dc:subject>Software Development</dc:subject>
  <dc:creator>Software University</dc:creator>
  <cp:keywords>JS Fundamentals; Software University; SoftUni; programming; coding; software development; education; training; course</cp:keywords>
  <dc:description>© SoftUni – https://about.softuni.bg/
© Software University – https://softuni.bg
Copyrighted document. Unauthorized copy, reproduction or use is not permitted.</dc:description>
  <cp:lastModifiedBy>Daniel Dimitrov</cp:lastModifiedBy>
  <cp:revision>344</cp:revision>
  <dcterms:created xsi:type="dcterms:W3CDTF">2018-05-23T13:08:44Z</dcterms:created>
  <dcterms:modified xsi:type="dcterms:W3CDTF">2026-05-15T11:21:44Z</dcterms:modified>
  <cp:category>programming;computer programming;software development;web development</cp:category>
</cp:coreProperties>
</file>