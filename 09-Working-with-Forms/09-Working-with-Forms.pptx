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1"/>
  </p:notesMasterIdLst>
  <p:handoutMasterIdLst>
    <p:handoutMasterId r:id="rId22"/>
  </p:handoutMasterIdLst>
  <p:sldIdLst>
    <p:sldId id="256" r:id="rId2"/>
    <p:sldId id="329" r:id="rId3"/>
    <p:sldId id="712" r:id="rId4"/>
    <p:sldId id="549" r:id="rId5"/>
    <p:sldId id="687" r:id="rId6"/>
    <p:sldId id="713" r:id="rId7"/>
    <p:sldId id="714" r:id="rId8"/>
    <p:sldId id="691" r:id="rId9"/>
    <p:sldId id="715" r:id="rId10"/>
    <p:sldId id="692" r:id="rId11"/>
    <p:sldId id="693" r:id="rId12"/>
    <p:sldId id="710" r:id="rId13"/>
    <p:sldId id="694" r:id="rId14"/>
    <p:sldId id="690" r:id="rId15"/>
    <p:sldId id="684" r:id="rId16"/>
    <p:sldId id="711" r:id="rId17"/>
    <p:sldId id="293" r:id="rId18"/>
    <p:sldId id="405" r:id="rId19"/>
    <p:sldId id="49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89C082F-36E2-4F80-8296-77DF3D2196D8}">
          <p14:sldIdLst>
            <p14:sldId id="256"/>
            <p14:sldId id="329"/>
          </p14:sldIdLst>
        </p14:section>
        <p14:section name="HTML Forms" id="{0B0D3F43-44DB-4568-A9AF-01EFC80B45B6}">
          <p14:sldIdLst>
            <p14:sldId id="712"/>
            <p14:sldId id="549"/>
            <p14:sldId id="687"/>
            <p14:sldId id="713"/>
            <p14:sldId id="714"/>
            <p14:sldId id="691"/>
            <p14:sldId id="715"/>
            <p14:sldId id="692"/>
            <p14:sldId id="693"/>
            <p14:sldId id="710"/>
            <p14:sldId id="694"/>
            <p14:sldId id="690"/>
            <p14:sldId id="684"/>
            <p14:sldId id="711"/>
          </p14:sldIdLst>
        </p14:section>
        <p14:section name="Summary" id="{044FE56B-152C-469D-A109-71332C64881D}">
          <p14:sldIdLst>
            <p14:sldId id="293"/>
            <p14:sldId id="405"/>
            <p14:sldId id="4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5226" autoAdjust="0"/>
  </p:normalViewPr>
  <p:slideViewPr>
    <p:cSldViewPr showGuides="1">
      <p:cViewPr varScale="1">
        <p:scale>
          <a:sx n="99" d="100"/>
          <a:sy n="99" d="100"/>
        </p:scale>
        <p:origin x="876" y="78"/>
      </p:cViewPr>
      <p:guideLst>
        <p:guide orient="horz" pos="2184"/>
        <p:guide pos="3840"/>
        <p:guide orient="horz" pos="2188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pPr/>
              <a:t>18.8.2025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563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434717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840746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0CBA6FCE-6B4E-4B7E-8DA4-A04563E6F3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750249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16FE9FF2-A941-4AB4-9CE0-BE8A2B7278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015991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hyperlink" Target="https://softuni.or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6.png"/><Relationship Id="rId10" Type="http://schemas.openxmlformats.org/officeDocument/2006/relationships/image" Target="../media/image5.png"/><Relationship Id="rId4" Type="http://schemas.openxmlformats.org/officeDocument/2006/relationships/hyperlink" Target="https://softuni.org/" TargetMode="External"/><Relationship Id="rId9" Type="http://schemas.openxmlformats.org/officeDocument/2006/relationships/hyperlink" Target="https://forum.softuni.bg/" TargetMode="Externa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softuni.org/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https://about.softuni.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endParaRPr lang="en-US" noProof="1"/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9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Logo Software University" descr="Software University logo">
            <a:hlinkClick r:id="rId2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5695" y="269393"/>
            <a:ext cx="1470305" cy="504607"/>
          </a:xfrm>
          <a:prstGeom prst="rect">
            <a:avLst/>
          </a:prstGeom>
        </p:spPr>
      </p:pic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00" y="1260770"/>
            <a:ext cx="11083636" cy="1315728"/>
          </a:xfrm>
        </p:spPr>
        <p:txBody>
          <a:bodyPr anchor="t" anchorCtr="0">
            <a:normAutofit/>
          </a:bodyPr>
          <a:lstStyle>
            <a:lvl1pPr marL="0" indent="0" algn="l" latinLnBrk="0">
              <a:buNone/>
              <a:defRPr sz="3598" baseline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00" y="324000"/>
            <a:ext cx="11083636" cy="882654"/>
          </a:xfrm>
        </p:spPr>
        <p:txBody>
          <a:bodyPr/>
          <a:lstStyle>
            <a:lvl1pPr algn="l" latinLnBrk="0">
              <a:defRPr sz="4798" baseline="0">
                <a:latin typeface="Lato" panose="020F0502020204030203" pitchFamily="34" charset="77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C6482195-4AB2-23BA-0ABE-6BE650760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272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31683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83" r:id="rId8"/>
    <p:sldLayoutId id="2147483685" r:id="rId9"/>
    <p:sldLayoutId id="2147483686" r:id="rId10"/>
    <p:sldLayoutId id="2147483687" r:id="rId11"/>
    <p:sldLayoutId id="2147483693" r:id="rId12"/>
    <p:sldLayoutId id="2147483694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Learn/HTML/Forms/How_to_structure_an_HTML_form" TargetMode="External"/><Relationship Id="rId7" Type="http://schemas.openxmlformats.org/officeDocument/2006/relationships/hyperlink" Target="https://css-tricks.com/options-for-web-forms" TargetMode="External"/><Relationship Id="rId2" Type="http://schemas.openxmlformats.org/officeDocument/2006/relationships/hyperlink" Target="https://developer.mozilla.org/en-US/docs/Web/HTML/Element/form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ss-tricks.com/tips-for-creating-great-web-forms" TargetMode="External"/><Relationship Id="rId5" Type="http://schemas.openxmlformats.org/officeDocument/2006/relationships/hyperlink" Target="https://developer.mozilla.org/en-US/docs/Learn/HTML/Forms/Styling_HTML_forms" TargetMode="External"/><Relationship Id="rId4" Type="http://schemas.openxmlformats.org/officeDocument/2006/relationships/hyperlink" Target="https://developer.mozilla.org/en-US/docs/Learn/HTML/Forms/Your_first_HTML_form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pen.io/tonystar/pen/LRdpYZ" TargetMode="External"/><Relationship Id="rId2" Type="http://schemas.openxmlformats.org/officeDocument/2006/relationships/hyperlink" Target="https://codepen.io/callmenick/pen/OxpKNZ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odepen.io/elujambio/pen/yjwzGP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Working with Forms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8687069" y="5773499"/>
            <a:ext cx="2950749" cy="382532"/>
          </a:xfrm>
        </p:spPr>
        <p:txBody>
          <a:bodyPr/>
          <a:lstStyle/>
          <a:p>
            <a:r>
              <a:rPr lang="en-US"/>
              <a:t>Software University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https://softuni.bg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672561" y="4876928"/>
            <a:ext cx="2950749" cy="506540"/>
          </a:xfrm>
        </p:spPr>
        <p:txBody>
          <a:bodyPr/>
          <a:lstStyle/>
          <a:p>
            <a:r>
              <a:rPr lang="en-US" err="1"/>
              <a:t>SoftUni</a:t>
            </a:r>
            <a:r>
              <a:rPr lang="en-US"/>
              <a:t> Team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672561" y="5361046"/>
            <a:ext cx="2950749" cy="460181"/>
          </a:xfrm>
        </p:spPr>
        <p:txBody>
          <a:bodyPr/>
          <a:lstStyle/>
          <a:p>
            <a:r>
              <a:rPr lang="en-US"/>
              <a:t>Technical Trainers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FDEB08-86C1-5F72-5FEB-393EB1E5A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00" y="2614738"/>
            <a:ext cx="4156808" cy="20201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1212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3400" dirty="0"/>
              <a:t>What are Forms?</a:t>
            </a:r>
          </a:p>
          <a:p>
            <a:r>
              <a:rPr lang="en-US" sz="3400" dirty="0"/>
              <a:t>How do we Use Them?</a:t>
            </a:r>
          </a:p>
          <a:p>
            <a:r>
              <a:rPr lang="en-US" sz="3400" dirty="0"/>
              <a:t>Styling a Form</a:t>
            </a:r>
          </a:p>
          <a:p>
            <a:r>
              <a:rPr lang="en-US" sz="3400" dirty="0"/>
              <a:t>Responsive Forms with Flexbox</a:t>
            </a:r>
          </a:p>
          <a:p>
            <a:r>
              <a:rPr lang="en-US" sz="3400" dirty="0"/>
              <a:t>Advanced Styling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of Contents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8096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лавие 4">
            <a:extLst>
              <a:ext uri="{FF2B5EF4-FFF2-40B4-BE49-F238E27FC236}">
                <a16:creationId xmlns:a16="http://schemas.microsoft.com/office/drawing/2014/main" id="{8D6035C9-5FDC-E721-4E62-8ECACB719CB9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HTML Forms</a:t>
            </a:r>
          </a:p>
        </p:txBody>
      </p:sp>
      <p:pic>
        <p:nvPicPr>
          <p:cNvPr id="3076" name="Picture 4" descr="Download Freeuse Stock Collection Of Free Contents Order Form - Content  Vector Png - Full Size PNG Image - PNGkit">
            <a:extLst>
              <a:ext uri="{FF2B5EF4-FFF2-40B4-BE49-F238E27FC236}">
                <a16:creationId xmlns:a16="http://schemas.microsoft.com/office/drawing/2014/main" id="{58E446B9-E401-B072-21BB-387CDB07F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000" y="1269000"/>
            <a:ext cx="2654135" cy="2745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703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 контейнер 1">
            <a:extLst>
              <a:ext uri="{FF2B5EF4-FFF2-40B4-BE49-F238E27FC236}">
                <a16:creationId xmlns:a16="http://schemas.microsoft.com/office/drawing/2014/main" id="{3D20403B-E648-21E9-DDF9-8612641FC2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600" b="0" dirty="0"/>
              <a:t>The </a:t>
            </a:r>
            <a:r>
              <a:rPr lang="en-US" sz="3600" b="1" dirty="0">
                <a:solidFill>
                  <a:schemeClr val="bg1"/>
                </a:solidFill>
              </a:rPr>
              <a:t>HTML form</a:t>
            </a:r>
            <a:r>
              <a:rPr lang="en-US" sz="3600" b="0" dirty="0"/>
              <a:t> element represents a document section that contains interactive controls for submitting information to a web server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Forms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B2983-CC82-2868-2C0E-7C855247B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00" y="3789000"/>
            <a:ext cx="5419318" cy="22179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C70512-FE4E-9CA8-88A9-A620B49C7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733" y="3721332"/>
            <a:ext cx="5527690" cy="26863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269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67ABC4BB-C6B6-4E16-6BC9-B297A8FA24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GB" sz="3400" b="1" dirty="0">
                <a:solidFill>
                  <a:schemeClr val="bg1"/>
                </a:solidFill>
              </a:rPr>
              <a:t>Attributes</a:t>
            </a:r>
            <a:r>
              <a:rPr lang="en-GB" sz="3400" dirty="0"/>
              <a:t> - Method</a:t>
            </a:r>
            <a:endParaRPr lang="en-GB" sz="3400" dirty="0">
              <a:solidFill>
                <a:schemeClr val="bg1"/>
              </a:solidFill>
            </a:endParaRPr>
          </a:p>
          <a:p>
            <a:pPr lvl="1"/>
            <a:r>
              <a:rPr lang="en-US" sz="3200" b="0" dirty="0"/>
              <a:t>The HTTP method that the browser uses to submit the form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Forms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A45908-11BE-A24B-41D1-C7EC022B5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000" y="2889000"/>
            <a:ext cx="7009197" cy="37462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553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67ABC4BB-C6B6-4E16-6BC9-B297A8FA24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Attributes – Method – </a:t>
            </a:r>
            <a:r>
              <a:rPr lang="en-GB" sz="3200" b="1" dirty="0">
                <a:solidFill>
                  <a:schemeClr val="bg1"/>
                </a:solidFill>
              </a:rPr>
              <a:t>Post</a:t>
            </a:r>
          </a:p>
          <a:p>
            <a:pPr lvl="1"/>
            <a:r>
              <a:rPr lang="en-US" sz="3000" b="0" dirty="0"/>
              <a:t>Corresponds to the </a:t>
            </a:r>
            <a:r>
              <a:rPr lang="en-US" sz="3000" b="1" dirty="0">
                <a:solidFill>
                  <a:schemeClr val="bg1"/>
                </a:solidFill>
              </a:rPr>
              <a:t>HTTP POST</a:t>
            </a:r>
            <a:r>
              <a:rPr lang="en-US" sz="3000" b="0" dirty="0"/>
              <a:t> method</a:t>
            </a:r>
          </a:p>
          <a:p>
            <a:pPr lvl="1"/>
            <a:r>
              <a:rPr lang="en-US" sz="3000" b="0" dirty="0"/>
              <a:t>Form data are included in the body of the form and sent to the server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Forms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4A467E-9CEA-7FB7-4B5F-F4F633B36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00" y="3431700"/>
            <a:ext cx="6299200" cy="2578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4395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67ABC4BB-C6B6-4E16-6BC9-B297A8FA24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Attributes – Method – </a:t>
            </a:r>
            <a:r>
              <a:rPr lang="en-GB" sz="3200" b="1" dirty="0">
                <a:solidFill>
                  <a:schemeClr val="bg1"/>
                </a:solidFill>
              </a:rPr>
              <a:t>Get</a:t>
            </a:r>
          </a:p>
          <a:p>
            <a:pPr lvl="1">
              <a:buClr>
                <a:schemeClr val="tx1"/>
              </a:buClr>
            </a:pPr>
            <a:r>
              <a:rPr lang="en-US" sz="3000" b="1" dirty="0">
                <a:solidFill>
                  <a:schemeClr val="bg1"/>
                </a:solidFill>
              </a:rPr>
              <a:t>get</a:t>
            </a:r>
            <a:r>
              <a:rPr lang="en-US" sz="3000" b="0" dirty="0"/>
              <a:t> - Corresponds to the HTTP GET method</a:t>
            </a:r>
            <a:endParaRPr lang="en-US" sz="3000" dirty="0"/>
          </a:p>
          <a:p>
            <a:pPr lvl="2">
              <a:buClr>
                <a:schemeClr val="tx1"/>
              </a:buClr>
            </a:pPr>
            <a:r>
              <a:rPr lang="en-US" sz="2800" dirty="0"/>
              <a:t>F</a:t>
            </a:r>
            <a:r>
              <a:rPr lang="en-US" sz="2800" b="0" dirty="0"/>
              <a:t>orm data are appended to the action attribute URI with a '</a:t>
            </a:r>
            <a:r>
              <a:rPr lang="en-US" sz="2800" b="1" dirty="0">
                <a:solidFill>
                  <a:schemeClr val="bg1"/>
                </a:solidFill>
              </a:rPr>
              <a:t>?</a:t>
            </a:r>
            <a:r>
              <a:rPr lang="en-US" sz="2800" b="0" dirty="0"/>
              <a:t>' as separator, and the resulting URI is sent to the server</a:t>
            </a:r>
          </a:p>
          <a:p>
            <a:pPr lvl="2">
              <a:buClr>
                <a:schemeClr val="tx1"/>
              </a:buClr>
            </a:pPr>
            <a:r>
              <a:rPr lang="en-US" sz="2800" b="0" dirty="0"/>
              <a:t>Use this method when the form has no side-effects and contains only </a:t>
            </a:r>
            <a:br>
              <a:rPr lang="en-US" sz="2800" b="0" dirty="0"/>
            </a:br>
            <a:r>
              <a:rPr lang="en-US" sz="2800" b="1" dirty="0">
                <a:solidFill>
                  <a:schemeClr val="bg1"/>
                </a:solidFill>
              </a:rPr>
              <a:t>ASCII characters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Forms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C3BCFC-412D-79DC-F9B1-9F38E652F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000" y="4014000"/>
            <a:ext cx="5213613" cy="27865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488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83E1F4FC-C1F8-7317-2353-8D85F617AF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GB" sz="3400" b="1" dirty="0">
                <a:solidFill>
                  <a:schemeClr val="bg1"/>
                </a:solidFill>
              </a:rPr>
              <a:t>Label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200" b="0" dirty="0"/>
              <a:t>The HTML label element represents a caption for an item in a </a:t>
            </a:r>
            <a:br>
              <a:rPr lang="en-US" sz="3200" b="0" dirty="0"/>
            </a:br>
            <a:r>
              <a:rPr lang="en-US" sz="3200" b="0" dirty="0"/>
              <a:t>user interface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Form – HTML Tags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D50168-5F53-E31C-D059-C9AF3A84C01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91000" y="3159000"/>
            <a:ext cx="8370000" cy="26236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55904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83E1F4FC-C1F8-7317-2353-8D85F617AF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605598" cy="5528766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GB" sz="3200" b="1" dirty="0">
                <a:solidFill>
                  <a:schemeClr val="bg1"/>
                </a:solidFill>
              </a:rPr>
              <a:t>Label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000" b="0" dirty="0"/>
              <a:t>The label text is not only visually associated with its corresponding text input</a:t>
            </a:r>
            <a:endParaRPr lang="en-US" sz="3000" dirty="0"/>
          </a:p>
          <a:p>
            <a:pPr lvl="2">
              <a:lnSpc>
                <a:spcPct val="110000"/>
              </a:lnSpc>
              <a:spcAft>
                <a:spcPts val="1200"/>
              </a:spcAft>
            </a:pPr>
            <a:r>
              <a:rPr lang="en-US" sz="2800" b="0" dirty="0"/>
              <a:t>It is </a:t>
            </a:r>
            <a:r>
              <a:rPr lang="en-US" sz="2800" b="1" dirty="0">
                <a:solidFill>
                  <a:schemeClr val="bg1"/>
                </a:solidFill>
              </a:rPr>
              <a:t>programmatically associated </a:t>
            </a:r>
            <a:r>
              <a:rPr lang="en-US" sz="2800" b="0" dirty="0"/>
              <a:t>with it too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000" b="0" dirty="0"/>
              <a:t>You can click the associated label to focus/activate the input, as well as the </a:t>
            </a:r>
            <a:br>
              <a:rPr lang="en-US" sz="3000" b="0" dirty="0"/>
            </a:br>
            <a:r>
              <a:rPr lang="en-US" sz="3000" b="0" dirty="0"/>
              <a:t>input itself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000" b="0" dirty="0"/>
              <a:t>This </a:t>
            </a:r>
            <a:r>
              <a:rPr lang="en-US" sz="3000" b="1" dirty="0">
                <a:solidFill>
                  <a:schemeClr val="bg1"/>
                </a:solidFill>
              </a:rPr>
              <a:t>increased hit area </a:t>
            </a:r>
            <a:r>
              <a:rPr lang="en-US" sz="3000" b="0" dirty="0"/>
              <a:t>provides an advantage to anyone trying to </a:t>
            </a:r>
            <a:r>
              <a:rPr lang="en-US" sz="3000" b="1" dirty="0">
                <a:solidFill>
                  <a:schemeClr val="bg1"/>
                </a:solidFill>
              </a:rPr>
              <a:t>activate the input</a:t>
            </a:r>
            <a:r>
              <a:rPr lang="en-US" sz="3000" b="0" dirty="0"/>
              <a:t>, including those using a touch-screen device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Form – HTML Tags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5502E7-B895-CCFE-4213-45926BAEF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013" y="2484000"/>
            <a:ext cx="3595585" cy="25769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7630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359B5FF7-5060-3101-1176-028AFE2137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089000"/>
            <a:ext cx="7882386" cy="5528766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GB" sz="3200" b="1" dirty="0">
                <a:solidFill>
                  <a:schemeClr val="bg1"/>
                </a:solidFill>
              </a:rPr>
              <a:t>Input</a:t>
            </a:r>
          </a:p>
          <a:p>
            <a:pPr lvl="1"/>
            <a:r>
              <a:rPr lang="en-US" sz="3000" dirty="0"/>
              <a:t>Used to create </a:t>
            </a:r>
            <a:r>
              <a:rPr lang="en-US" sz="3000" b="1" dirty="0">
                <a:solidFill>
                  <a:schemeClr val="bg1"/>
                </a:solidFill>
              </a:rPr>
              <a:t>interactive controls </a:t>
            </a:r>
            <a:r>
              <a:rPr lang="en-US" sz="3000" dirty="0"/>
              <a:t>for </a:t>
            </a:r>
            <a:br>
              <a:rPr lang="en-US" sz="3000" dirty="0"/>
            </a:br>
            <a:r>
              <a:rPr lang="en-US" sz="3000" dirty="0"/>
              <a:t>web-based forms in order to accept data from the user</a:t>
            </a:r>
          </a:p>
          <a:p>
            <a:pPr lvl="2"/>
            <a:r>
              <a:rPr lang="en-US" sz="2800" dirty="0"/>
              <a:t>A wide variety of types of input data and control widgets are available, depending on the device and user agent</a:t>
            </a:r>
          </a:p>
          <a:p>
            <a:pPr lvl="1"/>
            <a:r>
              <a:rPr lang="en-US" sz="3000" dirty="0"/>
              <a:t>The </a:t>
            </a:r>
            <a:r>
              <a:rPr lang="en-US" sz="3000" b="1" dirty="0">
                <a:solidFill>
                  <a:schemeClr val="bg1"/>
                </a:solidFill>
              </a:rPr>
              <a:t>&lt;input&gt; </a:t>
            </a:r>
            <a:r>
              <a:rPr lang="en-US" sz="3000" dirty="0"/>
              <a:t>element is one of the most powerful and complex in all of HTML due to the sheer number of combinations of input types and attributes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Form – HTML Tags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5B3E61-F1D7-B233-3461-6BBF13ABC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577" y="1899000"/>
            <a:ext cx="3666423" cy="43997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341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2BBC7E1C-1A96-CC7A-9EDC-D8AC8ED82C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GB" sz="3400" b="1" dirty="0" err="1">
                <a:solidFill>
                  <a:schemeClr val="bg1"/>
                </a:solidFill>
              </a:rPr>
              <a:t>Textarea</a:t>
            </a:r>
            <a:endParaRPr lang="en-GB" sz="3400" b="1" dirty="0">
              <a:solidFill>
                <a:schemeClr val="bg1"/>
              </a:solidFill>
            </a:endParaRPr>
          </a:p>
          <a:p>
            <a:pPr lvl="1"/>
            <a:r>
              <a:rPr lang="en-US" sz="3200" dirty="0"/>
              <a:t>Represents a </a:t>
            </a:r>
            <a:r>
              <a:rPr lang="en-US" sz="3200" b="1" dirty="0">
                <a:solidFill>
                  <a:schemeClr val="bg1"/>
                </a:solidFill>
              </a:rPr>
              <a:t>multi-line plain-text editing control</a:t>
            </a:r>
            <a:r>
              <a:rPr lang="en-US" sz="3200" dirty="0"/>
              <a:t>, useful when you want to allow users to enter a sizeable amount of free-form text, for example a comment on a </a:t>
            </a:r>
            <a:r>
              <a:rPr lang="en-US" sz="3200" b="1" dirty="0">
                <a:solidFill>
                  <a:schemeClr val="bg1"/>
                </a:solidFill>
              </a:rPr>
              <a:t>review</a:t>
            </a:r>
            <a:r>
              <a:rPr lang="en-US" sz="3200" dirty="0"/>
              <a:t> or </a:t>
            </a:r>
            <a:br>
              <a:rPr lang="en-US" sz="3200" dirty="0"/>
            </a:br>
            <a:r>
              <a:rPr lang="en-US" sz="3200" b="1" dirty="0">
                <a:solidFill>
                  <a:schemeClr val="bg1"/>
                </a:solidFill>
              </a:rPr>
              <a:t>feedback</a:t>
            </a:r>
            <a:r>
              <a:rPr lang="en-US" sz="3200" dirty="0"/>
              <a:t> form</a:t>
            </a:r>
            <a:endParaRPr lang="en-US" sz="3200" b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Form – HTML Tags</a:t>
            </a:r>
          </a:p>
        </p:txBody>
      </p:sp>
      <p:pic>
        <p:nvPicPr>
          <p:cNvPr id="9" name="Picture 8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8AA528A-C4A2-E7A7-C1F5-CF267C308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800" y="4035749"/>
            <a:ext cx="7322400" cy="25882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428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3233D843-0BBE-C166-0A34-B312E1DE48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940598" cy="5528766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tx1"/>
              </a:buClr>
            </a:pPr>
            <a:r>
              <a:rPr lang="en-GB" sz="3500" b="1" dirty="0">
                <a:solidFill>
                  <a:schemeClr val="bg1"/>
                </a:solidFill>
              </a:rPr>
              <a:t>Select &amp; Option</a:t>
            </a:r>
          </a:p>
          <a:p>
            <a:pPr lvl="1"/>
            <a:r>
              <a:rPr lang="en-US" sz="3200" dirty="0"/>
              <a:t>The </a:t>
            </a:r>
            <a:r>
              <a:rPr lang="en-US" sz="3200" b="1" dirty="0">
                <a:solidFill>
                  <a:schemeClr val="bg1"/>
                </a:solidFill>
              </a:rPr>
              <a:t>&lt;select&gt; </a:t>
            </a:r>
            <a:r>
              <a:rPr lang="en-US" sz="3200" dirty="0"/>
              <a:t>HTML element represents a control that provides a menu of options</a:t>
            </a:r>
          </a:p>
          <a:p>
            <a:pPr lvl="1"/>
            <a:r>
              <a:rPr lang="en-US" sz="3200" dirty="0"/>
              <a:t>The </a:t>
            </a:r>
            <a:r>
              <a:rPr lang="en-US" sz="3200" b="1" dirty="0">
                <a:solidFill>
                  <a:schemeClr val="bg1"/>
                </a:solidFill>
              </a:rPr>
              <a:t>&lt;option&gt; </a:t>
            </a:r>
            <a:r>
              <a:rPr lang="en-US" sz="3200" dirty="0"/>
              <a:t>HTML element is used to define an item contained in a </a:t>
            </a:r>
            <a:r>
              <a:rPr lang="en-US" sz="3200" b="1" dirty="0">
                <a:solidFill>
                  <a:schemeClr val="bg1"/>
                </a:solidFill>
              </a:rPr>
              <a:t>&lt;select&gt;</a:t>
            </a:r>
            <a:r>
              <a:rPr lang="en-US" sz="3200" dirty="0">
                <a:solidFill>
                  <a:schemeClr val="bg1"/>
                </a:solidFill>
              </a:rPr>
              <a:t>, </a:t>
            </a:r>
            <a:r>
              <a:rPr lang="en-US" sz="3200" dirty="0"/>
              <a:t>an </a:t>
            </a:r>
            <a:r>
              <a:rPr lang="en-US" sz="3200" b="1" dirty="0">
                <a:solidFill>
                  <a:schemeClr val="bg1"/>
                </a:solidFill>
              </a:rPr>
              <a:t>&lt;</a:t>
            </a:r>
            <a:r>
              <a:rPr lang="en-US" sz="3200" b="1" dirty="0" err="1">
                <a:solidFill>
                  <a:schemeClr val="bg1"/>
                </a:solidFill>
              </a:rPr>
              <a:t>optgroup</a:t>
            </a:r>
            <a:r>
              <a:rPr lang="en-US" sz="3200" b="1" dirty="0">
                <a:solidFill>
                  <a:schemeClr val="bg1"/>
                </a:solidFill>
              </a:rPr>
              <a:t>&gt;</a:t>
            </a:r>
            <a:r>
              <a:rPr lang="en-US" sz="3200" dirty="0"/>
              <a:t>, or a </a:t>
            </a:r>
            <a:r>
              <a:rPr lang="en-US" sz="3200" b="1" dirty="0">
                <a:solidFill>
                  <a:schemeClr val="bg1"/>
                </a:solidFill>
              </a:rPr>
              <a:t>&lt;</a:t>
            </a:r>
            <a:r>
              <a:rPr lang="en-US" sz="3200" b="1" dirty="0" err="1">
                <a:solidFill>
                  <a:schemeClr val="bg1"/>
                </a:solidFill>
              </a:rPr>
              <a:t>datalist</a:t>
            </a:r>
            <a:r>
              <a:rPr lang="en-US" sz="3200" b="1" dirty="0">
                <a:solidFill>
                  <a:schemeClr val="bg1"/>
                </a:solidFill>
              </a:rPr>
              <a:t>&gt;</a:t>
            </a:r>
            <a:r>
              <a:rPr lang="en-US" sz="3200" b="1" dirty="0"/>
              <a:t> </a:t>
            </a:r>
            <a:r>
              <a:rPr lang="en-US" sz="3200" dirty="0"/>
              <a:t>element. As such, </a:t>
            </a:r>
            <a:r>
              <a:rPr lang="en-US" sz="3200" b="1" dirty="0">
                <a:solidFill>
                  <a:schemeClr val="bg1"/>
                </a:solidFill>
              </a:rPr>
              <a:t>&lt;option&gt; </a:t>
            </a:r>
            <a:r>
              <a:rPr lang="en-US" sz="3200" dirty="0"/>
              <a:t>can represent menu items in popups and other lists of items in an </a:t>
            </a:r>
            <a:br>
              <a:rPr lang="bg-BG" sz="3200" dirty="0"/>
            </a:br>
            <a:r>
              <a:rPr lang="en-US" sz="3200" dirty="0"/>
              <a:t>HTML document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Form – HTML Tags</a:t>
            </a:r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DEA1110-29EB-11BC-7623-C8DFA114A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395" y="2664000"/>
            <a:ext cx="5005605" cy="2205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1953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CC9FCA4D-923E-510B-4DEB-8E6BF1B790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GB" sz="3400" b="1" dirty="0">
                <a:solidFill>
                  <a:schemeClr val="bg1"/>
                </a:solidFill>
              </a:rPr>
              <a:t>Button</a:t>
            </a:r>
          </a:p>
          <a:p>
            <a:pPr lvl="1"/>
            <a:r>
              <a:rPr lang="en-US" sz="3200" dirty="0"/>
              <a:t>Interactive element </a:t>
            </a:r>
            <a:r>
              <a:rPr lang="en-US" sz="3200" b="1" dirty="0">
                <a:solidFill>
                  <a:schemeClr val="bg1"/>
                </a:solidFill>
              </a:rPr>
              <a:t>activated</a:t>
            </a:r>
            <a:r>
              <a:rPr lang="en-US" sz="3200" dirty="0"/>
              <a:t> </a:t>
            </a:r>
            <a:r>
              <a:rPr lang="en-US" sz="3200" b="1" dirty="0">
                <a:solidFill>
                  <a:schemeClr val="bg1"/>
                </a:solidFill>
              </a:rPr>
              <a:t>by</a:t>
            </a:r>
            <a:r>
              <a:rPr lang="en-US" sz="3200" dirty="0"/>
              <a:t> a user with a mouse, keyboard, finger, voice command, or other </a:t>
            </a:r>
            <a:r>
              <a:rPr lang="en-US" sz="3200" b="1" dirty="0">
                <a:solidFill>
                  <a:schemeClr val="bg1"/>
                </a:solidFill>
              </a:rPr>
              <a:t>assistive</a:t>
            </a:r>
            <a:r>
              <a:rPr lang="en-US" sz="3200" dirty="0"/>
              <a:t> </a:t>
            </a:r>
            <a:r>
              <a:rPr lang="en-US" sz="3200" b="1" dirty="0">
                <a:solidFill>
                  <a:schemeClr val="bg1"/>
                </a:solidFill>
              </a:rPr>
              <a:t>technology</a:t>
            </a:r>
            <a:r>
              <a:rPr lang="en-US" sz="3200" dirty="0"/>
              <a:t>. Once activated, it then performs an </a:t>
            </a:r>
            <a:r>
              <a:rPr lang="en-US" sz="3200" b="1" dirty="0">
                <a:solidFill>
                  <a:schemeClr val="bg1"/>
                </a:solidFill>
              </a:rPr>
              <a:t>action</a:t>
            </a:r>
            <a:r>
              <a:rPr lang="en-US" sz="3200" dirty="0"/>
              <a:t>, such as submitting a form or opening a dialog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Form – HTML Tags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84647CF-9B70-DD69-C7FA-ABD85AE29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329000"/>
            <a:ext cx="7772400" cy="17085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7938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058CF945-BDB5-1D61-F705-C89720526B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GB" sz="3600" b="1" dirty="0" err="1">
                <a:solidFill>
                  <a:schemeClr val="bg1"/>
                </a:solidFill>
              </a:rPr>
              <a:t>Fieldset</a:t>
            </a:r>
            <a:r>
              <a:rPr lang="en-GB" sz="3600" b="1" dirty="0">
                <a:solidFill>
                  <a:schemeClr val="bg1"/>
                </a:solidFill>
              </a:rPr>
              <a:t> &amp; Legend</a:t>
            </a:r>
          </a:p>
          <a:p>
            <a:pPr lvl="1">
              <a:lnSpc>
                <a:spcPct val="110000"/>
              </a:lnSpc>
            </a:pPr>
            <a:r>
              <a:rPr lang="en-US" sz="3400" b="0" dirty="0"/>
              <a:t>The HTML </a:t>
            </a:r>
            <a:r>
              <a:rPr lang="en-US" sz="3400" b="0" dirty="0" err="1"/>
              <a:t>fieldset</a:t>
            </a:r>
            <a:r>
              <a:rPr lang="en-US" sz="3400" b="0" dirty="0"/>
              <a:t> element is used to </a:t>
            </a:r>
            <a:r>
              <a:rPr lang="en-US" sz="3400" b="1" dirty="0">
                <a:solidFill>
                  <a:schemeClr val="bg1"/>
                </a:solidFill>
              </a:rPr>
              <a:t>group several controls </a:t>
            </a:r>
            <a:r>
              <a:rPr lang="en-US" sz="3400" b="0" dirty="0"/>
              <a:t>as well as labels within a web form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Form – HTML Tags</a:t>
            </a:r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1DD1A28-0E22-DD9E-E34C-19BCCB81F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000" y="3159000"/>
            <a:ext cx="6107400" cy="34624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147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97F75C13-917F-CB59-8576-34C09A57BF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044000"/>
            <a:ext cx="12192000" cy="5713250"/>
          </a:xfrm>
        </p:spPr>
        <p:txBody>
          <a:bodyPr numCol="1">
            <a:no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600" i="1" dirty="0">
                <a:solidFill>
                  <a:schemeClr val="bg1"/>
                </a:solidFill>
                <a:hlinkClick r:id="rId2"/>
              </a:rPr>
              <a:t>https://developer.mozilla.org/en-US/docs/Web/HTML/Element/form</a:t>
            </a:r>
            <a:endParaRPr lang="en-US" sz="2600" i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600" i="1" dirty="0">
                <a:solidFill>
                  <a:schemeClr val="bg1"/>
                </a:solidFill>
                <a:hlinkClick r:id="rId3"/>
              </a:rPr>
              <a:t>https://developer.mozilla.org/en-US/docs/Learn/HTML/Forms/How_to_structure_an_HTML_form</a:t>
            </a:r>
            <a:endParaRPr lang="en-US" sz="2600" i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600" i="1" dirty="0">
                <a:solidFill>
                  <a:schemeClr val="bg1"/>
                </a:solidFill>
                <a:hlinkClick r:id="rId4"/>
              </a:rPr>
              <a:t>https://developer.mozilla.org/en-US/docs/Learn/HTML/Forms/Your_first_HTML_form</a:t>
            </a:r>
            <a:endParaRPr lang="en-US" sz="2600" i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600" i="1" dirty="0">
                <a:solidFill>
                  <a:schemeClr val="bg1"/>
                </a:solidFill>
                <a:hlinkClick r:id="rId5"/>
              </a:rPr>
              <a:t>https://developer.mozilla.org/en-US/docs/Learn/HTML/Forms/Styling_HTML_forms</a:t>
            </a:r>
            <a:endParaRPr lang="en-US" sz="2600" i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600" i="1" dirty="0">
                <a:solidFill>
                  <a:schemeClr val="bg1"/>
                </a:solidFill>
                <a:hlinkClick r:id="rId6"/>
              </a:rPr>
              <a:t>https://css-tricks.com/tips-for-creating-great-web-forms</a:t>
            </a:r>
            <a:endParaRPr lang="en-US" sz="2600" i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600" i="1" dirty="0">
                <a:solidFill>
                  <a:schemeClr val="bg1"/>
                </a:solidFill>
                <a:hlinkClick r:id="rId7"/>
              </a:rPr>
              <a:t>https://css-tricks.com/options-for-web-forms</a:t>
            </a:r>
            <a:endParaRPr lang="en-US" sz="2600" i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90581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номер на слайда 1">
            <a:extLst>
              <a:ext uri="{FF2B5EF4-FFF2-40B4-BE49-F238E27FC236}">
                <a16:creationId xmlns:a16="http://schemas.microsoft.com/office/drawing/2014/main" id="{B2E5BFB6-E10A-0230-45D8-249707676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82B48E47-16E7-1847-F506-EFB6172E5A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800" b="1" i="1" dirty="0"/>
              <a:t>Floating label</a:t>
            </a:r>
          </a:p>
          <a:p>
            <a:pPr marL="914400" lvl="1" indent="-457200">
              <a:lnSpc>
                <a:spcPct val="150000"/>
              </a:lnSpc>
              <a:buClr>
                <a:schemeClr val="tx1"/>
              </a:buClr>
            </a:pPr>
            <a:r>
              <a:rPr lang="en-US" sz="2600" i="1" dirty="0">
                <a:solidFill>
                  <a:schemeClr val="bg1"/>
                </a:solidFill>
                <a:hlinkClick r:id="rId2"/>
              </a:rPr>
              <a:t>https://codepen.io/callmenick/pen/OxpKNZ</a:t>
            </a:r>
            <a:endParaRPr lang="en-US" sz="2600" i="1" dirty="0">
              <a:solidFill>
                <a:schemeClr val="bg1"/>
              </a:solidFill>
            </a:endParaRPr>
          </a:p>
          <a:p>
            <a:pPr marL="914400" lvl="1" indent="-457200">
              <a:lnSpc>
                <a:spcPct val="150000"/>
              </a:lnSpc>
              <a:buClr>
                <a:schemeClr val="tx1"/>
              </a:buClr>
            </a:pPr>
            <a:r>
              <a:rPr lang="en-US" sz="2600" i="1" dirty="0">
                <a:solidFill>
                  <a:schemeClr val="bg1"/>
                </a:solidFill>
                <a:hlinkClick r:id="rId3"/>
              </a:rPr>
              <a:t>https://codepen.io/tonystar/pen/LRdpYZ</a:t>
            </a:r>
            <a:endParaRPr lang="en-US" sz="2600" i="1" dirty="0">
              <a:solidFill>
                <a:schemeClr val="bg1"/>
              </a:solidFill>
            </a:endParaRPr>
          </a:p>
          <a:p>
            <a:pPr marL="914400" lvl="1" indent="-457200">
              <a:lnSpc>
                <a:spcPct val="150000"/>
              </a:lnSpc>
              <a:buClr>
                <a:schemeClr val="tx1"/>
              </a:buClr>
            </a:pPr>
            <a:r>
              <a:rPr lang="en-US" sz="2600" i="1" dirty="0">
                <a:solidFill>
                  <a:schemeClr val="bg1"/>
                </a:solidFill>
                <a:hlinkClick r:id="rId4"/>
              </a:rPr>
              <a:t>https://codepen.io/elujambio/pen/yjwzGP</a:t>
            </a:r>
            <a:endParaRPr lang="en-US" sz="2600" i="1" dirty="0">
              <a:solidFill>
                <a:schemeClr val="bg1"/>
              </a:solidFill>
            </a:endParaRPr>
          </a:p>
        </p:txBody>
      </p:sp>
      <p:sp>
        <p:nvSpPr>
          <p:cNvPr id="4" name="Заглавие 3">
            <a:extLst>
              <a:ext uri="{FF2B5EF4-FFF2-40B4-BE49-F238E27FC236}">
                <a16:creationId xmlns:a16="http://schemas.microsoft.com/office/drawing/2014/main" id="{BC67B9E7-E80C-C257-4020-4C97BB953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44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3481" y="1420275"/>
            <a:ext cx="8630747" cy="529895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8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8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8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227" y="3276682"/>
            <a:ext cx="2881926" cy="3118969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373AC257-A0F4-4265-8C0F-3CB5C237A93D}"/>
              </a:ext>
            </a:extLst>
          </p:cNvPr>
          <p:cNvSpPr txBox="1">
            <a:spLocks/>
          </p:cNvSpPr>
          <p:nvPr/>
        </p:nvSpPr>
        <p:spPr>
          <a:xfrm>
            <a:off x="561295" y="1717010"/>
            <a:ext cx="8279705" cy="5243955"/>
          </a:xfrm>
          <a:prstGeom prst="rect">
            <a:avLst/>
          </a:prstGeom>
        </p:spPr>
        <p:txBody>
          <a:bodyPr vert="horz" lIns="107972" tIns="35991" rIns="107972" bIns="35991" rtlCol="0">
            <a:no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chemeClr val="bg2"/>
                </a:solidFill>
              </a:rPr>
              <a:t>What are Forms?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chemeClr val="bg2"/>
                </a:solidFill>
              </a:rPr>
              <a:t>How do we Use Them?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chemeClr val="bg2"/>
                </a:solidFill>
              </a:rPr>
              <a:t>Styling a Form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chemeClr val="bg2"/>
                </a:solidFill>
              </a:rPr>
              <a:t>Responsive Forms with Flexbox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chemeClr val="bg2"/>
                </a:solidFill>
              </a:rPr>
              <a:t>Advanced Styling</a:t>
            </a:r>
          </a:p>
        </p:txBody>
      </p:sp>
    </p:spTree>
    <p:extLst>
      <p:ext uri="{BB962C8B-B14F-4D97-AF65-F5344CB8AC3E}">
        <p14:creationId xmlns:p14="http://schemas.microsoft.com/office/powerpoint/2010/main" val="391085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3000" noProof="1">
                <a:hlinkClick r:id="rId4"/>
              </a:rPr>
              <a:t>about.softuni.bg</a:t>
            </a:r>
            <a:r>
              <a:rPr lang="en-US" sz="3000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D2EA64D-70B4-41B4-A07A-3B1B9FFE5325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5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https://about.softuni.bg/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A5D82D-D249-445C-8E67-9EA189AA3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6641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4136</TotalTime>
  <Words>879</Words>
  <Application>Microsoft Office PowerPoint</Application>
  <PresentationFormat>Widescreen</PresentationFormat>
  <Paragraphs>101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Consolas</vt:lpstr>
      <vt:lpstr>Lato</vt:lpstr>
      <vt:lpstr>Wingdings</vt:lpstr>
      <vt:lpstr>Wingdings 2</vt:lpstr>
      <vt:lpstr>SoftUni</vt:lpstr>
      <vt:lpstr>Working with Forms</vt:lpstr>
      <vt:lpstr>Table of Contents</vt:lpstr>
      <vt:lpstr>HTML Forms</vt:lpstr>
      <vt:lpstr>HTML Forms</vt:lpstr>
      <vt:lpstr>HTML Forms</vt:lpstr>
      <vt:lpstr>HTML Forms</vt:lpstr>
      <vt:lpstr>HTML Forms</vt:lpstr>
      <vt:lpstr>HTML Form – HTML Tags</vt:lpstr>
      <vt:lpstr>HTML Form – HTML Tags</vt:lpstr>
      <vt:lpstr>HTML Form – HTML Tags</vt:lpstr>
      <vt:lpstr>HTML Form – HTML Tags</vt:lpstr>
      <vt:lpstr>HTML Form – HTML Tags</vt:lpstr>
      <vt:lpstr>HTML Form – HTML Tags</vt:lpstr>
      <vt:lpstr>HTML Form – HTML Tags</vt:lpstr>
      <vt:lpstr>Resources</vt:lpstr>
      <vt:lpstr>Resources</vt:lpstr>
      <vt:lpstr>Summary</vt:lpstr>
      <vt:lpstr>Trainings @ Software University (SoftUni)</vt:lpstr>
      <vt:lpstr>License</vt:lpstr>
    </vt:vector>
  </TitlesOfParts>
  <Company>SoftUni – https://about.softuni.bg/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HTML and CSS</dc:title>
  <dc:subject>Software Development</dc:subject>
  <dc:creator>Software University</dc:creator>
  <cp:keywords>JS Fundamentals; Software University; SoftUni; programming; coding; software development; education; training; course</cp:keywords>
  <dc:description>© SoftUni – https://about.softuni.bg/
© Software University – https://softuni.bg
Copyrighted document. Unauthorized copy, reproduction or use is not permitted.</dc:description>
  <cp:lastModifiedBy>Daniel Dimitrov</cp:lastModifiedBy>
  <cp:revision>249</cp:revision>
  <dcterms:created xsi:type="dcterms:W3CDTF">2018-05-23T13:08:44Z</dcterms:created>
  <dcterms:modified xsi:type="dcterms:W3CDTF">2025-08-18T13:32:39Z</dcterms:modified>
  <cp:category>programming;computer programming;software development;web development</cp:category>
</cp:coreProperties>
</file>