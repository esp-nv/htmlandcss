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6"/>
  </p:notesMasterIdLst>
  <p:handoutMasterIdLst>
    <p:handoutMasterId r:id="rId27"/>
  </p:handoutMasterIdLst>
  <p:sldIdLst>
    <p:sldId id="256" r:id="rId2"/>
    <p:sldId id="329" r:id="rId3"/>
    <p:sldId id="387" r:id="rId4"/>
    <p:sldId id="549" r:id="rId5"/>
    <p:sldId id="710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698" r:id="rId18"/>
    <p:sldId id="699" r:id="rId19"/>
    <p:sldId id="700" r:id="rId20"/>
    <p:sldId id="701" r:id="rId21"/>
    <p:sldId id="684" r:id="rId22"/>
    <p:sldId id="293" r:id="rId23"/>
    <p:sldId id="405" r:id="rId24"/>
    <p:sldId id="49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89C082F-36E2-4F80-8296-77DF3D2196D8}">
          <p14:sldIdLst>
            <p14:sldId id="256"/>
            <p14:sldId id="329"/>
          </p14:sldIdLst>
        </p14:section>
        <p14:section name="Responsive Web Design" id="{FCB328CC-1E50-4C23-8E2A-6B408517A456}">
          <p14:sldIdLst>
            <p14:sldId id="387"/>
            <p14:sldId id="549"/>
            <p14:sldId id="710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684"/>
          </p14:sldIdLst>
        </p14:section>
        <p14:section name="Summary" id="{044FE56B-152C-469D-A109-71332C64881D}">
          <p14:sldIdLst>
            <p14:sldId id="293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5226" autoAdjust="0"/>
  </p:normalViewPr>
  <p:slideViewPr>
    <p:cSldViewPr showGuides="1">
      <p:cViewPr varScale="1">
        <p:scale>
          <a:sx n="78" d="100"/>
          <a:sy n="78" d="100"/>
        </p:scale>
        <p:origin x="114" y="1716"/>
      </p:cViewPr>
      <p:guideLst>
        <p:guide orient="horz" pos="2184"/>
        <p:guide pos="3840"/>
        <p:guide orient="horz" pos="2188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1.6.2026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34717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4074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CBA6FCE-6B4E-4B7E-8DA4-A04563E6F3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50249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6FE9FF2-A941-4AB4-9CE0-BE8A2B7278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1599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https://about.softuni.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Logo Software University" descr="Software University logo">
            <a:hlinkClick r:id="rId2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695" y="269393"/>
            <a:ext cx="1470305" cy="504607"/>
          </a:xfrm>
          <a:prstGeom prst="rect">
            <a:avLst/>
          </a:prstGeom>
        </p:spPr>
      </p:pic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1260770"/>
            <a:ext cx="11083636" cy="1315728"/>
          </a:xfrm>
        </p:spPr>
        <p:txBody>
          <a:bodyPr anchor="t" anchorCtr="0">
            <a:normAutofit/>
          </a:bodyPr>
          <a:lstStyle>
            <a:lvl1pPr marL="0" indent="0" algn="l" latinLnBrk="0">
              <a:buNone/>
              <a:defRPr sz="3598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324000"/>
            <a:ext cx="11083636" cy="882654"/>
          </a:xfrm>
        </p:spPr>
        <p:txBody>
          <a:bodyPr/>
          <a:lstStyle>
            <a:lvl1pPr algn="l" latinLnBrk="0">
              <a:defRPr sz="4798" baseline="0">
                <a:latin typeface="Lato" panose="020F0502020204030203" pitchFamily="34" charset="77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6482195-4AB2-23BA-0ABE-6BE650760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72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45673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83" r:id="rId8"/>
    <p:sldLayoutId id="2147483685" r:id="rId9"/>
    <p:sldLayoutId id="2147483686" r:id="rId10"/>
    <p:sldLayoutId id="2147483687" r:id="rId11"/>
    <p:sldLayoutId id="2147483693" r:id="rId12"/>
    <p:sldLayoutId id="2147483694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softuni.b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istapart.com/articles/responsive-web-design/" TargetMode="External"/><Relationship Id="rId2" Type="http://schemas.openxmlformats.org/officeDocument/2006/relationships/hyperlink" Target="https://ethanmarcotte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hyperlink" Target="https://developer.mozilla.org/en-US/docs/Learn/CSS/CSS_layout/Responsive_Desig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responsivedesign.is/articles/why-you-dont-need-device-specific-breakpoints/" TargetMode="External"/><Relationship Id="rId3" Type="http://schemas.openxmlformats.org/officeDocument/2006/relationships/hyperlink" Target="https://developer.mozilla.org/en-US/docs/Web/CSS/@import" TargetMode="External"/><Relationship Id="rId7" Type="http://schemas.openxmlformats.org/officeDocument/2006/relationships/hyperlink" Target="https://css-tricks.com/snippets/css/media-queries-for-standard-devices/" TargetMode="External"/><Relationship Id="rId2" Type="http://schemas.openxmlformats.org/officeDocument/2006/relationships/hyperlink" Target="https://developer.mozilla.org/en-US/docs/Web/CSS/Media_Queries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aniuse.com/#feat=css-mediaqueries" TargetMode="External"/><Relationship Id="rId11" Type="http://schemas.openxmlformats.org/officeDocument/2006/relationships/hyperlink" Target="https://responsivedesign.is/" TargetMode="External"/><Relationship Id="rId5" Type="http://schemas.openxmlformats.org/officeDocument/2006/relationships/hyperlink" Target="https://developer.mozilla.org/en-US/docs/Web/CSS/Media_Queries/Using_media_queries#Media_features" TargetMode="External"/><Relationship Id="rId10" Type="http://schemas.openxmlformats.org/officeDocument/2006/relationships/hyperlink" Target="https://mediaqueri.es/" TargetMode="External"/><Relationship Id="rId4" Type="http://schemas.openxmlformats.org/officeDocument/2006/relationships/hyperlink" Target="https://developer.mozilla.org/en-US/docs/Web/CSS/Media_Queries/Testing_media_queries" TargetMode="External"/><Relationship Id="rId9" Type="http://schemas.openxmlformats.org/officeDocument/2006/relationships/hyperlink" Target="https://davidwalsh.name/animate-media-querie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Responsive Web Design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8686212" y="5782830"/>
            <a:ext cx="2950749" cy="382532"/>
          </a:xfrm>
        </p:spPr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https://softuni.bg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672561" y="4876928"/>
            <a:ext cx="2950749" cy="506540"/>
          </a:xfrm>
        </p:spPr>
        <p:txBody>
          <a:bodyPr/>
          <a:lstStyle/>
          <a:p>
            <a:r>
              <a:rPr lang="en-US" err="1"/>
              <a:t>SoftUni</a:t>
            </a:r>
            <a:r>
              <a:rPr lang="en-US"/>
              <a:t>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672561" y="5361046"/>
            <a:ext cx="2950749" cy="460181"/>
          </a:xfrm>
        </p:spPr>
        <p:txBody>
          <a:bodyPr/>
          <a:lstStyle/>
          <a:p>
            <a:r>
              <a:rPr lang="en-US"/>
              <a:t>Technical Trainers</a:t>
            </a:r>
          </a:p>
        </p:txBody>
      </p:sp>
      <p:pic>
        <p:nvPicPr>
          <p:cNvPr id="3" name="Picture 6" descr="Резултат с изображение за „MEDIA QUERIES PNG“">
            <a:extLst>
              <a:ext uri="{FF2B5EF4-FFF2-40B4-BE49-F238E27FC236}">
                <a16:creationId xmlns:a16="http://schemas.microsoft.com/office/drawing/2014/main" id="{1D925513-C2A2-66CD-0448-0E46AFA0E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00" y="2388523"/>
            <a:ext cx="4396185" cy="2471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21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What is Responsive Web Design?</a:t>
            </a:r>
          </a:p>
          <a:p>
            <a:r>
              <a:rPr lang="en-US" sz="3400" dirty="0"/>
              <a:t>Why is it Important?</a:t>
            </a:r>
          </a:p>
          <a:p>
            <a:r>
              <a:rPr lang="en-US" sz="3400" dirty="0"/>
              <a:t>Media Queries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809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Резултат с изображение за „MEDIA QUERIES PNG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834" y="1513417"/>
            <a:ext cx="3602331" cy="202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6CA867D-7A99-419D-8CF6-AE5B98CB185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 sz="4800" dirty="0"/>
              <a:t>Responsive Web Design</a:t>
            </a:r>
          </a:p>
        </p:txBody>
      </p:sp>
    </p:spTree>
    <p:extLst>
      <p:ext uri="{BB962C8B-B14F-4D97-AF65-F5344CB8AC3E}">
        <p14:creationId xmlns:p14="http://schemas.microsoft.com/office/powerpoint/2010/main" val="143970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B75B829D-60FA-881A-445C-3E231E7B1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b="0" dirty="0"/>
              <a:t>It is an approach to make web pages render well on all screen sizes and resolutions while ensuring good usability</a:t>
            </a:r>
          </a:p>
          <a:p>
            <a:pPr>
              <a:lnSpc>
                <a:spcPct val="110000"/>
              </a:lnSpc>
            </a:pPr>
            <a:r>
              <a:rPr lang="en-US" sz="3600" b="0" dirty="0"/>
              <a:t>It is the way to design for </a:t>
            </a:r>
            <a:r>
              <a:rPr lang="en-US" sz="3600" b="1" dirty="0">
                <a:solidFill>
                  <a:schemeClr val="bg1"/>
                </a:solidFill>
              </a:rPr>
              <a:t>a multi-device web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Responsive Web Design?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6CBEA-E8BD-C4BB-35CF-A2C1E75F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00" y="3699000"/>
            <a:ext cx="5924254" cy="2354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168D2-18FA-CD8B-E10D-C5EF691FC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502" y="3231069"/>
            <a:ext cx="4427498" cy="3290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269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B75B829D-60FA-881A-445C-3E231E7B1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000" b="1" i="1" u="sng" dirty="0">
                <a:hlinkClick r:id="rId2"/>
              </a:rPr>
              <a:t>Ethan Marcotte</a:t>
            </a:r>
            <a:r>
              <a:rPr lang="en-US" sz="3000" b="1" i="1" dirty="0"/>
              <a:t> </a:t>
            </a:r>
            <a:r>
              <a:rPr lang="en-US" sz="3000" b="0" dirty="0"/>
              <a:t>wrote an introductory article about the approach,</a:t>
            </a:r>
            <a:br>
              <a:rPr lang="en-US" sz="3000" b="0" dirty="0"/>
            </a:br>
            <a:r>
              <a:rPr lang="en-US" sz="3000" b="1" i="1" dirty="0">
                <a:hlinkClick r:id="rId3"/>
              </a:rPr>
              <a:t>Responsive Web Design</a:t>
            </a:r>
            <a:r>
              <a:rPr lang="en-US" sz="3000" b="0" dirty="0"/>
              <a:t>, for A List Apart</a:t>
            </a:r>
          </a:p>
          <a:p>
            <a:pPr>
              <a:lnSpc>
                <a:spcPct val="110000"/>
              </a:lnSpc>
            </a:pPr>
            <a:r>
              <a:rPr lang="en-US" sz="3000" b="1" i="1" dirty="0">
                <a:hlinkClick r:id="rId4"/>
              </a:rPr>
              <a:t>https://developer.mozilla.org/en-US/docs/Learn/CSS/CSS_layout/Responsive_Design</a:t>
            </a:r>
            <a:endParaRPr lang="en-US" sz="3000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Responsive Web Design?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B4461A-D0B9-0606-DFA0-2E133EFD5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132" y="3501394"/>
            <a:ext cx="4692868" cy="3302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061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E5813012-7366-683C-C750-475E8C53F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600" b="1" dirty="0">
                <a:solidFill>
                  <a:schemeClr val="bg1"/>
                </a:solidFill>
              </a:rPr>
              <a:t>Media Queries</a:t>
            </a:r>
            <a:r>
              <a:rPr lang="en-GB" sz="3600" dirty="0"/>
              <a:t> - </a:t>
            </a:r>
            <a:r>
              <a:rPr lang="en-US" sz="3600" b="0" dirty="0"/>
              <a:t>Allow us to run a </a:t>
            </a:r>
            <a:r>
              <a:rPr lang="en-US" sz="3600" b="1" dirty="0">
                <a:solidFill>
                  <a:schemeClr val="bg1"/>
                </a:solidFill>
              </a:rPr>
              <a:t>series of tests </a:t>
            </a:r>
            <a:r>
              <a:rPr lang="en-US" sz="3600" b="0" dirty="0"/>
              <a:t>(e.g., whether the user's screen is greater than a certain width, or a certain resolution) and </a:t>
            </a:r>
            <a:r>
              <a:rPr lang="en-US" sz="3600" b="1" dirty="0">
                <a:solidFill>
                  <a:schemeClr val="bg1"/>
                </a:solidFill>
              </a:rPr>
              <a:t>apply CSS </a:t>
            </a:r>
            <a:r>
              <a:rPr lang="en-US" sz="3600" b="0" dirty="0"/>
              <a:t>selectively to style the page appropriately for the user's needs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Responsive Web Design – How?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AE42A-7113-C0A7-C632-7C557EB7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000" y="3159000"/>
            <a:ext cx="3616036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C312B-74C3-959D-8CC5-B223E39EC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08796"/>
            <a:ext cx="6130598" cy="2779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53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B65B5BB1-C387-5F5A-30E6-989027519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GB" sz="3900" b="1" dirty="0">
                <a:solidFill>
                  <a:schemeClr val="bg1"/>
                </a:solidFill>
              </a:rPr>
              <a:t>In HTML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700" b="0" dirty="0"/>
              <a:t>Media Queries can be applied to various elements:</a:t>
            </a:r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3500" b="0" dirty="0"/>
              <a:t>In the </a:t>
            </a:r>
            <a:r>
              <a:rPr lang="en-US" sz="3500" b="1" dirty="0">
                <a:solidFill>
                  <a:schemeClr val="bg1"/>
                </a:solidFill>
              </a:rPr>
              <a:t>link element's </a:t>
            </a:r>
            <a:r>
              <a:rPr lang="en-US" sz="3500" b="0" dirty="0"/>
              <a:t>media attribute, they </a:t>
            </a:r>
            <a:r>
              <a:rPr lang="en-US" sz="3500" dirty="0"/>
              <a:t>define the media </a:t>
            </a:r>
            <a:r>
              <a:rPr lang="en-US" sz="3500" b="0" dirty="0"/>
              <a:t>to which a linked resource (typically CSS) should be applied</a:t>
            </a:r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3500" b="0" dirty="0"/>
              <a:t>In the </a:t>
            </a:r>
            <a:r>
              <a:rPr lang="en-US" sz="3500" b="1" dirty="0">
                <a:solidFill>
                  <a:schemeClr val="bg1"/>
                </a:solidFill>
              </a:rPr>
              <a:t>source element's </a:t>
            </a:r>
            <a:r>
              <a:rPr lang="en-US" sz="3500" b="0" dirty="0"/>
              <a:t>media attribute, they define the media to which that source should be applied (This is only valid inside picture elements)</a:t>
            </a:r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3500" b="0" dirty="0"/>
              <a:t>In the </a:t>
            </a:r>
            <a:r>
              <a:rPr lang="en-US" sz="3500" b="1" dirty="0">
                <a:solidFill>
                  <a:schemeClr val="bg1"/>
                </a:solidFill>
              </a:rPr>
              <a:t>style element's </a:t>
            </a:r>
            <a:r>
              <a:rPr lang="en-US" sz="3500" b="0" dirty="0"/>
              <a:t>media attribute, they define the media to which the style should be applied</a:t>
            </a:r>
            <a:endParaRPr lang="en-US" sz="3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</p:spTree>
    <p:extLst>
      <p:ext uri="{BB962C8B-B14F-4D97-AF65-F5344CB8AC3E}">
        <p14:creationId xmlns:p14="http://schemas.microsoft.com/office/powerpoint/2010/main" val="18433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6148B26B-6708-1289-15F7-076F8BF37B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sz="3600" b="1" dirty="0">
                <a:solidFill>
                  <a:schemeClr val="bg1"/>
                </a:solidFill>
              </a:rPr>
              <a:t>Media Types</a:t>
            </a:r>
          </a:p>
          <a:p>
            <a:pPr lvl="1"/>
            <a:r>
              <a:rPr lang="en-US" sz="3400" b="0" dirty="0"/>
              <a:t>Media types describe the general category of a given device</a:t>
            </a:r>
          </a:p>
          <a:p>
            <a:pPr lvl="1"/>
            <a:r>
              <a:rPr lang="en-US" sz="3400" b="0" dirty="0"/>
              <a:t>Although, websites are commonly </a:t>
            </a:r>
            <a:r>
              <a:rPr lang="en-US" sz="3400" b="1" dirty="0">
                <a:solidFill>
                  <a:schemeClr val="bg1"/>
                </a:solidFill>
              </a:rPr>
              <a:t>designed with screens in mind</a:t>
            </a:r>
            <a:r>
              <a:rPr lang="en-US" sz="3400" b="0" dirty="0"/>
              <a:t>, you may want to create styles that target special devices such as printers or audio-based screen readers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09C29F51-0E97-F85E-03EE-FCD5358AF61E}"/>
              </a:ext>
            </a:extLst>
          </p:cNvPr>
          <p:cNvSpPr txBox="1"/>
          <p:nvPr/>
        </p:nvSpPr>
        <p:spPr>
          <a:xfrm>
            <a:off x="1101000" y="4464000"/>
            <a:ext cx="6327672" cy="88453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print { ... } </a:t>
            </a:r>
            <a:br>
              <a:rPr lang="en-US" sz="2400" b="1" dirty="0">
                <a:latin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screen, print { ... } </a:t>
            </a:r>
          </a:p>
        </p:txBody>
      </p:sp>
    </p:spTree>
    <p:extLst>
      <p:ext uri="{BB962C8B-B14F-4D97-AF65-F5344CB8AC3E}">
        <p14:creationId xmlns:p14="http://schemas.microsoft.com/office/powerpoint/2010/main" val="69027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4FE06DD3-2AA4-EC7F-3C3C-F8DE3E73E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sz="3600" b="1" dirty="0">
                <a:solidFill>
                  <a:schemeClr val="bg1"/>
                </a:solidFill>
              </a:rPr>
              <a:t>@import</a:t>
            </a:r>
          </a:p>
          <a:p>
            <a:pPr lvl="1"/>
            <a:r>
              <a:rPr lang="en-US" sz="3400" b="0" dirty="0"/>
              <a:t>The </a:t>
            </a:r>
            <a:r>
              <a:rPr lang="en-US" sz="3400" b="1" dirty="0">
                <a:solidFill>
                  <a:schemeClr val="bg1"/>
                </a:solidFill>
              </a:rPr>
              <a:t>@import</a:t>
            </a:r>
            <a:r>
              <a:rPr lang="en-US" sz="3400" b="0" dirty="0">
                <a:solidFill>
                  <a:schemeClr val="bg1"/>
                </a:solidFill>
              </a:rPr>
              <a:t> </a:t>
            </a:r>
            <a:r>
              <a:rPr lang="en-US" sz="3400" b="0" dirty="0"/>
              <a:t>CSS at-rule is used to import style rules from other style sheets</a:t>
            </a:r>
          </a:p>
          <a:p>
            <a:pPr lvl="1"/>
            <a:r>
              <a:rPr lang="en-US" sz="3400" b="0" dirty="0"/>
              <a:t>These rules must precede all other types of rules, </a:t>
            </a:r>
            <a:br>
              <a:rPr lang="en-US" sz="3400" b="0" dirty="0"/>
            </a:br>
            <a:r>
              <a:rPr lang="en-US" sz="3400" b="0" dirty="0"/>
              <a:t>except </a:t>
            </a:r>
            <a:r>
              <a:rPr lang="en-US" sz="3400" b="1" dirty="0">
                <a:solidFill>
                  <a:schemeClr val="bg1"/>
                </a:solidFill>
              </a:rPr>
              <a:t>@charset rules</a:t>
            </a:r>
            <a:endParaRPr lang="en-US" sz="3400" dirty="0"/>
          </a:p>
          <a:p>
            <a:pPr lvl="1"/>
            <a:r>
              <a:rPr lang="en-US" sz="3400" b="0" dirty="0"/>
              <a:t>As it is not a nested statement, </a:t>
            </a:r>
            <a:r>
              <a:rPr lang="en-US" sz="3400" b="1" dirty="0">
                <a:solidFill>
                  <a:schemeClr val="bg1"/>
                </a:solidFill>
              </a:rPr>
              <a:t>@import</a:t>
            </a:r>
            <a:r>
              <a:rPr lang="en-US" sz="3400" b="0" dirty="0">
                <a:solidFill>
                  <a:schemeClr val="bg1"/>
                </a:solidFill>
              </a:rPr>
              <a:t> </a:t>
            </a:r>
            <a:r>
              <a:rPr lang="en-US" sz="3400" b="0" dirty="0"/>
              <a:t>cannot be used inside conditional group at-rules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87CBB46C-A49F-F108-11D9-58C497CC1F78}"/>
              </a:ext>
            </a:extLst>
          </p:cNvPr>
          <p:cNvSpPr txBox="1"/>
          <p:nvPr/>
        </p:nvSpPr>
        <p:spPr>
          <a:xfrm>
            <a:off x="1146000" y="5640936"/>
            <a:ext cx="5805000" cy="47827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import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url</a:t>
            </a:r>
            <a:r>
              <a:rPr lang="en-US" sz="2400" b="1" dirty="0"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'styles.css'</a:t>
            </a:r>
            <a:r>
              <a:rPr lang="en-US" sz="2400" b="1" dirty="0">
                <a:latin typeface="Consolas" panose="020B0609020204030204" pitchFamily="49" charset="0"/>
              </a:rPr>
              <a:t>) screen;</a:t>
            </a:r>
          </a:p>
        </p:txBody>
      </p:sp>
    </p:spTree>
    <p:extLst>
      <p:ext uri="{BB962C8B-B14F-4D97-AF65-F5344CB8AC3E}">
        <p14:creationId xmlns:p14="http://schemas.microsoft.com/office/powerpoint/2010/main" val="118950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3EF058FC-8F09-5304-4BCA-43F3F16CB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sz="3600" b="1" dirty="0">
                <a:solidFill>
                  <a:schemeClr val="bg1"/>
                </a:solidFill>
              </a:rPr>
              <a:t>Media Features</a:t>
            </a:r>
          </a:p>
          <a:p>
            <a:pPr lvl="1"/>
            <a:r>
              <a:rPr lang="en-US" sz="3400" b="0" dirty="0"/>
              <a:t>Media features describe a specific characteristic of the </a:t>
            </a:r>
            <a:r>
              <a:rPr lang="en-US" sz="3400" b="1" dirty="0">
                <a:solidFill>
                  <a:schemeClr val="bg1"/>
                </a:solidFill>
              </a:rPr>
              <a:t>user</a:t>
            </a:r>
            <a:r>
              <a:rPr lang="en-US" sz="3400" b="0" dirty="0"/>
              <a:t> </a:t>
            </a:r>
            <a:r>
              <a:rPr lang="en-US" sz="3400" b="1" dirty="0">
                <a:solidFill>
                  <a:schemeClr val="bg1"/>
                </a:solidFill>
              </a:rPr>
              <a:t>agent</a:t>
            </a:r>
            <a:r>
              <a:rPr lang="en-US" sz="3400" b="0" dirty="0"/>
              <a:t>, </a:t>
            </a:r>
            <a:r>
              <a:rPr lang="en-US" sz="3400" b="1" dirty="0">
                <a:solidFill>
                  <a:schemeClr val="bg1"/>
                </a:solidFill>
              </a:rPr>
              <a:t>output</a:t>
            </a:r>
            <a:r>
              <a:rPr lang="en-US" sz="3400" b="0" dirty="0"/>
              <a:t> </a:t>
            </a:r>
            <a:r>
              <a:rPr lang="en-US" sz="3400" b="1" dirty="0">
                <a:solidFill>
                  <a:schemeClr val="bg1"/>
                </a:solidFill>
              </a:rPr>
              <a:t>device</a:t>
            </a:r>
            <a:r>
              <a:rPr lang="en-US" sz="3400" b="0" dirty="0"/>
              <a:t>, or </a:t>
            </a:r>
            <a:r>
              <a:rPr lang="en-US" sz="3400" b="1" dirty="0">
                <a:solidFill>
                  <a:schemeClr val="bg1"/>
                </a:solidFill>
              </a:rPr>
              <a:t>environment</a:t>
            </a:r>
            <a:r>
              <a:rPr lang="en-US" sz="3400" b="0" dirty="0"/>
              <a:t>: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3FEFF2B3-E032-0BD2-6736-5326E78C36EB}"/>
              </a:ext>
            </a:extLst>
          </p:cNvPr>
          <p:cNvSpPr txBox="1"/>
          <p:nvPr/>
        </p:nvSpPr>
        <p:spPr>
          <a:xfrm>
            <a:off x="1101000" y="3316132"/>
            <a:ext cx="7438836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(min-width: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600px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26" name="Picture 2" descr="Търсене В Базата Данни">
            <a:extLst>
              <a:ext uri="{FF2B5EF4-FFF2-40B4-BE49-F238E27FC236}">
                <a16:creationId xmlns:a16="http://schemas.microsoft.com/office/drawing/2014/main" id="{85809C8A-2E0D-F0BE-6A3C-BC740F5BF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000" y="3564000"/>
            <a:ext cx="3069000" cy="30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3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86033C79-18E2-5BC8-8048-DA27DDA4F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Media Features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min-width</a:t>
            </a:r>
          </a:p>
          <a:p>
            <a:pPr lvl="1"/>
            <a:r>
              <a:rPr lang="en-US" sz="3400" b="0" dirty="0"/>
              <a:t>Specifies a </a:t>
            </a:r>
            <a:r>
              <a:rPr lang="en-US" sz="3400" b="1" dirty="0">
                <a:solidFill>
                  <a:schemeClr val="bg1"/>
                </a:solidFill>
              </a:rPr>
              <a:t>minimal width </a:t>
            </a:r>
            <a:r>
              <a:rPr lang="en-US" sz="3400" b="0" dirty="0"/>
              <a:t>for the viewport in order to apply the rules included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9EB4A2FB-74AF-CEF5-2643-8F8705B4BA9E}"/>
              </a:ext>
            </a:extLst>
          </p:cNvPr>
          <p:cNvSpPr txBox="1"/>
          <p:nvPr/>
        </p:nvSpPr>
        <p:spPr>
          <a:xfrm>
            <a:off x="1146000" y="3204000"/>
            <a:ext cx="7438836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(min-width: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600px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054" name="Picture 6" descr="Измерване На Лента, Измерване, Инча">
            <a:extLst>
              <a:ext uri="{FF2B5EF4-FFF2-40B4-BE49-F238E27FC236}">
                <a16:creationId xmlns:a16="http://schemas.microsoft.com/office/drawing/2014/main" id="{E9BF8CA7-63C9-6CD4-B679-C1A8CBA1B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367" y="4149000"/>
            <a:ext cx="1417067" cy="1257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02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CA68091C-AFBE-7AB8-1F61-4346ABBED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Media Features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max-width</a:t>
            </a:r>
          </a:p>
          <a:p>
            <a:pPr lvl="1"/>
            <a:r>
              <a:rPr lang="en-US" sz="3400" b="0" dirty="0"/>
              <a:t>Specifies a </a:t>
            </a:r>
            <a:r>
              <a:rPr lang="en-US" sz="3400" b="1" dirty="0">
                <a:solidFill>
                  <a:schemeClr val="bg1"/>
                </a:solidFill>
              </a:rPr>
              <a:t>maximum width </a:t>
            </a:r>
            <a:r>
              <a:rPr lang="en-US" sz="3400" b="0" dirty="0"/>
              <a:t>for the viewport up to which it will apply the rules included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3A351E8B-6322-8D3A-F8DA-FE0CE8D0C151}"/>
              </a:ext>
            </a:extLst>
          </p:cNvPr>
          <p:cNvSpPr txBox="1"/>
          <p:nvPr/>
        </p:nvSpPr>
        <p:spPr>
          <a:xfrm>
            <a:off x="1146000" y="3316132"/>
            <a:ext cx="7438836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(max-width: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600px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074" name="Picture 2" descr="Измерване На Лента, Измерване, Инча">
            <a:extLst>
              <a:ext uri="{FF2B5EF4-FFF2-40B4-BE49-F238E27FC236}">
                <a16:creationId xmlns:a16="http://schemas.microsoft.com/office/drawing/2014/main" id="{3E558E2A-E173-D373-0C54-7FEFAC52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000" y="3925890"/>
            <a:ext cx="3154058" cy="279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41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813B3793-0DA0-D468-DAF2-8C0A80E34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Media Features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orientation</a:t>
            </a:r>
          </a:p>
          <a:p>
            <a:pPr lvl="1"/>
            <a:r>
              <a:rPr lang="en-US" sz="3400" b="0" dirty="0"/>
              <a:t>Specifies a </a:t>
            </a:r>
            <a:r>
              <a:rPr lang="en-US" sz="3400" b="1" dirty="0">
                <a:solidFill>
                  <a:schemeClr val="bg1"/>
                </a:solidFill>
              </a:rPr>
              <a:t>device orientation </a:t>
            </a:r>
            <a:r>
              <a:rPr lang="en-US" sz="3400" b="0" dirty="0"/>
              <a:t>for which it will apply the </a:t>
            </a:r>
            <a:br>
              <a:rPr lang="bg-BG" sz="3400" b="0" dirty="0"/>
            </a:br>
            <a:r>
              <a:rPr lang="en-US" sz="3400" b="0" dirty="0"/>
              <a:t>rules included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F484E794-AFB4-269A-4454-A221B71E5CB3}"/>
              </a:ext>
            </a:extLst>
          </p:cNvPr>
          <p:cNvSpPr txBox="1"/>
          <p:nvPr/>
        </p:nvSpPr>
        <p:spPr>
          <a:xfrm>
            <a:off x="1101000" y="3159000"/>
            <a:ext cx="8534418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(orientation: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landscape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098" name="Picture 2" descr="Компас, Посока, Навигация, Пътуване">
            <a:extLst>
              <a:ext uri="{FF2B5EF4-FFF2-40B4-BE49-F238E27FC236}">
                <a16:creationId xmlns:a16="http://schemas.microsoft.com/office/drawing/2014/main" id="{30684206-3657-3965-E1C3-AEDE4EF2B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056" y="3342026"/>
            <a:ext cx="3163888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60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BE10E6A1-0C9B-FFF1-983C-E1233F8FAD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Media Features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hover</a:t>
            </a:r>
          </a:p>
          <a:p>
            <a:pPr lvl="1"/>
            <a:r>
              <a:rPr lang="en-US" sz="3400" b="0" dirty="0"/>
              <a:t>Checks for a </a:t>
            </a:r>
            <a:r>
              <a:rPr lang="en-US" sz="3400" b="1" dirty="0">
                <a:solidFill>
                  <a:schemeClr val="bg1"/>
                </a:solidFill>
              </a:rPr>
              <a:t>device ability </a:t>
            </a:r>
            <a:r>
              <a:rPr lang="en-US" sz="3400" b="0" dirty="0"/>
              <a:t>for which it will apply the </a:t>
            </a:r>
            <a:br>
              <a:rPr lang="bg-BG" sz="3400" b="0" dirty="0"/>
            </a:br>
            <a:r>
              <a:rPr lang="en-US" sz="3400" b="0" dirty="0"/>
              <a:t>rules included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1C946C7A-5329-FE51-C7FD-0D2E9EFBE5EF}"/>
              </a:ext>
            </a:extLst>
          </p:cNvPr>
          <p:cNvSpPr txBox="1"/>
          <p:nvPr/>
        </p:nvSpPr>
        <p:spPr>
          <a:xfrm>
            <a:off x="1116582" y="3159000"/>
            <a:ext cx="6194418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(hover: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hover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122" name="Picture 2" descr="Хеликоптер, Дрон, Плувам, Hover">
            <a:extLst>
              <a:ext uri="{FF2B5EF4-FFF2-40B4-BE49-F238E27FC236}">
                <a16:creationId xmlns:a16="http://schemas.microsoft.com/office/drawing/2014/main" id="{BBEB0D47-D269-9240-FE95-4466318AC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000" y="3803375"/>
            <a:ext cx="2703269" cy="261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87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165700FB-C2D9-5F6F-CAB2-42323BE651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Media Features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pointer</a:t>
            </a:r>
          </a:p>
          <a:p>
            <a:pPr lvl="1"/>
            <a:r>
              <a:rPr lang="en-US" sz="3400" b="0" dirty="0"/>
              <a:t>Checks for a </a:t>
            </a:r>
            <a:r>
              <a:rPr lang="en-US" sz="3400" b="1" dirty="0">
                <a:solidFill>
                  <a:schemeClr val="bg1"/>
                </a:solidFill>
              </a:rPr>
              <a:t>device ability </a:t>
            </a:r>
            <a:r>
              <a:rPr lang="en-US" sz="3400" b="0" dirty="0"/>
              <a:t>for which it will apply the </a:t>
            </a:r>
            <a:br>
              <a:rPr lang="bg-BG" sz="3400" b="0" dirty="0"/>
            </a:br>
            <a:r>
              <a:rPr lang="en-US" sz="3400" b="0" dirty="0"/>
              <a:t>rules included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7F977D68-2435-3923-A742-6A448BED714F}"/>
              </a:ext>
            </a:extLst>
          </p:cNvPr>
          <p:cNvSpPr txBox="1"/>
          <p:nvPr/>
        </p:nvSpPr>
        <p:spPr>
          <a:xfrm>
            <a:off x="1146000" y="3249000"/>
            <a:ext cx="6255000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and (pointer: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fine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146" name="Picture 2" descr="Пръст На Ръката, Курсора, Ръка">
            <a:extLst>
              <a:ext uri="{FF2B5EF4-FFF2-40B4-BE49-F238E27FC236}">
                <a16:creationId xmlns:a16="http://schemas.microsoft.com/office/drawing/2014/main" id="{A4BA1FBD-5F88-2C0A-B72D-CFFD9FA40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8" b="15856"/>
          <a:stretch/>
        </p:blipFill>
        <p:spPr bwMode="auto">
          <a:xfrm>
            <a:off x="6231000" y="3885771"/>
            <a:ext cx="4410000" cy="1552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69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2322785E-EFD0-9564-72B4-A51EDEE964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sz="3600" b="1" dirty="0">
                <a:solidFill>
                  <a:schemeClr val="bg1"/>
                </a:solidFill>
              </a:rPr>
              <a:t>Logical operators</a:t>
            </a:r>
          </a:p>
          <a:p>
            <a:pPr lvl="1"/>
            <a:r>
              <a:rPr lang="en-US" sz="3400" b="0" dirty="0"/>
              <a:t>The logical operators only can be used to </a:t>
            </a:r>
            <a:r>
              <a:rPr lang="en-US" sz="3400" b="1" dirty="0">
                <a:solidFill>
                  <a:schemeClr val="bg1"/>
                </a:solidFill>
              </a:rPr>
              <a:t>compose a complex </a:t>
            </a:r>
            <a:r>
              <a:rPr lang="en-US" sz="3400" b="0" dirty="0"/>
              <a:t>media query</a:t>
            </a:r>
          </a:p>
          <a:p>
            <a:pPr lvl="1"/>
            <a:r>
              <a:rPr lang="en-US" sz="3400" b="0" dirty="0"/>
              <a:t>You can also </a:t>
            </a:r>
            <a:r>
              <a:rPr lang="en-US" sz="3400" b="1" dirty="0">
                <a:solidFill>
                  <a:schemeClr val="bg1"/>
                </a:solidFill>
              </a:rPr>
              <a:t>combine multiple </a:t>
            </a:r>
            <a:r>
              <a:rPr lang="en-US" sz="3400" b="0" dirty="0"/>
              <a:t>media queries into a single rule by separating them with commas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2" name="Текстово поле 7">
            <a:extLst>
              <a:ext uri="{FF2B5EF4-FFF2-40B4-BE49-F238E27FC236}">
                <a16:creationId xmlns:a16="http://schemas.microsoft.com/office/drawing/2014/main" id="{D73D6A0B-2DB2-588C-F196-769807CD297B}"/>
              </a:ext>
            </a:extLst>
          </p:cNvPr>
          <p:cNvSpPr txBox="1"/>
          <p:nvPr/>
        </p:nvSpPr>
        <p:spPr>
          <a:xfrm>
            <a:off x="1101000" y="4464000"/>
            <a:ext cx="6345000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</a:t>
            </a: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sz="2400" b="1" dirty="0">
                <a:latin typeface="Consolas" panose="020B0609020204030204" pitchFamily="49" charset="0"/>
              </a:rPr>
              <a:t> (pointer: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fine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170" name="Picture 2" descr="Силует, Мозъка, Логика">
            <a:extLst>
              <a:ext uri="{FF2B5EF4-FFF2-40B4-BE49-F238E27FC236}">
                <a16:creationId xmlns:a16="http://schemas.microsoft.com/office/drawing/2014/main" id="{D677C741-55B0-32F7-7E05-2EC1B8A13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984" y="4703167"/>
            <a:ext cx="2551227" cy="1917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92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2CC16E22-58E1-4481-378E-53BA397AE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Logical operators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and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The and operator is used for combining multiple media features together into a single media query, requiring each chained feature to return true in order for the query </a:t>
            </a:r>
            <a:br>
              <a:rPr lang="en-US" sz="3400" b="0" dirty="0"/>
            </a:br>
            <a:r>
              <a:rPr lang="en-US" sz="3400" b="0" dirty="0"/>
              <a:t>to be true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It is also used for </a:t>
            </a:r>
            <a:r>
              <a:rPr lang="en-US" sz="3400" b="1" dirty="0">
                <a:solidFill>
                  <a:schemeClr val="bg1"/>
                </a:solidFill>
              </a:rPr>
              <a:t>joining media features </a:t>
            </a:r>
            <a:r>
              <a:rPr lang="en-US" sz="3400" b="0" dirty="0"/>
              <a:t>with media types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F36144EC-EDB2-D72E-5A1A-E0419FCC9940}"/>
              </a:ext>
            </a:extLst>
          </p:cNvPr>
          <p:cNvSpPr txBox="1"/>
          <p:nvPr/>
        </p:nvSpPr>
        <p:spPr>
          <a:xfrm>
            <a:off x="1101000" y="5184000"/>
            <a:ext cx="6202209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</a:t>
            </a: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sz="2400" b="1" dirty="0">
                <a:latin typeface="Consolas" panose="020B0609020204030204" pitchFamily="49" charset="0"/>
              </a:rPr>
              <a:t> (pointer: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fine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08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FE439F93-276B-258F-6234-693EFDC16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Logical operators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not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The not operator is used to </a:t>
            </a:r>
            <a:r>
              <a:rPr lang="en-US" sz="3400" b="1" dirty="0">
                <a:solidFill>
                  <a:schemeClr val="bg1"/>
                </a:solidFill>
              </a:rPr>
              <a:t>negate a media query</a:t>
            </a:r>
            <a:r>
              <a:rPr lang="en-US" sz="3400" b="0" dirty="0"/>
              <a:t>, returning true if the query would otherwise return false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If present in a comma-separated list of queries, it will </a:t>
            </a:r>
            <a:r>
              <a:rPr lang="en-US" sz="3400" b="1" dirty="0">
                <a:solidFill>
                  <a:schemeClr val="bg1"/>
                </a:solidFill>
              </a:rPr>
              <a:t>only negate the specific query</a:t>
            </a:r>
            <a:r>
              <a:rPr lang="en-US" sz="3400" b="0" dirty="0"/>
              <a:t> to which it is applied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If you use the not operator, you must also </a:t>
            </a:r>
            <a:r>
              <a:rPr lang="en-US" sz="3400" b="1" dirty="0">
                <a:solidFill>
                  <a:schemeClr val="bg1"/>
                </a:solidFill>
              </a:rPr>
              <a:t>specify a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media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C5AB13A6-A9CE-A7AB-6CFB-33DAF263840F}"/>
              </a:ext>
            </a:extLst>
          </p:cNvPr>
          <p:cNvSpPr txBox="1"/>
          <p:nvPr/>
        </p:nvSpPr>
        <p:spPr>
          <a:xfrm>
            <a:off x="3351000" y="5426185"/>
            <a:ext cx="6427209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screen </a:t>
            </a: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sz="2400" b="1" dirty="0">
                <a:latin typeface="Consolas" panose="020B0609020204030204" pitchFamily="49" charset="0"/>
              </a:rPr>
              <a:t> (pointer: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fine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05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EA27B4F1-44E3-EE6C-DF4D-4A7EED0AA4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Logical operators –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b="1" dirty="0">
                <a:solidFill>
                  <a:schemeClr val="bg1"/>
                </a:solidFill>
              </a:rPr>
              <a:t>only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The only operator is used to </a:t>
            </a:r>
            <a:r>
              <a:rPr lang="en-US" sz="3400" b="1" dirty="0">
                <a:solidFill>
                  <a:schemeClr val="bg1"/>
                </a:solidFill>
              </a:rPr>
              <a:t>apply a style</a:t>
            </a:r>
            <a:r>
              <a:rPr lang="en-US" sz="3400" b="0" dirty="0"/>
              <a:t> only if an entire query matches and is useful for preventing older browsers from applying selected styles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400" b="0" dirty="0"/>
              <a:t>If you use the only operator, you must also </a:t>
            </a:r>
            <a:r>
              <a:rPr lang="en-US" sz="3400" b="1" dirty="0">
                <a:solidFill>
                  <a:schemeClr val="bg1"/>
                </a:solidFill>
              </a:rPr>
              <a:t>specify a 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dirty="0">
                <a:solidFill>
                  <a:schemeClr val="bg1"/>
                </a:solidFill>
              </a:rPr>
              <a:t>media type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562A9687-6255-4FF8-F560-E1C360340229}"/>
              </a:ext>
            </a:extLst>
          </p:cNvPr>
          <p:cNvSpPr txBox="1"/>
          <p:nvPr/>
        </p:nvSpPr>
        <p:spPr>
          <a:xfrm>
            <a:off x="1146000" y="5229000"/>
            <a:ext cx="7102209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</a:rPr>
              <a:t>only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screen and (pointer: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fine</a:t>
            </a:r>
            <a:r>
              <a:rPr lang="en-US" sz="2400" b="1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…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88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 контейнер 6">
            <a:extLst>
              <a:ext uri="{FF2B5EF4-FFF2-40B4-BE49-F238E27FC236}">
                <a16:creationId xmlns:a16="http://schemas.microsoft.com/office/drawing/2014/main" id="{182462DE-93F0-D540-69F7-8EE94E1A9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Logical operators –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b="1" dirty="0">
                <a:solidFill>
                  <a:schemeClr val="bg1"/>
                </a:solidFill>
              </a:rPr>
              <a:t>, (comma)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000" b="0" dirty="0"/>
              <a:t>Commas are used to </a:t>
            </a:r>
            <a:r>
              <a:rPr lang="en-US" sz="3000" b="1" dirty="0">
                <a:solidFill>
                  <a:schemeClr val="bg1"/>
                </a:solidFill>
              </a:rPr>
              <a:t>combine multiple media queries </a:t>
            </a:r>
            <a:r>
              <a:rPr lang="en-US" sz="3000" b="0" dirty="0"/>
              <a:t>into a </a:t>
            </a:r>
            <a:br>
              <a:rPr lang="en-US" sz="3000" b="0" dirty="0"/>
            </a:br>
            <a:r>
              <a:rPr lang="en-US" sz="3000" b="0" dirty="0"/>
              <a:t>single rule</a:t>
            </a:r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2800" b="0" dirty="0"/>
              <a:t>Each query in a comma-separated list is </a:t>
            </a:r>
            <a:r>
              <a:rPr lang="en-US" sz="2800" b="1" dirty="0">
                <a:solidFill>
                  <a:schemeClr val="bg1"/>
                </a:solidFill>
              </a:rPr>
              <a:t>treated separately </a:t>
            </a:r>
            <a:r>
              <a:rPr lang="en-US" sz="2800" b="0" dirty="0"/>
              <a:t>from </a:t>
            </a:r>
            <a:br>
              <a:rPr lang="en-US" sz="2800" b="0" dirty="0"/>
            </a:br>
            <a:r>
              <a:rPr lang="en-US" sz="2800" b="0" dirty="0"/>
              <a:t>the others</a:t>
            </a:r>
          </a:p>
          <a:p>
            <a:pPr lvl="2">
              <a:lnSpc>
                <a:spcPct val="110000"/>
              </a:lnSpc>
              <a:spcAft>
                <a:spcPts val="1200"/>
              </a:spcAft>
            </a:pPr>
            <a:r>
              <a:rPr lang="en-US" sz="2800" b="0" dirty="0"/>
              <a:t>Thus, if any of the queries in a list is true, the entire media statement returns true. In other words, lists behave like a logical or operator</a:t>
            </a: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07573E38-A3D2-2B5C-F24C-0EE487AC196D}"/>
              </a:ext>
            </a:extLst>
          </p:cNvPr>
          <p:cNvSpPr txBox="1"/>
          <p:nvPr/>
        </p:nvSpPr>
        <p:spPr>
          <a:xfrm>
            <a:off x="88500" y="5425249"/>
            <a:ext cx="12015000" cy="128875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>
                <a:solidFill>
                  <a:srgbClr val="859900"/>
                </a:solidFill>
                <a:latin typeface="Consolas" panose="020B0609020204030204" pitchFamily="49" charset="0"/>
              </a:rPr>
              <a:t>media</a:t>
            </a:r>
            <a:r>
              <a:rPr lang="en-US" sz="2400" b="1" dirty="0">
                <a:latin typeface="Consolas" panose="020B0609020204030204" pitchFamily="49" charset="0"/>
              </a:rPr>
              <a:t> (min-height: </a:t>
            </a:r>
            <a:r>
              <a:rPr lang="en-US" sz="2400" b="1" dirty="0">
                <a:solidFill>
                  <a:srgbClr val="2AA198"/>
                </a:solidFill>
                <a:latin typeface="Consolas" panose="020B0609020204030204" pitchFamily="49" charset="0"/>
              </a:rPr>
              <a:t>680px</a:t>
            </a:r>
            <a:r>
              <a:rPr lang="en-US" sz="2400" b="1" dirty="0">
                <a:latin typeface="Consolas" panose="020B0609020204030204" pitchFamily="49" charset="0"/>
              </a:rPr>
              <a:t>), only screen and (orientation: portrait)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  ...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43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921326E7-8447-31EE-61F8-278F6C0E9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numCol="2">
            <a:normAutofit fontScale="925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2"/>
              </a:rPr>
              <a:t>https://developer.mozilla.org/en-US/docs/Web/CSS/Media_Queries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3"/>
              </a:rPr>
              <a:t>https://developer.mozilla.org/en-US/docs/Web/CSS/@import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4"/>
              </a:rPr>
              <a:t>https://developer.mozilla.org/en-US/docs/Web/CSS/Media_Queries/Testing_media_queries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5"/>
              </a:rPr>
              <a:t>https://developer.mozilla.org/en-US/docs/Web/CSS/Media_Queries/Using_media_queries#Media_features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6"/>
              </a:rPr>
              <a:t>https://caniuse.com/#feat=css-mediaqueries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7"/>
              </a:rPr>
              <a:t>https://css-tricks.com/snippets/css/media-queries-for-standard-devices/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8"/>
              </a:rPr>
              <a:t>https://responsivedesign.is/articles/why-you-dont-need-device-specific-breakpoints/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9"/>
              </a:rPr>
              <a:t>https://davidwalsh.name/animate-media-queries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10"/>
              </a:rPr>
              <a:t>https://mediaqueri.es/</a:t>
            </a:r>
            <a:endParaRPr lang="en-US" sz="2400" i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400" i="1" dirty="0">
                <a:solidFill>
                  <a:schemeClr val="bg1"/>
                </a:solidFill>
                <a:hlinkClick r:id="rId11"/>
              </a:rPr>
              <a:t>https://responsivedesign.is/</a:t>
            </a:r>
            <a:endParaRPr lang="en-US" sz="2400" i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1DA41-F15A-4A36-BC07-5ABC672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90581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3481" y="1420275"/>
            <a:ext cx="8630747" cy="529895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227" y="3276682"/>
            <a:ext cx="2881926" cy="3118969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561295" y="1717010"/>
            <a:ext cx="8279705" cy="5243955"/>
          </a:xfrm>
          <a:prstGeom prst="rect">
            <a:avLst/>
          </a:prstGeom>
        </p:spPr>
        <p:txBody>
          <a:bodyPr vert="horz" lIns="107972" tIns="35991" rIns="107972" bIns="35991" rtlCol="0">
            <a:no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</a:rPr>
              <a:t>What is Responsive web design?</a:t>
            </a:r>
          </a:p>
          <a:p>
            <a:pPr marL="685800" indent="-685800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</a:rPr>
              <a:t>Why is it important?</a:t>
            </a:r>
          </a:p>
          <a:p>
            <a:pPr marL="685800" indent="-685800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</a:rPr>
              <a:t>Media Queries</a:t>
            </a:r>
          </a:p>
        </p:txBody>
      </p:sp>
    </p:spTree>
    <p:extLst>
      <p:ext uri="{BB962C8B-B14F-4D97-AF65-F5344CB8AC3E}">
        <p14:creationId xmlns:p14="http://schemas.microsoft.com/office/powerpoint/2010/main" val="391085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D2EA64D-70B4-41B4-A07A-3B1B9FFE532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A5D82D-D249-445C-8E67-9EA189AA3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664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4150</TotalTime>
  <Words>1238</Words>
  <Application>Microsoft Office PowerPoint</Application>
  <PresentationFormat>Widescreen</PresentationFormat>
  <Paragraphs>150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Consolas</vt:lpstr>
      <vt:lpstr>Lato</vt:lpstr>
      <vt:lpstr>Wingdings</vt:lpstr>
      <vt:lpstr>Wingdings 2</vt:lpstr>
      <vt:lpstr>SoftUni</vt:lpstr>
      <vt:lpstr>Responsive Web Design</vt:lpstr>
      <vt:lpstr>Table of Contents</vt:lpstr>
      <vt:lpstr>Responsive Web Design</vt:lpstr>
      <vt:lpstr>What is Responsive Web Design?</vt:lpstr>
      <vt:lpstr>What is Responsive Web Design?</vt:lpstr>
      <vt:lpstr>Responsive Web Design – How?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Media Queries</vt:lpstr>
      <vt:lpstr>Resources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 and CSS</dc:title>
  <dc:subject>Software Development</dc:subject>
  <dc:creator>Software University</dc:creator>
  <cp:keywords>JS Fundamentals; 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Daniel Dimitrov</cp:lastModifiedBy>
  <cp:revision>264</cp:revision>
  <dcterms:created xsi:type="dcterms:W3CDTF">2018-05-23T13:08:44Z</dcterms:created>
  <dcterms:modified xsi:type="dcterms:W3CDTF">2026-06-01T07:35:03Z</dcterms:modified>
  <cp:category>programming;computer programming;software development;web development</cp:category>
</cp:coreProperties>
</file>