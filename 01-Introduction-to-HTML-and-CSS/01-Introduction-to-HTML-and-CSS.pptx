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88"/>
  </p:notesMasterIdLst>
  <p:handoutMasterIdLst>
    <p:handoutMasterId r:id="rId89"/>
  </p:handoutMasterIdLst>
  <p:sldIdLst>
    <p:sldId id="256" r:id="rId2"/>
    <p:sldId id="739" r:id="rId3"/>
    <p:sldId id="259" r:id="rId4"/>
    <p:sldId id="495" r:id="rId5"/>
    <p:sldId id="615" r:id="rId6"/>
    <p:sldId id="616" r:id="rId7"/>
    <p:sldId id="617" r:id="rId8"/>
    <p:sldId id="632" r:id="rId9"/>
    <p:sldId id="633" r:id="rId10"/>
    <p:sldId id="509" r:id="rId11"/>
    <p:sldId id="510" r:id="rId12"/>
    <p:sldId id="511" r:id="rId13"/>
    <p:sldId id="512" r:id="rId14"/>
    <p:sldId id="513" r:id="rId15"/>
    <p:sldId id="515" r:id="rId16"/>
    <p:sldId id="514" r:id="rId17"/>
    <p:sldId id="730" r:id="rId18"/>
    <p:sldId id="516" r:id="rId19"/>
    <p:sldId id="517" r:id="rId20"/>
    <p:sldId id="731" r:id="rId21"/>
    <p:sldId id="636" r:id="rId22"/>
    <p:sldId id="637" r:id="rId23"/>
    <p:sldId id="638" r:id="rId24"/>
    <p:sldId id="265" r:id="rId25"/>
    <p:sldId id="266" r:id="rId26"/>
    <p:sldId id="267" r:id="rId27"/>
    <p:sldId id="268" r:id="rId28"/>
    <p:sldId id="270" r:id="rId29"/>
    <p:sldId id="271" r:id="rId30"/>
    <p:sldId id="272" r:id="rId31"/>
    <p:sldId id="732" r:id="rId32"/>
    <p:sldId id="645" r:id="rId33"/>
    <p:sldId id="714" r:id="rId34"/>
    <p:sldId id="646" r:id="rId35"/>
    <p:sldId id="649" r:id="rId36"/>
    <p:sldId id="715" r:id="rId37"/>
    <p:sldId id="651" r:id="rId38"/>
    <p:sldId id="652" r:id="rId39"/>
    <p:sldId id="654" r:id="rId40"/>
    <p:sldId id="277" r:id="rId41"/>
    <p:sldId id="655" r:id="rId42"/>
    <p:sldId id="278" r:id="rId43"/>
    <p:sldId id="279" r:id="rId44"/>
    <p:sldId id="738" r:id="rId45"/>
    <p:sldId id="662" r:id="rId46"/>
    <p:sldId id="547" r:id="rId47"/>
    <p:sldId id="678" r:id="rId48"/>
    <p:sldId id="663" r:id="rId49"/>
    <p:sldId id="664" r:id="rId50"/>
    <p:sldId id="665" r:id="rId51"/>
    <p:sldId id="666" r:id="rId52"/>
    <p:sldId id="549" r:id="rId53"/>
    <p:sldId id="667" r:id="rId54"/>
    <p:sldId id="668" r:id="rId55"/>
    <p:sldId id="669" r:id="rId56"/>
    <p:sldId id="743" r:id="rId57"/>
    <p:sldId id="740" r:id="rId58"/>
    <p:sldId id="741" r:id="rId59"/>
    <p:sldId id="742" r:id="rId60"/>
    <p:sldId id="733" r:id="rId61"/>
    <p:sldId id="670" r:id="rId62"/>
    <p:sldId id="671" r:id="rId63"/>
    <p:sldId id="672" r:id="rId64"/>
    <p:sldId id="673" r:id="rId65"/>
    <p:sldId id="283" r:id="rId66"/>
    <p:sldId id="735" r:id="rId67"/>
    <p:sldId id="575" r:id="rId68"/>
    <p:sldId id="578" r:id="rId69"/>
    <p:sldId id="618" r:id="rId70"/>
    <p:sldId id="619" r:id="rId71"/>
    <p:sldId id="579" r:id="rId72"/>
    <p:sldId id="580" r:id="rId73"/>
    <p:sldId id="583" r:id="rId74"/>
    <p:sldId id="584" r:id="rId75"/>
    <p:sldId id="585" r:id="rId76"/>
    <p:sldId id="586" r:id="rId77"/>
    <p:sldId id="588" r:id="rId78"/>
    <p:sldId id="362" r:id="rId79"/>
    <p:sldId id="590" r:id="rId80"/>
    <p:sldId id="592" r:id="rId81"/>
    <p:sldId id="736" r:id="rId82"/>
    <p:sldId id="367" r:id="rId83"/>
    <p:sldId id="684" r:id="rId84"/>
    <p:sldId id="343" r:id="rId85"/>
    <p:sldId id="405" r:id="rId86"/>
    <p:sldId id="493"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89C082F-36E2-4F80-8296-77DF3D2196D8}">
          <p14:sldIdLst>
            <p14:sldId id="256"/>
            <p14:sldId id="739"/>
          </p14:sldIdLst>
        </p14:section>
        <p14:section name="What is HTML?" id="{84F05529-3EAD-4E28-808D-7946EA3FD459}">
          <p14:sldIdLst>
            <p14:sldId id="259"/>
            <p14:sldId id="495"/>
            <p14:sldId id="615"/>
            <p14:sldId id="616"/>
          </p14:sldIdLst>
        </p14:section>
        <p14:section name="HTML Syntax-Tags and Attributess" id="{CB1C271F-3BFA-4057-A8EE-EE5FEA60FF77}">
          <p14:sldIdLst>
            <p14:sldId id="617"/>
            <p14:sldId id="632"/>
            <p14:sldId id="633"/>
            <p14:sldId id="509"/>
            <p14:sldId id="510"/>
            <p14:sldId id="511"/>
            <p14:sldId id="512"/>
            <p14:sldId id="513"/>
            <p14:sldId id="515"/>
            <p14:sldId id="514"/>
            <p14:sldId id="730"/>
            <p14:sldId id="516"/>
            <p14:sldId id="517"/>
            <p14:sldId id="731"/>
            <p14:sldId id="636"/>
            <p14:sldId id="637"/>
            <p14:sldId id="638"/>
          </p14:sldIdLst>
        </p14:section>
        <p14:section name="Common HTML Tags" id="{7C1A06DE-2D93-4146-8DF1-57443DDA0FC0}">
          <p14:sldIdLst>
            <p14:sldId id="265"/>
            <p14:sldId id="266"/>
            <p14:sldId id="267"/>
            <p14:sldId id="268"/>
            <p14:sldId id="270"/>
            <p14:sldId id="271"/>
            <p14:sldId id="272"/>
          </p14:sldIdLst>
        </p14:section>
        <p14:section name="Common HTML Attributes" id="{6DED38B9-31D0-4524-B480-13F436122B95}">
          <p14:sldIdLst>
            <p14:sldId id="732"/>
            <p14:sldId id="645"/>
            <p14:sldId id="714"/>
            <p14:sldId id="646"/>
            <p14:sldId id="649"/>
            <p14:sldId id="715"/>
            <p14:sldId id="651"/>
            <p14:sldId id="652"/>
            <p14:sldId id="654"/>
          </p14:sldIdLst>
        </p14:section>
        <p14:section name="What is CSS?" id="{94880984-0FEF-4050-AC6F-40003AF495FA}">
          <p14:sldIdLst>
            <p14:sldId id="277"/>
            <p14:sldId id="655"/>
            <p14:sldId id="278"/>
            <p14:sldId id="279"/>
          </p14:sldIdLst>
        </p14:section>
        <p14:section name="CSS Syntax - Selectors and Rules" id="{383469A5-AAAA-43B3-A7D2-FAEDAE6F23A1}">
          <p14:sldIdLst>
            <p14:sldId id="738"/>
            <p14:sldId id="662"/>
            <p14:sldId id="547"/>
            <p14:sldId id="678"/>
            <p14:sldId id="663"/>
            <p14:sldId id="664"/>
            <p14:sldId id="665"/>
            <p14:sldId id="666"/>
            <p14:sldId id="549"/>
            <p14:sldId id="667"/>
            <p14:sldId id="668"/>
            <p14:sldId id="669"/>
            <p14:sldId id="743"/>
            <p14:sldId id="740"/>
            <p14:sldId id="741"/>
            <p14:sldId id="742"/>
          </p14:sldIdLst>
        </p14:section>
        <p14:section name="Adding CSS to out HTML Document" id="{6F36F819-69E2-4413-985D-BDA8F901CF03}">
          <p14:sldIdLst>
            <p14:sldId id="733"/>
            <p14:sldId id="670"/>
            <p14:sldId id="671"/>
            <p14:sldId id="672"/>
            <p14:sldId id="673"/>
            <p14:sldId id="283"/>
          </p14:sldIdLst>
        </p14:section>
        <p14:section name="Basic CSS Selectors" id="{E2FF76A6-7816-4EE6-B758-8DA194A1CC65}">
          <p14:sldIdLst>
            <p14:sldId id="735"/>
            <p14:sldId id="575"/>
            <p14:sldId id="578"/>
            <p14:sldId id="618"/>
            <p14:sldId id="619"/>
            <p14:sldId id="579"/>
            <p14:sldId id="580"/>
            <p14:sldId id="583"/>
            <p14:sldId id="584"/>
            <p14:sldId id="585"/>
            <p14:sldId id="586"/>
            <p14:sldId id="588"/>
            <p14:sldId id="362"/>
            <p14:sldId id="590"/>
            <p14:sldId id="592"/>
            <p14:sldId id="736"/>
            <p14:sldId id="367"/>
            <p14:sldId id="684"/>
          </p14:sldIdLst>
        </p14:section>
        <p14:section name="Summary" id="{044FE56B-152C-469D-A109-71332C64881D}">
          <p14:sldIdLst>
            <p14:sldId id="343"/>
            <p14:sldId id="405"/>
            <p14:sldId id="493"/>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guide id="3" orient="horz" pos="218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A40D"/>
    <a:srgbClr val="464646"/>
    <a:srgbClr val="DBBD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232DE-2511-49A3-B33B-FD78A94CD8E3}" v="22" dt="2019-12-04T16:40:36.34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5214" autoAdjust="0"/>
  </p:normalViewPr>
  <p:slideViewPr>
    <p:cSldViewPr showGuides="1">
      <p:cViewPr varScale="1">
        <p:scale>
          <a:sx n="81" d="100"/>
          <a:sy n="81" d="100"/>
        </p:scale>
        <p:origin x="120" y="1698"/>
      </p:cViewPr>
      <p:guideLst>
        <p:guide orient="horz" pos="2184"/>
        <p:guide pos="3840"/>
        <p:guide orient="horz" pos="2188"/>
      </p:guideLst>
    </p:cSldViewPr>
  </p:slideViewPr>
  <p:outlineViewPr>
    <p:cViewPr>
      <p:scale>
        <a:sx n="33" d="100"/>
        <a:sy n="33" d="100"/>
      </p:scale>
      <p:origin x="0" y="-9989"/>
    </p:cViewPr>
  </p:outlineViewPr>
  <p:notesTextViewPr>
    <p:cViewPr>
      <p:scale>
        <a:sx n="1" d="1"/>
        <a:sy n="1" d="1"/>
      </p:scale>
      <p:origin x="0" y="0"/>
    </p:cViewPr>
  </p:notesTextViewPr>
  <p:sorterViewPr>
    <p:cViewPr>
      <p:scale>
        <a:sx n="100" d="100"/>
        <a:sy n="100" d="100"/>
      </p:scale>
      <p:origin x="0" y="-6566"/>
    </p:cViewPr>
  </p:sorterViewPr>
  <p:notesViewPr>
    <p:cSldViewPr>
      <p:cViewPr varScale="1">
        <p:scale>
          <a:sx n="62" d="100"/>
          <a:sy n="62" d="100"/>
        </p:scale>
        <p:origin x="3154" y="72"/>
      </p:cViewPr>
      <p:guideLst/>
    </p:cSldViewPr>
  </p:notes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20103-83CC-4A54-8FDE-9D37FC262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a:extLst>
              <a:ext uri="{FF2B5EF4-FFF2-40B4-BE49-F238E27FC236}">
                <a16:creationId xmlns:a16="http://schemas.microsoft.com/office/drawing/2014/main" id="{27A53962-26EF-44E4-9E69-61B1727AB1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087215-0C8F-4762-A664-737A353EC9A4}" type="datetimeFigureOut">
              <a:rPr lang="bg-BG" smtClean="0"/>
              <a:pPr/>
              <a:t>27.8.2025 г.</a:t>
            </a:fld>
            <a:endParaRPr lang="bg-BG"/>
          </a:p>
        </p:txBody>
      </p:sp>
      <p:sp>
        <p:nvSpPr>
          <p:cNvPr id="4" name="Footer Placeholder 3">
            <a:extLst>
              <a:ext uri="{FF2B5EF4-FFF2-40B4-BE49-F238E27FC236}">
                <a16:creationId xmlns:a16="http://schemas.microsoft.com/office/drawing/2014/main" id="{28A6967E-448F-4887-8FCB-34482EFBCC74}"/>
              </a:ext>
            </a:extLst>
          </p:cNvPr>
          <p:cNvSpPr>
            <a:spLocks noGrp="1"/>
          </p:cNvSpPr>
          <p:nvPr>
            <p:ph type="ftr" sz="quarter" idx="2"/>
          </p:nvPr>
        </p:nvSpPr>
        <p:spPr>
          <a:xfrm>
            <a:off x="-1" y="8847000"/>
            <a:ext cx="6443999" cy="297000"/>
          </a:xfrm>
          <a:prstGeom prst="rect">
            <a:avLst/>
          </a:prstGeom>
        </p:spPr>
        <p:txBody>
          <a:bodyPr vert="horz" lIns="91440" tIns="45720" rIns="91440" bIns="45720" rtlCol="0" anchor="b"/>
          <a:lstStyle>
            <a:lvl1pPr algn="l">
              <a:defRPr sz="1200"/>
            </a:lvl1pPr>
          </a:lstStyle>
          <a:p>
            <a:r>
              <a:rPr lang="en-US" sz="1100" dirty="0"/>
              <a:t>© SoftUni – </a:t>
            </a:r>
            <a:r>
              <a:rPr lang="en-US" sz="1100" u="sng" dirty="0">
                <a:hlinkClick r:id="rId2"/>
              </a:rPr>
              <a:t>https://softuni.org</a:t>
            </a:r>
            <a:r>
              <a:rPr lang="en-US" sz="1100" dirty="0"/>
              <a:t>. Copyrighted document. Unauthorized copy or reproduction is not permitted.</a:t>
            </a:r>
          </a:p>
        </p:txBody>
      </p:sp>
      <p:sp>
        <p:nvSpPr>
          <p:cNvPr id="5" name="Slide Number Placeholder 4">
            <a:extLst>
              <a:ext uri="{FF2B5EF4-FFF2-40B4-BE49-F238E27FC236}">
                <a16:creationId xmlns:a16="http://schemas.microsoft.com/office/drawing/2014/main" id="{8B6554C2-DDBA-40E2-9536-53A07EC50274}"/>
              </a:ext>
            </a:extLst>
          </p:cNvPr>
          <p:cNvSpPr>
            <a:spLocks noGrp="1"/>
          </p:cNvSpPr>
          <p:nvPr>
            <p:ph type="sldNum" sz="quarter" idx="3"/>
          </p:nvPr>
        </p:nvSpPr>
        <p:spPr>
          <a:xfrm>
            <a:off x="6443999" y="8847000"/>
            <a:ext cx="412413" cy="297000"/>
          </a:xfrm>
          <a:prstGeom prst="rect">
            <a:avLst/>
          </a:prstGeom>
        </p:spPr>
        <p:txBody>
          <a:bodyPr vert="horz" lIns="91440" tIns="45720" rIns="91440" bIns="45720" rtlCol="0" anchor="b"/>
          <a:lstStyle>
            <a:lvl1pPr algn="r">
              <a:defRPr sz="1200"/>
            </a:lvl1pPr>
          </a:lstStyle>
          <a:p>
            <a:fld id="{7AC318AE-53F9-47EA-B5FE-E9473933AF11}" type="slidenum">
              <a:rPr lang="bg-BG" smtClean="0"/>
              <a:pPr/>
              <a:t>‹#›</a:t>
            </a:fld>
            <a:endParaRPr lang="bg-BG" dirty="0"/>
          </a:p>
        </p:txBody>
      </p:sp>
    </p:spTree>
    <p:extLst>
      <p:ext uri="{BB962C8B-B14F-4D97-AF65-F5344CB8AC3E}">
        <p14:creationId xmlns:p14="http://schemas.microsoft.com/office/powerpoint/2010/main" val="4150602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84649-876A-46C9-8472-14CB09C070D8}" type="datetimeFigureOut">
              <a:rPr lang="en-US" smtClean="0"/>
              <a:pPr/>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488999" y="8847000"/>
            <a:ext cx="367414" cy="297000"/>
          </a:xfrm>
          <a:prstGeom prst="rect">
            <a:avLst/>
          </a:prstGeom>
        </p:spPr>
        <p:txBody>
          <a:bodyPr vert="horz" lIns="91440" tIns="45720" rIns="91440" bIns="45720" rtlCol="0" anchor="b"/>
          <a:lstStyle>
            <a:lvl1pPr algn="r">
              <a:defRPr sz="1200"/>
            </a:lvl1pPr>
          </a:lstStyle>
          <a:p>
            <a:fld id="{2BF067CD-8E6B-4360-9AA8-C5DF2A48A6D1}" type="slidenum">
              <a:rPr lang="en-US" smtClean="0"/>
              <a:pPr/>
              <a:t>‹#›</a:t>
            </a:fld>
            <a:endParaRPr lang="en-US" dirty="0"/>
          </a:p>
        </p:txBody>
      </p:sp>
      <p:sp>
        <p:nvSpPr>
          <p:cNvPr id="8"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2"/>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30847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dirty="0"/>
              <a:t>*</a:t>
            </a:r>
          </a:p>
        </p:txBody>
      </p:sp>
      <p:sp>
        <p:nvSpPr>
          <p:cNvPr id="124931" name="Rectangle 3"/>
          <p:cNvSpPr>
            <a:spLocks noGrp="1" noChangeArrowheads="1"/>
          </p:cNvSpPr>
          <p:nvPr>
            <p:ph type="dt" sz="quarter" idx="1"/>
          </p:nvPr>
        </p:nvSpPr>
        <p:spPr>
          <a:noFill/>
        </p:spPr>
        <p:txBody>
          <a:bodyPr/>
          <a:lstStyle/>
          <a:p>
            <a:r>
              <a:rPr lang="en-US" dirty="0"/>
              <a:t>07/16/96</a:t>
            </a:r>
          </a:p>
        </p:txBody>
      </p:sp>
      <p:sp>
        <p:nvSpPr>
          <p:cNvPr id="124933" name="Rectangle 7"/>
          <p:cNvSpPr>
            <a:spLocks noGrp="1" noChangeArrowheads="1"/>
          </p:cNvSpPr>
          <p:nvPr>
            <p:ph type="sldNum" sz="quarter" idx="5"/>
          </p:nvPr>
        </p:nvSpPr>
        <p:spPr>
          <a:noFill/>
        </p:spPr>
        <p:txBody>
          <a:bodyPr/>
          <a:lstStyle/>
          <a:p>
            <a:fld id="{93D6C2C7-E0D4-4827-A427-1B6276AB8C32}" type="slidenum">
              <a:rPr lang="en-US" smtClean="0"/>
              <a:pPr/>
              <a:t>28</a:t>
            </a:fld>
            <a:r>
              <a:rPr lang="en-US" dirty="0"/>
              <a:t>##</a:t>
            </a:r>
          </a:p>
        </p:txBody>
      </p:sp>
      <p:sp>
        <p:nvSpPr>
          <p:cNvPr id="124934" name="Rectangle 2"/>
          <p:cNvSpPr>
            <a:spLocks noGrp="1" noRot="1" noChangeAspect="1" noChangeArrowheads="1" noTextEdit="1"/>
          </p:cNvSpPr>
          <p:nvPr>
            <p:ph type="sldImg"/>
          </p:nvPr>
        </p:nvSpPr>
        <p:spPr>
          <a:ln/>
        </p:spPr>
      </p:sp>
      <p:sp>
        <p:nvSpPr>
          <p:cNvPr id="124935" name="Rectangle 3"/>
          <p:cNvSpPr>
            <a:spLocks noGrp="1" noChangeArrowheads="1"/>
          </p:cNvSpPr>
          <p:nvPr>
            <p:ph type="body" idx="1"/>
          </p:nvPr>
        </p:nvSpPr>
        <p:spPr>
          <a:xfrm>
            <a:off x="687874" y="4415321"/>
            <a:ext cx="5506066" cy="4183164"/>
          </a:xfrm>
          <a:noFill/>
          <a:ln/>
        </p:spPr>
        <p:txBody>
          <a:bodyPr/>
          <a:lstStyle/>
          <a:p>
            <a:pPr eaLnBrk="1" hangingPunct="1"/>
            <a:endParaRPr lang="bg-BG" dirty="0"/>
          </a:p>
        </p:txBody>
      </p:sp>
      <p:sp>
        <p:nvSpPr>
          <p:cNvPr id="8" name="Footer Placeholder 7">
            <a:extLst>
              <a:ext uri="{FF2B5EF4-FFF2-40B4-BE49-F238E27FC236}">
                <a16:creationId xmlns:a16="http://schemas.microsoft.com/office/drawing/2014/main" id="{7FE1BB80-BB79-48BA-A525-43ECF30EA75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897866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dirty="0"/>
              <a:t>*</a:t>
            </a:r>
          </a:p>
        </p:txBody>
      </p:sp>
      <p:sp>
        <p:nvSpPr>
          <p:cNvPr id="125955" name="Rectangle 3"/>
          <p:cNvSpPr>
            <a:spLocks noGrp="1" noChangeArrowheads="1"/>
          </p:cNvSpPr>
          <p:nvPr>
            <p:ph type="dt" sz="quarter" idx="1"/>
          </p:nvPr>
        </p:nvSpPr>
        <p:spPr>
          <a:noFill/>
        </p:spPr>
        <p:txBody>
          <a:bodyPr/>
          <a:lstStyle/>
          <a:p>
            <a:r>
              <a:rPr lang="en-US" dirty="0"/>
              <a:t>07/16/96</a:t>
            </a:r>
          </a:p>
        </p:txBody>
      </p:sp>
      <p:sp>
        <p:nvSpPr>
          <p:cNvPr id="125957" name="Rectangle 7"/>
          <p:cNvSpPr>
            <a:spLocks noGrp="1" noChangeArrowheads="1"/>
          </p:cNvSpPr>
          <p:nvPr>
            <p:ph type="sldNum" sz="quarter" idx="5"/>
          </p:nvPr>
        </p:nvSpPr>
        <p:spPr>
          <a:noFill/>
        </p:spPr>
        <p:txBody>
          <a:bodyPr/>
          <a:lstStyle/>
          <a:p>
            <a:fld id="{F7BF9CC9-1B2A-4399-8316-DA6D7236D2E0}" type="slidenum">
              <a:rPr lang="en-US" smtClean="0"/>
              <a:pPr/>
              <a:t>29</a:t>
            </a:fld>
            <a:r>
              <a:rPr lang="en-US" dirty="0"/>
              <a:t>##</a:t>
            </a:r>
          </a:p>
        </p:txBody>
      </p:sp>
      <p:sp>
        <p:nvSpPr>
          <p:cNvPr id="125958" name="Rectangle 2"/>
          <p:cNvSpPr>
            <a:spLocks noGrp="1" noRot="1" noChangeAspect="1" noChangeArrowheads="1" noTextEdit="1"/>
          </p:cNvSpPr>
          <p:nvPr>
            <p:ph type="sldImg"/>
          </p:nvPr>
        </p:nvSpPr>
        <p:spPr>
          <a:ln/>
        </p:spPr>
      </p:sp>
      <p:sp>
        <p:nvSpPr>
          <p:cNvPr id="125959" name="Rectangle 3"/>
          <p:cNvSpPr>
            <a:spLocks noGrp="1" noChangeArrowheads="1"/>
          </p:cNvSpPr>
          <p:nvPr>
            <p:ph type="body" idx="1"/>
          </p:nvPr>
        </p:nvSpPr>
        <p:spPr>
          <a:xfrm>
            <a:off x="687874" y="4415321"/>
            <a:ext cx="5506066" cy="4183164"/>
          </a:xfrm>
          <a:noFill/>
          <a:ln/>
        </p:spPr>
        <p:txBody>
          <a:bodyPr/>
          <a:lstStyle/>
          <a:p>
            <a:pPr eaLnBrk="1" hangingPunct="1"/>
            <a:endParaRPr lang="bg-BG" dirty="0"/>
          </a:p>
        </p:txBody>
      </p:sp>
      <p:sp>
        <p:nvSpPr>
          <p:cNvPr id="8" name="Footer Placeholder 7">
            <a:extLst>
              <a:ext uri="{FF2B5EF4-FFF2-40B4-BE49-F238E27FC236}">
                <a16:creationId xmlns:a16="http://schemas.microsoft.com/office/drawing/2014/main" id="{B429A3DC-00B5-45D0-B928-DC13D907802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241810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fld id="{2BF067CD-8E6B-4360-9AA8-C5DF2A48A6D1}" type="slidenum">
              <a:rPr lang="en-US" smtClean="0"/>
              <a:pPr/>
              <a:t>73</a:t>
            </a:fld>
            <a:endParaRPr lang="en-US" dirty="0"/>
          </a:p>
        </p:txBody>
      </p:sp>
      <p:sp>
        <p:nvSpPr>
          <p:cNvPr id="6" name="Footer Placeholder 7">
            <a:extLst>
              <a:ext uri="{FF2B5EF4-FFF2-40B4-BE49-F238E27FC236}">
                <a16:creationId xmlns:a16="http://schemas.microsoft.com/office/drawing/2014/main" id="{BC30D48C-7EA7-4A9A-82DB-6CCCB7BE9242}"/>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630959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fld id="{3EBA5BD7-F043-4D1B-AA17-CD412FC534DE}" type="slidenum">
              <a:rPr lang="en-US" smtClean="0"/>
              <a:pPr/>
              <a:t>84</a:t>
            </a:fld>
            <a:endParaRPr lang="en-US" dirty="0"/>
          </a:p>
        </p:txBody>
      </p:sp>
      <p:sp>
        <p:nvSpPr>
          <p:cNvPr id="6" name="Footer Placeholder 7">
            <a:extLst>
              <a:ext uri="{FF2B5EF4-FFF2-40B4-BE49-F238E27FC236}">
                <a16:creationId xmlns:a16="http://schemas.microsoft.com/office/drawing/2014/main" id="{410D00BD-BB0C-4B07-8321-8FD51B9D8EF2}"/>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201764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Slide Number Placeholder 5">
            <a:extLst>
              <a:ext uri="{FF2B5EF4-FFF2-40B4-BE49-F238E27FC236}">
                <a16:creationId xmlns:a16="http://schemas.microsoft.com/office/drawing/2014/main" id="{5D1C0779-821B-433B-AB3A-0953EE966C7E}"/>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85</a:t>
            </a:fld>
            <a:endParaRPr lang="en-US" dirty="0"/>
          </a:p>
        </p:txBody>
      </p:sp>
      <p:sp>
        <p:nvSpPr>
          <p:cNvPr id="6" name="Footer Placeholder 7">
            <a:extLst>
              <a:ext uri="{FF2B5EF4-FFF2-40B4-BE49-F238E27FC236}">
                <a16:creationId xmlns:a16="http://schemas.microsoft.com/office/drawing/2014/main" id="{0CBA6FCE-6B4E-4B7E-8DA4-A04563E6F389}"/>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75024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6627548A-4D3C-449B-81A5-FA4BE4628490}"/>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86</a:t>
            </a:fld>
            <a:endParaRPr lang="en-US" dirty="0"/>
          </a:p>
        </p:txBody>
      </p:sp>
      <p:sp>
        <p:nvSpPr>
          <p:cNvPr id="7" name="Footer Placeholder 7">
            <a:extLst>
              <a:ext uri="{FF2B5EF4-FFF2-40B4-BE49-F238E27FC236}">
                <a16:creationId xmlns:a16="http://schemas.microsoft.com/office/drawing/2014/main" id="{16FE9FF2-A941-4AB4-9CE0-BE8A2B72783D}"/>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015991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softuni.org/"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softuni.org/" TargetMode="External"/><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s://softuni.foundation/" TargetMode="External"/><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hyperlink" Target="https://www.facebook.com/SoftwareUniversity" TargetMode="External"/><Relationship Id="rId1" Type="http://schemas.openxmlformats.org/officeDocument/2006/relationships/slideMaster" Target="../slideMasters/slideMaster1.xml"/><Relationship Id="rId6" Type="http://schemas.openxmlformats.org/officeDocument/2006/relationships/hyperlink" Target="https://softuni.bg/" TargetMode="External"/><Relationship Id="rId5" Type="http://schemas.openxmlformats.org/officeDocument/2006/relationships/image" Target="../media/image16.png"/><Relationship Id="rId4" Type="http://schemas.openxmlformats.org/officeDocument/2006/relationships/hyperlink" Target="https://softuni.org/" TargetMode="External"/><Relationship Id="rId9"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lide">
    <p:spTree>
      <p:nvGrpSpPr>
        <p:cNvPr id="1" name=""/>
        <p:cNvGrpSpPr/>
        <p:nvPr/>
      </p:nvGrpSpPr>
      <p:grpSpPr>
        <a:xfrm>
          <a:off x="0" y="0"/>
          <a:ext cx="0" cy="0"/>
          <a:chOff x="0" y="0"/>
          <a:chExt cx="0" cy="0"/>
        </a:xfrm>
      </p:grpSpPr>
      <p:sp>
        <p:nvSpPr>
          <p:cNvPr id="16" name="Rectangle Bottom">
            <a:extLst>
              <a:ext uri="{FF2B5EF4-FFF2-40B4-BE49-F238E27FC236}">
                <a16:creationId xmlns:a16="http://schemas.microsoft.com/office/drawing/2014/main" id="{6854D183-0374-4B3E-B2CE-32F308A81591}"/>
              </a:ext>
            </a:extLst>
          </p:cNvPr>
          <p:cNvSpPr/>
          <p:nvPr/>
        </p:nvSpPr>
        <p:spPr>
          <a:xfrm>
            <a:off x="0" y="6702676"/>
            <a:ext cx="12195176" cy="1553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Picture Logo SoftUni" descr="SoftUni logo">
            <a:extLst>
              <a:ext uri="{FF2B5EF4-FFF2-40B4-BE49-F238E27FC236}">
                <a16:creationId xmlns:a16="http://schemas.microsoft.com/office/drawing/2014/main" id="{C4D6B2A2-DFF0-4712-BFEC-6676BEC99FEC}"/>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24460" y="5184000"/>
            <a:ext cx="3751540" cy="1297655"/>
          </a:xfrm>
          <a:prstGeom prst="rect">
            <a:avLst/>
          </a:prstGeom>
        </p:spPr>
      </p:pic>
      <p:sp>
        <p:nvSpPr>
          <p:cNvPr id="31" name="Text Placeholder Company Site">
            <a:extLst>
              <a:ext uri="{FF2B5EF4-FFF2-40B4-BE49-F238E27FC236}">
                <a16:creationId xmlns:a16="http://schemas.microsoft.com/office/drawing/2014/main" id="{3E6B87B7-9D33-4EBB-BD4F-C0436BA3FD72}"/>
              </a:ext>
            </a:extLst>
          </p:cNvPr>
          <p:cNvSpPr>
            <a:spLocks noGrp="1"/>
          </p:cNvSpPr>
          <p:nvPr>
            <p:ph type="body" sz="quarter" idx="18" hasCustomPrompt="1"/>
          </p:nvPr>
        </p:nvSpPr>
        <p:spPr bwMode="auto">
          <a:xfrm>
            <a:off x="8708505" y="6130863"/>
            <a:ext cx="2951518" cy="341556"/>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798" b="1" kern="1200" dirty="0" smtClean="0">
                <a:solidFill>
                  <a:schemeClr val="tx1">
                    <a:lumMod val="75000"/>
                  </a:schemeClr>
                </a:solidFill>
                <a:effectLst/>
                <a:latin typeface="+mn-lt"/>
                <a:ea typeface="+mn-ea"/>
                <a:cs typeface="+mn-cs"/>
              </a:defRPr>
            </a:lvl1pPr>
          </a:lstStyle>
          <a:p>
            <a:pPr lvl="0"/>
            <a:r>
              <a:rPr lang="en-US" noProof="0" dirty="0"/>
              <a:t>Company Web Site</a:t>
            </a:r>
          </a:p>
        </p:txBody>
      </p:sp>
      <p:sp>
        <p:nvSpPr>
          <p:cNvPr id="30" name="Text Placeholder Company Name">
            <a:extLst>
              <a:ext uri="{FF2B5EF4-FFF2-40B4-BE49-F238E27FC236}">
                <a16:creationId xmlns:a16="http://schemas.microsoft.com/office/drawing/2014/main" id="{2EA92DCA-4DB5-4D03-ACD3-A6A296592D0C}"/>
              </a:ext>
            </a:extLst>
          </p:cNvPr>
          <p:cNvSpPr>
            <a:spLocks noGrp="1"/>
          </p:cNvSpPr>
          <p:nvPr>
            <p:ph type="body" sz="quarter" idx="17" hasCustomPrompt="1"/>
          </p:nvPr>
        </p:nvSpPr>
        <p:spPr bwMode="auto">
          <a:xfrm>
            <a:off x="8708505" y="5756628"/>
            <a:ext cx="2951518" cy="367080"/>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998" b="1" kern="1200" dirty="0" smtClean="0">
                <a:solidFill>
                  <a:schemeClr val="tx1">
                    <a:lumMod val="75000"/>
                  </a:schemeClr>
                </a:solidFill>
                <a:effectLst/>
                <a:latin typeface="+mn-lt"/>
                <a:ea typeface="+mn-ea"/>
                <a:cs typeface="+mn-cs"/>
              </a:defRPr>
            </a:lvl1pPr>
          </a:lstStyle>
          <a:p>
            <a:pPr lvl="0"/>
            <a:r>
              <a:rPr lang="en-US" noProof="0" dirty="0"/>
              <a:t>Company Name</a:t>
            </a:r>
          </a:p>
        </p:txBody>
      </p:sp>
      <p:pic>
        <p:nvPicPr>
          <p:cNvPr id="35" name="Picture SoftUni Mascot" descr="SoftUni mascot">
            <a:extLst>
              <a:ext uri="{FF2B5EF4-FFF2-40B4-BE49-F238E27FC236}">
                <a16:creationId xmlns:a16="http://schemas.microsoft.com/office/drawing/2014/main" id="{951E7DA9-C5F0-43D9-B013-3BDF9EEF02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48924" y="2609644"/>
            <a:ext cx="2788893" cy="3018284"/>
          </a:xfrm>
          <a:prstGeom prst="rect">
            <a:avLst/>
          </a:prstGeom>
        </p:spPr>
      </p:pic>
      <p:pic>
        <p:nvPicPr>
          <p:cNvPr id="22" name="Picture Logo Software University" descr="Software University logo">
            <a:hlinkClick r:id="rId4"/>
            <a:extLst>
              <a:ext uri="{FF2B5EF4-FFF2-40B4-BE49-F238E27FC236}">
                <a16:creationId xmlns:a16="http://schemas.microsoft.com/office/drawing/2014/main" id="{F2315EB3-3FE4-4D3B-921E-5F209CEC13CB}"/>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944" y="5918567"/>
            <a:ext cx="1830305" cy="628159"/>
          </a:xfrm>
          <a:prstGeom prst="rect">
            <a:avLst/>
          </a:prstGeom>
        </p:spPr>
      </p:pic>
      <p:sp>
        <p:nvSpPr>
          <p:cNvPr id="40" name="Text Placeholder Author Position">
            <a:extLst>
              <a:ext uri="{FF2B5EF4-FFF2-40B4-BE49-F238E27FC236}">
                <a16:creationId xmlns:a16="http://schemas.microsoft.com/office/drawing/2014/main" id="{CD940256-851E-46C8-8BFB-A5ECA6C7DA07}"/>
              </a:ext>
            </a:extLst>
          </p:cNvPr>
          <p:cNvSpPr>
            <a:spLocks noGrp="1"/>
          </p:cNvSpPr>
          <p:nvPr>
            <p:ph type="body" sz="quarter" idx="20" hasCustomPrompt="1"/>
          </p:nvPr>
        </p:nvSpPr>
        <p:spPr bwMode="auto">
          <a:xfrm>
            <a:off x="553082" y="5344180"/>
            <a:ext cx="2980696" cy="444793"/>
          </a:xfrm>
          <a:prstGeom prst="rect">
            <a:avLst/>
          </a:prstGeom>
          <a:noFill/>
          <a:effectLst/>
        </p:spPr>
        <p:txBody>
          <a:bodyPr wrap="square" lIns="36000" tIns="36000" rIns="36000" bIns="36000" rtlCol="0" anchor="ctr" anchorCtr="0">
            <a:spAutoFit/>
          </a:bodyPr>
          <a:lstStyle>
            <a:lvl1pPr marL="0" indent="0" algn="l" rtl="0" fontAlgn="base" latinLnBrk="0">
              <a:spcBef>
                <a:spcPct val="0"/>
              </a:spcBef>
              <a:spcAft>
                <a:spcPct val="0"/>
              </a:spcAft>
              <a:buNone/>
              <a:defRPr lang="en-US" sz="2398" b="1" kern="1200" dirty="0" smtClean="0">
                <a:solidFill>
                  <a:schemeClr val="tx1"/>
                </a:solidFill>
                <a:effectLst/>
                <a:latin typeface="+mn-lt"/>
                <a:ea typeface="+mn-ea"/>
                <a:cs typeface="+mn-cs"/>
              </a:defRPr>
            </a:lvl1pPr>
          </a:lstStyle>
          <a:p>
            <a:pPr lvl="0"/>
            <a:r>
              <a:rPr lang="en-US" noProof="0" dirty="0"/>
              <a:t>Position</a:t>
            </a:r>
          </a:p>
        </p:txBody>
      </p:sp>
      <p:sp>
        <p:nvSpPr>
          <p:cNvPr id="36" name="Text Placeholder Author Name">
            <a:extLst>
              <a:ext uri="{FF2B5EF4-FFF2-40B4-BE49-F238E27FC236}">
                <a16:creationId xmlns:a16="http://schemas.microsoft.com/office/drawing/2014/main" id="{3B21F47B-DE1F-442D-A2B7-6866F8786704}"/>
              </a:ext>
            </a:extLst>
          </p:cNvPr>
          <p:cNvSpPr>
            <a:spLocks noGrp="1"/>
          </p:cNvSpPr>
          <p:nvPr>
            <p:ph type="body" sz="quarter" idx="19" hasCustomPrompt="1"/>
          </p:nvPr>
        </p:nvSpPr>
        <p:spPr bwMode="auto">
          <a:xfrm>
            <a:off x="553082" y="4851838"/>
            <a:ext cx="2980696" cy="454398"/>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2798" b="1" kern="1200" dirty="0" smtClean="0">
                <a:solidFill>
                  <a:schemeClr val="tx1"/>
                </a:solidFill>
                <a:effectLst/>
                <a:latin typeface="+mn-lt"/>
                <a:ea typeface="+mn-ea"/>
                <a:cs typeface="+mn-cs"/>
              </a:defRPr>
            </a:lvl1pPr>
          </a:lstStyle>
          <a:p>
            <a:pPr lvl="0"/>
            <a:r>
              <a:rPr lang="en-US" noProof="0" dirty="0"/>
              <a:t>Author Name</a:t>
            </a:r>
          </a:p>
        </p:txBody>
      </p:sp>
      <p:sp>
        <p:nvSpPr>
          <p:cNvPr id="33" name="Picture Placeholder Title Image">
            <a:extLst>
              <a:ext uri="{FF2B5EF4-FFF2-40B4-BE49-F238E27FC236}">
                <a16:creationId xmlns:a16="http://schemas.microsoft.com/office/drawing/2014/main" id="{A04D819A-89E2-4714-8C56-1838BF467EF7}"/>
              </a:ext>
            </a:extLst>
          </p:cNvPr>
          <p:cNvSpPr>
            <a:spLocks noGrp="1"/>
          </p:cNvSpPr>
          <p:nvPr>
            <p:ph type="pic" sz="quarter" idx="10"/>
          </p:nvPr>
        </p:nvSpPr>
        <p:spPr>
          <a:xfrm>
            <a:off x="553082" y="2740913"/>
            <a:ext cx="4642919" cy="1936503"/>
          </a:xfrm>
        </p:spPr>
        <p:txBody>
          <a:bodyPr/>
          <a:lstStyle>
            <a:lvl1pPr marL="0" indent="0" algn="ctr" latinLnBrk="0">
              <a:buNone/>
              <a:defRPr>
                <a:solidFill>
                  <a:schemeClr val="bg1"/>
                </a:solidFill>
              </a:defRPr>
            </a:lvl1pPr>
          </a:lstStyle>
          <a:p>
            <a:r>
              <a:rPr lang="en-US" noProof="0" dirty="0"/>
              <a:t>Click icon to add picture</a:t>
            </a:r>
          </a:p>
        </p:txBody>
      </p:sp>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554182" y="1258272"/>
            <a:ext cx="11083636" cy="1315728"/>
          </a:xfrm>
        </p:spPr>
        <p:txBody>
          <a:bodyPr anchor="t" anchorCtr="0">
            <a:normAutofit/>
          </a:bodyPr>
          <a:lstStyle>
            <a:lvl1pPr marL="0" indent="0" algn="ctr" latinLnBrk="0">
              <a:buNone/>
              <a:defRPr sz="3598">
                <a:solidFill>
                  <a:schemeClr val="tx1"/>
                </a:solidFill>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554182" y="321502"/>
            <a:ext cx="11083636" cy="882654"/>
          </a:xfrm>
        </p:spPr>
        <p:txBody>
          <a:bodyPr/>
          <a:lstStyle>
            <a:lvl1pPr algn="ctr" latinLnBrk="0">
              <a:defRPr sz="4798"/>
            </a:lvl1pPr>
          </a:lstStyle>
          <a:p>
            <a:r>
              <a:rPr lang="en-US" noProof="0" dirty="0"/>
              <a:t>Presentation Title</a:t>
            </a:r>
          </a:p>
        </p:txBody>
      </p:sp>
    </p:spTree>
    <p:extLst>
      <p:ext uri="{BB962C8B-B14F-4D97-AF65-F5344CB8AC3E}">
        <p14:creationId xmlns:p14="http://schemas.microsoft.com/office/powerpoint/2010/main" val="97017929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sp>
        <p:nvSpPr>
          <p:cNvPr id="4" name="Oval Center Icon"/>
          <p:cNvSpPr>
            <a:spLocks noChangeAspect="1"/>
          </p:cNvSpPr>
          <p:nvPr/>
        </p:nvSpPr>
        <p:spPr>
          <a:xfrm>
            <a:off x="4319736" y="86775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615109" y="5585916"/>
            <a:ext cx="10961783"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615109" y="4704825"/>
            <a:ext cx="10961783" cy="768084"/>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3529216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Slide Body Text">
            <a:extLst>
              <a:ext uri="{FF2B5EF4-FFF2-40B4-BE49-F238E27FC236}">
                <a16:creationId xmlns:a16="http://schemas.microsoft.com/office/drawing/2014/main" id="{5A9D2960-6D42-439F-82E8-812822013A10}"/>
              </a:ext>
            </a:extLst>
          </p:cNvPr>
          <p:cNvSpPr>
            <a:spLocks noGrp="1"/>
          </p:cNvSpPr>
          <p:nvPr>
            <p:ph type="body" sz="quarter" idx="10" hasCustomPrompt="1"/>
          </p:nvPr>
        </p:nvSpPr>
        <p:spPr>
          <a:xfrm>
            <a:off x="190402" y="1196125"/>
            <a:ext cx="11818096" cy="5528766"/>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391AFA4E-7870-4561-A1B8-AC956B0C8931}"/>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B1D3B425-B9BF-43ED-9DEC-C05002FBA2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6" name="Slide Title">
            <a:extLst>
              <a:ext uri="{FF2B5EF4-FFF2-40B4-BE49-F238E27FC236}">
                <a16:creationId xmlns:a16="http://schemas.microsoft.com/office/drawing/2014/main" id="{19B5B676-7892-440F-8191-7109B2C59885}"/>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102970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ortant Concept">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0020EB61-2079-41A3-B356-B1D8D48D786E}"/>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6" name="Rectangle Left"/>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CB4CB13C-66A1-466B-A6C1-B0BABF5CFEC1}"/>
              </a:ext>
            </a:extLst>
          </p:cNvPr>
          <p:cNvSpPr>
            <a:spLocks noGrp="1"/>
          </p:cNvSpPr>
          <p:nvPr>
            <p:ph type="body" sz="quarter" idx="10"/>
          </p:nvPr>
        </p:nvSpPr>
        <p:spPr>
          <a:xfrm>
            <a:off x="1866000" y="1121143"/>
            <a:ext cx="10129234"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3" name="Logo Software University" descr="Software University logo">
            <a:extLst>
              <a:ext uri="{FF2B5EF4-FFF2-40B4-BE49-F238E27FC236}">
                <a16:creationId xmlns:a16="http://schemas.microsoft.com/office/drawing/2014/main" id="{5573C101-930B-47AC-967A-A64513DFFDEE}"/>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8" name="Slide Title">
            <a:extLst>
              <a:ext uri="{FF2B5EF4-FFF2-40B4-BE49-F238E27FC236}">
                <a16:creationId xmlns:a16="http://schemas.microsoft.com/office/drawing/2014/main" id="{E2DA9691-CDF5-499C-94BB-AAA61DAC1BFB}"/>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10" name="Group 9">
            <a:extLst>
              <a:ext uri="{FF2B5EF4-FFF2-40B4-BE49-F238E27FC236}">
                <a16:creationId xmlns:a16="http://schemas.microsoft.com/office/drawing/2014/main" id="{43CDBCC2-1C96-44BC-B992-7B0C49C34904}"/>
              </a:ext>
            </a:extLst>
          </p:cNvPr>
          <p:cNvGrpSpPr/>
          <p:nvPr userDrawn="1"/>
        </p:nvGrpSpPr>
        <p:grpSpPr>
          <a:xfrm>
            <a:off x="185076" y="1868177"/>
            <a:ext cx="1937508" cy="3070349"/>
            <a:chOff x="3928039" y="1792355"/>
            <a:chExt cx="1830304" cy="2900460"/>
          </a:xfrm>
        </p:grpSpPr>
        <p:grpSp>
          <p:nvGrpSpPr>
            <p:cNvPr id="11" name="Group 10">
              <a:extLst>
                <a:ext uri="{FF2B5EF4-FFF2-40B4-BE49-F238E27FC236}">
                  <a16:creationId xmlns:a16="http://schemas.microsoft.com/office/drawing/2014/main" id="{7D71B3A8-4D39-42CF-9255-81EA3A622DD6}"/>
                </a:ext>
              </a:extLst>
            </p:cNvPr>
            <p:cNvGrpSpPr/>
            <p:nvPr/>
          </p:nvGrpSpPr>
          <p:grpSpPr>
            <a:xfrm>
              <a:off x="3928039" y="1792355"/>
              <a:ext cx="1830304" cy="2206534"/>
              <a:chOff x="3216839" y="2404072"/>
              <a:chExt cx="1830304" cy="2206534"/>
            </a:xfrm>
          </p:grpSpPr>
          <p:sp>
            <p:nvSpPr>
              <p:cNvPr id="25" name="Oval 24">
                <a:extLst>
                  <a:ext uri="{FF2B5EF4-FFF2-40B4-BE49-F238E27FC236}">
                    <a16:creationId xmlns:a16="http://schemas.microsoft.com/office/drawing/2014/main" id="{B98059F9-1874-426D-8AF7-A12C21F37DD9}"/>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6" name="Rectangle 5">
                <a:extLst>
                  <a:ext uri="{FF2B5EF4-FFF2-40B4-BE49-F238E27FC236}">
                    <a16:creationId xmlns:a16="http://schemas.microsoft.com/office/drawing/2014/main" id="{A3A1E077-DBDF-48F0-A924-604984B940A2}"/>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7" name="Rectangle 5">
                <a:extLst>
                  <a:ext uri="{FF2B5EF4-FFF2-40B4-BE49-F238E27FC236}">
                    <a16:creationId xmlns:a16="http://schemas.microsoft.com/office/drawing/2014/main" id="{798B1F51-1FA4-4199-81C7-62356C936CC9}"/>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8" name="Arc 27">
                <a:extLst>
                  <a:ext uri="{FF2B5EF4-FFF2-40B4-BE49-F238E27FC236}">
                    <a16:creationId xmlns:a16="http://schemas.microsoft.com/office/drawing/2014/main" id="{40A224C8-1233-40F7-96AB-BFF79AF6CDCB}"/>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29" name="Arc 28">
                <a:extLst>
                  <a:ext uri="{FF2B5EF4-FFF2-40B4-BE49-F238E27FC236}">
                    <a16:creationId xmlns:a16="http://schemas.microsoft.com/office/drawing/2014/main" id="{B57C7CCC-E218-4321-8C7B-3F0C5753C7A1}"/>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13" name="Rectangle: Rounded Corners 12">
              <a:extLst>
                <a:ext uri="{FF2B5EF4-FFF2-40B4-BE49-F238E27FC236}">
                  <a16:creationId xmlns:a16="http://schemas.microsoft.com/office/drawing/2014/main" id="{6AF309CA-A56C-4ABC-B293-420F4EB1A9B4}"/>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Rectangle: Rounded Corners 13">
              <a:extLst>
                <a:ext uri="{FF2B5EF4-FFF2-40B4-BE49-F238E27FC236}">
                  <a16:creationId xmlns:a16="http://schemas.microsoft.com/office/drawing/2014/main" id="{07955808-2AC7-44EB-8B6D-82B974E53A3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5" name="Straight Connector 14">
              <a:extLst>
                <a:ext uri="{FF2B5EF4-FFF2-40B4-BE49-F238E27FC236}">
                  <a16:creationId xmlns:a16="http://schemas.microsoft.com/office/drawing/2014/main" id="{AC6420D7-AEAB-45EF-8D46-11EB06E4AFEA}"/>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6C7FABC-6773-44F6-990B-3EB082BE9B3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1FAD48E1-DC45-4B3D-9CE5-613250708496}"/>
                </a:ext>
              </a:extLst>
            </p:cNvPr>
            <p:cNvGrpSpPr/>
            <p:nvPr/>
          </p:nvGrpSpPr>
          <p:grpSpPr>
            <a:xfrm>
              <a:off x="4203288" y="2479090"/>
              <a:ext cx="436874" cy="448528"/>
              <a:chOff x="2320288" y="2903541"/>
              <a:chExt cx="332555" cy="302680"/>
            </a:xfrm>
            <a:solidFill>
              <a:srgbClr val="464646"/>
            </a:solidFill>
          </p:grpSpPr>
          <p:cxnSp>
            <p:nvCxnSpPr>
              <p:cNvPr id="23" name="Straight Connector 22">
                <a:extLst>
                  <a:ext uri="{FF2B5EF4-FFF2-40B4-BE49-F238E27FC236}">
                    <a16:creationId xmlns:a16="http://schemas.microsoft.com/office/drawing/2014/main" id="{B01FD1D1-046F-457B-AB63-2702CE3E906E}"/>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5660C3-C72C-43EE-9C4A-170F85E5BE08}"/>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19" name="Straight Connector 18">
              <a:extLst>
                <a:ext uri="{FF2B5EF4-FFF2-40B4-BE49-F238E27FC236}">
                  <a16:creationId xmlns:a16="http://schemas.microsoft.com/office/drawing/2014/main" id="{A74EE503-8FC0-42A6-8860-CA4EE42272E4}"/>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12" name="Rectangle: Rounded Corners 11">
              <a:extLst>
                <a:ext uri="{FF2B5EF4-FFF2-40B4-BE49-F238E27FC236}">
                  <a16:creationId xmlns:a16="http://schemas.microsoft.com/office/drawing/2014/main" id="{F4189FDA-9FE8-490B-8A70-2E941811021F}"/>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18" name="Group 17">
              <a:extLst>
                <a:ext uri="{FF2B5EF4-FFF2-40B4-BE49-F238E27FC236}">
                  <a16:creationId xmlns:a16="http://schemas.microsoft.com/office/drawing/2014/main" id="{FDA3EFCD-0DF8-419D-8533-D781521E597E}"/>
                </a:ext>
              </a:extLst>
            </p:cNvPr>
            <p:cNvGrpSpPr/>
            <p:nvPr/>
          </p:nvGrpSpPr>
          <p:grpSpPr>
            <a:xfrm flipH="1">
              <a:off x="5035162" y="2479090"/>
              <a:ext cx="436872" cy="448528"/>
              <a:chOff x="2320288" y="2903541"/>
              <a:chExt cx="332555" cy="302680"/>
            </a:xfrm>
            <a:solidFill>
              <a:srgbClr val="464646"/>
            </a:solidFill>
          </p:grpSpPr>
          <p:cxnSp>
            <p:nvCxnSpPr>
              <p:cNvPr id="21" name="Straight Connector 20">
                <a:extLst>
                  <a:ext uri="{FF2B5EF4-FFF2-40B4-BE49-F238E27FC236}">
                    <a16:creationId xmlns:a16="http://schemas.microsoft.com/office/drawing/2014/main" id="{C3CC6A5A-182E-4A09-9C04-EB191881D789}"/>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40C8953-0555-48CC-8255-78F17E053EE7}"/>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cxnSp>
        <p:nvCxnSpPr>
          <p:cNvPr id="34" name="Straight Connector 33">
            <a:extLst>
              <a:ext uri="{FF2B5EF4-FFF2-40B4-BE49-F238E27FC236}">
                <a16:creationId xmlns:a16="http://schemas.microsoft.com/office/drawing/2014/main" id="{29B538CA-8CCB-43FB-B5E5-5FC04EBC1F54}"/>
              </a:ext>
            </a:extLst>
          </p:cNvPr>
          <p:cNvCxnSpPr>
            <a:cxnSpLocks/>
            <a:stCxn id="26" idx="2"/>
          </p:cNvCxnSpPr>
          <p:nvPr userDrawn="1"/>
        </p:nvCxnSpPr>
        <p:spPr>
          <a:xfrm flipH="1">
            <a:off x="673735" y="4203953"/>
            <a:ext cx="955204"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354534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portant Examp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1865BF6B-7F07-4E9C-879F-80E36EEB3405}"/>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12" name="Rectangle Left">
            <a:extLst>
              <a:ext uri="{FF2B5EF4-FFF2-40B4-BE49-F238E27FC236}">
                <a16:creationId xmlns:a16="http://schemas.microsoft.com/office/drawing/2014/main" id="{345FB1C8-7F66-4D5C-ACCE-AE919936BCFD}"/>
              </a:ext>
            </a:extLst>
          </p:cNvPr>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5" name="Slide Body Text">
            <a:extLst>
              <a:ext uri="{FF2B5EF4-FFF2-40B4-BE49-F238E27FC236}">
                <a16:creationId xmlns:a16="http://schemas.microsoft.com/office/drawing/2014/main" id="{6157C8DE-E0AF-422B-BBB1-F0AF1264B5E9}"/>
              </a:ext>
            </a:extLst>
          </p:cNvPr>
          <p:cNvSpPr>
            <a:spLocks noGrp="1"/>
          </p:cNvSpPr>
          <p:nvPr>
            <p:ph type="body" sz="quarter" idx="10"/>
          </p:nvPr>
        </p:nvSpPr>
        <p:spPr>
          <a:xfrm>
            <a:off x="1673561" y="1121143"/>
            <a:ext cx="10321675"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16" name="Logo Software University" descr="Software University logo">
            <a:extLst>
              <a:ext uri="{FF2B5EF4-FFF2-40B4-BE49-F238E27FC236}">
                <a16:creationId xmlns:a16="http://schemas.microsoft.com/office/drawing/2014/main" id="{EFEBB553-EACE-4B4F-8B4F-7629FDD910A4}"/>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13" name="Slide Title">
            <a:extLst>
              <a:ext uri="{FF2B5EF4-FFF2-40B4-BE49-F238E27FC236}">
                <a16:creationId xmlns:a16="http://schemas.microsoft.com/office/drawing/2014/main" id="{0D5CC956-5C4A-44BE-8F8B-327FAFA51E97}"/>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33" name="Group 32">
            <a:extLst>
              <a:ext uri="{FF2B5EF4-FFF2-40B4-BE49-F238E27FC236}">
                <a16:creationId xmlns:a16="http://schemas.microsoft.com/office/drawing/2014/main" id="{7CF60135-47AA-48F0-96BA-0E795668ABDB}"/>
              </a:ext>
            </a:extLst>
          </p:cNvPr>
          <p:cNvGrpSpPr/>
          <p:nvPr userDrawn="1"/>
        </p:nvGrpSpPr>
        <p:grpSpPr>
          <a:xfrm>
            <a:off x="392806" y="3429000"/>
            <a:ext cx="1522048" cy="2411973"/>
            <a:chOff x="3928039" y="1792355"/>
            <a:chExt cx="1830304" cy="2900460"/>
          </a:xfrm>
        </p:grpSpPr>
        <p:grpSp>
          <p:nvGrpSpPr>
            <p:cNvPr id="34" name="Group 33">
              <a:extLst>
                <a:ext uri="{FF2B5EF4-FFF2-40B4-BE49-F238E27FC236}">
                  <a16:creationId xmlns:a16="http://schemas.microsoft.com/office/drawing/2014/main" id="{2823380E-3936-41AF-BDF7-DA54D75BBF6B}"/>
                </a:ext>
              </a:extLst>
            </p:cNvPr>
            <p:cNvGrpSpPr/>
            <p:nvPr/>
          </p:nvGrpSpPr>
          <p:grpSpPr>
            <a:xfrm>
              <a:off x="3928039" y="1792355"/>
              <a:ext cx="1830304" cy="2206534"/>
              <a:chOff x="3216839" y="2404072"/>
              <a:chExt cx="1830304" cy="2206534"/>
            </a:xfrm>
          </p:grpSpPr>
          <p:sp>
            <p:nvSpPr>
              <p:cNvPr id="47" name="Oval 46">
                <a:extLst>
                  <a:ext uri="{FF2B5EF4-FFF2-40B4-BE49-F238E27FC236}">
                    <a16:creationId xmlns:a16="http://schemas.microsoft.com/office/drawing/2014/main" id="{52B047D9-D8DD-45C7-9BC8-6D4F682F5182}"/>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8" name="Rectangle 5">
                <a:extLst>
                  <a:ext uri="{FF2B5EF4-FFF2-40B4-BE49-F238E27FC236}">
                    <a16:creationId xmlns:a16="http://schemas.microsoft.com/office/drawing/2014/main" id="{4D84FE51-BD8E-47EA-9463-CE02FEA31766}"/>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9" name="Rectangle 5">
                <a:extLst>
                  <a:ext uri="{FF2B5EF4-FFF2-40B4-BE49-F238E27FC236}">
                    <a16:creationId xmlns:a16="http://schemas.microsoft.com/office/drawing/2014/main" id="{F5C8F037-C197-4219-AC87-3A81763512BC}"/>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50" name="Arc 49">
                <a:extLst>
                  <a:ext uri="{FF2B5EF4-FFF2-40B4-BE49-F238E27FC236}">
                    <a16:creationId xmlns:a16="http://schemas.microsoft.com/office/drawing/2014/main" id="{786EE401-CF8E-439B-94A0-EE6F3A7D5798}"/>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51" name="Arc 50">
                <a:extLst>
                  <a:ext uri="{FF2B5EF4-FFF2-40B4-BE49-F238E27FC236}">
                    <a16:creationId xmlns:a16="http://schemas.microsoft.com/office/drawing/2014/main" id="{8D9ACD38-B3EB-4A63-9730-CBF0501BF235}"/>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5" name="Rectangle: Rounded Corners 34">
              <a:extLst>
                <a:ext uri="{FF2B5EF4-FFF2-40B4-BE49-F238E27FC236}">
                  <a16:creationId xmlns:a16="http://schemas.microsoft.com/office/drawing/2014/main" id="{64EE493E-A353-4C75-A3B9-D48ABA2C57CC}"/>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6" name="Rectangle: Rounded Corners 35">
              <a:extLst>
                <a:ext uri="{FF2B5EF4-FFF2-40B4-BE49-F238E27FC236}">
                  <a16:creationId xmlns:a16="http://schemas.microsoft.com/office/drawing/2014/main" id="{718408B9-204E-42E3-9E79-33E047E869B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7" name="Straight Connector 36">
              <a:extLst>
                <a:ext uri="{FF2B5EF4-FFF2-40B4-BE49-F238E27FC236}">
                  <a16:creationId xmlns:a16="http://schemas.microsoft.com/office/drawing/2014/main" id="{0AB66D97-DF6F-4CD2-AF13-42B5C852F673}"/>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2AFBA69-C196-4703-8AAB-5F72A8EDCEB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9AFC66C1-0C1C-4332-9C4E-782574C896B8}"/>
                </a:ext>
              </a:extLst>
            </p:cNvPr>
            <p:cNvGrpSpPr/>
            <p:nvPr/>
          </p:nvGrpSpPr>
          <p:grpSpPr>
            <a:xfrm>
              <a:off x="4203288" y="2479090"/>
              <a:ext cx="436874" cy="448528"/>
              <a:chOff x="2320288" y="2903541"/>
              <a:chExt cx="332555" cy="302680"/>
            </a:xfrm>
            <a:solidFill>
              <a:srgbClr val="464646"/>
            </a:solidFill>
          </p:grpSpPr>
          <p:cxnSp>
            <p:nvCxnSpPr>
              <p:cNvPr id="45" name="Straight Connector 44">
                <a:extLst>
                  <a:ext uri="{FF2B5EF4-FFF2-40B4-BE49-F238E27FC236}">
                    <a16:creationId xmlns:a16="http://schemas.microsoft.com/office/drawing/2014/main" id="{872CA8AD-EAF6-40BE-9DDE-ECDB4A980CA5}"/>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57DD3EC7-1A13-4AFE-BD6F-DA12C281FAFB}"/>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40" name="Straight Connector 39">
              <a:extLst>
                <a:ext uri="{FF2B5EF4-FFF2-40B4-BE49-F238E27FC236}">
                  <a16:creationId xmlns:a16="http://schemas.microsoft.com/office/drawing/2014/main" id="{E46151FA-19E9-4E84-A082-EDAC6F76EA9D}"/>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41" name="Rectangle: Rounded Corners 40">
              <a:extLst>
                <a:ext uri="{FF2B5EF4-FFF2-40B4-BE49-F238E27FC236}">
                  <a16:creationId xmlns:a16="http://schemas.microsoft.com/office/drawing/2014/main" id="{3423EEF0-5B70-4091-B2DA-0740D2609643}"/>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42" name="Group 41">
              <a:extLst>
                <a:ext uri="{FF2B5EF4-FFF2-40B4-BE49-F238E27FC236}">
                  <a16:creationId xmlns:a16="http://schemas.microsoft.com/office/drawing/2014/main" id="{49A8AAA7-98E7-4224-B027-830FFCC285A3}"/>
                </a:ext>
              </a:extLst>
            </p:cNvPr>
            <p:cNvGrpSpPr/>
            <p:nvPr/>
          </p:nvGrpSpPr>
          <p:grpSpPr>
            <a:xfrm flipH="1">
              <a:off x="5035162" y="2479090"/>
              <a:ext cx="436872" cy="448528"/>
              <a:chOff x="2320288" y="2903541"/>
              <a:chExt cx="332555" cy="302680"/>
            </a:xfrm>
            <a:solidFill>
              <a:srgbClr val="464646"/>
            </a:solidFill>
          </p:grpSpPr>
          <p:cxnSp>
            <p:nvCxnSpPr>
              <p:cNvPr id="43" name="Straight Connector 42">
                <a:extLst>
                  <a:ext uri="{FF2B5EF4-FFF2-40B4-BE49-F238E27FC236}">
                    <a16:creationId xmlns:a16="http://schemas.microsoft.com/office/drawing/2014/main" id="{2129EC38-471E-4685-973E-BA7A7F567C42}"/>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678142BE-84C9-4834-B6CC-6623E401661C}"/>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6796517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0B8C963-1813-4B69-AD27-6D02EBBBB569}"/>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Rectangle Left">
            <a:extLst>
              <a:ext uri="{FF2B5EF4-FFF2-40B4-BE49-F238E27FC236}">
                <a16:creationId xmlns:a16="http://schemas.microsoft.com/office/drawing/2014/main" id="{345FB1C8-7F66-4D5C-ACCE-AE919936BCFD}"/>
              </a:ext>
            </a:extLst>
          </p:cNvPr>
          <p:cNvSpPr/>
          <p:nvPr userDrawn="1"/>
        </p:nvSpPr>
        <p:spPr>
          <a:xfrm>
            <a:off x="0" y="0"/>
            <a:ext cx="42947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1"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7296EDA7-D37D-4B31-A888-371F0804124F}"/>
              </a:ext>
            </a:extLst>
          </p:cNvPr>
          <p:cNvSpPr>
            <a:spLocks noGrp="1"/>
          </p:cNvSpPr>
          <p:nvPr>
            <p:ph type="body" sz="quarter" idx="10"/>
          </p:nvPr>
        </p:nvSpPr>
        <p:spPr>
          <a:xfrm>
            <a:off x="585176" y="1121143"/>
            <a:ext cx="11410061"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Slide Title">
            <a:extLst>
              <a:ext uri="{FF2B5EF4-FFF2-40B4-BE49-F238E27FC236}">
                <a16:creationId xmlns:a16="http://schemas.microsoft.com/office/drawing/2014/main" id="{55A88B09-3557-48A3-BF27-42699C269215}"/>
              </a:ext>
            </a:extLst>
          </p:cNvPr>
          <p:cNvSpPr>
            <a:spLocks noGrp="1"/>
          </p:cNvSpPr>
          <p:nvPr>
            <p:ph type="title" hasCustomPrompt="1"/>
          </p:nvPr>
        </p:nvSpPr>
        <p:spPr>
          <a:xfrm>
            <a:off x="585176" y="100750"/>
            <a:ext cx="11410061" cy="882654"/>
          </a:xfrm>
        </p:spPr>
        <p:txBody>
          <a:bodyPr/>
          <a:lstStyle>
            <a:lvl1pPr latinLnBrk="0">
              <a:defRPr/>
            </a:lvl1pPr>
          </a:lstStyle>
          <a:p>
            <a:r>
              <a:rPr lang="en-US" noProof="0" dirty="0"/>
              <a:t>Slide Title</a:t>
            </a:r>
          </a:p>
        </p:txBody>
      </p:sp>
      <p:grpSp>
        <p:nvGrpSpPr>
          <p:cNvPr id="28" name="Group 27">
            <a:extLst>
              <a:ext uri="{FF2B5EF4-FFF2-40B4-BE49-F238E27FC236}">
                <a16:creationId xmlns:a16="http://schemas.microsoft.com/office/drawing/2014/main" id="{C4248838-4E67-439E-AE0A-0043D2CB04D6}"/>
              </a:ext>
            </a:extLst>
          </p:cNvPr>
          <p:cNvGrpSpPr/>
          <p:nvPr userDrawn="1"/>
        </p:nvGrpSpPr>
        <p:grpSpPr>
          <a:xfrm>
            <a:off x="108596" y="5591709"/>
            <a:ext cx="641749" cy="1016973"/>
            <a:chOff x="3928039" y="1792355"/>
            <a:chExt cx="1830304" cy="2900460"/>
          </a:xfrm>
        </p:grpSpPr>
        <p:grpSp>
          <p:nvGrpSpPr>
            <p:cNvPr id="29" name="Group 28">
              <a:extLst>
                <a:ext uri="{FF2B5EF4-FFF2-40B4-BE49-F238E27FC236}">
                  <a16:creationId xmlns:a16="http://schemas.microsoft.com/office/drawing/2014/main" id="{810CFD6A-2427-49D5-846A-5F93601D4184}"/>
                </a:ext>
              </a:extLst>
            </p:cNvPr>
            <p:cNvGrpSpPr/>
            <p:nvPr/>
          </p:nvGrpSpPr>
          <p:grpSpPr>
            <a:xfrm>
              <a:off x="3928039" y="1792355"/>
              <a:ext cx="1830304" cy="2206534"/>
              <a:chOff x="3216839" y="2404072"/>
              <a:chExt cx="1830304" cy="2206534"/>
            </a:xfrm>
          </p:grpSpPr>
          <p:sp>
            <p:nvSpPr>
              <p:cNvPr id="42" name="Oval 41">
                <a:extLst>
                  <a:ext uri="{FF2B5EF4-FFF2-40B4-BE49-F238E27FC236}">
                    <a16:creationId xmlns:a16="http://schemas.microsoft.com/office/drawing/2014/main" id="{017B1AE5-5C36-4839-BA1F-B404EA44E701}"/>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3" name="Rectangle 5">
                <a:extLst>
                  <a:ext uri="{FF2B5EF4-FFF2-40B4-BE49-F238E27FC236}">
                    <a16:creationId xmlns:a16="http://schemas.microsoft.com/office/drawing/2014/main" id="{FB963D79-BB49-4A1D-BA66-EA0670C79BAE}"/>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4" name="Rectangle 5">
                <a:extLst>
                  <a:ext uri="{FF2B5EF4-FFF2-40B4-BE49-F238E27FC236}">
                    <a16:creationId xmlns:a16="http://schemas.microsoft.com/office/drawing/2014/main" id="{6D7746D8-B913-493B-AAE9-25BC6893D40E}"/>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5" name="Arc 44">
                <a:extLst>
                  <a:ext uri="{FF2B5EF4-FFF2-40B4-BE49-F238E27FC236}">
                    <a16:creationId xmlns:a16="http://schemas.microsoft.com/office/drawing/2014/main" id="{29031C02-E965-417B-8799-96061B14F30D}"/>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46" name="Arc 45">
                <a:extLst>
                  <a:ext uri="{FF2B5EF4-FFF2-40B4-BE49-F238E27FC236}">
                    <a16:creationId xmlns:a16="http://schemas.microsoft.com/office/drawing/2014/main" id="{26BFD8A6-BC99-4B16-BA10-08A9E5C681C0}"/>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0" name="Rectangle: Rounded Corners 29">
              <a:extLst>
                <a:ext uri="{FF2B5EF4-FFF2-40B4-BE49-F238E27FC236}">
                  <a16:creationId xmlns:a16="http://schemas.microsoft.com/office/drawing/2014/main" id="{B310277F-A78E-4FB9-9EA9-88BE4F1D585B}"/>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1" name="Rectangle: Rounded Corners 30">
              <a:extLst>
                <a:ext uri="{FF2B5EF4-FFF2-40B4-BE49-F238E27FC236}">
                  <a16:creationId xmlns:a16="http://schemas.microsoft.com/office/drawing/2014/main" id="{A92CF92B-C212-4542-83AE-A0058B5BB5EA}"/>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2" name="Straight Connector 31">
              <a:extLst>
                <a:ext uri="{FF2B5EF4-FFF2-40B4-BE49-F238E27FC236}">
                  <a16:creationId xmlns:a16="http://schemas.microsoft.com/office/drawing/2014/main" id="{563B4374-5C0D-461F-B3BD-78D99614D365}"/>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BC6FDE7-AEA1-4230-8433-4C088A0FF5F9}"/>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C4D1021D-07C7-4331-8FF6-36980A30978B}"/>
                </a:ext>
              </a:extLst>
            </p:cNvPr>
            <p:cNvGrpSpPr/>
            <p:nvPr/>
          </p:nvGrpSpPr>
          <p:grpSpPr>
            <a:xfrm>
              <a:off x="4203288" y="2479090"/>
              <a:ext cx="436874" cy="448528"/>
              <a:chOff x="2320288" y="2903541"/>
              <a:chExt cx="332555" cy="302680"/>
            </a:xfrm>
            <a:solidFill>
              <a:srgbClr val="464646"/>
            </a:solidFill>
          </p:grpSpPr>
          <p:cxnSp>
            <p:nvCxnSpPr>
              <p:cNvPr id="40" name="Straight Connector 39">
                <a:extLst>
                  <a:ext uri="{FF2B5EF4-FFF2-40B4-BE49-F238E27FC236}">
                    <a16:creationId xmlns:a16="http://schemas.microsoft.com/office/drawing/2014/main" id="{13B7FE99-95CF-45D5-966B-87A979B93431}"/>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1BBA69B-19FF-4ADB-A739-AD8136A5F0A6}"/>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35" name="Straight Connector 34">
              <a:extLst>
                <a:ext uri="{FF2B5EF4-FFF2-40B4-BE49-F238E27FC236}">
                  <a16:creationId xmlns:a16="http://schemas.microsoft.com/office/drawing/2014/main" id="{BFD1D86B-562B-40B2-8E46-34233EFEE7FC}"/>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36" name="Rectangle: Rounded Corners 35">
              <a:extLst>
                <a:ext uri="{FF2B5EF4-FFF2-40B4-BE49-F238E27FC236}">
                  <a16:creationId xmlns:a16="http://schemas.microsoft.com/office/drawing/2014/main" id="{388C17BD-16A1-43C5-BFFA-2FF9174719E1}"/>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37" name="Group 36">
              <a:extLst>
                <a:ext uri="{FF2B5EF4-FFF2-40B4-BE49-F238E27FC236}">
                  <a16:creationId xmlns:a16="http://schemas.microsoft.com/office/drawing/2014/main" id="{1B3B910E-ACFC-4F28-8E28-F02E1588B87E}"/>
                </a:ext>
              </a:extLst>
            </p:cNvPr>
            <p:cNvGrpSpPr/>
            <p:nvPr/>
          </p:nvGrpSpPr>
          <p:grpSpPr>
            <a:xfrm flipH="1">
              <a:off x="5035162" y="2479090"/>
              <a:ext cx="436872" cy="448528"/>
              <a:chOff x="2320288" y="2903541"/>
              <a:chExt cx="332555" cy="302680"/>
            </a:xfrm>
            <a:solidFill>
              <a:srgbClr val="464646"/>
            </a:solidFill>
          </p:grpSpPr>
          <p:cxnSp>
            <p:nvCxnSpPr>
              <p:cNvPr id="38" name="Straight Connector 37">
                <a:extLst>
                  <a:ext uri="{FF2B5EF4-FFF2-40B4-BE49-F238E27FC236}">
                    <a16:creationId xmlns:a16="http://schemas.microsoft.com/office/drawing/2014/main" id="{F57772B6-06C0-4F54-AA94-D3F92DA4716A}"/>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23370C1F-7876-4278-AB20-78F6CAA385E2}"/>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2845625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urce Code Example">
    <p:spTree>
      <p:nvGrpSpPr>
        <p:cNvPr id="1" name=""/>
        <p:cNvGrpSpPr/>
        <p:nvPr/>
      </p:nvGrpSpPr>
      <p:grpSpPr>
        <a:xfrm>
          <a:off x="0" y="0"/>
          <a:ext cx="0" cy="0"/>
          <a:chOff x="0" y="0"/>
          <a:chExt cx="0" cy="0"/>
        </a:xfrm>
      </p:grpSpPr>
      <p:sp>
        <p:nvSpPr>
          <p:cNvPr id="8" name="Slide Number">
            <a:extLst>
              <a:ext uri="{FF2B5EF4-FFF2-40B4-BE49-F238E27FC236}">
                <a16:creationId xmlns:a16="http://schemas.microsoft.com/office/drawing/2014/main" id="{509D954E-A844-4072-A556-DE584BEB932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6" name="Code Box">
            <a:extLst>
              <a:ext uri="{FF2B5EF4-FFF2-40B4-BE49-F238E27FC236}">
                <a16:creationId xmlns:a16="http://schemas.microsoft.com/office/drawing/2014/main" id="{3278A82F-5546-4977-9F75-2A933B415945}"/>
              </a:ext>
            </a:extLst>
          </p:cNvPr>
          <p:cNvSpPr>
            <a:spLocks noGrp="1"/>
          </p:cNvSpPr>
          <p:nvPr>
            <p:ph type="body" sz="quarter" idx="11" hasCustomPrompt="1"/>
          </p:nvPr>
        </p:nvSpPr>
        <p:spPr>
          <a:xfrm>
            <a:off x="621234" y="1931154"/>
            <a:ext cx="10949531" cy="1362846"/>
          </a:xfrm>
          <a:prstGeom prst="rect">
            <a:avLst/>
          </a:prstGeom>
          <a:solidFill>
            <a:schemeClr val="accent6">
              <a:lumMod val="75000"/>
              <a:alpha val="15000"/>
            </a:schemeClr>
          </a:solidFill>
          <a:ln w="12700">
            <a:solidFill>
              <a:schemeClr val="tx1">
                <a:lumMod val="50000"/>
              </a:schemeClr>
            </a:solidFill>
          </a:ln>
        </p:spPr>
        <p:txBody>
          <a:bodyPr wrap="square" lIns="144000" tIns="108000" rIns="144000" bIns="108000">
            <a:spAutoFit/>
          </a:bodyPr>
          <a:lstStyle>
            <a:lvl1pPr marL="0" indent="0" latinLnBrk="0">
              <a:lnSpc>
                <a:spcPct val="105000"/>
              </a:lnSpc>
              <a:spcBef>
                <a:spcPts val="0"/>
              </a:spcBef>
              <a:spcAft>
                <a:spcPts val="0"/>
              </a:spcAft>
              <a:buNone/>
              <a:defRPr lang="en-US" sz="2398" b="1" noProof="1" smtClean="0">
                <a:solidFill>
                  <a:schemeClr val="tx1"/>
                </a:solidFill>
                <a:effectLst/>
                <a:latin typeface="Consolas" pitchFamily="49" charset="0"/>
                <a:cs typeface="Consolas" pitchFamily="49" charset="0"/>
              </a:defRPr>
            </a:lvl1pPr>
          </a:lstStyle>
          <a:p>
            <a:pPr marL="0" lvl="0"/>
            <a:r>
              <a:rPr lang="en-US" noProof="1"/>
              <a:t>Source code box</a:t>
            </a:r>
          </a:p>
          <a:p>
            <a:pPr marL="0" lvl="0"/>
            <a:r>
              <a:rPr lang="en-US" noProof="1"/>
              <a:t>…</a:t>
            </a:r>
          </a:p>
          <a:p>
            <a:pPr marL="0" lvl="0"/>
            <a:r>
              <a:rPr lang="en-US" noProof="1"/>
              <a:t>…</a:t>
            </a:r>
          </a:p>
        </p:txBody>
      </p:sp>
      <p:sp>
        <p:nvSpPr>
          <p:cNvPr id="21" name="Slide Body Text">
            <a:extLst>
              <a:ext uri="{FF2B5EF4-FFF2-40B4-BE49-F238E27FC236}">
                <a16:creationId xmlns:a16="http://schemas.microsoft.com/office/drawing/2014/main" id="{04F318BE-2BAD-4677-871C-D78A4BF0CBA6}"/>
              </a:ext>
            </a:extLst>
          </p:cNvPr>
          <p:cNvSpPr>
            <a:spLocks noGrp="1"/>
          </p:cNvSpPr>
          <p:nvPr>
            <p:ph type="body" sz="quarter" idx="10" hasCustomPrompt="1"/>
          </p:nvPr>
        </p:nvSpPr>
        <p:spPr>
          <a:xfrm>
            <a:off x="190501" y="1196126"/>
            <a:ext cx="11811097" cy="5561124"/>
          </a:xfrm>
        </p:spPr>
        <p:txBody>
          <a:bodyPr/>
          <a:lstStyle>
            <a:lvl1pPr marL="0" indent="0" latinLnBrk="0">
              <a:buNone/>
              <a:defRPr>
                <a:solidFill>
                  <a:schemeClr val="tx1"/>
                </a:solidFill>
              </a:defRPr>
            </a:lvl1pPr>
            <a:lvl2pPr marL="609219" indent="0">
              <a:buNone/>
              <a:defRPr/>
            </a:lvl2pPr>
          </a:lstStyle>
          <a:p>
            <a:pPr lvl="0"/>
            <a:r>
              <a:rPr lang="en-US" noProof="0"/>
              <a:t>Sample source code:</a:t>
            </a:r>
          </a:p>
        </p:txBody>
      </p:sp>
      <p:sp>
        <p:nvSpPr>
          <p:cNvPr id="9" name="Rectangle Top">
            <a:extLst>
              <a:ext uri="{FF2B5EF4-FFF2-40B4-BE49-F238E27FC236}">
                <a16:creationId xmlns:a16="http://schemas.microsoft.com/office/drawing/2014/main" id="{A15CE03A-0933-4E5D-9EA1-718D4F802FFC}"/>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0" name="Logo Software University" descr="Software University logo">
            <a:extLst>
              <a:ext uri="{FF2B5EF4-FFF2-40B4-BE49-F238E27FC236}">
                <a16:creationId xmlns:a16="http://schemas.microsoft.com/office/drawing/2014/main" id="{8C01D7AF-7CBD-46E1-99F3-8EB60E838D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1" name="Slide Title">
            <a:extLst>
              <a:ext uri="{FF2B5EF4-FFF2-40B4-BE49-F238E27FC236}">
                <a16:creationId xmlns:a16="http://schemas.microsoft.com/office/drawing/2014/main" id="{47D60833-F0A9-4F29-8C06-A963A7C8BE93}"/>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000829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Rectangle Bottom"/>
          <p:cNvSpPr/>
          <p:nvPr/>
        </p:nvSpPr>
        <p:spPr>
          <a:xfrm>
            <a:off x="2" y="6264000"/>
            <a:ext cx="12192000" cy="59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56" tIns="60928" rIns="121856" bIns="60928"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Number">
            <a:extLst>
              <a:ext uri="{FF2B5EF4-FFF2-40B4-BE49-F238E27FC236}">
                <a16:creationId xmlns:a16="http://schemas.microsoft.com/office/drawing/2014/main" id="{6750ECE4-94E0-469B-B8E4-562792823B0F}"/>
              </a:ext>
            </a:extLst>
          </p:cNvPr>
          <p:cNvSpPr>
            <a:spLocks noGrp="1"/>
          </p:cNvSpPr>
          <p:nvPr>
            <p:ph type="sldNum" sz="quarter" idx="4"/>
          </p:nvPr>
        </p:nvSpPr>
        <p:spPr>
          <a:xfrm>
            <a:off x="11753030" y="6462000"/>
            <a:ext cx="367414" cy="297000"/>
          </a:xfrm>
          <a:prstGeom prst="rect">
            <a:avLst/>
          </a:prstGeom>
        </p:spPr>
        <p:txBody>
          <a:bodyPr vert="horz" lIns="91440" tIns="45720" rIns="91440" bIns="45720" rtlCol="0" anchor="b"/>
          <a:lstStyle>
            <a:lvl1pPr algn="r">
              <a:defRPr sz="1000">
                <a:solidFill>
                  <a:schemeClr val="bg2"/>
                </a:solidFill>
              </a:defRPr>
            </a:lvl1pPr>
          </a:lstStyle>
          <a:p>
            <a:fld id="{2BF067CD-8E6B-4360-9AA8-C5DF2A48A6D1}" type="slidenum">
              <a:rPr lang="en-US" smtClean="0"/>
              <a:pPr/>
              <a:t>‹#›</a:t>
            </a:fld>
            <a:endParaRPr lang="en-US" dirty="0"/>
          </a:p>
        </p:txBody>
      </p:sp>
      <p:sp>
        <p:nvSpPr>
          <p:cNvPr id="4" name="Oval Logo Holder"/>
          <p:cNvSpPr/>
          <p:nvPr/>
        </p:nvSpPr>
        <p:spPr>
          <a:xfrm>
            <a:off x="5161650" y="4824665"/>
            <a:ext cx="1868701" cy="1868701"/>
          </a:xfrm>
          <a:prstGeom prst="ellipse">
            <a:avLst/>
          </a:prstGeom>
          <a:solidFill>
            <a:schemeClr val="tx2"/>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own" descr="Software University logo">
            <a:extLst>
              <a:ext uri="{FF2B5EF4-FFF2-40B4-BE49-F238E27FC236}">
                <a16:creationId xmlns:a16="http://schemas.microsoft.com/office/drawing/2014/main" id="{7028D2F0-1E67-414B-A93D-D3F8F131A1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6551" y="5206773"/>
            <a:ext cx="958900" cy="1184869"/>
          </a:xfrm>
          <a:prstGeom prst="rect">
            <a:avLst/>
          </a:prstGeom>
        </p:spPr>
      </p:pic>
      <p:sp>
        <p:nvSpPr>
          <p:cNvPr id="10" name="Text Placeholder Right">
            <a:extLst>
              <a:ext uri="{FF2B5EF4-FFF2-40B4-BE49-F238E27FC236}">
                <a16:creationId xmlns:a16="http://schemas.microsoft.com/office/drawing/2014/main" id="{AF69A59F-C564-4A04-B1CC-31C261499991}"/>
              </a:ext>
            </a:extLst>
          </p:cNvPr>
          <p:cNvSpPr>
            <a:spLocks noGrp="1"/>
          </p:cNvSpPr>
          <p:nvPr>
            <p:ph type="body" sz="quarter" idx="11" hasCustomPrompt="1"/>
          </p:nvPr>
        </p:nvSpPr>
        <p:spPr>
          <a:xfrm>
            <a:off x="6456000" y="1195931"/>
            <a:ext cx="5545597"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Left">
            <a:extLst>
              <a:ext uri="{FF2B5EF4-FFF2-40B4-BE49-F238E27FC236}">
                <a16:creationId xmlns:a16="http://schemas.microsoft.com/office/drawing/2014/main" id="{C8A626D2-456B-41EF-9818-EA8DD7E314DA}"/>
              </a:ext>
            </a:extLst>
          </p:cNvPr>
          <p:cNvSpPr>
            <a:spLocks noGrp="1"/>
          </p:cNvSpPr>
          <p:nvPr>
            <p:ph type="body" sz="quarter" idx="10" hasCustomPrompt="1"/>
          </p:nvPr>
        </p:nvSpPr>
        <p:spPr>
          <a:xfrm>
            <a:off x="190402" y="1195931"/>
            <a:ext cx="5545598"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E03301DA-D0AF-46FD-8740-2F761250203A}"/>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Logo Software University" descr="Software University logo">
            <a:extLst>
              <a:ext uri="{FF2B5EF4-FFF2-40B4-BE49-F238E27FC236}">
                <a16:creationId xmlns:a16="http://schemas.microsoft.com/office/drawing/2014/main" id="{19A67BB9-D880-4EAD-B90E-89C4219BFC0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5" name="Slide Title">
            <a:extLst>
              <a:ext uri="{FF2B5EF4-FFF2-40B4-BE49-F238E27FC236}">
                <a16:creationId xmlns:a16="http://schemas.microsoft.com/office/drawing/2014/main" id="{EA9A94D1-F9F6-4D7B-85E3-896A987B6A4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044033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F888EE71-82B3-40F1-A63F-7417422FB4A4}"/>
              </a:ext>
            </a:extLst>
          </p:cNvPr>
          <p:cNvSpPr>
            <a:spLocks noGrp="1"/>
          </p:cNvSpPr>
          <p:nvPr>
            <p:ph type="sldNum" sz="quarter" idx="4"/>
          </p:nvPr>
        </p:nvSpPr>
        <p:spPr>
          <a:xfrm>
            <a:off x="11753030" y="6444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14" name="Text Placeholder Body">
            <a:extLst>
              <a:ext uri="{FF2B5EF4-FFF2-40B4-BE49-F238E27FC236}">
                <a16:creationId xmlns:a16="http://schemas.microsoft.com/office/drawing/2014/main" id="{A2ABE920-240F-4CF6-AD45-23ED489FAD6E}"/>
              </a:ext>
            </a:extLst>
          </p:cNvPr>
          <p:cNvSpPr>
            <a:spLocks noGrp="1"/>
          </p:cNvSpPr>
          <p:nvPr>
            <p:ph type="body" sz="quarter" idx="13" hasCustomPrompt="1"/>
          </p:nvPr>
        </p:nvSpPr>
        <p:spPr>
          <a:xfrm>
            <a:off x="4569002" y="1353866"/>
            <a:ext cx="7426234" cy="5219931"/>
          </a:xfrm>
        </p:spPr>
        <p:txBody>
          <a:bodyPr/>
          <a:lstStyle>
            <a:lvl1pPr latinLnBrk="0">
              <a:defRPr/>
            </a:lvl1pPr>
            <a:lvl2pPr latinLnBrk="0">
              <a:defRPr/>
            </a:lvl2pPr>
            <a:lvl3pPr latinLnBrk="0">
              <a:defRPr/>
            </a:lvl3pPr>
            <a:lvl4pPr latinLnBrk="0">
              <a:defRPr/>
            </a:lvl4pPr>
            <a:lvl5pPr latinLnBrk="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Left"/>
          <p:cNvSpPr>
            <a:spLocks noGrp="1"/>
          </p:cNvSpPr>
          <p:nvPr>
            <p:ph type="pic" idx="1" hasCustomPrompt="1"/>
          </p:nvPr>
        </p:nvSpPr>
        <p:spPr>
          <a:xfrm>
            <a:off x="190405" y="1355077"/>
            <a:ext cx="3889373" cy="5366405"/>
          </a:xfrm>
          <a:prstGeom prst="rect">
            <a:avLst/>
          </a:prstGeom>
          <a:solidFill>
            <a:schemeClr val="bg2">
              <a:lumMod val="90000"/>
            </a:schemeClr>
          </a:solidFill>
        </p:spPr>
        <p:txBody>
          <a:bodyPr anchor="ctr"/>
          <a:lstStyle>
            <a:lvl1pPr marL="0" indent="0" algn="ctr" latinLnBrk="0">
              <a:buNone/>
              <a:defRPr sz="2131" baseline="0">
                <a:solidFill>
                  <a:schemeClr val="tx1"/>
                </a:solidFill>
                <a:latin typeface="+mn-lt"/>
                <a:cs typeface="Arial" pitchFamily="34" charset="0"/>
              </a:defRPr>
            </a:lvl1pPr>
            <a:lvl2pPr marL="609219" indent="0">
              <a:buNone/>
              <a:defRPr sz="3731"/>
            </a:lvl2pPr>
            <a:lvl3pPr marL="1218438" indent="0">
              <a:buNone/>
              <a:defRPr sz="3198"/>
            </a:lvl3pPr>
            <a:lvl4pPr marL="1827657" indent="0">
              <a:buNone/>
              <a:defRPr sz="2665"/>
            </a:lvl4pPr>
            <a:lvl5pPr marL="2436876" indent="0">
              <a:buNone/>
              <a:defRPr sz="2665"/>
            </a:lvl5pPr>
            <a:lvl6pPr marL="3046096" indent="0">
              <a:buNone/>
              <a:defRPr sz="2665"/>
            </a:lvl6pPr>
            <a:lvl7pPr marL="3655315" indent="0">
              <a:buNone/>
              <a:defRPr sz="2665"/>
            </a:lvl7pPr>
            <a:lvl8pPr marL="4264533" indent="0">
              <a:buNone/>
              <a:defRPr sz="2665"/>
            </a:lvl8pPr>
            <a:lvl9pPr marL="4873752" indent="0">
              <a:buNone/>
              <a:defRPr sz="2665"/>
            </a:lvl9pPr>
          </a:lstStyle>
          <a:p>
            <a:r>
              <a:rPr lang="en-US" altLang="ko-KR" noProof="0"/>
              <a:t>Your Picture Here</a:t>
            </a:r>
          </a:p>
        </p:txBody>
      </p:sp>
      <p:sp>
        <p:nvSpPr>
          <p:cNvPr id="3" name="Rectangle Left Second"/>
          <p:cNvSpPr/>
          <p:nvPr/>
        </p:nvSpPr>
        <p:spPr>
          <a:xfrm>
            <a:off x="4127777" y="1748999"/>
            <a:ext cx="240001" cy="33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2" name="Rectangle Left First"/>
          <p:cNvSpPr/>
          <p:nvPr/>
        </p:nvSpPr>
        <p:spPr>
          <a:xfrm>
            <a:off x="4079775" y="1355073"/>
            <a:ext cx="48001" cy="550292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Rectangle Down">
            <a:extLst>
              <a:ext uri="{FF2B5EF4-FFF2-40B4-BE49-F238E27FC236}">
                <a16:creationId xmlns:a16="http://schemas.microsoft.com/office/drawing/2014/main" id="{E9B994EC-35A8-4A11-98CB-25DC28852F94}"/>
              </a:ext>
            </a:extLst>
          </p:cNvPr>
          <p:cNvSpPr/>
          <p:nvPr/>
        </p:nvSpPr>
        <p:spPr>
          <a:xfrm>
            <a:off x="2" y="6721482"/>
            <a:ext cx="12192000" cy="1365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Rectangle Top">
            <a:extLst>
              <a:ext uri="{FF2B5EF4-FFF2-40B4-BE49-F238E27FC236}">
                <a16:creationId xmlns:a16="http://schemas.microsoft.com/office/drawing/2014/main" id="{274B8F05-DFCE-47BD-BAFD-DF93E1A63BDD}"/>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233CBB95-791E-4630-B3D9-FADFCE7BCF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F218E34-55D7-4290-BFE4-80F31F941551}"/>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774019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Slide">
    <p:bg>
      <p:bgPr>
        <a:solidFill>
          <a:schemeClr val="bg2"/>
        </a:solidFill>
        <a:effectLst/>
      </p:bgPr>
    </p:bg>
    <p:spTree>
      <p:nvGrpSpPr>
        <p:cNvPr id="1" name=""/>
        <p:cNvGrpSpPr/>
        <p:nvPr/>
      </p:nvGrpSpPr>
      <p:grpSpPr>
        <a:xfrm>
          <a:off x="0" y="0"/>
          <a:ext cx="0" cy="0"/>
          <a:chOff x="0" y="0"/>
          <a:chExt cx="0" cy="0"/>
        </a:xfrm>
      </p:grpSpPr>
      <p:sp>
        <p:nvSpPr>
          <p:cNvPr id="35" name="Rectangle Bottom">
            <a:extLst>
              <a:ext uri="{FF2B5EF4-FFF2-40B4-BE49-F238E27FC236}">
                <a16:creationId xmlns:a16="http://schemas.microsoft.com/office/drawing/2014/main" id="{550A59F9-9A9D-4956-95B4-F78CC0DB1D59}"/>
              </a:ext>
            </a:extLst>
          </p:cNvPr>
          <p:cNvSpPr/>
          <p:nvPr userDrawn="1"/>
        </p:nvSpPr>
        <p:spPr>
          <a:xfrm>
            <a:off x="0" y="6371332"/>
            <a:ext cx="12195176" cy="4872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53" name="Rectangle Bottom Copyright">
            <a:extLst>
              <a:ext uri="{FF2B5EF4-FFF2-40B4-BE49-F238E27FC236}">
                <a16:creationId xmlns:a16="http://schemas.microsoft.com/office/drawing/2014/main" id="{B07FB7FB-DA6C-4F5D-B068-357F0FCE27D8}"/>
              </a:ext>
            </a:extLst>
          </p:cNvPr>
          <p:cNvSpPr/>
          <p:nvPr userDrawn="1"/>
        </p:nvSpPr>
        <p:spPr>
          <a:xfrm>
            <a:off x="111000" y="6454758"/>
            <a:ext cx="11970000" cy="258449"/>
          </a:xfrm>
          <a:prstGeom prst="rect">
            <a:avLst/>
          </a:prstGeom>
        </p:spPr>
        <p:txBody>
          <a:bodyPr wrap="square">
            <a:noAutofit/>
          </a:bodyPr>
          <a:lstStyle/>
          <a:p>
            <a:pPr algn="ctr">
              <a:lnSpc>
                <a:spcPct val="100000"/>
              </a:lnSpc>
              <a:spcBef>
                <a:spcPts val="0"/>
              </a:spcBef>
              <a:spcAft>
                <a:spcPts val="0"/>
              </a:spcAft>
            </a:pP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SoftUni – </a:t>
            </a:r>
            <a:r>
              <a:rPr lang="en-US" sz="1600" u="sng"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https://about.softuni.</a:t>
            </a:r>
            <a:r>
              <a:rPr lang="en-US" sz="1600" u="sng"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bg</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Copyrighted document. Unauthorized copy, reproduction or use is not permitted.</a:t>
            </a:r>
            <a:endParaRPr lang="en-US" sz="24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6" name="Picture SoftUni Mascot" descr="SoftUni mascot with open hand">
            <a:extLst>
              <a:ext uri="{FF2B5EF4-FFF2-40B4-BE49-F238E27FC236}">
                <a16:creationId xmlns:a16="http://schemas.microsoft.com/office/drawing/2014/main" id="{247CFF3C-C4FA-493D-8505-DF469F4D3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586" y="2898830"/>
            <a:ext cx="2451608" cy="2959741"/>
          </a:xfrm>
          <a:prstGeom prst="rect">
            <a:avLst/>
          </a:prstGeom>
        </p:spPr>
      </p:pic>
      <p:grpSp>
        <p:nvGrpSpPr>
          <p:cNvPr id="2" name="Group SoftUni Brands">
            <a:extLst>
              <a:ext uri="{FF2B5EF4-FFF2-40B4-BE49-F238E27FC236}">
                <a16:creationId xmlns:a16="http://schemas.microsoft.com/office/drawing/2014/main" id="{418FAE34-C1F8-46C7-A4AE-F270D1E70F25}"/>
              </a:ext>
            </a:extLst>
          </p:cNvPr>
          <p:cNvGrpSpPr/>
          <p:nvPr userDrawn="1"/>
        </p:nvGrpSpPr>
        <p:grpSpPr>
          <a:xfrm>
            <a:off x="3332216" y="1702473"/>
            <a:ext cx="8314909" cy="3543782"/>
            <a:chOff x="3332216" y="1702473"/>
            <a:chExt cx="8314909" cy="3543782"/>
          </a:xfrm>
        </p:grpSpPr>
        <p:pic>
          <p:nvPicPr>
            <p:cNvPr id="24" name="Picture SoftUni Kids Logo" descr="SoftUni Kids logo">
              <a:extLst>
                <a:ext uri="{FF2B5EF4-FFF2-40B4-BE49-F238E27FC236}">
                  <a16:creationId xmlns:a16="http://schemas.microsoft.com/office/drawing/2014/main" id="{B0812936-74B6-4265-8C08-AEDC8C7987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6883" y="3776294"/>
              <a:ext cx="1130242" cy="1389256"/>
            </a:xfrm>
            <a:prstGeom prst="rect">
              <a:avLst/>
            </a:prstGeom>
          </p:spPr>
        </p:pic>
        <p:pic>
          <p:nvPicPr>
            <p:cNvPr id="23" name="Picture SoftUni Foundation Logo" descr="SoftUni Foundation logo">
              <a:extLst>
                <a:ext uri="{FF2B5EF4-FFF2-40B4-BE49-F238E27FC236}">
                  <a16:creationId xmlns:a16="http://schemas.microsoft.com/office/drawing/2014/main" id="{6643F71A-2013-433A-8322-FBAAED3162D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53913" y="3788231"/>
              <a:ext cx="1166400" cy="1350756"/>
            </a:xfrm>
            <a:prstGeom prst="rect">
              <a:avLst/>
            </a:prstGeom>
          </p:spPr>
        </p:pic>
        <p:pic>
          <p:nvPicPr>
            <p:cNvPr id="22" name="Picture SoftUni Digital Logo" descr="SoftUni Digital logo">
              <a:extLst>
                <a:ext uri="{FF2B5EF4-FFF2-40B4-BE49-F238E27FC236}">
                  <a16:creationId xmlns:a16="http://schemas.microsoft.com/office/drawing/2014/main" id="{0A83D66F-855B-463B-920B-BF239B01A20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57695" y="3789000"/>
              <a:ext cx="1084614" cy="1457255"/>
            </a:xfrm>
            <a:prstGeom prst="rect">
              <a:avLst/>
            </a:prstGeom>
          </p:spPr>
        </p:pic>
        <p:pic>
          <p:nvPicPr>
            <p:cNvPr id="21" name="Picture SoftUni Creative Logo" descr="SoftUni Creative logo">
              <a:extLst>
                <a:ext uri="{FF2B5EF4-FFF2-40B4-BE49-F238E27FC236}">
                  <a16:creationId xmlns:a16="http://schemas.microsoft.com/office/drawing/2014/main" id="{EA755AAE-BA08-481C-9224-0061170EE4B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3913" y="3776293"/>
              <a:ext cx="1166400" cy="1389257"/>
            </a:xfrm>
            <a:prstGeom prst="rect">
              <a:avLst/>
            </a:prstGeom>
          </p:spPr>
        </p:pic>
        <p:pic>
          <p:nvPicPr>
            <p:cNvPr id="20" name="Picture SoftUni Svetlina Logo" descr="SoftUni Svetlina logo">
              <a:extLst>
                <a:ext uri="{FF2B5EF4-FFF2-40B4-BE49-F238E27FC236}">
                  <a16:creationId xmlns:a16="http://schemas.microsoft.com/office/drawing/2014/main" id="{827D15FD-4C66-4B85-98E6-7826AA8F61C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35029" y="3776293"/>
              <a:ext cx="1166400" cy="1402229"/>
            </a:xfrm>
            <a:prstGeom prst="rect">
              <a:avLst/>
            </a:prstGeom>
          </p:spPr>
        </p:pic>
        <p:pic>
          <p:nvPicPr>
            <p:cNvPr id="25" name="Picture Software University Logo" descr="Software University logo">
              <a:extLst>
                <a:ext uri="{FF2B5EF4-FFF2-40B4-BE49-F238E27FC236}">
                  <a16:creationId xmlns:a16="http://schemas.microsoft.com/office/drawing/2014/main" id="{C74C190C-5856-41B9-8819-AE8DE0E1098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32216" y="3776295"/>
              <a:ext cx="1164654" cy="1440000"/>
            </a:xfrm>
            <a:prstGeom prst="rect">
              <a:avLst/>
            </a:prstGeom>
          </p:spPr>
        </p:pic>
        <p:cxnSp>
          <p:nvCxnSpPr>
            <p:cNvPr id="33" name="Straight Connector 6">
              <a:extLst>
                <a:ext uri="{FF2B5EF4-FFF2-40B4-BE49-F238E27FC236}">
                  <a16:creationId xmlns:a16="http://schemas.microsoft.com/office/drawing/2014/main" id="{5C63D1E8-4A92-4691-8A24-A2FC7E8008E5}"/>
                </a:ext>
              </a:extLst>
            </p:cNvPr>
            <p:cNvCxnSpPr>
              <a:cxnSpLocks/>
            </p:cNvCxnSpPr>
            <p:nvPr userDrawn="1"/>
          </p:nvCxnSpPr>
          <p:spPr>
            <a:xfrm>
              <a:off x="110771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5">
              <a:extLst>
                <a:ext uri="{FF2B5EF4-FFF2-40B4-BE49-F238E27FC236}">
                  <a16:creationId xmlns:a16="http://schemas.microsoft.com/office/drawing/2014/main" id="{6E91D320-3732-40B8-864D-142D0A277ED1}"/>
                </a:ext>
              </a:extLst>
            </p:cNvPr>
            <p:cNvCxnSpPr>
              <a:cxnSpLocks/>
            </p:cNvCxnSpPr>
            <p:nvPr userDrawn="1"/>
          </p:nvCxnSpPr>
          <p:spPr>
            <a:xfrm>
              <a:off x="963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4">
              <a:extLst>
                <a:ext uri="{FF2B5EF4-FFF2-40B4-BE49-F238E27FC236}">
                  <a16:creationId xmlns:a16="http://schemas.microsoft.com/office/drawing/2014/main" id="{299ABE09-E33C-46B7-A80D-7BF4A6956211}"/>
                </a:ext>
              </a:extLst>
            </p:cNvPr>
            <p:cNvCxnSpPr/>
            <p:nvPr userDrawn="1"/>
          </p:nvCxnSpPr>
          <p:spPr>
            <a:xfrm>
              <a:off x="819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3">
              <a:extLst>
                <a:ext uri="{FF2B5EF4-FFF2-40B4-BE49-F238E27FC236}">
                  <a16:creationId xmlns:a16="http://schemas.microsoft.com/office/drawing/2014/main" id="{93DDBF37-0764-47AA-94E3-9A44F3ED8FB5}"/>
                </a:ext>
              </a:extLst>
            </p:cNvPr>
            <p:cNvCxnSpPr/>
            <p:nvPr userDrawn="1"/>
          </p:nvCxnSpPr>
          <p:spPr>
            <a:xfrm>
              <a:off x="675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
              <a:extLst>
                <a:ext uri="{FF2B5EF4-FFF2-40B4-BE49-F238E27FC236}">
                  <a16:creationId xmlns:a16="http://schemas.microsoft.com/office/drawing/2014/main" id="{72BFE2F3-0845-4E5B-9375-E9D4027DD675}"/>
                </a:ext>
              </a:extLst>
            </p:cNvPr>
            <p:cNvCxnSpPr/>
            <p:nvPr userDrawn="1"/>
          </p:nvCxnSpPr>
          <p:spPr>
            <a:xfrm>
              <a:off x="53099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1">
              <a:extLst>
                <a:ext uri="{FF2B5EF4-FFF2-40B4-BE49-F238E27FC236}">
                  <a16:creationId xmlns:a16="http://schemas.microsoft.com/office/drawing/2014/main" id="{D4E5982E-3110-47E1-A5BB-91B7BECC3093}"/>
                </a:ext>
              </a:extLst>
            </p:cNvPr>
            <p:cNvCxnSpPr/>
            <p:nvPr userDrawn="1"/>
          </p:nvCxnSpPr>
          <p:spPr>
            <a:xfrm>
              <a:off x="3915327"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Horizontal">
              <a:extLst>
                <a:ext uri="{FF2B5EF4-FFF2-40B4-BE49-F238E27FC236}">
                  <a16:creationId xmlns:a16="http://schemas.microsoft.com/office/drawing/2014/main" id="{5F62FB7C-BD6E-4383-98C1-2CF30F34CAFD}"/>
                </a:ext>
              </a:extLst>
            </p:cNvPr>
            <p:cNvCxnSpPr>
              <a:cxnSpLocks/>
            </p:cNvCxnSpPr>
            <p:nvPr userDrawn="1"/>
          </p:nvCxnSpPr>
          <p:spPr>
            <a:xfrm>
              <a:off x="3915327" y="3335565"/>
              <a:ext cx="716178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0">
              <a:extLst>
                <a:ext uri="{FF2B5EF4-FFF2-40B4-BE49-F238E27FC236}">
                  <a16:creationId xmlns:a16="http://schemas.microsoft.com/office/drawing/2014/main" id="{C84A0FE1-723D-4682-8682-77BAD950EE15}"/>
                </a:ext>
              </a:extLst>
            </p:cNvPr>
            <p:cNvCxnSpPr/>
            <p:nvPr userDrawn="1"/>
          </p:nvCxnSpPr>
          <p:spPr>
            <a:xfrm>
              <a:off x="7496220" y="309299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8" name="Picture SoftUni Logo" descr="SoftUni logo">
              <a:extLst>
                <a:ext uri="{FF2B5EF4-FFF2-40B4-BE49-F238E27FC236}">
                  <a16:creationId xmlns:a16="http://schemas.microsoft.com/office/drawing/2014/main" id="{A0675455-B7FA-4569-A5FD-A3B0F20B2A2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896770" y="1702473"/>
              <a:ext cx="1198901" cy="1198901"/>
            </a:xfrm>
            <a:prstGeom prst="rect">
              <a:avLst/>
            </a:prstGeom>
          </p:spPr>
        </p:pic>
      </p:grpSp>
      <p:sp>
        <p:nvSpPr>
          <p:cNvPr id="19" name="Slide Title">
            <a:extLst>
              <a:ext uri="{FF2B5EF4-FFF2-40B4-BE49-F238E27FC236}">
                <a16:creationId xmlns:a16="http://schemas.microsoft.com/office/drawing/2014/main" id="{7CFDBB16-985C-4CC7-B6DB-B81B36037922}"/>
              </a:ext>
            </a:extLst>
          </p:cNvPr>
          <p:cNvSpPr>
            <a:spLocks noGrp="1"/>
          </p:cNvSpPr>
          <p:nvPr>
            <p:ph type="title"/>
          </p:nvPr>
        </p:nvSpPr>
        <p:spPr>
          <a:xfrm>
            <a:off x="809628" y="703244"/>
            <a:ext cx="5916372" cy="1033303"/>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marR="0" lvl="0" indent="0" algn="l" defTabSz="913852" rtl="0" eaLnBrk="0" fontAlgn="auto" latinLnBrk="0" hangingPunct="0">
              <a:lnSpc>
                <a:spcPct val="100000"/>
              </a:lnSpc>
              <a:spcBef>
                <a:spcPts val="0"/>
              </a:spcBef>
              <a:spcAft>
                <a:spcPts val="0"/>
              </a:spcAft>
              <a:buClr>
                <a:srgbClr val="67748E">
                  <a:lumMod val="40000"/>
                  <a:lumOff val="60000"/>
                </a:srgbClr>
              </a:buClr>
              <a:buSzPct val="70000"/>
              <a:buFont typeface="Wingdings 2" pitchFamily="18" charset="2"/>
              <a:buNone/>
              <a:tabLst/>
              <a:defRPr/>
            </a:pPr>
            <a:r>
              <a:rPr kumimoji="0" lang="en-US" sz="8797" b="1" i="0" u="none" strike="noStrike" kern="1200" cap="none" spc="0" normalizeH="0" baseline="0" noProof="0" dirty="0">
                <a:ln>
                  <a:noFill/>
                </a:ln>
                <a:solidFill>
                  <a:srgbClr val="234465"/>
                </a:solidFill>
                <a:effectLst/>
                <a:uLnTx/>
                <a:uFillTx/>
                <a:latin typeface="Calibri" panose="020F0502020204030204"/>
                <a:ea typeface="+mn-ea"/>
                <a:cs typeface="+mn-cs"/>
              </a:rPr>
              <a:t>Questions?</a:t>
            </a:r>
            <a:endParaRPr kumimoji="0" lang="en-US" sz="8797" b="1" i="0" u="none" strike="noStrike" kern="1200" cap="none" spc="150" normalizeH="0" baseline="0" noProof="0" dirty="0">
              <a:ln w="11430"/>
              <a:solidFill>
                <a:srgbClr val="234465"/>
              </a:solidFill>
              <a:effectLst>
                <a:outerShdw blurRad="25400" algn="tl" rotWithShape="0">
                  <a:srgbClr val="000000">
                    <a:alpha val="43000"/>
                  </a:srgbClr>
                </a:outerShdw>
              </a:effectLst>
              <a:uLnTx/>
              <a:uFillTx/>
              <a:latin typeface="Calibri" panose="020F0502020204030204"/>
              <a:ea typeface="+mn-ea"/>
              <a:cs typeface="+mn-cs"/>
            </a:endParaRPr>
          </a:p>
        </p:txBody>
      </p:sp>
      <p:pic>
        <p:nvPicPr>
          <p:cNvPr id="36" name="Logo Software University" descr="Software University logo">
            <a:extLst>
              <a:ext uri="{FF2B5EF4-FFF2-40B4-BE49-F238E27FC236}">
                <a16:creationId xmlns:a16="http://schemas.microsoft.com/office/drawing/2014/main" id="{67FC4D2E-913D-432A-B658-F0D82839FA5E}"/>
              </a:ext>
            </a:extLst>
          </p:cNvPr>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Tree>
    <p:extLst>
      <p:ext uri="{BB962C8B-B14F-4D97-AF65-F5344CB8AC3E}">
        <p14:creationId xmlns:p14="http://schemas.microsoft.com/office/powerpoint/2010/main" val="41920612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bout Slide">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5B8761D8-B42F-4A70-A0CE-682CEB2AE31B}"/>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pic>
        <p:nvPicPr>
          <p:cNvPr id="17" name="Picture Logo FB" descr="Facebook logo">
            <a:hlinkClick r:id="rId2" tooltip="Software University @ Facebook"/>
            <a:extLst>
              <a:ext uri="{FF2B5EF4-FFF2-40B4-BE49-F238E27FC236}">
                <a16:creationId xmlns:a16="http://schemas.microsoft.com/office/drawing/2014/main" id="{6B2C510E-5EF2-49F6-B926-2BD74CD3C7F8}"/>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10523831" y="4689000"/>
            <a:ext cx="1003954" cy="10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Logo SoftUni Right" descr="Software University logo">
            <a:hlinkClick r:id="rId4"/>
            <a:extLst>
              <a:ext uri="{FF2B5EF4-FFF2-40B4-BE49-F238E27FC236}">
                <a16:creationId xmlns:a16="http://schemas.microsoft.com/office/drawing/2014/main" id="{F4604840-E810-44B7-9FF1-3B28CD68B75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9781" y="1967508"/>
            <a:ext cx="1192055" cy="1473880"/>
          </a:xfrm>
          <a:prstGeom prst="rect">
            <a:avLst/>
          </a:prstGeom>
        </p:spPr>
      </p:pic>
      <p:pic>
        <p:nvPicPr>
          <p:cNvPr id="16" name="Picture SoftUni Mascot" descr="SoftUni mascot">
            <a:hlinkClick r:id="rId6"/>
            <a:extLst>
              <a:ext uri="{FF2B5EF4-FFF2-40B4-BE49-F238E27FC236}">
                <a16:creationId xmlns:a16="http://schemas.microsoft.com/office/drawing/2014/main" id="{07C965FA-A87E-4824-AFA8-C67AF548A76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7181957" y="2584289"/>
            <a:ext cx="2732955" cy="3630993"/>
          </a:xfrm>
          <a:prstGeom prst="rect">
            <a:avLst/>
          </a:prstGeom>
        </p:spPr>
      </p:pic>
      <p:sp>
        <p:nvSpPr>
          <p:cNvPr id="12" name="Slide Body Text">
            <a:extLst>
              <a:ext uri="{FF2B5EF4-FFF2-40B4-BE49-F238E27FC236}">
                <a16:creationId xmlns:a16="http://schemas.microsoft.com/office/drawing/2014/main" id="{0C1F9416-8B6E-46DE-973C-777785E27A26}"/>
              </a:ext>
            </a:extLst>
          </p:cNvPr>
          <p:cNvSpPr>
            <a:spLocks noGrp="1"/>
          </p:cNvSpPr>
          <p:nvPr>
            <p:ph idx="4294967295" hasCustomPrompt="1"/>
          </p:nvPr>
        </p:nvSpPr>
        <p:spPr>
          <a:xfrm>
            <a:off x="152410" y="1186307"/>
            <a:ext cx="8688590" cy="5496127"/>
          </a:xfrm>
        </p:spPr>
        <p:txBody>
          <a:bodyPr wrap="square">
            <a:noAutofit/>
          </a:bodyPr>
          <a:lstStyle>
            <a:lvl1pPr latinLnBrk="0">
              <a:buClr>
                <a:schemeClr val="tx1"/>
              </a:buClr>
              <a:defRPr sz="2798"/>
            </a:lvl1pPr>
            <a:lvl2pPr marL="989981" marR="0" indent="-380762" algn="l" defTabSz="1218438" rtl="0" eaLnBrk="1" fontAlgn="auto" latinLnBrk="1" hangingPunct="1">
              <a:lnSpc>
                <a:spcPct val="100000"/>
              </a:lnSpc>
              <a:spcBef>
                <a:spcPts val="600"/>
              </a:spcBef>
              <a:spcAft>
                <a:spcPts val="600"/>
              </a:spcAft>
              <a:buClrTx/>
              <a:buSzTx/>
              <a:buFont typeface="Wingdings" panose="05000000000000000000" pitchFamily="2" charset="2"/>
              <a:buChar char="§"/>
              <a:tabLst>
                <a:tab pos="282405" algn="l"/>
              </a:tabLst>
              <a:defRPr sz="2800"/>
            </a:lvl2pPr>
            <a:lvl3pPr>
              <a:buClr>
                <a:schemeClr val="tx1"/>
              </a:buClr>
              <a:defRPr/>
            </a:lvl3pPr>
          </a:lstStyle>
          <a:p>
            <a:r>
              <a:rPr lang="en-US" sz="3000" noProof="0" dirty="0"/>
              <a:t>Software University – High-Quality Education, Profession and Job for Software Developers</a:t>
            </a:r>
          </a:p>
          <a:p>
            <a:pPr lvl="1"/>
            <a:r>
              <a:rPr lang="en-US" noProof="1">
                <a:hlinkClick r:id="rId6"/>
              </a:rPr>
              <a:t>softuni.bg</a:t>
            </a:r>
            <a:endParaRPr lang="en-US" noProof="1"/>
          </a:p>
          <a:p>
            <a:r>
              <a:rPr lang="en-US" sz="3000" noProof="0" dirty="0"/>
              <a:t>Software University Foundation</a:t>
            </a:r>
          </a:p>
          <a:p>
            <a:pPr lvl="1"/>
            <a:r>
              <a:rPr lang="en-US" noProof="1">
                <a:hlinkClick r:id="rId8"/>
              </a:rPr>
              <a:t>softuni.foundation</a:t>
            </a:r>
            <a:endParaRPr lang="en-US" noProof="1"/>
          </a:p>
          <a:p>
            <a:r>
              <a:rPr lang="en-US" sz="3000" noProof="0" dirty="0"/>
              <a:t>Software University @ Facebook</a:t>
            </a:r>
          </a:p>
          <a:p>
            <a:pPr lvl="1"/>
            <a:r>
              <a:rPr lang="en-US" noProof="1">
                <a:hlinkClick r:id="rId2"/>
              </a:rPr>
              <a:t>facebook.com/SoftwareUniversity</a:t>
            </a:r>
            <a:endParaRPr lang="en-US" noProof="1"/>
          </a:p>
        </p:txBody>
      </p:sp>
      <p:sp>
        <p:nvSpPr>
          <p:cNvPr id="10" name="Rectangle Top">
            <a:extLst>
              <a:ext uri="{FF2B5EF4-FFF2-40B4-BE49-F238E27FC236}">
                <a16:creationId xmlns:a16="http://schemas.microsoft.com/office/drawing/2014/main" id="{86646B95-5E3B-4DE8-9118-031C2C296D8C}"/>
              </a:ext>
            </a:extLst>
          </p:cNvPr>
          <p:cNvSpPr/>
          <p:nvPr userDrawn="1"/>
        </p:nvSpPr>
        <p:spPr>
          <a:xfrm>
            <a:off x="0" y="0"/>
            <a:ext cx="12195176"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58AB1944-B146-4E89-B2D9-426EB610F319}"/>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8" name="Slide Title">
            <a:extLst>
              <a:ext uri="{FF2B5EF4-FFF2-40B4-BE49-F238E27FC236}">
                <a16:creationId xmlns:a16="http://schemas.microsoft.com/office/drawing/2014/main" id="{AE87ED9C-76E1-4D85-9B06-3AF44AABB668}"/>
              </a:ext>
            </a:extLst>
          </p:cNvPr>
          <p:cNvSpPr>
            <a:spLocks noGrp="1"/>
          </p:cNvSpPr>
          <p:nvPr>
            <p:ph type="title" hasCustomPrompt="1"/>
          </p:nvPr>
        </p:nvSpPr>
        <p:spPr>
          <a:xfrm>
            <a:off x="172286" y="108873"/>
            <a:ext cx="9742626" cy="882654"/>
          </a:xfrm>
        </p:spPr>
        <p:txBody>
          <a:bodyPr/>
          <a:lstStyle>
            <a:lvl1pPr latinLnBrk="0">
              <a:defRPr>
                <a:solidFill>
                  <a:schemeClr val="bg2"/>
                </a:solidFill>
              </a:defRPr>
            </a:lvl1pPr>
          </a:lstStyle>
          <a:p>
            <a:r>
              <a:rPr lang="en-US" noProof="0" dirty="0"/>
              <a:t>Trainings @ Software University (SoftUni)</a:t>
            </a:r>
          </a:p>
        </p:txBody>
      </p:sp>
    </p:spTree>
    <p:extLst>
      <p:ext uri="{BB962C8B-B14F-4D97-AF65-F5344CB8AC3E}">
        <p14:creationId xmlns:p14="http://schemas.microsoft.com/office/powerpoint/2010/main" val="21964663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able of Contents">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39DDE17E-5472-41F3-AF5F-54DFF10DC63C}"/>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pic>
        <p:nvPicPr>
          <p:cNvPr id="9" name="Picture SoftUni Mascot" descr="SoftUni mascot with laptop">
            <a:extLst>
              <a:ext uri="{FF2B5EF4-FFF2-40B4-BE49-F238E27FC236}">
                <a16:creationId xmlns:a16="http://schemas.microsoft.com/office/drawing/2014/main" id="{DC4365F6-D2C1-47B4-8477-38FD2C7711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516000" y="3408496"/>
            <a:ext cx="2251057" cy="3044431"/>
          </a:xfrm>
          <a:prstGeom prst="rect">
            <a:avLst/>
          </a:prstGeom>
        </p:spPr>
      </p:pic>
      <p:sp>
        <p:nvSpPr>
          <p:cNvPr id="23" name="Slide Body Text">
            <a:extLst>
              <a:ext uri="{FF2B5EF4-FFF2-40B4-BE49-F238E27FC236}">
                <a16:creationId xmlns:a16="http://schemas.microsoft.com/office/drawing/2014/main" id="{889D93F4-ABFA-46BF-8E5D-FE6562ACB20F}"/>
              </a:ext>
            </a:extLst>
          </p:cNvPr>
          <p:cNvSpPr>
            <a:spLocks noGrp="1"/>
          </p:cNvSpPr>
          <p:nvPr>
            <p:ph type="body" sz="quarter" idx="13" hasCustomPrompt="1"/>
          </p:nvPr>
        </p:nvSpPr>
        <p:spPr>
          <a:xfrm>
            <a:off x="196766" y="1371604"/>
            <a:ext cx="9049234" cy="5207396"/>
          </a:xfrm>
        </p:spPr>
        <p:txBody>
          <a:bodyPr>
            <a:normAutofit/>
          </a:bodyPr>
          <a:lstStyle>
            <a:lvl1pPr marL="514042" indent="-514042" latinLnBrk="0">
              <a:buFont typeface="+mj-lt"/>
              <a:buAutoNum type="arabicPeriod"/>
              <a:defRPr sz="3600">
                <a:solidFill>
                  <a:schemeClr val="tx1"/>
                </a:solidFill>
              </a:defRPr>
            </a:lvl1pPr>
            <a:lvl2pPr>
              <a:defRPr sz="3400"/>
            </a:lvl2pPr>
          </a:lstStyle>
          <a:p>
            <a:pPr lvl="0"/>
            <a:r>
              <a:rPr lang="en-US" noProof="0"/>
              <a:t>…</a:t>
            </a:r>
          </a:p>
          <a:p>
            <a:pPr lvl="1"/>
            <a:r>
              <a:rPr lang="en-US" noProof="0"/>
              <a:t>…</a:t>
            </a:r>
          </a:p>
          <a:p>
            <a:pPr lvl="1"/>
            <a:r>
              <a:rPr lang="en-US" noProof="0"/>
              <a:t>…</a:t>
            </a:r>
          </a:p>
          <a:p>
            <a:pPr lvl="0"/>
            <a:r>
              <a:rPr lang="en-US" noProof="0"/>
              <a:t>…</a:t>
            </a:r>
          </a:p>
          <a:p>
            <a:pPr lvl="1"/>
            <a:r>
              <a:rPr lang="en-US" noProof="0"/>
              <a:t>…</a:t>
            </a:r>
          </a:p>
          <a:p>
            <a:pPr lvl="1"/>
            <a:r>
              <a:rPr lang="en-US" noProof="0"/>
              <a:t>…</a:t>
            </a:r>
          </a:p>
          <a:p>
            <a:pPr lvl="0"/>
            <a:r>
              <a:rPr lang="en-US" noProof="0"/>
              <a:t>…</a:t>
            </a:r>
          </a:p>
        </p:txBody>
      </p:sp>
      <p:sp>
        <p:nvSpPr>
          <p:cNvPr id="8" name="Rectangle Top">
            <a:extLst>
              <a:ext uri="{FF2B5EF4-FFF2-40B4-BE49-F238E27FC236}">
                <a16:creationId xmlns:a16="http://schemas.microsoft.com/office/drawing/2014/main" id="{930E0800-9260-4369-8330-8264DD33C5CE}"/>
              </a:ext>
            </a:extLst>
          </p:cNvPr>
          <p:cNvSpPr/>
          <p:nvPr/>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14F779A7-4A91-448B-BEFA-956C70A1C22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57D7BE1-6358-42CC-94F3-7BCDD91DCB6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Table of Contents</a:t>
            </a:r>
          </a:p>
        </p:txBody>
      </p:sp>
    </p:spTree>
    <p:extLst>
      <p:ext uri="{BB962C8B-B14F-4D97-AF65-F5344CB8AC3E}">
        <p14:creationId xmlns:p14="http://schemas.microsoft.com/office/powerpoint/2010/main" val="315848420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2"/>
        </a:solidFill>
        <a:effectLst/>
      </p:bgPr>
    </p:bg>
    <p:spTree>
      <p:nvGrpSpPr>
        <p:cNvPr id="1" name=""/>
        <p:cNvGrpSpPr/>
        <p:nvPr/>
      </p:nvGrpSpPr>
      <p:grpSpPr>
        <a:xfrm>
          <a:off x="0" y="0"/>
          <a:ext cx="0" cy="0"/>
          <a:chOff x="0" y="0"/>
          <a:chExt cx="0" cy="0"/>
        </a:xfrm>
      </p:grpSpPr>
      <p:pic>
        <p:nvPicPr>
          <p:cNvPr id="4" name="Picture Background" descr="SoftUni Background">
            <a:extLst>
              <a:ext uri="{FF2B5EF4-FFF2-40B4-BE49-F238E27FC236}">
                <a16:creationId xmlns:a16="http://schemas.microsoft.com/office/drawing/2014/main" id="{5BE90A63-DDD9-4B3B-A234-DF69B9BC812F}"/>
              </a:ext>
            </a:extLst>
          </p:cNvPr>
          <p:cNvPicPr>
            <a:picLocks noChangeAspect="1"/>
          </p:cNvPicPr>
          <p:nvPr userDrawn="1"/>
        </p:nvPicPr>
        <p:blipFill rotWithShape="1">
          <a:blip r:embed="rId14" cstate="print"/>
          <a:srcRect b="1672"/>
          <a:stretch/>
        </p:blipFill>
        <p:spPr>
          <a:xfrm>
            <a:off x="0" y="1"/>
            <a:ext cx="12192000" cy="6857999"/>
          </a:xfrm>
          <a:prstGeom prst="rect">
            <a:avLst/>
          </a:prstGeom>
        </p:spPr>
      </p:pic>
      <p:sp>
        <p:nvSpPr>
          <p:cNvPr id="11" name="Slide Body Text">
            <a:extLst>
              <a:ext uri="{FF2B5EF4-FFF2-40B4-BE49-F238E27FC236}">
                <a16:creationId xmlns:a16="http://schemas.microsoft.com/office/drawing/2014/main" id="{90CBFB32-9F46-4F2F-8A54-9EE8BED27855}"/>
              </a:ext>
            </a:extLst>
          </p:cNvPr>
          <p:cNvSpPr>
            <a:spLocks noGrp="1"/>
          </p:cNvSpPr>
          <p:nvPr>
            <p:ph type="body" idx="1"/>
          </p:nvPr>
        </p:nvSpPr>
        <p:spPr>
          <a:xfrm>
            <a:off x="190404" y="1138844"/>
            <a:ext cx="11804830" cy="5530156"/>
          </a:xfrm>
          <a:prstGeom prst="rect">
            <a:avLst/>
          </a:prstGeom>
        </p:spPr>
        <p:txBody>
          <a:bodyPr vert="horz" lIns="108000" tIns="36000" rIns="108000" bIns="3600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0" name="Slide Title">
            <a:extLst>
              <a:ext uri="{FF2B5EF4-FFF2-40B4-BE49-F238E27FC236}">
                <a16:creationId xmlns:a16="http://schemas.microsoft.com/office/drawing/2014/main" id="{B770C392-3003-4C35-9625-BB041F8257BA}"/>
              </a:ext>
            </a:extLst>
          </p:cNvPr>
          <p:cNvSpPr>
            <a:spLocks noGrp="1"/>
          </p:cNvSpPr>
          <p:nvPr>
            <p:ph type="title"/>
          </p:nvPr>
        </p:nvSpPr>
        <p:spPr>
          <a:xfrm>
            <a:off x="190405" y="100750"/>
            <a:ext cx="11804829" cy="882654"/>
          </a:xfrm>
          <a:prstGeom prst="rect">
            <a:avLst/>
          </a:prstGeom>
        </p:spPr>
        <p:txBody>
          <a:bodyPr vert="horz" lIns="108000" tIns="36000" rIns="108000" bIns="36000" rtlCol="0" anchor="ctr" anchorCtr="0">
            <a:normAutofit/>
          </a:bodyPr>
          <a:lstStyle/>
          <a:p>
            <a:r>
              <a:rPr lang="en-US" dirty="0"/>
              <a:t>Click to Edit Master Title Style</a:t>
            </a:r>
            <a:endParaRPr dirty="0"/>
          </a:p>
        </p:txBody>
      </p:sp>
    </p:spTree>
    <p:extLst>
      <p:ext uri="{BB962C8B-B14F-4D97-AF65-F5344CB8AC3E}">
        <p14:creationId xmlns:p14="http://schemas.microsoft.com/office/powerpoint/2010/main" val="156789181"/>
      </p:ext>
    </p:extLst>
  </p:cSld>
  <p:clrMap bg1="lt1" tx1="dk1" bg2="lt2" tx2="dk2" accent1="accent1" accent2="accent2" accent3="accent3" accent4="accent4" accent5="accent5" accent6="accent6" hlink="hlink" folHlink="folHlink"/>
  <p:sldLayoutIdLst>
    <p:sldLayoutId id="2147483676" r:id="rId1"/>
    <p:sldLayoutId id="2147483689" r:id="rId2"/>
    <p:sldLayoutId id="2147483681" r:id="rId3"/>
    <p:sldLayoutId id="2147483691" r:id="rId4"/>
    <p:sldLayoutId id="2147483680" r:id="rId5"/>
    <p:sldLayoutId id="2147483688" r:id="rId6"/>
    <p:sldLayoutId id="2147483684" r:id="rId7"/>
    <p:sldLayoutId id="2147483683" r:id="rId8"/>
    <p:sldLayoutId id="2147483685" r:id="rId9"/>
    <p:sldLayoutId id="2147483686" r:id="rId10"/>
    <p:sldLayoutId id="2147483687" r:id="rId11"/>
    <p:sldLayoutId id="2147483693" r:id="rId12"/>
  </p:sldLayoutIdLst>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hf hdr="0" ftr="0" dt="0"/>
  <p:txStyles>
    <p:titleStyle>
      <a:lvl1pPr algn="l" defTabSz="1218438" rtl="0" eaLnBrk="1" latinLnBrk="0" hangingPunct="1">
        <a:spcBef>
          <a:spcPct val="0"/>
        </a:spcBef>
        <a:buNone/>
        <a:defRPr sz="3998" b="1" kern="1200">
          <a:solidFill>
            <a:schemeClr val="tx1"/>
          </a:solidFill>
          <a:latin typeface="+mj-lt"/>
          <a:ea typeface="+mj-ea"/>
          <a:cs typeface="+mj-cs"/>
        </a:defRPr>
      </a:lvl1pPr>
    </p:titleStyle>
    <p:body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p:bodyStyle>
    <p:otherStyle>
      <a:defPPr>
        <a:defRPr lang="ko-KR"/>
      </a:defPPr>
      <a:lvl1pPr marL="0" algn="l" defTabSz="1218438" rtl="0" eaLnBrk="1" latinLnBrk="1" hangingPunct="1">
        <a:defRPr sz="2398" kern="1200">
          <a:solidFill>
            <a:schemeClr val="tx1"/>
          </a:solidFill>
          <a:latin typeface="+mn-lt"/>
          <a:ea typeface="+mn-ea"/>
          <a:cs typeface="+mn-cs"/>
        </a:defRPr>
      </a:lvl1pPr>
      <a:lvl2pPr marL="609219" algn="l" defTabSz="1218438" rtl="0" eaLnBrk="1" latinLnBrk="1" hangingPunct="1">
        <a:defRPr sz="2398" kern="1200">
          <a:solidFill>
            <a:schemeClr val="tx1"/>
          </a:solidFill>
          <a:latin typeface="+mn-lt"/>
          <a:ea typeface="+mn-ea"/>
          <a:cs typeface="+mn-cs"/>
        </a:defRPr>
      </a:lvl2pPr>
      <a:lvl3pPr marL="1218438" algn="l" defTabSz="1218438" rtl="0" eaLnBrk="1" latinLnBrk="1" hangingPunct="1">
        <a:defRPr sz="2398" kern="1200">
          <a:solidFill>
            <a:schemeClr val="tx1"/>
          </a:solidFill>
          <a:latin typeface="+mn-lt"/>
          <a:ea typeface="+mn-ea"/>
          <a:cs typeface="+mn-cs"/>
        </a:defRPr>
      </a:lvl3pPr>
      <a:lvl4pPr marL="1827657" algn="l" defTabSz="1218438" rtl="0" eaLnBrk="1" latinLnBrk="1" hangingPunct="1">
        <a:defRPr sz="2398" kern="1200">
          <a:solidFill>
            <a:schemeClr val="tx1"/>
          </a:solidFill>
          <a:latin typeface="+mn-lt"/>
          <a:ea typeface="+mn-ea"/>
          <a:cs typeface="+mn-cs"/>
        </a:defRPr>
      </a:lvl4pPr>
      <a:lvl5pPr marL="2436876" algn="l" defTabSz="1218438" rtl="0" eaLnBrk="1" latinLnBrk="1" hangingPunct="1">
        <a:defRPr sz="2398" kern="1200">
          <a:solidFill>
            <a:schemeClr val="tx1"/>
          </a:solidFill>
          <a:latin typeface="+mn-lt"/>
          <a:ea typeface="+mn-ea"/>
          <a:cs typeface="+mn-cs"/>
        </a:defRPr>
      </a:lvl5pPr>
      <a:lvl6pPr marL="3046096" algn="l" defTabSz="1218438" rtl="0" eaLnBrk="1" latinLnBrk="1" hangingPunct="1">
        <a:defRPr sz="2398" kern="1200">
          <a:solidFill>
            <a:schemeClr val="tx1"/>
          </a:solidFill>
          <a:latin typeface="+mn-lt"/>
          <a:ea typeface="+mn-ea"/>
          <a:cs typeface="+mn-cs"/>
        </a:defRPr>
      </a:lvl6pPr>
      <a:lvl7pPr marL="3655315" algn="l" defTabSz="1218438" rtl="0" eaLnBrk="1" latinLnBrk="1" hangingPunct="1">
        <a:defRPr sz="2398" kern="1200">
          <a:solidFill>
            <a:schemeClr val="tx1"/>
          </a:solidFill>
          <a:latin typeface="+mn-lt"/>
          <a:ea typeface="+mn-ea"/>
          <a:cs typeface="+mn-cs"/>
        </a:defRPr>
      </a:lvl7pPr>
      <a:lvl8pPr marL="4264533" algn="l" defTabSz="1218438" rtl="0" eaLnBrk="1" latinLnBrk="1" hangingPunct="1">
        <a:defRPr sz="2398" kern="1200">
          <a:solidFill>
            <a:schemeClr val="tx1"/>
          </a:solidFill>
          <a:latin typeface="+mn-lt"/>
          <a:ea typeface="+mn-ea"/>
          <a:cs typeface="+mn-cs"/>
        </a:defRPr>
      </a:lvl8pPr>
      <a:lvl9pPr marL="4873752" algn="l" defTabSz="1218438" rtl="0" eaLnBrk="1" latinLnBrk="1" hangingPunct="1">
        <a:defRPr sz="2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softuni.bg/" TargetMode="Externa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hyperlink" Target="http://codepen.io/anon/pen/bgrjQr?editors=1000" TargetMode="External"/><Relationship Id="rId2" Type="http://schemas.openxmlformats.org/officeDocument/2006/relationships/hyperlink" Target="https://codepen.io/snakov/pen/poNxXry" TargetMode="Externa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s://developer.mozilla.org/en-US/docs/Web/HTML/Attributes"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developer.mozilla.org/en-US/docs/Web/HTML/Element/head" TargetMode="External"/><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eveloper.mozilla.org/en-US/docs/Learn/CSS/Building_blocks/Selectors" TargetMode="Externa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hyperlink" Target="https://developer.mozilla.org/en-US/docs/Web/CSS/Type_selectors" TargetMode="Externa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developer.mozilla.org/en-US/docs/Web/CSS/Class_selectors"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hyperlink" Target="https://developer.mozilla.org/en-US/docs/Web/CSS/ID_selectors" TargetMode="Externa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hyperlink" Target="https://developer.mozilla.org/en-US/docs/Web/CSS/Attribute_selectors" TargetMode="Externa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hyperlink" Target="https://developer.mozilla.org/en-US/docs/Web/CSS/Universal_selectors" TargetMode="Externa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hyperlink" Target="https://developer.mozilla.org/en-US/docs/Web/CSS/Descendant_combinator" TargetMode="Externa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hyperlink" Target="https://developer.mozilla.org/en-US/docs/Web/CSS/Selector_list" TargetMode="Externa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hyperlink" Target="https://developer.mozilla.org/en-US/docs/Web/CSS/Child_combinator" TargetMode="Externa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hyperlink" Target="https://developer.mozilla.org/en-US/docs/Web/CSS/CSS_cascade/Cascade" TargetMode="Externa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hyperlink" Target="https://developer.mozilla.org/en-US/docs/Web/CSS/CSS_cascade/Specificity" TargetMode="Externa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hyperlink" Target="https://developer.mozilla.org/en-US/docs/Web/CSS/important" TargetMode="Externa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3.xml"/><Relationship Id="rId5" Type="http://schemas.openxmlformats.org/officeDocument/2006/relationships/image" Target="../media/image83.png"/><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3.xml"/><Relationship Id="rId4" Type="http://schemas.openxmlformats.org/officeDocument/2006/relationships/image" Target="../media/image94.png"/></Relationships>
</file>

<file path=ppt/slides/_rels/slide7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3.xml"/><Relationship Id="rId5" Type="http://schemas.openxmlformats.org/officeDocument/2006/relationships/image" Target="../media/image102.png"/><Relationship Id="rId4" Type="http://schemas.openxmlformats.org/officeDocument/2006/relationships/image" Target="../media/image10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jpe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hyperlink" Target="https://developer.mozilla.org/en-US/docs/Learn/Getting_started_with_the_web/How_the_Web_works" TargetMode="External"/><Relationship Id="rId7" Type="http://schemas.openxmlformats.org/officeDocument/2006/relationships/hyperlink" Target="https://developer.mozilla.org/en-US/docs/Learn/Getting_started_with_the_web/CSS_basics" TargetMode="External"/><Relationship Id="rId2" Type="http://schemas.openxmlformats.org/officeDocument/2006/relationships/hyperlink" Target="https://en.wikipedia.org/wiki/Markup_language" TargetMode="External"/><Relationship Id="rId1" Type="http://schemas.openxmlformats.org/officeDocument/2006/relationships/slideLayout" Target="../slideLayouts/slideLayout3.xml"/><Relationship Id="rId6" Type="http://schemas.openxmlformats.org/officeDocument/2006/relationships/hyperlink" Target="https://developer.mozilla.org/en-US/docs/Web/CSS" TargetMode="External"/><Relationship Id="rId5" Type="http://schemas.openxmlformats.org/officeDocument/2006/relationships/hyperlink" Target="https://developer.mozilla.org/en-US/docs/Learn/Getting_started_with_the_web/HTML_basics" TargetMode="External"/><Relationship Id="rId4" Type="http://schemas.openxmlformats.org/officeDocument/2006/relationships/hyperlink" Target="https://developer.mozilla.org/en-US/docs/Web/HTML" TargetMode="Externa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www.facebook.com/SoftwareUniversity" TargetMode="External"/><Relationship Id="rId5" Type="http://schemas.openxmlformats.org/officeDocument/2006/relationships/hyperlink" Target="https://softuni.foundation/" TargetMode="External"/><Relationship Id="rId4" Type="http://schemas.openxmlformats.org/officeDocument/2006/relationships/hyperlink" Target="https://about.softuni.bg/"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about.softuni.bg/"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1.png"/><Relationship Id="rId4" Type="http://schemas.openxmlformats.org/officeDocument/2006/relationships/hyperlink" Target="https://softuni.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HTML and CSS</a:t>
            </a:r>
          </a:p>
        </p:txBody>
      </p:sp>
      <p:sp>
        <p:nvSpPr>
          <p:cNvPr id="5" name="Text Placeholder 4"/>
          <p:cNvSpPr>
            <a:spLocks noGrp="1"/>
          </p:cNvSpPr>
          <p:nvPr>
            <p:ph type="body" sz="quarter" idx="17"/>
          </p:nvPr>
        </p:nvSpPr>
        <p:spPr>
          <a:xfrm>
            <a:off x="8643191" y="5916252"/>
            <a:ext cx="2950749" cy="382532"/>
          </a:xfrm>
        </p:spPr>
        <p:txBody>
          <a:bodyPr/>
          <a:lstStyle/>
          <a:p>
            <a:r>
              <a:rPr lang="en-US" dirty="0"/>
              <a:t>Software University</a:t>
            </a:r>
          </a:p>
        </p:txBody>
      </p:sp>
      <p:sp>
        <p:nvSpPr>
          <p:cNvPr id="6" name="Text Placeholder 5"/>
          <p:cNvSpPr>
            <a:spLocks noGrp="1"/>
          </p:cNvSpPr>
          <p:nvPr>
            <p:ph type="body" sz="quarter" idx="18"/>
          </p:nvPr>
        </p:nvSpPr>
        <p:spPr>
          <a:xfrm>
            <a:off x="8643191" y="6255995"/>
            <a:ext cx="2951518" cy="341556"/>
          </a:xfrm>
        </p:spPr>
        <p:txBody>
          <a:bodyPr/>
          <a:lstStyle/>
          <a:p>
            <a:r>
              <a:rPr lang="en-US" dirty="0">
                <a:hlinkClick r:id="rId2"/>
              </a:rPr>
              <a:t>https://softuni.bg</a:t>
            </a:r>
            <a:endParaRPr lang="en-US" dirty="0"/>
          </a:p>
        </p:txBody>
      </p:sp>
      <p:sp>
        <p:nvSpPr>
          <p:cNvPr id="7" name="Text Placeholder 6"/>
          <p:cNvSpPr>
            <a:spLocks noGrp="1"/>
          </p:cNvSpPr>
          <p:nvPr>
            <p:ph type="body" sz="quarter" idx="19"/>
          </p:nvPr>
        </p:nvSpPr>
        <p:spPr>
          <a:xfrm>
            <a:off x="672561" y="4876928"/>
            <a:ext cx="2950749" cy="506540"/>
          </a:xfrm>
        </p:spPr>
        <p:txBody>
          <a:bodyPr/>
          <a:lstStyle/>
          <a:p>
            <a:r>
              <a:rPr lang="en-US" dirty="0" err="1"/>
              <a:t>SoftUni</a:t>
            </a:r>
            <a:r>
              <a:rPr lang="en-US" dirty="0"/>
              <a:t> Team</a:t>
            </a:r>
          </a:p>
        </p:txBody>
      </p:sp>
      <p:sp>
        <p:nvSpPr>
          <p:cNvPr id="8" name="Text Placeholder 7"/>
          <p:cNvSpPr>
            <a:spLocks noGrp="1"/>
          </p:cNvSpPr>
          <p:nvPr>
            <p:ph type="body" sz="quarter" idx="20"/>
          </p:nvPr>
        </p:nvSpPr>
        <p:spPr>
          <a:xfrm>
            <a:off x="672561" y="5361046"/>
            <a:ext cx="2950749" cy="460181"/>
          </a:xfrm>
        </p:spPr>
        <p:txBody>
          <a:bodyPr/>
          <a:lstStyle/>
          <a:p>
            <a:r>
              <a:rPr lang="en-US" dirty="0"/>
              <a:t>Technical Trainers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7186" y="1727062"/>
            <a:ext cx="2620154" cy="2620154"/>
          </a:xfrm>
          <a:prstGeom prst="rect">
            <a:avLst/>
          </a:prstGeom>
          <a:ln>
            <a:noFill/>
          </a:ln>
          <a:effectLst>
            <a:outerShdw blurRad="292100" dist="139700" dir="2700000" algn="tl" rotWithShape="0">
              <a:srgbClr val="333333">
                <a:alpha val="65000"/>
              </a:srgbClr>
            </a:outerShdw>
          </a:effectLst>
        </p:spPr>
      </p:pic>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50053" y="1731322"/>
            <a:ext cx="2567133" cy="25671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4121278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normAutofit lnSpcReduction="10000"/>
          </a:bodyPr>
          <a:lstStyle/>
          <a:p>
            <a:r>
              <a:rPr lang="en-US" dirty="0"/>
              <a:t>What is </a:t>
            </a:r>
            <a:r>
              <a:rPr lang="en-US" b="1" dirty="0">
                <a:solidFill>
                  <a:schemeClr val="bg1"/>
                </a:solidFill>
              </a:rPr>
              <a:t>HTML</a:t>
            </a:r>
            <a:r>
              <a:rPr lang="en-US" dirty="0"/>
              <a:t>?</a:t>
            </a:r>
          </a:p>
          <a:p>
            <a:pPr lvl="1"/>
            <a:r>
              <a:rPr lang="en-US" dirty="0"/>
              <a:t>HTML Syntax - </a:t>
            </a:r>
            <a:r>
              <a:rPr lang="en-US" b="1" dirty="0">
                <a:solidFill>
                  <a:schemeClr val="bg1"/>
                </a:solidFill>
              </a:rPr>
              <a:t>Tags</a:t>
            </a:r>
            <a:r>
              <a:rPr lang="en-US" dirty="0"/>
              <a:t> &amp; </a:t>
            </a:r>
            <a:r>
              <a:rPr lang="en-US" b="1" dirty="0">
                <a:solidFill>
                  <a:schemeClr val="bg1"/>
                </a:solidFill>
              </a:rPr>
              <a:t>Attributes</a:t>
            </a:r>
          </a:p>
          <a:p>
            <a:pPr lvl="2"/>
            <a:r>
              <a:rPr lang="en-US" sz="3200" dirty="0"/>
              <a:t>Common HTML Tags</a:t>
            </a:r>
          </a:p>
          <a:p>
            <a:pPr lvl="2"/>
            <a:r>
              <a:rPr lang="en-US" sz="3200" dirty="0"/>
              <a:t>Common HTML Attributes</a:t>
            </a:r>
          </a:p>
          <a:p>
            <a:r>
              <a:rPr lang="en-US" dirty="0"/>
              <a:t>What is </a:t>
            </a:r>
            <a:r>
              <a:rPr lang="en-US" b="1" dirty="0">
                <a:solidFill>
                  <a:schemeClr val="bg1"/>
                </a:solidFill>
              </a:rPr>
              <a:t>CSS</a:t>
            </a:r>
            <a:r>
              <a:rPr lang="en-US" dirty="0"/>
              <a:t>?</a:t>
            </a:r>
          </a:p>
          <a:p>
            <a:pPr lvl="1">
              <a:buClr>
                <a:schemeClr val="tx1"/>
              </a:buClr>
            </a:pPr>
            <a:r>
              <a:rPr lang="en-US" dirty="0"/>
              <a:t>CSS Syntax - </a:t>
            </a:r>
            <a:r>
              <a:rPr lang="en-US" b="1" dirty="0">
                <a:solidFill>
                  <a:schemeClr val="bg1"/>
                </a:solidFill>
              </a:rPr>
              <a:t>Selectors</a:t>
            </a:r>
            <a:r>
              <a:rPr lang="en-US" dirty="0"/>
              <a:t> &amp; </a:t>
            </a:r>
            <a:r>
              <a:rPr lang="en-US" b="1" dirty="0">
                <a:solidFill>
                  <a:schemeClr val="bg1"/>
                </a:solidFill>
              </a:rPr>
              <a:t>Rules</a:t>
            </a:r>
          </a:p>
          <a:p>
            <a:pPr lvl="1"/>
            <a:r>
              <a:rPr lang="en-US" dirty="0"/>
              <a:t>Adding CSS to our HTML Documents</a:t>
            </a:r>
          </a:p>
          <a:p>
            <a:pPr lvl="1"/>
            <a:r>
              <a:rPr lang="en-US" dirty="0"/>
              <a:t>Basic CSS Selectors</a:t>
            </a:r>
          </a:p>
        </p:txBody>
      </p:sp>
      <p:sp>
        <p:nvSpPr>
          <p:cNvPr id="2" name="Title 1"/>
          <p:cNvSpPr>
            <a:spLocks noGrp="1"/>
          </p:cNvSpPr>
          <p:nvPr>
            <p:ph type="title"/>
          </p:nvPr>
        </p:nvSpPr>
        <p:spPr/>
        <p:txBody>
          <a:bodyPr/>
          <a:lstStyle/>
          <a:p>
            <a:r>
              <a:rPr lang="en-US" dirty="0"/>
              <a:t>Table of Contents</a:t>
            </a:r>
          </a:p>
        </p:txBody>
      </p:sp>
      <p:sp>
        <p:nvSpPr>
          <p:cNvPr id="6" name="Slide Number">
            <a:extLst>
              <a:ext uri="{FF2B5EF4-FFF2-40B4-BE49-F238E27FC236}">
                <a16:creationId xmlns:a16="http://schemas.microsoft.com/office/drawing/2014/main" id="{3F922CEE-10C6-4001-89E7-31C47F247C99}"/>
              </a:ext>
            </a:extLst>
          </p:cNvPr>
          <p:cNvSpPr>
            <a:spLocks noGrp="1"/>
          </p:cNvSpPr>
          <p:nvPr>
            <p:ph type="sldNum" sz="quarter" idx="4294967295"/>
          </p:nvPr>
        </p:nvSpPr>
        <p:spPr>
          <a:xfrm>
            <a:off x="11823700" y="6507163"/>
            <a:ext cx="368300" cy="296862"/>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a:t>
            </a:fld>
            <a:endParaRPr lang="en-US" noProof="0" dirty="0"/>
          </a:p>
        </p:txBody>
      </p:sp>
    </p:spTree>
    <p:extLst>
      <p:ext uri="{BB962C8B-B14F-4D97-AF65-F5344CB8AC3E}">
        <p14:creationId xmlns:p14="http://schemas.microsoft.com/office/powerpoint/2010/main" val="244301339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2433" y="1359000"/>
            <a:ext cx="2567133" cy="2567133"/>
          </a:xfrm>
          <a:prstGeom prst="rect">
            <a:avLst/>
          </a:prstGeom>
          <a:ln>
            <a:noFill/>
          </a:ln>
          <a:effectLst>
            <a:outerShdw blurRad="292100" dist="139700" dir="2700000" algn="tl" rotWithShape="0">
              <a:srgbClr val="333333">
                <a:alpha val="65000"/>
              </a:srgbClr>
            </a:outerShdw>
          </a:effectLst>
        </p:spPr>
      </p:pic>
      <p:sp>
        <p:nvSpPr>
          <p:cNvPr id="5" name="Title 4">
            <a:extLst>
              <a:ext uri="{FF2B5EF4-FFF2-40B4-BE49-F238E27FC236}">
                <a16:creationId xmlns:a16="http://schemas.microsoft.com/office/drawing/2014/main" id="{945E86C9-C894-4D4A-AEC0-E39148B98391}"/>
              </a:ext>
            </a:extLst>
          </p:cNvPr>
          <p:cNvSpPr>
            <a:spLocks noGrp="1"/>
          </p:cNvSpPr>
          <p:nvPr>
            <p:ph type="title" sz="quarter" idx="10"/>
          </p:nvPr>
        </p:nvSpPr>
        <p:spPr/>
        <p:txBody>
          <a:bodyPr/>
          <a:lstStyle/>
          <a:p>
            <a:r>
              <a:rPr lang="en-US" dirty="0"/>
              <a:t>What is HTML?</a:t>
            </a:r>
            <a:endParaRPr lang="bg-BG" dirty="0"/>
          </a:p>
        </p:txBody>
      </p:sp>
    </p:spTree>
    <p:extLst>
      <p:ext uri="{BB962C8B-B14F-4D97-AF65-F5344CB8AC3E}">
        <p14:creationId xmlns:p14="http://schemas.microsoft.com/office/powerpoint/2010/main" val="50753272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HTML?</a:t>
            </a:r>
          </a:p>
        </p:txBody>
      </p:sp>
      <p:sp>
        <p:nvSpPr>
          <p:cNvPr id="3" name="Content Placeholder 2"/>
          <p:cNvSpPr>
            <a:spLocks noGrp="1"/>
          </p:cNvSpPr>
          <p:nvPr>
            <p:ph idx="4294967295"/>
          </p:nvPr>
        </p:nvSpPr>
        <p:spPr>
          <a:xfrm>
            <a:off x="195212" y="1179576"/>
            <a:ext cx="11801576" cy="5569087"/>
          </a:xfrm>
        </p:spPr>
        <p:txBody>
          <a:bodyPr>
            <a:normAutofit/>
          </a:bodyPr>
          <a:lstStyle/>
          <a:p>
            <a:pPr>
              <a:lnSpc>
                <a:spcPct val="110000"/>
              </a:lnSpc>
            </a:pPr>
            <a:r>
              <a:rPr lang="en-US" sz="3200" dirty="0"/>
              <a:t>HTML is a </a:t>
            </a:r>
            <a:r>
              <a:rPr lang="en-US" sz="3200" b="1" dirty="0">
                <a:solidFill>
                  <a:schemeClr val="bg1"/>
                </a:solidFill>
              </a:rPr>
              <a:t>markup language</a:t>
            </a:r>
          </a:p>
          <a:p>
            <a:pPr>
              <a:lnSpc>
                <a:spcPct val="110000"/>
              </a:lnSpc>
            </a:pPr>
            <a:r>
              <a:rPr lang="en-US" sz="3200" dirty="0"/>
              <a:t>HTML is the basis for </a:t>
            </a:r>
            <a:r>
              <a:rPr lang="en-US" sz="3200" b="1" dirty="0">
                <a:solidFill>
                  <a:schemeClr val="bg1"/>
                </a:solidFill>
              </a:rPr>
              <a:t>creating web pages </a:t>
            </a:r>
            <a:r>
              <a:rPr lang="en-US" sz="3200" dirty="0"/>
              <a:t>and other information that can be displayed in a </a:t>
            </a:r>
            <a:r>
              <a:rPr lang="en-US" sz="3200" b="1" dirty="0">
                <a:solidFill>
                  <a:schemeClr val="bg1"/>
                </a:solidFill>
              </a:rPr>
              <a:t>web browser</a:t>
            </a:r>
          </a:p>
          <a:p>
            <a:pPr>
              <a:lnSpc>
                <a:spcPct val="110000"/>
              </a:lnSpc>
            </a:pPr>
            <a:r>
              <a:rPr lang="en-US" sz="3200" dirty="0"/>
              <a:t>Language for expressing </a:t>
            </a:r>
            <a:r>
              <a:rPr lang="en-US" sz="3200" b="1" dirty="0">
                <a:solidFill>
                  <a:schemeClr val="bg1"/>
                </a:solidFill>
              </a:rPr>
              <a:t>semantic structure </a:t>
            </a:r>
            <a:r>
              <a:rPr lang="en-US" sz="3200" dirty="0"/>
              <a:t>in textual documents</a:t>
            </a:r>
          </a:p>
        </p:txBody>
      </p:sp>
      <p:sp>
        <p:nvSpPr>
          <p:cNvPr id="7" name="Text Placeholder 6"/>
          <p:cNvSpPr txBox="1">
            <a:spLocks/>
          </p:cNvSpPr>
          <p:nvPr/>
        </p:nvSpPr>
        <p:spPr>
          <a:xfrm>
            <a:off x="696000" y="4149000"/>
            <a:ext cx="7618016" cy="1365009"/>
          </a:xfrm>
          <a:prstGeom prst="rect">
            <a:avLst/>
          </a:prstGeom>
          <a:solidFill>
            <a:schemeClr val="accent5">
              <a:lumMod val="40000"/>
              <a:lumOff val="60000"/>
              <a:alpha val="15000"/>
            </a:schemeClr>
          </a:solidFill>
          <a:ln w="12700">
            <a:solidFill>
              <a:schemeClr val="accent5">
                <a:lumMod val="60000"/>
                <a:lumOff val="40000"/>
              </a:schemeClr>
            </a:solidFill>
          </a:ln>
        </p:spPr>
        <p:txBody>
          <a:bodyPr vert="horz" wrap="square" lIns="107972" tIns="35991" rIns="107972" bIns="35991" rtlCol="0">
            <a:spAutoFit/>
          </a:bodyPr>
          <a:lstStyle>
            <a:lvl1pPr marL="0" indent="0" algn="l" defTabSz="1218987" rtl="0" eaLnBrk="0" fontAlgn="base" latinLnBrk="0" hangingPunct="0">
              <a:lnSpc>
                <a:spcPct val="105000"/>
              </a:lnSpc>
              <a:spcBef>
                <a:spcPts val="0"/>
              </a:spcBef>
              <a:spcAft>
                <a:spcPct val="0"/>
              </a:spcAft>
              <a:buClr>
                <a:schemeClr val="accent5">
                  <a:lumMod val="40000"/>
                  <a:lumOff val="60000"/>
                </a:schemeClr>
              </a:buClr>
              <a:buSzPct val="70000"/>
              <a:buFont typeface="Wingdings 2" pitchFamily="18" charset="2"/>
              <a:buNone/>
              <a:defRPr lang="en-US" sz="2000" b="1" kern="1200" smtClean="0">
                <a:solidFill>
                  <a:srgbClr val="8CF4F2"/>
                </a:solidFill>
                <a:effectLst>
                  <a:outerShdw blurRad="38100" dist="38100" dir="2700000" algn="tl">
                    <a:srgbClr val="000000">
                      <a:alpha val="43137"/>
                    </a:srgbClr>
                  </a:outerShdw>
                </a:effectLst>
                <a:latin typeface="Consolas" pitchFamily="49" charset="0"/>
                <a:ea typeface="+mn-ea"/>
                <a:cs typeface="Consolas" pitchFamily="49" charset="0"/>
              </a:defRPr>
            </a:lvl1pPr>
            <a:lvl2pPr marL="630238" indent="-273050" algn="l" defTabSz="1218987" rtl="0" eaLnBrk="0" fontAlgn="base" latinLnBrk="0" hangingPunct="0">
              <a:lnSpc>
                <a:spcPct val="105000"/>
              </a:lnSpc>
              <a:spcBef>
                <a:spcPct val="20000"/>
              </a:spcBef>
              <a:spcAft>
                <a:spcPct val="0"/>
              </a:spcAft>
              <a:buClr>
                <a:schemeClr val="accent2">
                  <a:lumMod val="60000"/>
                  <a:lumOff val="40000"/>
                </a:schemeClr>
              </a:buClr>
              <a:buSzPct val="80000"/>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defTabSz="1218987" rtl="0" eaLnBrk="0" fontAlgn="base" latinLnBrk="0" hangingPunct="0">
              <a:lnSpc>
                <a:spcPct val="105000"/>
              </a:lnSpc>
              <a:spcBef>
                <a:spcPct val="20000"/>
              </a:spcBef>
              <a:spcAft>
                <a:spcPct val="0"/>
              </a:spcAft>
              <a:buClr>
                <a:schemeClr val="tx1">
                  <a:lumMod val="50000"/>
                </a:schemeClr>
              </a:buClr>
              <a:buSzPct val="80000"/>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defTabSz="1218987" rtl="0" eaLnBrk="0" fontAlgn="base" latinLnBrk="0" hangingPunct="0">
              <a:lnSpc>
                <a:spcPct val="105000"/>
              </a:lnSpc>
              <a:spcBef>
                <a:spcPct val="20000"/>
              </a:spcBef>
              <a:spcAft>
                <a:spcPct val="0"/>
              </a:spcAft>
              <a:buClr>
                <a:srgbClr val="F8BD52"/>
              </a:buClr>
              <a:buSzPct val="80000"/>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defTabSz="1218987" rtl="0" eaLnBrk="0" fontAlgn="base" latinLnBrk="0" hangingPunct="0">
              <a:lnSpc>
                <a:spcPct val="105000"/>
              </a:lnSpc>
              <a:spcBef>
                <a:spcPct val="20000"/>
              </a:spcBef>
              <a:spcAft>
                <a:spcPct val="0"/>
              </a:spcAft>
              <a:buClr>
                <a:srgbClr val="46A6BD"/>
              </a:buClr>
              <a:buSzPct val="80000"/>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defTabSz="1218987" rtl="0" eaLnBrk="1" latinLnBrk="0" hangingPunct="1">
              <a:lnSpc>
                <a:spcPct val="90000"/>
              </a:lnSpc>
              <a:spcBef>
                <a:spcPct val="20000"/>
              </a:spcBef>
              <a:buClr>
                <a:schemeClr val="accent6"/>
              </a:buClr>
              <a:buSzPct val="80000"/>
              <a:buFont typeface="Wingdings 2"/>
              <a:buChar char=""/>
              <a:defRPr sz="1800" kern="1200">
                <a:solidFill>
                  <a:schemeClr val="tx1"/>
                </a:solidFill>
                <a:latin typeface="+mn-lt"/>
                <a:ea typeface="+mn-ea"/>
                <a:cs typeface="+mn-cs"/>
              </a:defRPr>
            </a:lvl6pPr>
            <a:lvl7pPr marL="1911096" indent="-228600" algn="l" defTabSz="1218987" rtl="0" eaLnBrk="1" latinLnBrk="0" hangingPunct="1">
              <a:lnSpc>
                <a:spcPct val="90000"/>
              </a:lnSpc>
              <a:spcBef>
                <a:spcPct val="20000"/>
              </a:spcBef>
              <a:buClr>
                <a:schemeClr val="tx2"/>
              </a:buClr>
              <a:buSzPct val="80000"/>
              <a:buFont typeface="Wingdings 2"/>
              <a:buChar char=""/>
              <a:defRPr sz="1600" kern="1200">
                <a:solidFill>
                  <a:schemeClr val="tx1"/>
                </a:solidFill>
                <a:latin typeface="+mn-lt"/>
                <a:ea typeface="+mn-ea"/>
                <a:cs typeface="+mn-cs"/>
              </a:defRPr>
            </a:lvl7pPr>
            <a:lvl8pPr marL="2121408" indent="-182880" algn="l" defTabSz="1218987" rtl="0" eaLnBrk="1" latinLnBrk="0" hangingPunct="1">
              <a:lnSpc>
                <a:spcPct val="90000"/>
              </a:lnSpc>
              <a:spcBef>
                <a:spcPct val="20000"/>
              </a:spcBef>
              <a:buClr>
                <a:schemeClr val="tx2"/>
              </a:buClr>
              <a:buSzPct val="80000"/>
              <a:buFont typeface="Wingdings 2"/>
              <a:buChar char=""/>
              <a:defRPr sz="1400" kern="1200" baseline="0">
                <a:solidFill>
                  <a:schemeClr val="tx1"/>
                </a:solidFill>
                <a:latin typeface="+mn-lt"/>
                <a:ea typeface="+mn-ea"/>
                <a:cs typeface="+mn-cs"/>
              </a:defRPr>
            </a:lvl8pPr>
            <a:lvl9pPr marL="2322576" indent="-182880" algn="l" defTabSz="1218987" rtl="0" eaLnBrk="1" latinLnBrk="0" hangingPunct="1">
              <a:lnSpc>
                <a:spcPct val="90000"/>
              </a:lnSpc>
              <a:spcBef>
                <a:spcPct val="20000"/>
              </a:spcBef>
              <a:buClr>
                <a:schemeClr val="tx2"/>
              </a:buClr>
              <a:buSzPct val="80000"/>
              <a:buFont typeface="Wingdings 2"/>
              <a:buChar char=""/>
              <a:defRPr sz="1400" kern="1200" baseline="0">
                <a:solidFill>
                  <a:schemeClr val="tx1"/>
                </a:solidFill>
                <a:latin typeface="+mn-lt"/>
                <a:ea typeface="+mn-ea"/>
                <a:cs typeface="+mn-cs"/>
              </a:defRPr>
            </a:lvl9pPr>
          </a:lstStyle>
          <a:p>
            <a:pPr indent="-252275">
              <a:lnSpc>
                <a:spcPct val="100000"/>
              </a:lnSpc>
            </a:pPr>
            <a:r>
              <a:rPr lang="en-US" sz="2799" dirty="0">
                <a:solidFill>
                  <a:schemeClr val="tx1"/>
                </a:solidFill>
                <a:effectLst/>
              </a:rPr>
              <a:t>&lt;p&gt;</a:t>
            </a:r>
          </a:p>
          <a:p>
            <a:pPr indent="-252275">
              <a:lnSpc>
                <a:spcPct val="100000"/>
              </a:lnSpc>
            </a:pPr>
            <a:r>
              <a:rPr lang="en-US" sz="2799" dirty="0">
                <a:solidFill>
                  <a:schemeClr val="tx2">
                    <a:lumMod val="75000"/>
                  </a:schemeClr>
                </a:solidFill>
                <a:effectLst/>
              </a:rPr>
              <a:t>  </a:t>
            </a:r>
            <a:r>
              <a:rPr lang="en-US" sz="2799" dirty="0">
                <a:solidFill>
                  <a:schemeClr val="accent1"/>
                </a:solidFill>
                <a:effectLst/>
              </a:rPr>
              <a:t>&lt;b&gt;</a:t>
            </a:r>
            <a:r>
              <a:rPr lang="en-US" sz="2799" dirty="0">
                <a:solidFill>
                  <a:schemeClr val="tx1"/>
                </a:solidFill>
                <a:effectLst/>
              </a:rPr>
              <a:t>Document</a:t>
            </a:r>
            <a:r>
              <a:rPr lang="en-US" sz="2799" dirty="0">
                <a:solidFill>
                  <a:schemeClr val="accent1"/>
                </a:solidFill>
                <a:effectLst/>
              </a:rPr>
              <a:t>&lt;/b&gt; </a:t>
            </a:r>
            <a:r>
              <a:rPr lang="en-US" sz="2799" b="0" dirty="0">
                <a:solidFill>
                  <a:schemeClr val="tx1"/>
                </a:solidFill>
                <a:effectLst/>
              </a:rPr>
              <a:t>content goes here…</a:t>
            </a:r>
          </a:p>
          <a:p>
            <a:pPr indent="-252275">
              <a:lnSpc>
                <a:spcPct val="100000"/>
              </a:lnSpc>
            </a:pPr>
            <a:r>
              <a:rPr lang="en-US" sz="2799" dirty="0">
                <a:solidFill>
                  <a:schemeClr val="tx1"/>
                </a:solidFill>
                <a:effectLst/>
              </a:rPr>
              <a:t>&lt;/p&gt;</a:t>
            </a:r>
          </a:p>
        </p:txBody>
      </p:sp>
      <p:sp>
        <p:nvSpPr>
          <p:cNvPr id="13" name="AutoShape 5"/>
          <p:cNvSpPr>
            <a:spLocks noChangeArrowheads="1"/>
          </p:cNvSpPr>
          <p:nvPr/>
        </p:nvSpPr>
        <p:spPr bwMode="auto">
          <a:xfrm>
            <a:off x="2186718" y="3734920"/>
            <a:ext cx="2209225" cy="609441"/>
          </a:xfrm>
          <a:prstGeom prst="wedgeRoundRectCallout">
            <a:avLst>
              <a:gd name="adj1" fmla="val -61434"/>
              <a:gd name="adj2" fmla="val 3511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a:solidFill>
                  <a:srgbClr val="FFFFFF"/>
                </a:solidFill>
              </a:rPr>
              <a:t>Opening tag</a:t>
            </a:r>
            <a:endParaRPr lang="bg-BG" sz="2399" b="1" dirty="0">
              <a:solidFill>
                <a:srgbClr val="FFFFFF"/>
              </a:solidFill>
            </a:endParaRPr>
          </a:p>
        </p:txBody>
      </p:sp>
      <p:sp>
        <p:nvSpPr>
          <p:cNvPr id="14" name="AutoShape 5"/>
          <p:cNvSpPr>
            <a:spLocks noChangeArrowheads="1"/>
          </p:cNvSpPr>
          <p:nvPr/>
        </p:nvSpPr>
        <p:spPr bwMode="auto">
          <a:xfrm>
            <a:off x="2186718" y="5440946"/>
            <a:ext cx="2209225" cy="592749"/>
          </a:xfrm>
          <a:prstGeom prst="wedgeRoundRectCallout">
            <a:avLst>
              <a:gd name="adj1" fmla="val -60101"/>
              <a:gd name="adj2" fmla="val -4809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rgbClr val="FFFFFF"/>
                </a:solidFill>
              </a:rPr>
              <a:t>Closing tag</a:t>
            </a:r>
            <a:endParaRPr lang="bg-BG" sz="2399" b="1" dirty="0">
              <a:solidFill>
                <a:srgbClr val="FFFFFF"/>
              </a:solidFill>
            </a:endParaRPr>
          </a:p>
        </p:txBody>
      </p:sp>
      <p:pic>
        <p:nvPicPr>
          <p:cNvPr id="8" name="Picture 7"/>
          <p:cNvPicPr>
            <a:picLocks noChangeAspect="1"/>
          </p:cNvPicPr>
          <p:nvPr/>
        </p:nvPicPr>
        <p:blipFill>
          <a:blip r:embed="rId2"/>
          <a:stretch>
            <a:fillRect/>
          </a:stretch>
        </p:blipFill>
        <p:spPr>
          <a:xfrm>
            <a:off x="4534913" y="5737320"/>
            <a:ext cx="6094940" cy="841102"/>
          </a:xfrm>
          <a:prstGeom prst="roundRect">
            <a:avLst>
              <a:gd name="adj" fmla="val 5105"/>
            </a:avLst>
          </a:prstGeom>
          <a:ln>
            <a:solidFill>
              <a:schemeClr val="bg2">
                <a:lumMod val="65000"/>
              </a:schemeClr>
            </a:solidFill>
          </a:ln>
        </p:spPr>
      </p:pic>
      <p:sp>
        <p:nvSpPr>
          <p:cNvPr id="15" name="AutoShape 25"/>
          <p:cNvSpPr>
            <a:spLocks noChangeArrowheads="1"/>
          </p:cNvSpPr>
          <p:nvPr/>
        </p:nvSpPr>
        <p:spPr bwMode="auto">
          <a:xfrm>
            <a:off x="8301000" y="4171417"/>
            <a:ext cx="1677551" cy="652583"/>
          </a:xfrm>
          <a:prstGeom prst="wedgeRoundRectCallout">
            <a:avLst>
              <a:gd name="adj1" fmla="val -65894"/>
              <a:gd name="adj2" fmla="val 3841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a:solidFill>
                  <a:srgbClr val="FFFFFF"/>
                </a:solidFill>
              </a:rPr>
              <a:t>Element</a:t>
            </a:r>
            <a:endParaRPr lang="bg-BG" sz="2399" b="1" dirty="0">
              <a:solidFill>
                <a:srgbClr val="FFFFFF"/>
              </a:solidFill>
            </a:endParaRPr>
          </a:p>
        </p:txBody>
      </p:sp>
      <p:sp>
        <p:nvSpPr>
          <p:cNvPr id="11" name="Slide Number">
            <a:extLst>
              <a:ext uri="{FF2B5EF4-FFF2-40B4-BE49-F238E27FC236}">
                <a16:creationId xmlns:a16="http://schemas.microsoft.com/office/drawing/2014/main" id="{4A3CE52B-154C-44DE-A6C4-6CA62D0DB81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a:t>
            </a:fld>
            <a:endParaRPr lang="en-US" noProof="0" dirty="0"/>
          </a:p>
        </p:txBody>
      </p:sp>
    </p:spTree>
    <p:extLst>
      <p:ext uri="{BB962C8B-B14F-4D97-AF65-F5344CB8AC3E}">
        <p14:creationId xmlns:p14="http://schemas.microsoft.com/office/powerpoint/2010/main" val="20805559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a:extLst>
              <a:ext uri="{FF2B5EF4-FFF2-40B4-BE49-F238E27FC236}">
                <a16:creationId xmlns:a16="http://schemas.microsoft.com/office/drawing/2014/main" id="{4A3CE52B-154C-44DE-A6C4-6CA62D0DB81C}"/>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a:t>
            </a:fld>
            <a:endParaRPr lang="en-US" noProof="0" dirty="0"/>
          </a:p>
        </p:txBody>
      </p:sp>
      <p:sp>
        <p:nvSpPr>
          <p:cNvPr id="2" name="Текстов контейнер 1">
            <a:extLst>
              <a:ext uri="{FF2B5EF4-FFF2-40B4-BE49-F238E27FC236}">
                <a16:creationId xmlns:a16="http://schemas.microsoft.com/office/drawing/2014/main" id="{4A449979-B027-E50F-3866-97F96A3D747B}"/>
              </a:ext>
            </a:extLst>
          </p:cNvPr>
          <p:cNvSpPr>
            <a:spLocks noGrp="1"/>
          </p:cNvSpPr>
          <p:nvPr>
            <p:ph type="body" sz="quarter" idx="10"/>
          </p:nvPr>
        </p:nvSpPr>
        <p:spPr>
          <a:xfrm>
            <a:off x="190402" y="1196125"/>
            <a:ext cx="9370598" cy="5528766"/>
          </a:xfrm>
        </p:spPr>
        <p:txBody>
          <a:bodyPr>
            <a:normAutofit/>
          </a:bodyPr>
          <a:lstStyle/>
          <a:p>
            <a:pPr>
              <a:lnSpc>
                <a:spcPct val="110000"/>
              </a:lnSpc>
            </a:pPr>
            <a:r>
              <a:rPr lang="en-US" sz="3200" b="0" dirty="0"/>
              <a:t>HTML is a </a:t>
            </a:r>
            <a:r>
              <a:rPr lang="en-US" sz="3200" b="1" dirty="0">
                <a:solidFill>
                  <a:schemeClr val="bg1"/>
                </a:solidFill>
              </a:rPr>
              <a:t>language</a:t>
            </a:r>
            <a:r>
              <a:rPr lang="en-US" sz="3200" b="0" dirty="0"/>
              <a:t> for </a:t>
            </a:r>
            <a:r>
              <a:rPr lang="en-US" sz="3200" b="1" dirty="0">
                <a:solidFill>
                  <a:schemeClr val="bg1"/>
                </a:solidFill>
              </a:rPr>
              <a:t>describing web pages</a:t>
            </a:r>
          </a:p>
          <a:p>
            <a:pPr>
              <a:lnSpc>
                <a:spcPct val="110000"/>
              </a:lnSpc>
            </a:pPr>
            <a:r>
              <a:rPr lang="en-US" sz="3200" b="0" dirty="0"/>
              <a:t>HTML documents contain </a:t>
            </a:r>
            <a:r>
              <a:rPr lang="en-US" sz="3200" b="1" dirty="0">
                <a:solidFill>
                  <a:schemeClr val="bg1"/>
                </a:solidFill>
              </a:rPr>
              <a:t>HTML tags </a:t>
            </a:r>
            <a:r>
              <a:rPr lang="en-US" sz="3200" b="0" dirty="0"/>
              <a:t>and </a:t>
            </a:r>
            <a:r>
              <a:rPr lang="en-US" sz="3200" b="1" dirty="0">
                <a:solidFill>
                  <a:schemeClr val="bg1"/>
                </a:solidFill>
              </a:rPr>
              <a:t>plain text</a:t>
            </a:r>
          </a:p>
          <a:p>
            <a:pPr>
              <a:lnSpc>
                <a:spcPct val="110000"/>
              </a:lnSpc>
            </a:pPr>
            <a:r>
              <a:rPr lang="en-US" sz="3200" b="0" dirty="0"/>
              <a:t>A markup language is a set of </a:t>
            </a:r>
            <a:r>
              <a:rPr lang="en-US" sz="3200" b="1" dirty="0">
                <a:solidFill>
                  <a:schemeClr val="bg1"/>
                </a:solidFill>
              </a:rPr>
              <a:t>markup tags</a:t>
            </a:r>
          </a:p>
          <a:p>
            <a:pPr>
              <a:lnSpc>
                <a:spcPct val="110000"/>
              </a:lnSpc>
            </a:pPr>
            <a:r>
              <a:rPr lang="en-US" sz="3200" b="0" dirty="0"/>
              <a:t>The tags describe </a:t>
            </a:r>
            <a:r>
              <a:rPr lang="en-US" sz="3200" b="1" dirty="0">
                <a:solidFill>
                  <a:schemeClr val="bg1"/>
                </a:solidFill>
              </a:rPr>
              <a:t>document content</a:t>
            </a:r>
          </a:p>
        </p:txBody>
      </p:sp>
      <p:sp>
        <p:nvSpPr>
          <p:cNvPr id="4" name="Title 3"/>
          <p:cNvSpPr>
            <a:spLocks noGrp="1"/>
          </p:cNvSpPr>
          <p:nvPr>
            <p:ph type="title"/>
          </p:nvPr>
        </p:nvSpPr>
        <p:spPr/>
        <p:txBody>
          <a:bodyPr/>
          <a:lstStyle/>
          <a:p>
            <a:r>
              <a:rPr lang="en-US" dirty="0"/>
              <a:t>What is HTML?</a:t>
            </a:r>
          </a:p>
        </p:txBody>
      </p:sp>
      <p:pic>
        <p:nvPicPr>
          <p:cNvPr id="5" name="Picture 4">
            <a:extLst>
              <a:ext uri="{FF2B5EF4-FFF2-40B4-BE49-F238E27FC236}">
                <a16:creationId xmlns:a16="http://schemas.microsoft.com/office/drawing/2014/main" id="{0F6142C7-C5D7-EC37-CC60-024112A99D92}"/>
              </a:ext>
            </a:extLst>
          </p:cNvPr>
          <p:cNvPicPr>
            <a:picLocks noChangeAspect="1"/>
          </p:cNvPicPr>
          <p:nvPr/>
        </p:nvPicPr>
        <p:blipFill>
          <a:blip r:embed="rId2"/>
          <a:stretch>
            <a:fillRect/>
          </a:stretch>
        </p:blipFill>
        <p:spPr>
          <a:xfrm>
            <a:off x="7297082" y="3429000"/>
            <a:ext cx="4442543" cy="30727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500935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номер на слайда 1">
            <a:extLst>
              <a:ext uri="{FF2B5EF4-FFF2-40B4-BE49-F238E27FC236}">
                <a16:creationId xmlns:a16="http://schemas.microsoft.com/office/drawing/2014/main" id="{6D2D05F5-9D97-7D4D-EAE6-9D62C2BD197E}"/>
              </a:ext>
            </a:extLst>
          </p:cNvPr>
          <p:cNvSpPr>
            <a:spLocks noGrp="1"/>
          </p:cNvSpPr>
          <p:nvPr>
            <p:ph type="sldNum" sz="quarter" idx="5"/>
          </p:nvPr>
        </p:nvSpPr>
        <p:spPr/>
        <p:txBody>
          <a:bodyPr/>
          <a:lstStyle/>
          <a:p>
            <a:fld id="{2BF067CD-8E6B-4360-9AA8-C5DF2A48A6D1}" type="slidenum">
              <a:rPr lang="en-US" noProof="0" smtClean="0"/>
              <a:pPr/>
              <a:t>6</a:t>
            </a:fld>
            <a:endParaRPr lang="en-US" noProof="0" dirty="0"/>
          </a:p>
        </p:txBody>
      </p:sp>
      <p:sp>
        <p:nvSpPr>
          <p:cNvPr id="3" name="Текстов контейнер 2">
            <a:extLst>
              <a:ext uri="{FF2B5EF4-FFF2-40B4-BE49-F238E27FC236}">
                <a16:creationId xmlns:a16="http://schemas.microsoft.com/office/drawing/2014/main" id="{1CE97481-4DD0-E8A1-37A6-04DB01BC8203}"/>
              </a:ext>
            </a:extLst>
          </p:cNvPr>
          <p:cNvSpPr>
            <a:spLocks noGrp="1"/>
          </p:cNvSpPr>
          <p:nvPr>
            <p:ph type="body" sz="quarter" idx="10"/>
          </p:nvPr>
        </p:nvSpPr>
        <p:spPr/>
        <p:txBody>
          <a:bodyPr/>
          <a:lstStyle/>
          <a:p>
            <a:pPr>
              <a:lnSpc>
                <a:spcPct val="110000"/>
              </a:lnSpc>
              <a:buClr>
                <a:schemeClr val="tx1"/>
              </a:buClr>
            </a:pPr>
            <a:r>
              <a:rPr lang="en-GB" sz="3600" b="1" dirty="0">
                <a:solidFill>
                  <a:schemeClr val="bg1"/>
                </a:solidFill>
              </a:rPr>
              <a:t>HTML</a:t>
            </a:r>
            <a:r>
              <a:rPr lang="en-GB" sz="3600" dirty="0"/>
              <a:t> is consumed by </a:t>
            </a:r>
            <a:r>
              <a:rPr lang="en-GB" sz="3600" b="1" dirty="0">
                <a:solidFill>
                  <a:schemeClr val="bg1"/>
                </a:solidFill>
              </a:rPr>
              <a:t>web browsers</a:t>
            </a:r>
            <a:endParaRPr lang="en-US" sz="3600" b="1" dirty="0">
              <a:solidFill>
                <a:schemeClr val="bg1"/>
              </a:solidFill>
            </a:endParaRPr>
          </a:p>
          <a:p>
            <a:pPr>
              <a:lnSpc>
                <a:spcPct val="110000"/>
              </a:lnSpc>
              <a:buClr>
                <a:schemeClr val="tx1"/>
              </a:buClr>
            </a:pPr>
            <a:r>
              <a:rPr lang="en-US" sz="3600" b="0" dirty="0"/>
              <a:t>The purpose of a </a:t>
            </a:r>
            <a:r>
              <a:rPr lang="en-US" sz="3600" b="1" dirty="0">
                <a:solidFill>
                  <a:schemeClr val="bg1"/>
                </a:solidFill>
              </a:rPr>
              <a:t>web browser</a:t>
            </a:r>
            <a:r>
              <a:rPr lang="en-US" sz="3600" b="0" dirty="0"/>
              <a:t> is to read HTML documents and compose them into visible or audible web pages.</a:t>
            </a:r>
          </a:p>
          <a:p>
            <a:pPr>
              <a:lnSpc>
                <a:spcPct val="110000"/>
              </a:lnSpc>
              <a:buClr>
                <a:schemeClr val="tx1"/>
              </a:buClr>
            </a:pPr>
            <a:r>
              <a:rPr lang="en-US" sz="3600" b="1" dirty="0">
                <a:solidFill>
                  <a:schemeClr val="bg1"/>
                </a:solidFill>
              </a:rPr>
              <a:t>The browser</a:t>
            </a:r>
            <a:r>
              <a:rPr lang="en-US" sz="3600" b="0" dirty="0"/>
              <a:t> does not display the HTML tags, it uses the tags to interpret the content of the page.</a:t>
            </a:r>
          </a:p>
        </p:txBody>
      </p:sp>
      <p:sp>
        <p:nvSpPr>
          <p:cNvPr id="4" name="Заглавие 3">
            <a:extLst>
              <a:ext uri="{FF2B5EF4-FFF2-40B4-BE49-F238E27FC236}">
                <a16:creationId xmlns:a16="http://schemas.microsoft.com/office/drawing/2014/main" id="{C34AF43C-D493-24EE-EA49-F77976E05E0E}"/>
              </a:ext>
            </a:extLst>
          </p:cNvPr>
          <p:cNvSpPr>
            <a:spLocks noGrp="1"/>
          </p:cNvSpPr>
          <p:nvPr>
            <p:ph type="title"/>
          </p:nvPr>
        </p:nvSpPr>
        <p:spPr/>
        <p:txBody>
          <a:bodyPr>
            <a:normAutofit/>
          </a:bodyPr>
          <a:lstStyle/>
          <a:p>
            <a:r>
              <a:rPr lang="en-US" dirty="0"/>
              <a:t>What is HTML?</a:t>
            </a:r>
          </a:p>
        </p:txBody>
      </p:sp>
      <p:pic>
        <p:nvPicPr>
          <p:cNvPr id="5" name="Picture 4">
            <a:extLst>
              <a:ext uri="{FF2B5EF4-FFF2-40B4-BE49-F238E27FC236}">
                <a16:creationId xmlns:a16="http://schemas.microsoft.com/office/drawing/2014/main" id="{6854A957-C6A0-FDC4-5C74-8214E6DA269C}"/>
              </a:ext>
            </a:extLst>
          </p:cNvPr>
          <p:cNvPicPr>
            <a:picLocks noChangeAspect="1"/>
          </p:cNvPicPr>
          <p:nvPr/>
        </p:nvPicPr>
        <p:blipFill>
          <a:blip r:embed="rId2"/>
          <a:stretch>
            <a:fillRect/>
          </a:stretch>
        </p:blipFill>
        <p:spPr>
          <a:xfrm>
            <a:off x="8649536" y="4530326"/>
            <a:ext cx="3103494" cy="18975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5056651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номер на слайда 1">
            <a:extLst>
              <a:ext uri="{FF2B5EF4-FFF2-40B4-BE49-F238E27FC236}">
                <a16:creationId xmlns:a16="http://schemas.microsoft.com/office/drawing/2014/main" id="{BADFAF43-638A-AC97-DAED-1682894BA572}"/>
              </a:ext>
            </a:extLst>
          </p:cNvPr>
          <p:cNvSpPr>
            <a:spLocks noGrp="1"/>
          </p:cNvSpPr>
          <p:nvPr>
            <p:ph type="sldNum" sz="quarter" idx="4"/>
          </p:nvPr>
        </p:nvSpPr>
        <p:spPr/>
        <p:txBody>
          <a:bodyPr/>
          <a:lstStyle/>
          <a:p>
            <a:fld id="{2BF067CD-8E6B-4360-9AA8-C5DF2A48A6D1}" type="slidenum">
              <a:rPr lang="en-US" noProof="0" smtClean="0"/>
              <a:pPr/>
              <a:t>7</a:t>
            </a:fld>
            <a:endParaRPr lang="en-US" noProof="0" dirty="0"/>
          </a:p>
        </p:txBody>
      </p:sp>
      <p:sp>
        <p:nvSpPr>
          <p:cNvPr id="3" name="Текстов контейнер 2">
            <a:extLst>
              <a:ext uri="{FF2B5EF4-FFF2-40B4-BE49-F238E27FC236}">
                <a16:creationId xmlns:a16="http://schemas.microsoft.com/office/drawing/2014/main" id="{9FB26C31-85B7-8D8C-B0AD-7460856DDF1E}"/>
              </a:ext>
            </a:extLst>
          </p:cNvPr>
          <p:cNvSpPr>
            <a:spLocks noGrp="1"/>
          </p:cNvSpPr>
          <p:nvPr>
            <p:ph type="body" sz="quarter" idx="10"/>
          </p:nvPr>
        </p:nvSpPr>
        <p:spPr>
          <a:xfrm>
            <a:off x="190451" y="1279747"/>
            <a:ext cx="11811097" cy="5561124"/>
          </a:xfrm>
        </p:spPr>
        <p:txBody>
          <a:bodyPr>
            <a:normAutofit/>
          </a:bodyPr>
          <a:lstStyle/>
          <a:p>
            <a:pPr marL="457200" indent="-457200">
              <a:buFont typeface="Wingdings" panose="05000000000000000000" pitchFamily="2" charset="2"/>
              <a:buChar char="§"/>
            </a:pPr>
            <a:r>
              <a:rPr lang="en-GB" sz="3600" dirty="0"/>
              <a:t>Tags are </a:t>
            </a:r>
            <a:r>
              <a:rPr lang="en-GB" sz="3600" b="1" dirty="0">
                <a:solidFill>
                  <a:schemeClr val="bg1"/>
                </a:solidFill>
              </a:rPr>
              <a:t>keywords</a:t>
            </a:r>
            <a:r>
              <a:rPr lang="en-GB" sz="3600" dirty="0"/>
              <a:t> surrounded by </a:t>
            </a:r>
            <a:r>
              <a:rPr lang="en-GB" sz="3600" b="1" dirty="0">
                <a:solidFill>
                  <a:schemeClr val="bg1"/>
                </a:solidFill>
              </a:rPr>
              <a:t>angle brackets</a:t>
            </a:r>
            <a:endParaRPr lang="en-US" sz="3600" b="1" dirty="0">
              <a:solidFill>
                <a:schemeClr val="bg1"/>
              </a:solidFill>
            </a:endParaRPr>
          </a:p>
        </p:txBody>
      </p:sp>
      <p:sp>
        <p:nvSpPr>
          <p:cNvPr id="4" name="Заглавие 3">
            <a:extLst>
              <a:ext uri="{FF2B5EF4-FFF2-40B4-BE49-F238E27FC236}">
                <a16:creationId xmlns:a16="http://schemas.microsoft.com/office/drawing/2014/main" id="{2B9024FE-413A-5738-6264-2B2476A4CCA2}"/>
              </a:ext>
            </a:extLst>
          </p:cNvPr>
          <p:cNvSpPr>
            <a:spLocks noGrp="1"/>
          </p:cNvSpPr>
          <p:nvPr>
            <p:ph type="title"/>
          </p:nvPr>
        </p:nvSpPr>
        <p:spPr/>
        <p:txBody>
          <a:bodyPr/>
          <a:lstStyle/>
          <a:p>
            <a:r>
              <a:rPr lang="en-GB" dirty="0"/>
              <a:t>HTML Tags</a:t>
            </a:r>
            <a:endParaRPr lang="en-US" dirty="0"/>
          </a:p>
        </p:txBody>
      </p:sp>
      <p:pic>
        <p:nvPicPr>
          <p:cNvPr id="7" name="Картина 6">
            <a:extLst>
              <a:ext uri="{FF2B5EF4-FFF2-40B4-BE49-F238E27FC236}">
                <a16:creationId xmlns:a16="http://schemas.microsoft.com/office/drawing/2014/main" id="{C81097F5-4FF3-4FD3-9642-F62D1394AF7F}"/>
              </a:ext>
            </a:extLst>
          </p:cNvPr>
          <p:cNvPicPr>
            <a:picLocks noChangeAspect="1"/>
          </p:cNvPicPr>
          <p:nvPr/>
        </p:nvPicPr>
        <p:blipFill>
          <a:blip r:embed="rId2"/>
          <a:stretch>
            <a:fillRect/>
          </a:stretch>
        </p:blipFill>
        <p:spPr>
          <a:xfrm>
            <a:off x="786000" y="2050976"/>
            <a:ext cx="4584479" cy="4686074"/>
          </a:xfrm>
          <a:prstGeom prst="rect">
            <a:avLst/>
          </a:prstGeom>
          <a:ln>
            <a:noFill/>
          </a:ln>
          <a:effectLst>
            <a:outerShdw blurRad="292100" dist="139700" dir="2700000" algn="tl" rotWithShape="0">
              <a:srgbClr val="333333">
                <a:alpha val="65000"/>
              </a:srgbClr>
            </a:outerShdw>
          </a:effectLst>
        </p:spPr>
      </p:pic>
      <p:pic>
        <p:nvPicPr>
          <p:cNvPr id="9" name="Картина 8">
            <a:extLst>
              <a:ext uri="{FF2B5EF4-FFF2-40B4-BE49-F238E27FC236}">
                <a16:creationId xmlns:a16="http://schemas.microsoft.com/office/drawing/2014/main" id="{B5873284-9996-8A32-8817-5A3CB81FC523}"/>
              </a:ext>
            </a:extLst>
          </p:cNvPr>
          <p:cNvPicPr>
            <a:picLocks noChangeAspect="1"/>
          </p:cNvPicPr>
          <p:nvPr/>
        </p:nvPicPr>
        <p:blipFill>
          <a:blip r:embed="rId3"/>
          <a:stretch>
            <a:fillRect/>
          </a:stretch>
        </p:blipFill>
        <p:spPr>
          <a:xfrm>
            <a:off x="6366000" y="2050976"/>
            <a:ext cx="4635000" cy="46860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87653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CF7E5208-3C96-9639-9E66-67EFEAC4DDC3}"/>
              </a:ext>
            </a:extLst>
          </p:cNvPr>
          <p:cNvSpPr>
            <a:spLocks noGrp="1"/>
          </p:cNvSpPr>
          <p:nvPr>
            <p:ph type="body" sz="quarter" idx="10"/>
          </p:nvPr>
        </p:nvSpPr>
        <p:spPr>
          <a:xfrm>
            <a:off x="202853" y="1151487"/>
            <a:ext cx="11818096" cy="5528766"/>
          </a:xfrm>
        </p:spPr>
        <p:txBody>
          <a:bodyPr>
            <a:normAutofit/>
          </a:bodyPr>
          <a:lstStyle/>
          <a:p>
            <a:pPr>
              <a:buClr>
                <a:schemeClr val="tx1"/>
              </a:buClr>
            </a:pPr>
            <a:r>
              <a:rPr lang="en-GB" sz="3200" dirty="0"/>
              <a:t>HTML tags normally come in </a:t>
            </a:r>
            <a:r>
              <a:rPr lang="en-GB" sz="3200" b="1" dirty="0">
                <a:solidFill>
                  <a:schemeClr val="bg1"/>
                </a:solidFill>
              </a:rPr>
              <a:t>pairs</a:t>
            </a:r>
          </a:p>
          <a:p>
            <a:pPr>
              <a:lnSpc>
                <a:spcPct val="110000"/>
              </a:lnSpc>
              <a:buClr>
                <a:schemeClr val="tx1"/>
              </a:buClr>
            </a:pPr>
            <a:endParaRPr lang="bg-BG" sz="3600" b="0" dirty="0"/>
          </a:p>
          <a:p>
            <a:pPr>
              <a:lnSpc>
                <a:spcPct val="110000"/>
              </a:lnSpc>
              <a:buClr>
                <a:schemeClr val="tx1"/>
              </a:buClr>
            </a:pPr>
            <a:r>
              <a:rPr lang="en-US" sz="3600" b="0" dirty="0"/>
              <a:t>The first tag in a pair is the </a:t>
            </a:r>
            <a:r>
              <a:rPr lang="en-US" sz="3600" b="1" dirty="0">
                <a:solidFill>
                  <a:schemeClr val="bg1"/>
                </a:solidFill>
              </a:rPr>
              <a:t>start</a:t>
            </a:r>
            <a:r>
              <a:rPr lang="en-US" sz="3600" b="0" dirty="0"/>
              <a:t> tag, the second tag is the </a:t>
            </a:r>
            <a:r>
              <a:rPr lang="en-US" sz="3600" b="1" dirty="0">
                <a:solidFill>
                  <a:schemeClr val="bg1"/>
                </a:solidFill>
              </a:rPr>
              <a:t>end</a:t>
            </a:r>
            <a:r>
              <a:rPr lang="en-US" sz="3600" b="0" dirty="0"/>
              <a:t> tag</a:t>
            </a:r>
          </a:p>
          <a:p>
            <a:pPr>
              <a:lnSpc>
                <a:spcPct val="110000"/>
              </a:lnSpc>
              <a:buClr>
                <a:schemeClr val="tx1"/>
              </a:buClr>
            </a:pPr>
            <a:r>
              <a:rPr lang="en-US" sz="3600" b="0" dirty="0"/>
              <a:t>The </a:t>
            </a:r>
            <a:r>
              <a:rPr lang="en-US" sz="3600" b="1" dirty="0">
                <a:solidFill>
                  <a:schemeClr val="bg1"/>
                </a:solidFill>
              </a:rPr>
              <a:t>end</a:t>
            </a:r>
            <a:r>
              <a:rPr lang="en-US" sz="3600" b="0" dirty="0"/>
              <a:t> tag is </a:t>
            </a:r>
            <a:r>
              <a:rPr lang="en-US" sz="3600" b="1" dirty="0">
                <a:solidFill>
                  <a:schemeClr val="bg1"/>
                </a:solidFill>
              </a:rPr>
              <a:t>written like</a:t>
            </a:r>
            <a:r>
              <a:rPr lang="en-US" sz="3600" b="0" dirty="0">
                <a:solidFill>
                  <a:schemeClr val="bg1"/>
                </a:solidFill>
              </a:rPr>
              <a:t> </a:t>
            </a:r>
            <a:r>
              <a:rPr lang="en-US" sz="3600" b="0" dirty="0"/>
              <a:t>the </a:t>
            </a:r>
            <a:r>
              <a:rPr lang="en-US" sz="3600" b="1" dirty="0">
                <a:solidFill>
                  <a:schemeClr val="bg1"/>
                </a:solidFill>
              </a:rPr>
              <a:t>start</a:t>
            </a:r>
            <a:r>
              <a:rPr lang="en-US" sz="3600" b="0" dirty="0"/>
              <a:t> tag, with a </a:t>
            </a:r>
            <a:r>
              <a:rPr lang="en-US" sz="3600" b="1" dirty="0">
                <a:solidFill>
                  <a:schemeClr val="bg1"/>
                </a:solidFill>
              </a:rPr>
              <a:t>forward slash</a:t>
            </a:r>
            <a:r>
              <a:rPr lang="en-US" sz="3600" b="0" dirty="0">
                <a:solidFill>
                  <a:schemeClr val="bg1"/>
                </a:solidFill>
              </a:rPr>
              <a:t> </a:t>
            </a:r>
            <a:r>
              <a:rPr lang="en-US" sz="3600" b="0" dirty="0"/>
              <a:t>before the </a:t>
            </a:r>
            <a:r>
              <a:rPr lang="en-US" sz="3600" b="1" dirty="0">
                <a:solidFill>
                  <a:schemeClr val="bg1"/>
                </a:solidFill>
              </a:rPr>
              <a:t>tag</a:t>
            </a:r>
            <a:r>
              <a:rPr lang="en-US" sz="3600" b="0" dirty="0"/>
              <a:t> name</a:t>
            </a:r>
          </a:p>
          <a:p>
            <a:pPr>
              <a:lnSpc>
                <a:spcPct val="110000"/>
              </a:lnSpc>
              <a:buClr>
                <a:schemeClr val="tx1"/>
              </a:buClr>
            </a:pPr>
            <a:r>
              <a:rPr lang="en-US" sz="3600" b="1" dirty="0">
                <a:solidFill>
                  <a:schemeClr val="bg1"/>
                </a:solidFill>
              </a:rPr>
              <a:t>Start</a:t>
            </a:r>
            <a:r>
              <a:rPr lang="en-US" sz="3600" b="0" dirty="0"/>
              <a:t> and </a:t>
            </a:r>
            <a:r>
              <a:rPr lang="en-US" sz="3600" b="1" dirty="0">
                <a:solidFill>
                  <a:schemeClr val="bg1"/>
                </a:solidFill>
              </a:rPr>
              <a:t>end</a:t>
            </a:r>
            <a:r>
              <a:rPr lang="en-US" sz="3600" b="0" dirty="0"/>
              <a:t> tags are also called </a:t>
            </a:r>
            <a:r>
              <a:rPr lang="en-US" sz="3600" b="1" dirty="0">
                <a:solidFill>
                  <a:schemeClr val="bg1"/>
                </a:solidFill>
              </a:rPr>
              <a:t>opening tags </a:t>
            </a:r>
            <a:r>
              <a:rPr lang="en-US" sz="3600" b="0" dirty="0"/>
              <a:t>and </a:t>
            </a:r>
            <a:br>
              <a:rPr lang="en-US" sz="3600" b="0" dirty="0"/>
            </a:br>
            <a:r>
              <a:rPr lang="en-US" sz="3600" b="1" dirty="0">
                <a:solidFill>
                  <a:schemeClr val="bg1"/>
                </a:solidFill>
              </a:rPr>
              <a:t>closing tags</a:t>
            </a:r>
            <a:endParaRPr lang="en-US" b="1" dirty="0">
              <a:solidFill>
                <a:schemeClr val="bg1"/>
              </a:solidFill>
            </a:endParaRP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a:t>
            </a:r>
            <a:r>
              <a:rPr lang="en-GB" dirty="0">
                <a:solidFill>
                  <a:schemeClr val="bg1"/>
                </a:solidFill>
              </a:rPr>
              <a:t> </a:t>
            </a:r>
            <a:r>
              <a:rPr lang="en-GB" dirty="0"/>
              <a:t>Tag</a:t>
            </a:r>
            <a:r>
              <a:rPr lang="en-GB" dirty="0">
                <a:solidFill>
                  <a:schemeClr val="bg1"/>
                </a:solidFill>
              </a:rPr>
              <a:t> </a:t>
            </a:r>
            <a:r>
              <a:rPr lang="en-US" dirty="0"/>
              <a:t>P</a:t>
            </a:r>
            <a:r>
              <a:rPr lang="en-GB" dirty="0"/>
              <a:t>airs</a:t>
            </a:r>
          </a:p>
        </p:txBody>
      </p:sp>
      <p:sp>
        <p:nvSpPr>
          <p:cNvPr id="2" name="Text Placeholder 5">
            <a:extLst>
              <a:ext uri="{FF2B5EF4-FFF2-40B4-BE49-F238E27FC236}">
                <a16:creationId xmlns:a16="http://schemas.microsoft.com/office/drawing/2014/main" id="{859A6D09-618F-E322-4887-8DD453EC8A06}"/>
              </a:ext>
            </a:extLst>
          </p:cNvPr>
          <p:cNvSpPr txBox="1">
            <a:spLocks/>
          </p:cNvSpPr>
          <p:nvPr/>
        </p:nvSpPr>
        <p:spPr>
          <a:xfrm>
            <a:off x="741000" y="1809000"/>
            <a:ext cx="7380000" cy="66586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hangingPunct="0">
              <a:lnSpc>
                <a:spcPct val="110000"/>
              </a:lnSpc>
              <a:buClr>
                <a:schemeClr val="accent5">
                  <a:lumMod val="40000"/>
                  <a:lumOff val="60000"/>
                </a:schemeClr>
              </a:buClr>
              <a:buSzPct val="70000"/>
            </a:pPr>
            <a:r>
              <a:rPr lang="en-US" sz="2800" b="1" dirty="0">
                <a:solidFill>
                  <a:schemeClr val="tx1"/>
                </a:solidFill>
                <a:effectLst/>
                <a:latin typeface="Consolas" panose="020B0609020204030204" pitchFamily="49" charset="0"/>
              </a:rPr>
              <a:t>'&lt;' + '</a:t>
            </a:r>
            <a:r>
              <a:rPr lang="en-US" sz="2800" b="1" dirty="0">
                <a:solidFill>
                  <a:schemeClr val="bg1"/>
                </a:solidFill>
                <a:effectLst/>
                <a:latin typeface="Consolas" panose="020B0609020204030204" pitchFamily="49" charset="0"/>
              </a:rPr>
              <a:t>p</a:t>
            </a:r>
            <a:r>
              <a:rPr lang="en-US" sz="2800" b="1" dirty="0">
                <a:solidFill>
                  <a:schemeClr val="tx1"/>
                </a:solidFill>
                <a:effectLst/>
                <a:latin typeface="Consolas" panose="020B0609020204030204" pitchFamily="49" charset="0"/>
              </a:rPr>
              <a:t>' + '&gt;' and '&lt;/' + '</a:t>
            </a:r>
            <a:r>
              <a:rPr lang="en-US" sz="2800" b="1" dirty="0">
                <a:solidFill>
                  <a:schemeClr val="bg1"/>
                </a:solidFill>
                <a:effectLst/>
                <a:latin typeface="Consolas" panose="020B0609020204030204" pitchFamily="49" charset="0"/>
              </a:rPr>
              <a:t>p</a:t>
            </a:r>
            <a:r>
              <a:rPr lang="en-US" sz="2800" b="1" dirty="0">
                <a:solidFill>
                  <a:schemeClr val="tx1"/>
                </a:solidFill>
                <a:effectLst/>
                <a:latin typeface="Consolas" panose="020B0609020204030204" pitchFamily="49" charset="0"/>
              </a:rPr>
              <a:t>' + '&gt;'</a:t>
            </a:r>
            <a:endParaRPr lang="en-BG" sz="2800" b="1" dirty="0">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16940043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a:t>
            </a:r>
            <a:r>
              <a:rPr lang="en-GB" dirty="0">
                <a:solidFill>
                  <a:schemeClr val="bg1"/>
                </a:solidFill>
              </a:rPr>
              <a:t> </a:t>
            </a:r>
            <a:r>
              <a:rPr lang="en-GB" dirty="0"/>
              <a:t>Tag</a:t>
            </a:r>
            <a:r>
              <a:rPr lang="en-GB" dirty="0">
                <a:solidFill>
                  <a:schemeClr val="bg1"/>
                </a:solidFill>
              </a:rPr>
              <a:t> </a:t>
            </a:r>
            <a:r>
              <a:rPr lang="en-GB" dirty="0"/>
              <a:t>Pairs</a:t>
            </a:r>
            <a:r>
              <a:rPr lang="bg-BG" dirty="0"/>
              <a:t> - </a:t>
            </a:r>
            <a:r>
              <a:rPr lang="en-US" dirty="0"/>
              <a:t>Example</a:t>
            </a:r>
            <a:endParaRPr lang="en-GB" dirty="0"/>
          </a:p>
        </p:txBody>
      </p:sp>
      <p:pic>
        <p:nvPicPr>
          <p:cNvPr id="3074" name="Picture 2" descr="HTML basics - Learn web development | MDN">
            <a:extLst>
              <a:ext uri="{FF2B5EF4-FFF2-40B4-BE49-F238E27FC236}">
                <a16:creationId xmlns:a16="http://schemas.microsoft.com/office/drawing/2014/main" id="{911F63B4-18A5-2923-1C16-84F6E7341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994" y="2406590"/>
            <a:ext cx="10006012" cy="31078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4642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Represents </a:t>
            </a:r>
            <a:r>
              <a:rPr lang="en-US" b="1" dirty="0">
                <a:solidFill>
                  <a:schemeClr val="bg1"/>
                </a:solidFill>
              </a:rPr>
              <a:t>introductory</a:t>
            </a:r>
            <a:r>
              <a:rPr lang="en-US" dirty="0"/>
              <a:t> </a:t>
            </a:r>
            <a:r>
              <a:rPr lang="en-US" b="1" dirty="0">
                <a:solidFill>
                  <a:schemeClr val="bg1"/>
                </a:solidFill>
              </a:rPr>
              <a:t>content</a:t>
            </a:r>
          </a:p>
          <a:p>
            <a:endParaRPr lang="en-US" dirty="0"/>
          </a:p>
          <a:p>
            <a:endParaRPr lang="en-US" dirty="0"/>
          </a:p>
          <a:p>
            <a:r>
              <a:rPr lang="en-US" dirty="0"/>
              <a:t>It may contain:</a:t>
            </a:r>
          </a:p>
          <a:p>
            <a:pPr lvl="1"/>
            <a:r>
              <a:rPr lang="en-US" dirty="0"/>
              <a:t>headings</a:t>
            </a:r>
          </a:p>
          <a:p>
            <a:pPr lvl="1"/>
            <a:r>
              <a:rPr lang="en-US" dirty="0"/>
              <a:t>logo</a:t>
            </a:r>
          </a:p>
          <a:p>
            <a:pPr lvl="1"/>
            <a:r>
              <a:rPr lang="en-US" dirty="0"/>
              <a:t>search form</a:t>
            </a:r>
          </a:p>
        </p:txBody>
      </p:sp>
      <p:sp>
        <p:nvSpPr>
          <p:cNvPr id="4" name="Title 3"/>
          <p:cNvSpPr>
            <a:spLocks noGrp="1"/>
          </p:cNvSpPr>
          <p:nvPr>
            <p:ph type="title"/>
          </p:nvPr>
        </p:nvSpPr>
        <p:spPr/>
        <p:txBody>
          <a:bodyPr/>
          <a:lstStyle/>
          <a:p>
            <a:r>
              <a:rPr lang="en-US" dirty="0"/>
              <a:t>&lt;header&gt;&lt;/header&gt;</a:t>
            </a:r>
          </a:p>
        </p:txBody>
      </p:sp>
      <p:sp>
        <p:nvSpPr>
          <p:cNvPr id="8" name="Текстово поле 10">
            <a:extLst>
              <a:ext uri="{FF2B5EF4-FFF2-40B4-BE49-F238E27FC236}">
                <a16:creationId xmlns:a16="http://schemas.microsoft.com/office/drawing/2014/main" id="{6FD569BA-B095-4383-ABB7-302EE7CE8920}"/>
              </a:ext>
            </a:extLst>
          </p:cNvPr>
          <p:cNvSpPr txBox="1"/>
          <p:nvPr/>
        </p:nvSpPr>
        <p:spPr>
          <a:xfrm>
            <a:off x="561000" y="1854000"/>
            <a:ext cx="3915000" cy="1326105"/>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&lt;header&gt;</a:t>
            </a:r>
            <a:endParaRPr lang="en-GB" sz="2400" b="1" dirty="0">
              <a:solidFill>
                <a:srgbClr val="000000"/>
              </a:solidFill>
              <a:latin typeface="Consolas" panose="020B0609020204030204" pitchFamily="49" charset="0"/>
            </a:endParaRPr>
          </a:p>
          <a:p>
            <a:r>
              <a:rPr lang="en-GB" sz="2400" b="1" dirty="0">
                <a:solidFill>
                  <a:srgbClr val="000000"/>
                </a:solidFill>
                <a:latin typeface="Consolas" panose="020B0609020204030204" pitchFamily="49" charset="0"/>
              </a:rPr>
              <a:t>   </a:t>
            </a:r>
            <a:r>
              <a:rPr lang="en-GB" sz="2400" b="1" dirty="0">
                <a:solidFill>
                  <a:srgbClr val="800000"/>
                </a:solidFill>
                <a:latin typeface="Consolas" panose="020B0609020204030204" pitchFamily="49" charset="0"/>
              </a:rPr>
              <a:t>&lt;h1&gt;</a:t>
            </a:r>
            <a:r>
              <a:rPr lang="en-GB" sz="2400" b="1" dirty="0">
                <a:solidFill>
                  <a:srgbClr val="000000"/>
                </a:solidFill>
                <a:latin typeface="Consolas" panose="020B0609020204030204" pitchFamily="49" charset="0"/>
              </a:rPr>
              <a:t>Welcome</a:t>
            </a:r>
            <a:r>
              <a:rPr lang="en-GB" sz="2400" b="1" dirty="0">
                <a:solidFill>
                  <a:srgbClr val="800000"/>
                </a:solidFill>
                <a:latin typeface="Consolas" panose="020B0609020204030204" pitchFamily="49" charset="0"/>
              </a:rPr>
              <a:t>&lt;/h1&gt;</a:t>
            </a:r>
            <a:endParaRPr lang="en-GB" sz="2400" b="1" dirty="0">
              <a:solidFill>
                <a:srgbClr val="000000"/>
              </a:solidFill>
              <a:latin typeface="Consolas" panose="020B0609020204030204" pitchFamily="49" charset="0"/>
            </a:endParaRPr>
          </a:p>
          <a:p>
            <a:r>
              <a:rPr lang="en-GB" sz="2400" b="1" dirty="0">
                <a:solidFill>
                  <a:srgbClr val="800000"/>
                </a:solidFill>
                <a:latin typeface="Consolas" panose="020B0609020204030204" pitchFamily="49" charset="0"/>
              </a:rPr>
              <a:t>&lt;/header&gt;</a:t>
            </a:r>
            <a:endParaRPr lang="en-GB" sz="2400" b="1" dirty="0">
              <a:solidFill>
                <a:srgbClr val="000000"/>
              </a:solidFill>
              <a:latin typeface="Consolas" panose="020B0609020204030204" pitchFamily="49" charset="0"/>
            </a:endParaRPr>
          </a:p>
        </p:txBody>
      </p:sp>
      <p:sp>
        <p:nvSpPr>
          <p:cNvPr id="7" name="Slide Number">
            <a:extLst>
              <a:ext uri="{FF2B5EF4-FFF2-40B4-BE49-F238E27FC236}">
                <a16:creationId xmlns:a16="http://schemas.microsoft.com/office/drawing/2014/main" id="{A534B0B7-CB61-4DC1-9EB4-EC3EC18CEDCF}"/>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10</a:t>
            </a:fld>
            <a:endParaRPr lang="en-US" dirty="0"/>
          </a:p>
        </p:txBody>
      </p:sp>
      <p:pic>
        <p:nvPicPr>
          <p:cNvPr id="6" name="Picture 2">
            <a:extLst>
              <a:ext uri="{FF2B5EF4-FFF2-40B4-BE49-F238E27FC236}">
                <a16:creationId xmlns:a16="http://schemas.microsoft.com/office/drawing/2014/main" id="{B30E72A1-01C1-4F1A-9FDD-1FAE0BA55022}"/>
              </a:ext>
            </a:extLst>
          </p:cNvPr>
          <p:cNvPicPr>
            <a:picLocks noChangeAspect="1"/>
          </p:cNvPicPr>
          <p:nvPr/>
        </p:nvPicPr>
        <p:blipFill>
          <a:blip r:embed="rId2"/>
          <a:stretch>
            <a:fillRect/>
          </a:stretch>
        </p:blipFill>
        <p:spPr>
          <a:xfrm>
            <a:off x="5027500" y="2439258"/>
            <a:ext cx="6724059" cy="3998090"/>
          </a:xfrm>
          <a:prstGeom prst="rect">
            <a:avLst/>
          </a:prstGeom>
          <a:ln>
            <a:noFill/>
          </a:ln>
          <a:effectLst>
            <a:outerShdw blurRad="292100" dist="139700" dir="2700000" algn="tl" rotWithShape="0">
              <a:srgbClr val="333333">
                <a:alpha val="65000"/>
              </a:srgbClr>
            </a:outerShdw>
          </a:effectLst>
        </p:spPr>
      </p:pic>
      <p:sp>
        <p:nvSpPr>
          <p:cNvPr id="9" name="Rounded Rectangular Callout 1">
            <a:extLst>
              <a:ext uri="{FF2B5EF4-FFF2-40B4-BE49-F238E27FC236}">
                <a16:creationId xmlns:a16="http://schemas.microsoft.com/office/drawing/2014/main" id="{1C8F5351-9BF8-4BF2-B668-7C35A32FD061}"/>
              </a:ext>
            </a:extLst>
          </p:cNvPr>
          <p:cNvSpPr/>
          <p:nvPr/>
        </p:nvSpPr>
        <p:spPr bwMode="auto">
          <a:xfrm>
            <a:off x="7446000" y="2051389"/>
            <a:ext cx="1714849" cy="617560"/>
          </a:xfrm>
          <a:prstGeom prst="wedgeRoundRectCallout">
            <a:avLst>
              <a:gd name="adj1" fmla="val -69148"/>
              <a:gd name="adj2" fmla="val 4332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&lt;header&gt;</a:t>
            </a:r>
            <a:endParaRPr lang="bg-BG" sz="2399" b="1" dirty="0">
              <a:solidFill>
                <a:schemeClr val="bg1"/>
              </a:solidFill>
            </a:endParaRPr>
          </a:p>
        </p:txBody>
      </p:sp>
    </p:spTree>
    <p:extLst>
      <p:ext uri="{BB962C8B-B14F-4D97-AF65-F5344CB8AC3E}">
        <p14:creationId xmlns:p14="http://schemas.microsoft.com/office/powerpoint/2010/main" val="242852009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GB" dirty="0"/>
              <a:t>Defines a set of </a:t>
            </a:r>
            <a:r>
              <a:rPr lang="en-GB" b="1" dirty="0">
                <a:solidFill>
                  <a:schemeClr val="bg1"/>
                </a:solidFill>
              </a:rPr>
              <a:t>navigation links</a:t>
            </a:r>
            <a:endParaRPr lang="en-US" dirty="0"/>
          </a:p>
        </p:txBody>
      </p:sp>
      <p:sp>
        <p:nvSpPr>
          <p:cNvPr id="4" name="Title 3"/>
          <p:cNvSpPr>
            <a:spLocks noGrp="1"/>
          </p:cNvSpPr>
          <p:nvPr>
            <p:ph type="title"/>
          </p:nvPr>
        </p:nvSpPr>
        <p:spPr/>
        <p:txBody>
          <a:bodyPr/>
          <a:lstStyle/>
          <a:p>
            <a:r>
              <a:rPr lang="en-US" dirty="0"/>
              <a:t>&lt;nav&gt;&lt;/nav&gt;</a:t>
            </a:r>
          </a:p>
        </p:txBody>
      </p:sp>
      <p:sp>
        <p:nvSpPr>
          <p:cNvPr id="8" name="Slide Number">
            <a:extLst>
              <a:ext uri="{FF2B5EF4-FFF2-40B4-BE49-F238E27FC236}">
                <a16:creationId xmlns:a16="http://schemas.microsoft.com/office/drawing/2014/main" id="{753413F7-4CAD-4DF4-B9DD-70FE73C8BA3C}"/>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11</a:t>
            </a:fld>
            <a:endParaRPr lang="en-US" dirty="0"/>
          </a:p>
        </p:txBody>
      </p:sp>
      <p:sp>
        <p:nvSpPr>
          <p:cNvPr id="9" name="Rectangle 5">
            <a:extLst>
              <a:ext uri="{FF2B5EF4-FFF2-40B4-BE49-F238E27FC236}">
                <a16:creationId xmlns:a16="http://schemas.microsoft.com/office/drawing/2014/main" id="{286E0650-1E51-4EAB-BA09-8A82380A1571}"/>
              </a:ext>
            </a:extLst>
          </p:cNvPr>
          <p:cNvSpPr>
            <a:spLocks noChangeArrowheads="1"/>
          </p:cNvSpPr>
          <p:nvPr/>
        </p:nvSpPr>
        <p:spPr bwMode="auto">
          <a:xfrm>
            <a:off x="427477" y="2029100"/>
            <a:ext cx="9074666" cy="3046195"/>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US" sz="2399" b="1" noProof="1">
                <a:solidFill>
                  <a:srgbClr val="800000"/>
                </a:solidFill>
                <a:latin typeface="Consolas" panose="020B0609020204030204" pitchFamily="49" charset="0"/>
              </a:rPr>
              <a:t>&lt;nav</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id</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"leftmenu"</a:t>
            </a:r>
            <a:r>
              <a:rPr lang="en-US" sz="2399" b="1" noProof="1">
                <a:solidFill>
                  <a:srgbClr val="800000"/>
                </a:solidFill>
                <a:latin typeface="Consolas" panose="020B0609020204030204" pitchFamily="49" charset="0"/>
              </a:rPr>
              <a:t>&gt;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&lt;ul&gt;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"/home"</a:t>
            </a:r>
            <a:r>
              <a:rPr lang="en-US" sz="2399" b="1" noProof="1">
                <a:solidFill>
                  <a:srgbClr val="800000"/>
                </a:solidFill>
                <a:latin typeface="Consolas" panose="020B0609020204030204" pitchFamily="49" charset="0"/>
              </a:rPr>
              <a:t>&gt;</a:t>
            </a:r>
            <a:r>
              <a:rPr lang="en-US" sz="2399" b="1" noProof="1">
                <a:solidFill>
                  <a:srgbClr val="000000"/>
                </a:solidFill>
              </a:rPr>
              <a:t>Home</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"/tasks"</a:t>
            </a:r>
            <a:r>
              <a:rPr lang="en-US" sz="2399" b="1" noProof="1">
                <a:solidFill>
                  <a:srgbClr val="800000"/>
                </a:solidFill>
                <a:latin typeface="Consolas" panose="020B0609020204030204" pitchFamily="49" charset="0"/>
              </a:rPr>
              <a:t>&gt;</a:t>
            </a:r>
            <a:r>
              <a:rPr lang="en-US" sz="2399" b="1" noProof="1">
                <a:solidFill>
                  <a:srgbClr val="800000"/>
                </a:solidFill>
              </a:rPr>
              <a:t>Task Board</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"/create"</a:t>
            </a:r>
            <a:r>
              <a:rPr lang="en-US" sz="2399" b="1" noProof="1">
                <a:solidFill>
                  <a:srgbClr val="800000"/>
                </a:solidFill>
                <a:latin typeface="Consolas" panose="020B0609020204030204" pitchFamily="49" charset="0"/>
              </a:rPr>
              <a:t>&gt;</a:t>
            </a:r>
            <a:r>
              <a:rPr lang="en-US" sz="2399" b="1" noProof="1">
                <a:solidFill>
                  <a:srgbClr val="000000"/>
                </a:solidFill>
              </a:rPr>
              <a:t>Create</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"/search"</a:t>
            </a:r>
            <a:r>
              <a:rPr lang="en-US" sz="2399" b="1" noProof="1">
                <a:solidFill>
                  <a:srgbClr val="800000"/>
                </a:solidFill>
                <a:latin typeface="Consolas" panose="020B0609020204030204" pitchFamily="49" charset="0"/>
              </a:rPr>
              <a:t>&gt;</a:t>
            </a:r>
            <a:r>
              <a:rPr lang="en-US" sz="2399" b="1" noProof="1">
                <a:solidFill>
                  <a:srgbClr val="000000"/>
                </a:solidFill>
              </a:rPr>
              <a:t>Search</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&lt;/ul&gt;</a:t>
            </a:r>
            <a:endParaRPr lang="en-US" sz="2399" b="1" noProof="1">
              <a:solidFill>
                <a:srgbClr val="000000"/>
              </a:solidFill>
              <a:latin typeface="Consolas" panose="020B0609020204030204" pitchFamily="49" charset="0"/>
            </a:endParaRPr>
          </a:p>
          <a:p>
            <a:r>
              <a:rPr lang="en-US" sz="2399" b="1" noProof="1">
                <a:solidFill>
                  <a:srgbClr val="800000"/>
                </a:solidFill>
                <a:latin typeface="Consolas" panose="020B0609020204030204" pitchFamily="49" charset="0"/>
              </a:rPr>
              <a:t>&lt;/nav&gt;</a:t>
            </a:r>
            <a:endParaRPr lang="en-US" sz="2399" b="1" noProof="1">
              <a:solidFill>
                <a:srgbClr val="000000"/>
              </a:solidFill>
              <a:latin typeface="Consolas" panose="020B0609020204030204" pitchFamily="49" charset="0"/>
            </a:endParaRPr>
          </a:p>
        </p:txBody>
      </p:sp>
      <p:pic>
        <p:nvPicPr>
          <p:cNvPr id="10" name="Picture 7">
            <a:extLst>
              <a:ext uri="{FF2B5EF4-FFF2-40B4-BE49-F238E27FC236}">
                <a16:creationId xmlns:a16="http://schemas.microsoft.com/office/drawing/2014/main" id="{B446206C-0F87-41F2-BD11-B5582FF7979F}"/>
              </a:ext>
            </a:extLst>
          </p:cNvPr>
          <p:cNvPicPr>
            <a:picLocks noChangeAspect="1"/>
          </p:cNvPicPr>
          <p:nvPr/>
        </p:nvPicPr>
        <p:blipFill rotWithShape="1">
          <a:blip r:embed="rId2"/>
          <a:srcRect r="40953"/>
          <a:stretch/>
        </p:blipFill>
        <p:spPr>
          <a:xfrm>
            <a:off x="7715580" y="2336327"/>
            <a:ext cx="4062383" cy="4090784"/>
          </a:xfrm>
          <a:prstGeom prst="rect">
            <a:avLst/>
          </a:prstGeom>
          <a:ln>
            <a:noFill/>
          </a:ln>
          <a:effectLst>
            <a:outerShdw blurRad="292100" dist="139700" dir="2700000" algn="tl" rotWithShape="0">
              <a:srgbClr val="333333">
                <a:alpha val="65000"/>
              </a:srgbClr>
            </a:outerShdw>
          </a:effectLst>
        </p:spPr>
      </p:pic>
      <p:sp>
        <p:nvSpPr>
          <p:cNvPr id="11" name="Rounded Rectangular Callout 1">
            <a:extLst>
              <a:ext uri="{FF2B5EF4-FFF2-40B4-BE49-F238E27FC236}">
                <a16:creationId xmlns:a16="http://schemas.microsoft.com/office/drawing/2014/main" id="{8DF8765A-9C73-40C6-A443-E23A28069DF7}"/>
              </a:ext>
            </a:extLst>
          </p:cNvPr>
          <p:cNvSpPr/>
          <p:nvPr/>
        </p:nvSpPr>
        <p:spPr bwMode="auto">
          <a:xfrm>
            <a:off x="6316034" y="4418743"/>
            <a:ext cx="1264966" cy="617560"/>
          </a:xfrm>
          <a:prstGeom prst="wedgeRoundRectCallout">
            <a:avLst>
              <a:gd name="adj1" fmla="val 77682"/>
              <a:gd name="adj2" fmla="val -5252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&lt;nav&gt;</a:t>
            </a:r>
            <a:endParaRPr lang="bg-BG" sz="2399" b="1" dirty="0">
              <a:solidFill>
                <a:schemeClr val="bg1"/>
              </a:solidFill>
            </a:endParaRPr>
          </a:p>
        </p:txBody>
      </p:sp>
    </p:spTree>
    <p:extLst>
      <p:ext uri="{BB962C8B-B14F-4D97-AF65-F5344CB8AC3E}">
        <p14:creationId xmlns:p14="http://schemas.microsoft.com/office/powerpoint/2010/main" val="56094981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0402" y="1196125"/>
            <a:ext cx="6760598" cy="5528766"/>
          </a:xfrm>
        </p:spPr>
        <p:txBody>
          <a:bodyPr>
            <a:normAutofit/>
          </a:bodyPr>
          <a:lstStyle/>
          <a:p>
            <a:pPr>
              <a:buClr>
                <a:schemeClr val="tx1"/>
              </a:buClr>
            </a:pPr>
            <a:r>
              <a:rPr lang="en-US" sz="3600" b="1" dirty="0">
                <a:solidFill>
                  <a:schemeClr val="bg1"/>
                </a:solidFill>
                <a:latin typeface="Consolas" panose="020B0609020204030204" pitchFamily="49" charset="0"/>
              </a:rPr>
              <a:t>&lt;main&gt;</a:t>
            </a:r>
            <a:r>
              <a:rPr lang="en-US" sz="3600" dirty="0">
                <a:solidFill>
                  <a:schemeClr val="bg1"/>
                </a:solidFill>
              </a:rPr>
              <a:t> </a:t>
            </a:r>
            <a:r>
              <a:rPr lang="en-US" sz="3600" dirty="0"/>
              <a:t>holds the main content of a document </a:t>
            </a:r>
          </a:p>
          <a:p>
            <a:pPr lvl="1"/>
            <a:r>
              <a:rPr lang="en-US" sz="3400" dirty="0"/>
              <a:t>Helps crawlers</a:t>
            </a:r>
          </a:p>
          <a:p>
            <a:pPr lvl="1"/>
            <a:r>
              <a:rPr lang="en-US" sz="3400" dirty="0"/>
              <a:t>There must not be more than one </a:t>
            </a:r>
            <a:r>
              <a:rPr lang="en-US" sz="3400" b="1" dirty="0">
                <a:solidFill>
                  <a:schemeClr val="bg1"/>
                </a:solidFill>
                <a:latin typeface="Consolas" panose="020B0609020204030204" pitchFamily="49" charset="0"/>
              </a:rPr>
              <a:t>&lt;main&gt;</a:t>
            </a:r>
            <a:r>
              <a:rPr lang="en-US" sz="3400" dirty="0"/>
              <a:t> element </a:t>
            </a:r>
            <a:br>
              <a:rPr lang="bg-BG" sz="3400" dirty="0"/>
            </a:br>
            <a:r>
              <a:rPr lang="en-US" sz="3400" dirty="0"/>
              <a:t>in a document</a:t>
            </a:r>
          </a:p>
          <a:p>
            <a:pPr lvl="1"/>
            <a:r>
              <a:rPr lang="en-US" sz="3400" dirty="0"/>
              <a:t>Wrap the most important information in the body</a:t>
            </a:r>
            <a:endParaRPr lang="bg-BG" sz="3400" dirty="0"/>
          </a:p>
        </p:txBody>
      </p:sp>
      <p:sp>
        <p:nvSpPr>
          <p:cNvPr id="4" name="Title 3"/>
          <p:cNvSpPr>
            <a:spLocks noGrp="1"/>
          </p:cNvSpPr>
          <p:nvPr>
            <p:ph type="title"/>
          </p:nvPr>
        </p:nvSpPr>
        <p:spPr/>
        <p:txBody>
          <a:bodyPr/>
          <a:lstStyle/>
          <a:p>
            <a:r>
              <a:rPr lang="en-US" dirty="0"/>
              <a:t>&lt;main&gt;&lt;/main&gt;</a:t>
            </a:r>
          </a:p>
        </p:txBody>
      </p:sp>
      <p:sp>
        <p:nvSpPr>
          <p:cNvPr id="6" name="Slide Number">
            <a:extLst>
              <a:ext uri="{FF2B5EF4-FFF2-40B4-BE49-F238E27FC236}">
                <a16:creationId xmlns:a16="http://schemas.microsoft.com/office/drawing/2014/main" id="{71CBDEBC-9310-411E-83B3-0B52F7529CBC}"/>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12</a:t>
            </a:fld>
            <a:endParaRPr lang="en-US" dirty="0"/>
          </a:p>
        </p:txBody>
      </p:sp>
      <p:pic>
        <p:nvPicPr>
          <p:cNvPr id="5" name="Picture 5">
            <a:extLst>
              <a:ext uri="{FF2B5EF4-FFF2-40B4-BE49-F238E27FC236}">
                <a16:creationId xmlns:a16="http://schemas.microsoft.com/office/drawing/2014/main" id="{138E50A3-8CC2-4D07-97A3-C0A19590E056}"/>
              </a:ext>
            </a:extLst>
          </p:cNvPr>
          <p:cNvPicPr>
            <a:picLocks noChangeAspect="1"/>
          </p:cNvPicPr>
          <p:nvPr/>
        </p:nvPicPr>
        <p:blipFill>
          <a:blip r:embed="rId2"/>
          <a:stretch>
            <a:fillRect/>
          </a:stretch>
        </p:blipFill>
        <p:spPr>
          <a:xfrm>
            <a:off x="6725836" y="1404528"/>
            <a:ext cx="5143760" cy="5186506"/>
          </a:xfrm>
          <a:prstGeom prst="rect">
            <a:avLst/>
          </a:prstGeom>
        </p:spPr>
      </p:pic>
      <p:sp>
        <p:nvSpPr>
          <p:cNvPr id="7" name="Rounded Rectangular Callout 1">
            <a:extLst>
              <a:ext uri="{FF2B5EF4-FFF2-40B4-BE49-F238E27FC236}">
                <a16:creationId xmlns:a16="http://schemas.microsoft.com/office/drawing/2014/main" id="{3AD0416F-346E-42D1-B65D-00701CCEE6B0}"/>
              </a:ext>
            </a:extLst>
          </p:cNvPr>
          <p:cNvSpPr/>
          <p:nvPr/>
        </p:nvSpPr>
        <p:spPr bwMode="auto">
          <a:xfrm>
            <a:off x="10189935" y="1539000"/>
            <a:ext cx="1439625" cy="617560"/>
          </a:xfrm>
          <a:prstGeom prst="wedgeRoundRectCallout">
            <a:avLst>
              <a:gd name="adj1" fmla="val -42011"/>
              <a:gd name="adj2" fmla="val 85076"/>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&lt;main&gt;</a:t>
            </a:r>
            <a:endParaRPr lang="bg-BG" sz="2399" b="1" dirty="0">
              <a:solidFill>
                <a:schemeClr val="bg1"/>
              </a:solidFill>
            </a:endParaRPr>
          </a:p>
        </p:txBody>
      </p:sp>
    </p:spTree>
    <p:extLst>
      <p:ext uri="{BB962C8B-B14F-4D97-AF65-F5344CB8AC3E}">
        <p14:creationId xmlns:p14="http://schemas.microsoft.com/office/powerpoint/2010/main" val="383145523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Defines a </a:t>
            </a:r>
            <a:r>
              <a:rPr lang="en-US" dirty="0">
                <a:solidFill>
                  <a:schemeClr val="tx2">
                    <a:lumMod val="75000"/>
                  </a:schemeClr>
                </a:solidFill>
              </a:rPr>
              <a:t>sidebar</a:t>
            </a:r>
            <a:r>
              <a:rPr lang="en-US" dirty="0"/>
              <a:t> (</a:t>
            </a:r>
            <a:r>
              <a:rPr lang="en-US" b="1" dirty="0">
                <a:solidFill>
                  <a:schemeClr val="bg1"/>
                </a:solidFill>
              </a:rPr>
              <a:t>left / right navigation</a:t>
            </a:r>
            <a:r>
              <a:rPr lang="en-US" dirty="0"/>
              <a:t>)</a:t>
            </a:r>
          </a:p>
        </p:txBody>
      </p:sp>
      <p:sp>
        <p:nvSpPr>
          <p:cNvPr id="4" name="Title 3"/>
          <p:cNvSpPr>
            <a:spLocks noGrp="1"/>
          </p:cNvSpPr>
          <p:nvPr>
            <p:ph type="title"/>
          </p:nvPr>
        </p:nvSpPr>
        <p:spPr/>
        <p:txBody>
          <a:bodyPr/>
          <a:lstStyle/>
          <a:p>
            <a:r>
              <a:rPr lang="en-US" dirty="0"/>
              <a:t>&lt;aside&gt;&lt;/aside&gt;</a:t>
            </a:r>
          </a:p>
        </p:txBody>
      </p:sp>
      <p:sp>
        <p:nvSpPr>
          <p:cNvPr id="7" name="Slide Number">
            <a:extLst>
              <a:ext uri="{FF2B5EF4-FFF2-40B4-BE49-F238E27FC236}">
                <a16:creationId xmlns:a16="http://schemas.microsoft.com/office/drawing/2014/main" id="{10D0C7BA-48B2-4DCC-B896-E128D7728C5D}"/>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13</a:t>
            </a:fld>
            <a:endParaRPr lang="en-US" dirty="0"/>
          </a:p>
        </p:txBody>
      </p:sp>
      <p:sp>
        <p:nvSpPr>
          <p:cNvPr id="8" name="Rectangle 5">
            <a:extLst>
              <a:ext uri="{FF2B5EF4-FFF2-40B4-BE49-F238E27FC236}">
                <a16:creationId xmlns:a16="http://schemas.microsoft.com/office/drawing/2014/main" id="{1450B1EB-2647-4300-8742-9F38AAC043D5}"/>
              </a:ext>
            </a:extLst>
          </p:cNvPr>
          <p:cNvSpPr>
            <a:spLocks noChangeArrowheads="1"/>
          </p:cNvSpPr>
          <p:nvPr/>
        </p:nvSpPr>
        <p:spPr bwMode="auto">
          <a:xfrm>
            <a:off x="653168" y="1854411"/>
            <a:ext cx="8322832" cy="3046195"/>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US" sz="2399" b="1" noProof="1">
                <a:solidFill>
                  <a:srgbClr val="800000"/>
                </a:solidFill>
                <a:latin typeface="Consolas" panose="020B0609020204030204" pitchFamily="49" charset="0"/>
              </a:rPr>
              <a:t>&lt;aside&gt;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&lt;h2&gt;</a:t>
            </a:r>
            <a:r>
              <a:rPr lang="en-US" sz="2399" b="1" noProof="1">
                <a:solidFill>
                  <a:srgbClr val="000000"/>
                </a:solidFill>
                <a:latin typeface="Consolas" panose="020B0609020204030204" pitchFamily="49" charset="0"/>
              </a:rPr>
              <a:t>Recent posts</a:t>
            </a:r>
            <a:r>
              <a:rPr lang="en-US" sz="2399" b="1" noProof="1">
                <a:solidFill>
                  <a:srgbClr val="800000"/>
                </a:solidFill>
                <a:latin typeface="Consolas" panose="020B0609020204030204" pitchFamily="49" charset="0"/>
              </a:rPr>
              <a:t>&lt;/h2&gt;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&lt;ul&gt;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a:t>
            </a:r>
            <a:r>
              <a:rPr lang="en-US" sz="2399" b="1" noProof="1">
                <a:solidFill>
                  <a:srgbClr val="800000"/>
                </a:solidFill>
                <a:latin typeface="Consolas" panose="020B0609020204030204" pitchFamily="49" charset="0"/>
              </a:rPr>
              <a:t>&gt;</a:t>
            </a:r>
            <a:r>
              <a:rPr lang="en-US" sz="2399" b="1" noProof="1">
                <a:solidFill>
                  <a:srgbClr val="000000"/>
                </a:solidFill>
                <a:latin typeface="Consolas" panose="020B0609020204030204" pitchFamily="49" charset="0"/>
              </a:rPr>
              <a:t>Our Response</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a:t>
            </a:r>
            <a:r>
              <a:rPr lang="en-US" sz="2399" b="1" noProof="1">
                <a:solidFill>
                  <a:srgbClr val="800000"/>
                </a:solidFill>
                <a:latin typeface="Consolas" panose="020B0609020204030204" pitchFamily="49" charset="0"/>
              </a:rPr>
              <a:t>&gt;</a:t>
            </a:r>
            <a:r>
              <a:rPr lang="en-US" sz="2399" b="1" noProof="1">
                <a:solidFill>
                  <a:srgbClr val="000000"/>
                </a:solidFill>
                <a:latin typeface="Consolas" panose="020B0609020204030204" pitchFamily="49" charset="0"/>
              </a:rPr>
              <a:t>Her Story</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&lt;li&gt;&lt;a</a:t>
            </a: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href</a:t>
            </a:r>
            <a:r>
              <a:rPr lang="en-US" sz="2399" b="1" noProof="1">
                <a:solidFill>
                  <a:srgbClr val="000000"/>
                </a:solidFill>
                <a:latin typeface="Consolas" panose="020B0609020204030204" pitchFamily="49" charset="0"/>
              </a:rPr>
              <a:t>=</a:t>
            </a:r>
            <a:r>
              <a:rPr lang="en-US" sz="2399" b="1" noProof="1">
                <a:solidFill>
                  <a:srgbClr val="0000FF"/>
                </a:solidFill>
                <a:latin typeface="Consolas" panose="020B0609020204030204" pitchFamily="49" charset="0"/>
              </a:rPr>
              <a:t>"#"</a:t>
            </a:r>
            <a:r>
              <a:rPr lang="en-US" sz="2399" b="1" noProof="1">
                <a:solidFill>
                  <a:srgbClr val="800000"/>
                </a:solidFill>
                <a:latin typeface="Consolas" panose="020B0609020204030204" pitchFamily="49" charset="0"/>
              </a:rPr>
              <a:t>&gt;</a:t>
            </a:r>
            <a:r>
              <a:rPr lang="en-US" sz="2399" b="1" noProof="1">
                <a:solidFill>
                  <a:srgbClr val="000000"/>
                </a:solidFill>
                <a:latin typeface="Consolas" panose="020B0609020204030204" pitchFamily="49" charset="0"/>
              </a:rPr>
              <a:t>Greatest Challenges</a:t>
            </a:r>
            <a:r>
              <a:rPr lang="en-US" sz="2399" b="1" noProof="1">
                <a:solidFill>
                  <a:srgbClr val="800000"/>
                </a:solidFill>
                <a:latin typeface="Consolas" panose="020B0609020204030204" pitchFamily="49" charset="0"/>
              </a:rPr>
              <a:t>&lt;/a&gt;&lt;/li&gt;</a:t>
            </a:r>
            <a:endParaRPr lang="en-US" sz="2399" b="1" noProof="1">
              <a:solidFill>
                <a:srgbClr val="000000"/>
              </a:solidFill>
              <a:latin typeface="Consolas" panose="020B0609020204030204" pitchFamily="49" charset="0"/>
            </a:endParaRPr>
          </a:p>
          <a:p>
            <a:r>
              <a:rPr lang="en-US" sz="2399" b="1" noProof="1">
                <a:solidFill>
                  <a:srgbClr val="000000"/>
                </a:solidFill>
                <a:latin typeface="Consolas" panose="020B0609020204030204" pitchFamily="49" charset="0"/>
              </a:rPr>
              <a:t>  </a:t>
            </a:r>
            <a:r>
              <a:rPr lang="en-US" sz="2399" b="1" noProof="1">
                <a:solidFill>
                  <a:srgbClr val="800000"/>
                </a:solidFill>
                <a:latin typeface="Consolas" panose="020B0609020204030204" pitchFamily="49" charset="0"/>
              </a:rPr>
              <a:t>&lt;/ul&gt;</a:t>
            </a:r>
            <a:endParaRPr lang="en-US" sz="2399" b="1" noProof="1">
              <a:solidFill>
                <a:srgbClr val="000000"/>
              </a:solidFill>
              <a:latin typeface="Consolas" panose="020B0609020204030204" pitchFamily="49" charset="0"/>
            </a:endParaRPr>
          </a:p>
          <a:p>
            <a:r>
              <a:rPr lang="en-US" sz="2399" b="1" noProof="1">
                <a:solidFill>
                  <a:srgbClr val="800000"/>
                </a:solidFill>
                <a:latin typeface="Consolas" panose="020B0609020204030204" pitchFamily="49" charset="0"/>
              </a:rPr>
              <a:t>&lt;/aside&gt;</a:t>
            </a:r>
            <a:endParaRPr lang="en-US" sz="2399" b="1" noProof="1">
              <a:solidFill>
                <a:srgbClr val="000000"/>
              </a:solidFill>
              <a:latin typeface="Consolas" panose="020B0609020204030204" pitchFamily="49" charset="0"/>
            </a:endParaRPr>
          </a:p>
        </p:txBody>
      </p:sp>
      <p:pic>
        <p:nvPicPr>
          <p:cNvPr id="9" name="Picture 7">
            <a:extLst>
              <a:ext uri="{FF2B5EF4-FFF2-40B4-BE49-F238E27FC236}">
                <a16:creationId xmlns:a16="http://schemas.microsoft.com/office/drawing/2014/main" id="{219BE3BA-DD0B-4B43-966E-8FE9735E70B2}"/>
              </a:ext>
            </a:extLst>
          </p:cNvPr>
          <p:cNvPicPr>
            <a:picLocks noChangeAspect="1"/>
          </p:cNvPicPr>
          <p:nvPr/>
        </p:nvPicPr>
        <p:blipFill>
          <a:blip r:embed="rId2"/>
          <a:stretch>
            <a:fillRect/>
          </a:stretch>
        </p:blipFill>
        <p:spPr>
          <a:xfrm>
            <a:off x="2640860" y="4221089"/>
            <a:ext cx="8998781" cy="2409197"/>
          </a:xfrm>
          <a:prstGeom prst="rect">
            <a:avLst/>
          </a:prstGeom>
          <a:ln>
            <a:noFill/>
          </a:ln>
          <a:effectLst>
            <a:outerShdw blurRad="292100" dist="139700" dir="2700000" algn="tl" rotWithShape="0">
              <a:srgbClr val="333333">
                <a:alpha val="65000"/>
              </a:srgbClr>
            </a:outerShdw>
          </a:effectLst>
        </p:spPr>
      </p:pic>
      <p:sp>
        <p:nvSpPr>
          <p:cNvPr id="11" name="Rounded Rectangular Callout 1">
            <a:extLst>
              <a:ext uri="{FF2B5EF4-FFF2-40B4-BE49-F238E27FC236}">
                <a16:creationId xmlns:a16="http://schemas.microsoft.com/office/drawing/2014/main" id="{03464AAD-ECDE-4E5E-9D09-5D8EEF1630EC}"/>
              </a:ext>
            </a:extLst>
          </p:cNvPr>
          <p:cNvSpPr/>
          <p:nvPr/>
        </p:nvSpPr>
        <p:spPr bwMode="auto">
          <a:xfrm>
            <a:off x="9065228" y="3501008"/>
            <a:ext cx="1295991" cy="517984"/>
          </a:xfrm>
          <a:prstGeom prst="wedgeRoundRectCallout">
            <a:avLst>
              <a:gd name="adj1" fmla="val 43026"/>
              <a:gd name="adj2" fmla="val 11607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&lt;aside&gt;</a:t>
            </a:r>
            <a:endParaRPr lang="bg-BG" sz="2399" b="1" dirty="0">
              <a:solidFill>
                <a:schemeClr val="bg1"/>
              </a:solidFill>
            </a:endParaRPr>
          </a:p>
        </p:txBody>
      </p:sp>
    </p:spTree>
    <p:extLst>
      <p:ext uri="{BB962C8B-B14F-4D97-AF65-F5344CB8AC3E}">
        <p14:creationId xmlns:p14="http://schemas.microsoft.com/office/powerpoint/2010/main" val="279862477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0402" y="1196125"/>
            <a:ext cx="7705598" cy="5528766"/>
          </a:xfrm>
        </p:spPr>
        <p:txBody>
          <a:bodyPr>
            <a:normAutofit/>
          </a:bodyPr>
          <a:lstStyle/>
          <a:p>
            <a:pPr>
              <a:buClr>
                <a:schemeClr val="tx1"/>
              </a:buClr>
            </a:pPr>
            <a:r>
              <a:rPr lang="en-GB" sz="3600" dirty="0"/>
              <a:t>A document / section footer</a:t>
            </a:r>
          </a:p>
          <a:p>
            <a:pPr>
              <a:buClr>
                <a:schemeClr val="tx1"/>
              </a:buClr>
            </a:pPr>
            <a:endParaRPr lang="en-GB" sz="3600" dirty="0"/>
          </a:p>
          <a:p>
            <a:pPr>
              <a:buClr>
                <a:schemeClr val="tx1"/>
              </a:buClr>
            </a:pPr>
            <a:endParaRPr lang="en-GB" sz="3600" dirty="0"/>
          </a:p>
          <a:p>
            <a:pPr marL="0" indent="0">
              <a:buClr>
                <a:schemeClr val="tx1"/>
              </a:buClr>
              <a:buNone/>
            </a:pPr>
            <a:endParaRPr lang="en-GB" sz="3600" dirty="0"/>
          </a:p>
          <a:p>
            <a:r>
              <a:rPr lang="en-US" dirty="0"/>
              <a:t>A footer typically contains:</a:t>
            </a:r>
          </a:p>
          <a:p>
            <a:pPr lvl="1"/>
            <a:r>
              <a:rPr lang="en-US" sz="3200" dirty="0"/>
              <a:t>Navigation links</a:t>
            </a:r>
          </a:p>
          <a:p>
            <a:pPr lvl="1">
              <a:buClr>
                <a:schemeClr val="tx1"/>
              </a:buClr>
            </a:pPr>
            <a:r>
              <a:rPr lang="en-US" sz="3200" dirty="0"/>
              <a:t>Copyright data</a:t>
            </a:r>
          </a:p>
        </p:txBody>
      </p:sp>
      <p:sp>
        <p:nvSpPr>
          <p:cNvPr id="4" name="Title 3"/>
          <p:cNvSpPr>
            <a:spLocks noGrp="1"/>
          </p:cNvSpPr>
          <p:nvPr>
            <p:ph type="title"/>
          </p:nvPr>
        </p:nvSpPr>
        <p:spPr/>
        <p:txBody>
          <a:bodyPr/>
          <a:lstStyle/>
          <a:p>
            <a:r>
              <a:rPr lang="en-US" dirty="0"/>
              <a:t>&lt;footer&gt;&lt;/footer&gt;</a:t>
            </a:r>
          </a:p>
        </p:txBody>
      </p:sp>
      <p:sp>
        <p:nvSpPr>
          <p:cNvPr id="7" name="Slide Number">
            <a:extLst>
              <a:ext uri="{FF2B5EF4-FFF2-40B4-BE49-F238E27FC236}">
                <a16:creationId xmlns:a16="http://schemas.microsoft.com/office/drawing/2014/main" id="{B7B39CF0-F86E-438D-9061-7264F63CE1DE}"/>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14</a:t>
            </a:fld>
            <a:endParaRPr lang="en-US" dirty="0"/>
          </a:p>
        </p:txBody>
      </p:sp>
      <p:sp>
        <p:nvSpPr>
          <p:cNvPr id="8" name="Rectangle 5">
            <a:extLst>
              <a:ext uri="{FF2B5EF4-FFF2-40B4-BE49-F238E27FC236}">
                <a16:creationId xmlns:a16="http://schemas.microsoft.com/office/drawing/2014/main" id="{106C0D15-AE8E-4670-B161-F0F2A10E4DBB}"/>
              </a:ext>
            </a:extLst>
          </p:cNvPr>
          <p:cNvSpPr>
            <a:spLocks noChangeArrowheads="1"/>
          </p:cNvSpPr>
          <p:nvPr/>
        </p:nvSpPr>
        <p:spPr bwMode="auto">
          <a:xfrm>
            <a:off x="517453" y="1955260"/>
            <a:ext cx="6073418" cy="2067559"/>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lIns="146266" tIns="109699" rIns="146266" bIns="109699">
            <a:spAutoFit/>
          </a:bodyPr>
          <a:lstStyle/>
          <a:p>
            <a:r>
              <a:rPr lang="en-GB" sz="2399" b="1" noProof="1">
                <a:solidFill>
                  <a:srgbClr val="800000"/>
                </a:solidFill>
                <a:latin typeface="Consolas" panose="020B0609020204030204" pitchFamily="49" charset="0"/>
              </a:rPr>
              <a:t>&lt;footer&gt;</a:t>
            </a:r>
            <a:endParaRPr lang="en-GB" sz="2399" b="1" noProof="1">
              <a:solidFill>
                <a:srgbClr val="000000"/>
              </a:solidFill>
              <a:latin typeface="Consolas" panose="020B0609020204030204" pitchFamily="49" charset="0"/>
            </a:endParaRPr>
          </a:p>
          <a:p>
            <a:r>
              <a:rPr lang="en-GB" sz="2399" b="1" noProof="1">
                <a:solidFill>
                  <a:srgbClr val="000000"/>
                </a:solidFill>
                <a:latin typeface="Consolas" panose="020B0609020204030204" pitchFamily="49" charset="0"/>
              </a:rPr>
              <a:t>  </a:t>
            </a:r>
            <a:r>
              <a:rPr lang="en-GB" sz="2399" b="1" noProof="1">
                <a:solidFill>
                  <a:srgbClr val="800000"/>
                </a:solidFill>
                <a:latin typeface="Consolas" panose="020B0609020204030204" pitchFamily="49" charset="0"/>
              </a:rPr>
              <a:t>&lt;p&gt;</a:t>
            </a:r>
            <a:r>
              <a:rPr lang="en-GB" sz="2399" b="1" noProof="1">
                <a:solidFill>
                  <a:srgbClr val="000000"/>
                </a:solidFill>
                <a:latin typeface="Consolas" panose="020B0609020204030204" pitchFamily="49" charset="0"/>
              </a:rPr>
              <a:t>Posted by: Hege Refsnes</a:t>
            </a:r>
            <a:r>
              <a:rPr lang="en-GB" sz="2399" b="1" noProof="1">
                <a:solidFill>
                  <a:srgbClr val="800000"/>
                </a:solidFill>
                <a:latin typeface="Consolas" panose="020B0609020204030204" pitchFamily="49" charset="0"/>
              </a:rPr>
              <a:t>&lt;/p&gt;</a:t>
            </a:r>
          </a:p>
          <a:p>
            <a:r>
              <a:rPr lang="en-GB" sz="2399" b="1" noProof="1">
                <a:solidFill>
                  <a:srgbClr val="800000"/>
                </a:solidFill>
                <a:latin typeface="Consolas" panose="020B0609020204030204" pitchFamily="49" charset="0"/>
              </a:rPr>
              <a:t>	&lt;p&gt;</a:t>
            </a:r>
            <a:r>
              <a:rPr lang="en-GB" sz="2399" b="1" noProof="1">
                <a:solidFill>
                  <a:srgbClr val="000000"/>
                </a:solidFill>
                <a:latin typeface="Consolas" panose="020B0609020204030204" pitchFamily="49" charset="0"/>
              </a:rPr>
              <a:t>&amp;copy;copyright</a:t>
            </a:r>
            <a:r>
              <a:rPr lang="en-GB" sz="2399" b="1" noProof="1">
                <a:solidFill>
                  <a:srgbClr val="800000"/>
                </a:solidFill>
                <a:latin typeface="Consolas" panose="020B0609020204030204" pitchFamily="49" charset="0"/>
              </a:rPr>
              <a:t>&lt;/p&gt;</a:t>
            </a:r>
            <a:endParaRPr lang="en-GB" sz="2399" b="1" noProof="1">
              <a:solidFill>
                <a:srgbClr val="000000"/>
              </a:solidFill>
              <a:latin typeface="Consolas" panose="020B0609020204030204" pitchFamily="49" charset="0"/>
            </a:endParaRPr>
          </a:p>
          <a:p>
            <a:r>
              <a:rPr lang="en-GB" sz="2399" b="1" noProof="1">
                <a:solidFill>
                  <a:srgbClr val="000000"/>
                </a:solidFill>
                <a:latin typeface="Consolas" panose="020B0609020204030204" pitchFamily="49" charset="0"/>
              </a:rPr>
              <a:t>	</a:t>
            </a:r>
            <a:r>
              <a:rPr lang="en-GB" sz="2399" b="1" noProof="1">
                <a:solidFill>
                  <a:srgbClr val="800000"/>
                </a:solidFill>
                <a:latin typeface="Consolas" panose="020B0609020204030204" pitchFamily="49" charset="0"/>
              </a:rPr>
              <a:t>&lt;p&gt;</a:t>
            </a:r>
            <a:r>
              <a:rPr lang="en-GB" sz="2399" b="1" noProof="1">
                <a:solidFill>
                  <a:schemeClr val="accent6">
                    <a:lumMod val="10000"/>
                  </a:schemeClr>
                </a:solidFill>
                <a:latin typeface="Consolas" panose="020B0609020204030204" pitchFamily="49" charset="0"/>
              </a:rPr>
              <a:t>2021 Task </a:t>
            </a:r>
            <a:r>
              <a:rPr lang="en-GB" sz="2399" b="1" noProof="1">
                <a:solidFill>
                  <a:srgbClr val="000000"/>
                </a:solidFill>
                <a:latin typeface="Consolas" panose="020B0609020204030204" pitchFamily="49" charset="0"/>
              </a:rPr>
              <a:t>Board</a:t>
            </a:r>
            <a:r>
              <a:rPr lang="en-GB" sz="2399" b="1" noProof="1">
                <a:solidFill>
                  <a:srgbClr val="800000"/>
                </a:solidFill>
                <a:latin typeface="Consolas" panose="020B0609020204030204" pitchFamily="49" charset="0"/>
              </a:rPr>
              <a:t>&lt;/p&gt;</a:t>
            </a:r>
            <a:endParaRPr lang="en-GB" sz="2399" b="1" noProof="1">
              <a:solidFill>
                <a:srgbClr val="000000"/>
              </a:solidFill>
              <a:latin typeface="Consolas" panose="020B0609020204030204" pitchFamily="49" charset="0"/>
            </a:endParaRPr>
          </a:p>
          <a:p>
            <a:r>
              <a:rPr lang="en-GB" sz="2399" b="1" noProof="1">
                <a:solidFill>
                  <a:srgbClr val="800000"/>
                </a:solidFill>
                <a:latin typeface="Consolas" panose="020B0609020204030204" pitchFamily="49" charset="0"/>
              </a:rPr>
              <a:t>&lt;/footer&gt;</a:t>
            </a:r>
            <a:endParaRPr lang="en-GB" sz="2399" b="1" noProof="1">
              <a:solidFill>
                <a:srgbClr val="000000"/>
              </a:solidFill>
              <a:latin typeface="Consolas" panose="020B0609020204030204" pitchFamily="49" charset="0"/>
            </a:endParaRPr>
          </a:p>
        </p:txBody>
      </p:sp>
      <p:pic>
        <p:nvPicPr>
          <p:cNvPr id="9" name="Picture 1">
            <a:extLst>
              <a:ext uri="{FF2B5EF4-FFF2-40B4-BE49-F238E27FC236}">
                <a16:creationId xmlns:a16="http://schemas.microsoft.com/office/drawing/2014/main" id="{98A71243-C515-4BC4-B554-1A774B3C751D}"/>
              </a:ext>
            </a:extLst>
          </p:cNvPr>
          <p:cNvPicPr>
            <a:picLocks noChangeAspect="1"/>
          </p:cNvPicPr>
          <p:nvPr/>
        </p:nvPicPr>
        <p:blipFill>
          <a:blip r:embed="rId2"/>
          <a:stretch>
            <a:fillRect/>
          </a:stretch>
        </p:blipFill>
        <p:spPr>
          <a:xfrm>
            <a:off x="6950778" y="1481184"/>
            <a:ext cx="4850750" cy="4769225"/>
          </a:xfrm>
          <a:prstGeom prst="rect">
            <a:avLst/>
          </a:prstGeom>
          <a:ln>
            <a:noFill/>
          </a:ln>
          <a:effectLst>
            <a:outerShdw blurRad="292100" dist="139700" dir="2700000" algn="tl" rotWithShape="0">
              <a:srgbClr val="333333">
                <a:alpha val="65000"/>
              </a:srgbClr>
            </a:outerShdw>
          </a:effectLst>
        </p:spPr>
      </p:pic>
      <p:sp>
        <p:nvSpPr>
          <p:cNvPr id="10" name="Rounded Rectangular Callout 1">
            <a:extLst>
              <a:ext uri="{FF2B5EF4-FFF2-40B4-BE49-F238E27FC236}">
                <a16:creationId xmlns:a16="http://schemas.microsoft.com/office/drawing/2014/main" id="{6438E024-59D7-43B4-957F-0A2823DB2A14}"/>
              </a:ext>
            </a:extLst>
          </p:cNvPr>
          <p:cNvSpPr/>
          <p:nvPr/>
        </p:nvSpPr>
        <p:spPr bwMode="auto">
          <a:xfrm>
            <a:off x="5196387" y="5375021"/>
            <a:ext cx="1484613" cy="572546"/>
          </a:xfrm>
          <a:prstGeom prst="wedgeRoundRectCallout">
            <a:avLst>
              <a:gd name="adj1" fmla="val 73191"/>
              <a:gd name="adj2" fmla="val 4402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&lt;footer&gt;</a:t>
            </a:r>
          </a:p>
        </p:txBody>
      </p:sp>
    </p:spTree>
    <p:extLst>
      <p:ext uri="{BB962C8B-B14F-4D97-AF65-F5344CB8AC3E}">
        <p14:creationId xmlns:p14="http://schemas.microsoft.com/office/powerpoint/2010/main" val="23361304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Represents a standalone section</a:t>
            </a:r>
          </a:p>
          <a:p>
            <a:pPr lvl="1"/>
            <a:r>
              <a:rPr lang="en-US" dirty="0"/>
              <a:t>Typically followed by a heading</a:t>
            </a:r>
          </a:p>
          <a:p>
            <a:pPr lvl="1"/>
            <a:endParaRPr lang="en-US" dirty="0"/>
          </a:p>
          <a:p>
            <a:pPr marL="442779" lvl="1" indent="0">
              <a:buNone/>
            </a:pPr>
            <a:endParaRPr lang="en-US" dirty="0"/>
          </a:p>
          <a:p>
            <a:pPr>
              <a:spcBef>
                <a:spcPts val="2399"/>
              </a:spcBef>
            </a:pPr>
            <a:r>
              <a:rPr lang="en-GB" dirty="0"/>
              <a:t>Sections may have header,</a:t>
            </a:r>
            <a:br>
              <a:rPr lang="en-GB" dirty="0"/>
            </a:br>
            <a:r>
              <a:rPr lang="en-GB" dirty="0"/>
              <a:t>several articles, and footer</a:t>
            </a:r>
            <a:endParaRPr lang="en-US" b="1" dirty="0">
              <a:solidFill>
                <a:schemeClr val="bg1"/>
              </a:solidFill>
            </a:endParaRPr>
          </a:p>
        </p:txBody>
      </p:sp>
      <p:sp>
        <p:nvSpPr>
          <p:cNvPr id="4" name="Title 3"/>
          <p:cNvSpPr>
            <a:spLocks noGrp="1"/>
          </p:cNvSpPr>
          <p:nvPr>
            <p:ph type="title"/>
          </p:nvPr>
        </p:nvSpPr>
        <p:spPr/>
        <p:txBody>
          <a:bodyPr/>
          <a:lstStyle/>
          <a:p>
            <a:r>
              <a:rPr lang="en-US" dirty="0"/>
              <a:t>&lt;section&gt;&lt;/section&gt;</a:t>
            </a:r>
          </a:p>
        </p:txBody>
      </p:sp>
      <p:sp>
        <p:nvSpPr>
          <p:cNvPr id="7" name="Slide Number">
            <a:extLst>
              <a:ext uri="{FF2B5EF4-FFF2-40B4-BE49-F238E27FC236}">
                <a16:creationId xmlns:a16="http://schemas.microsoft.com/office/drawing/2014/main" id="{880155AC-3D10-4CE0-BEFB-79D8537DB015}"/>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15</a:t>
            </a:fld>
            <a:endParaRPr lang="en-US" dirty="0"/>
          </a:p>
        </p:txBody>
      </p:sp>
      <p:sp>
        <p:nvSpPr>
          <p:cNvPr id="8" name="Rectangle 5">
            <a:extLst>
              <a:ext uri="{FF2B5EF4-FFF2-40B4-BE49-F238E27FC236}">
                <a16:creationId xmlns:a16="http://schemas.microsoft.com/office/drawing/2014/main" id="{8258F0E6-0A48-4891-B97F-8DD4F6CF9770}"/>
              </a:ext>
            </a:extLst>
          </p:cNvPr>
          <p:cNvSpPr>
            <a:spLocks noChangeArrowheads="1"/>
          </p:cNvSpPr>
          <p:nvPr/>
        </p:nvSpPr>
        <p:spPr bwMode="auto">
          <a:xfrm>
            <a:off x="1123822" y="2543722"/>
            <a:ext cx="3982178" cy="1513817"/>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lIns="146266" tIns="109699" rIns="146266" bIns="109699">
            <a:spAutoFit/>
          </a:bodyPr>
          <a:lstStyle/>
          <a:p>
            <a:r>
              <a:rPr lang="en-US" sz="2799" b="1" noProof="1">
                <a:solidFill>
                  <a:srgbClr val="800000"/>
                </a:solidFill>
                <a:latin typeface="Consolas" panose="020B0609020204030204" pitchFamily="49" charset="0"/>
              </a:rPr>
              <a:t>&lt;section&gt;</a:t>
            </a:r>
            <a:endParaRPr lang="en-US" sz="2799" b="1" noProof="1">
              <a:solidFill>
                <a:srgbClr val="000000"/>
              </a:solidFill>
              <a:latin typeface="Consolas" panose="020B0609020204030204" pitchFamily="49" charset="0"/>
            </a:endParaRPr>
          </a:p>
          <a:p>
            <a:r>
              <a:rPr lang="en-US" sz="2799" b="1" noProof="1">
                <a:solidFill>
                  <a:srgbClr val="000000"/>
                </a:solidFill>
                <a:latin typeface="Consolas" panose="020B0609020204030204" pitchFamily="49" charset="0"/>
              </a:rPr>
              <a:t>  </a:t>
            </a:r>
            <a:r>
              <a:rPr lang="en-US" sz="2799" b="1" noProof="1">
                <a:solidFill>
                  <a:srgbClr val="800000"/>
                </a:solidFill>
                <a:latin typeface="Consolas" panose="020B0609020204030204" pitchFamily="49" charset="0"/>
              </a:rPr>
              <a:t>&lt;h2&gt;</a:t>
            </a:r>
            <a:r>
              <a:rPr lang="en-US" sz="2799" b="1" noProof="1">
                <a:solidFill>
                  <a:srgbClr val="000000"/>
                </a:solidFill>
                <a:latin typeface="Consolas" panose="020B0609020204030204" pitchFamily="49" charset="0"/>
              </a:rPr>
              <a:t>Heading</a:t>
            </a:r>
            <a:r>
              <a:rPr lang="en-US" sz="2799" b="1" noProof="1">
                <a:solidFill>
                  <a:srgbClr val="800000"/>
                </a:solidFill>
                <a:latin typeface="Consolas" panose="020B0609020204030204" pitchFamily="49" charset="0"/>
              </a:rPr>
              <a:t>&lt;/h2&gt;</a:t>
            </a:r>
            <a:endParaRPr lang="en-US" sz="2799" b="1" noProof="1">
              <a:solidFill>
                <a:srgbClr val="000000"/>
              </a:solidFill>
              <a:latin typeface="Consolas" panose="020B0609020204030204" pitchFamily="49" charset="0"/>
            </a:endParaRPr>
          </a:p>
          <a:p>
            <a:r>
              <a:rPr lang="en-US" sz="2799" b="1" noProof="1">
                <a:solidFill>
                  <a:srgbClr val="800000"/>
                </a:solidFill>
                <a:latin typeface="Consolas" panose="020B0609020204030204" pitchFamily="49" charset="0"/>
              </a:rPr>
              <a:t>&lt;/section&gt;</a:t>
            </a:r>
            <a:endParaRPr lang="en-US" sz="2799" b="1" noProof="1">
              <a:solidFill>
                <a:srgbClr val="000000"/>
              </a:solidFill>
              <a:latin typeface="Consolas" panose="020B0609020204030204" pitchFamily="49" charset="0"/>
            </a:endParaRPr>
          </a:p>
        </p:txBody>
      </p:sp>
      <p:pic>
        <p:nvPicPr>
          <p:cNvPr id="9" name="Picture 11">
            <a:extLst>
              <a:ext uri="{FF2B5EF4-FFF2-40B4-BE49-F238E27FC236}">
                <a16:creationId xmlns:a16="http://schemas.microsoft.com/office/drawing/2014/main" id="{1A7F6DE1-3CE8-4E21-89CF-DAE6C7964D48}"/>
              </a:ext>
            </a:extLst>
          </p:cNvPr>
          <p:cNvPicPr>
            <a:picLocks noChangeAspect="1"/>
          </p:cNvPicPr>
          <p:nvPr/>
        </p:nvPicPr>
        <p:blipFill>
          <a:blip r:embed="rId2"/>
          <a:stretch>
            <a:fillRect/>
          </a:stretch>
        </p:blipFill>
        <p:spPr>
          <a:xfrm>
            <a:off x="6632727" y="1831381"/>
            <a:ext cx="5295651" cy="3867468"/>
          </a:xfrm>
          <a:prstGeom prst="rect">
            <a:avLst/>
          </a:prstGeom>
          <a:ln>
            <a:noFill/>
          </a:ln>
          <a:effectLst>
            <a:outerShdw blurRad="292100" dist="139700" dir="2700000" algn="tl" rotWithShape="0">
              <a:srgbClr val="333333">
                <a:alpha val="65000"/>
              </a:srgbClr>
            </a:outerShdw>
          </a:effectLst>
        </p:spPr>
      </p:pic>
      <p:sp>
        <p:nvSpPr>
          <p:cNvPr id="11" name="Rounded Rectangular Callout 1">
            <a:extLst>
              <a:ext uri="{FF2B5EF4-FFF2-40B4-BE49-F238E27FC236}">
                <a16:creationId xmlns:a16="http://schemas.microsoft.com/office/drawing/2014/main" id="{73458315-F9D4-4C47-806F-D0C75C7F27A6}"/>
              </a:ext>
            </a:extLst>
          </p:cNvPr>
          <p:cNvSpPr/>
          <p:nvPr/>
        </p:nvSpPr>
        <p:spPr bwMode="auto">
          <a:xfrm>
            <a:off x="6006025" y="3472691"/>
            <a:ext cx="1574590" cy="584848"/>
          </a:xfrm>
          <a:prstGeom prst="wedgeRoundRectCallout">
            <a:avLst>
              <a:gd name="adj1" fmla="val 74240"/>
              <a:gd name="adj2" fmla="val -3100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&lt;section&gt;</a:t>
            </a:r>
            <a:endParaRPr lang="bg-BG" sz="2399" b="1" dirty="0">
              <a:solidFill>
                <a:schemeClr val="bg1"/>
              </a:solidFill>
            </a:endParaRPr>
          </a:p>
        </p:txBody>
      </p:sp>
    </p:spTree>
    <p:extLst>
      <p:ext uri="{BB962C8B-B14F-4D97-AF65-F5344CB8AC3E}">
        <p14:creationId xmlns:p14="http://schemas.microsoft.com/office/powerpoint/2010/main" val="235014347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0402" y="1196125"/>
            <a:ext cx="7885598" cy="5528766"/>
          </a:xfrm>
        </p:spPr>
        <p:txBody>
          <a:bodyPr>
            <a:normAutofit lnSpcReduction="10000"/>
          </a:bodyPr>
          <a:lstStyle/>
          <a:p>
            <a:r>
              <a:rPr lang="en-US" dirty="0"/>
              <a:t>Represents a </a:t>
            </a:r>
            <a:r>
              <a:rPr lang="en-US" b="1" dirty="0">
                <a:solidFill>
                  <a:schemeClr val="bg1"/>
                </a:solidFill>
              </a:rPr>
              <a:t>self-contained</a:t>
            </a:r>
            <a:r>
              <a:rPr lang="en-US" dirty="0"/>
              <a:t> </a:t>
            </a:r>
            <a:r>
              <a:rPr lang="en-US" b="1" dirty="0">
                <a:solidFill>
                  <a:schemeClr val="bg1"/>
                </a:solidFill>
              </a:rPr>
              <a:t>composition</a:t>
            </a:r>
            <a:r>
              <a:rPr lang="en-US" dirty="0"/>
              <a:t> in a document, page, application, or site</a:t>
            </a:r>
            <a:endParaRPr lang="bg-BG" dirty="0"/>
          </a:p>
          <a:p>
            <a:r>
              <a:rPr lang="en-US" dirty="0"/>
              <a:t>Intended to be </a:t>
            </a:r>
            <a:r>
              <a:rPr lang="en-US" b="1" dirty="0">
                <a:solidFill>
                  <a:schemeClr val="bg1"/>
                </a:solidFill>
              </a:rPr>
              <a:t>independently</a:t>
            </a:r>
            <a:r>
              <a:rPr lang="en-US" dirty="0"/>
              <a:t> </a:t>
            </a:r>
            <a:r>
              <a:rPr lang="en-US" b="1" dirty="0">
                <a:solidFill>
                  <a:schemeClr val="bg1"/>
                </a:solidFill>
              </a:rPr>
              <a:t>distributable</a:t>
            </a:r>
            <a:r>
              <a:rPr lang="en-US" dirty="0"/>
              <a:t> or </a:t>
            </a:r>
            <a:r>
              <a:rPr lang="en-US" b="1" dirty="0">
                <a:solidFill>
                  <a:schemeClr val="bg1"/>
                </a:solidFill>
              </a:rPr>
              <a:t>reusable</a:t>
            </a:r>
            <a:r>
              <a:rPr lang="en-US" dirty="0"/>
              <a:t> </a:t>
            </a:r>
          </a:p>
          <a:p>
            <a:r>
              <a:rPr lang="en-US" dirty="0"/>
              <a:t>Examples: </a:t>
            </a:r>
          </a:p>
          <a:p>
            <a:pPr lvl="1"/>
            <a:r>
              <a:rPr lang="en-US" dirty="0"/>
              <a:t>Forum post</a:t>
            </a:r>
          </a:p>
          <a:p>
            <a:pPr lvl="1"/>
            <a:r>
              <a:rPr lang="en-US" dirty="0"/>
              <a:t>Magazine</a:t>
            </a:r>
          </a:p>
          <a:p>
            <a:pPr lvl="1"/>
            <a:r>
              <a:rPr lang="en-US" dirty="0"/>
              <a:t>Newspaper article</a:t>
            </a:r>
          </a:p>
          <a:p>
            <a:pPr lvl="1"/>
            <a:r>
              <a:rPr lang="en-US" dirty="0"/>
              <a:t>Blog entry</a:t>
            </a:r>
          </a:p>
        </p:txBody>
      </p:sp>
      <p:sp>
        <p:nvSpPr>
          <p:cNvPr id="4" name="Title 3"/>
          <p:cNvSpPr>
            <a:spLocks noGrp="1"/>
          </p:cNvSpPr>
          <p:nvPr>
            <p:ph type="title"/>
          </p:nvPr>
        </p:nvSpPr>
        <p:spPr/>
        <p:txBody>
          <a:bodyPr/>
          <a:lstStyle/>
          <a:p>
            <a:r>
              <a:rPr lang="en-US" dirty="0"/>
              <a:t>&lt;article&gt;&lt;/article&gt;</a:t>
            </a:r>
          </a:p>
        </p:txBody>
      </p:sp>
      <p:sp>
        <p:nvSpPr>
          <p:cNvPr id="6" name="Slide Number">
            <a:extLst>
              <a:ext uri="{FF2B5EF4-FFF2-40B4-BE49-F238E27FC236}">
                <a16:creationId xmlns:a16="http://schemas.microsoft.com/office/drawing/2014/main" id="{E4A9771A-386C-484B-B3EC-629C01CE2C93}"/>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16</a:t>
            </a:fld>
            <a:endParaRPr lang="en-US" dirty="0"/>
          </a:p>
        </p:txBody>
      </p:sp>
      <p:sp>
        <p:nvSpPr>
          <p:cNvPr id="7" name="Rectangle 7">
            <a:extLst>
              <a:ext uri="{FF2B5EF4-FFF2-40B4-BE49-F238E27FC236}">
                <a16:creationId xmlns:a16="http://schemas.microsoft.com/office/drawing/2014/main" id="{D085A869-C6BE-4052-AC92-A7AEE4009A82}"/>
              </a:ext>
            </a:extLst>
          </p:cNvPr>
          <p:cNvSpPr>
            <a:spLocks noChangeArrowheads="1"/>
          </p:cNvSpPr>
          <p:nvPr/>
        </p:nvSpPr>
        <p:spPr bwMode="auto">
          <a:xfrm>
            <a:off x="8210450" y="1314552"/>
            <a:ext cx="3689039" cy="1944641"/>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lIns="146266" tIns="109699" rIns="146266" bIns="109699">
            <a:spAutoFit/>
          </a:bodyPr>
          <a:lstStyle/>
          <a:p>
            <a:r>
              <a:rPr lang="en-US" sz="2799" b="1" noProof="1">
                <a:solidFill>
                  <a:srgbClr val="800000"/>
                </a:solidFill>
                <a:latin typeface="Consolas" panose="020B0609020204030204" pitchFamily="49" charset="0"/>
              </a:rPr>
              <a:t>&lt;article&gt;</a:t>
            </a:r>
            <a:endParaRPr lang="en-US" sz="2799" b="1" noProof="1">
              <a:solidFill>
                <a:srgbClr val="000000"/>
              </a:solidFill>
              <a:latin typeface="Consolas" panose="020B0609020204030204" pitchFamily="49" charset="0"/>
            </a:endParaRPr>
          </a:p>
          <a:p>
            <a:r>
              <a:rPr lang="en-US" sz="2799" b="1" noProof="1">
                <a:solidFill>
                  <a:srgbClr val="000000"/>
                </a:solidFill>
                <a:latin typeface="Consolas" panose="020B0609020204030204" pitchFamily="49" charset="0"/>
              </a:rPr>
              <a:t>  </a:t>
            </a:r>
            <a:r>
              <a:rPr lang="en-US" sz="2799" b="1" noProof="1">
                <a:solidFill>
                  <a:srgbClr val="800000"/>
                </a:solidFill>
                <a:latin typeface="Consolas" panose="020B0609020204030204" pitchFamily="49" charset="0"/>
              </a:rPr>
              <a:t>&lt;h2&gt;</a:t>
            </a:r>
            <a:r>
              <a:rPr lang="en-US" sz="2799" b="1" noProof="1">
                <a:solidFill>
                  <a:srgbClr val="000000"/>
                </a:solidFill>
                <a:latin typeface="Consolas" panose="020B0609020204030204" pitchFamily="49" charset="0"/>
              </a:rPr>
              <a:t>Tips</a:t>
            </a:r>
            <a:r>
              <a:rPr lang="en-US" sz="2799" b="1" noProof="1">
                <a:solidFill>
                  <a:srgbClr val="800000"/>
                </a:solidFill>
                <a:latin typeface="Consolas" panose="020B0609020204030204" pitchFamily="49" charset="0"/>
              </a:rPr>
              <a:t>&lt;/h2&gt;</a:t>
            </a:r>
            <a:endParaRPr lang="en-US" sz="2799" b="1" noProof="1">
              <a:solidFill>
                <a:srgbClr val="000000"/>
              </a:solidFill>
              <a:latin typeface="Consolas" panose="020B0609020204030204" pitchFamily="49" charset="0"/>
            </a:endParaRPr>
          </a:p>
          <a:p>
            <a:r>
              <a:rPr lang="en-US" sz="2799" b="1" noProof="1">
                <a:solidFill>
                  <a:srgbClr val="000000"/>
                </a:solidFill>
                <a:latin typeface="Consolas" panose="020B0609020204030204" pitchFamily="49" charset="0"/>
              </a:rPr>
              <a:t>  </a:t>
            </a:r>
            <a:r>
              <a:rPr lang="en-US" sz="2799" b="1" noProof="1">
                <a:solidFill>
                  <a:srgbClr val="800000"/>
                </a:solidFill>
                <a:latin typeface="Consolas" panose="020B0609020204030204" pitchFamily="49" charset="0"/>
              </a:rPr>
              <a:t>&lt;p&gt;Tip #1 …&lt;/p&gt;</a:t>
            </a:r>
            <a:endParaRPr lang="en-US" sz="2799" b="1" noProof="1">
              <a:solidFill>
                <a:srgbClr val="000000"/>
              </a:solidFill>
              <a:latin typeface="Consolas" panose="020B0609020204030204" pitchFamily="49" charset="0"/>
            </a:endParaRPr>
          </a:p>
          <a:p>
            <a:r>
              <a:rPr lang="en-US" sz="2799" b="1" noProof="1">
                <a:solidFill>
                  <a:srgbClr val="800000"/>
                </a:solidFill>
                <a:latin typeface="Consolas" panose="020B0609020204030204" pitchFamily="49" charset="0"/>
              </a:rPr>
              <a:t>&lt;/article&gt;</a:t>
            </a:r>
            <a:endParaRPr lang="en-US" sz="2799" b="1" noProof="1">
              <a:solidFill>
                <a:srgbClr val="000000"/>
              </a:solidFill>
              <a:latin typeface="Consolas" panose="020B0609020204030204" pitchFamily="49" charset="0"/>
            </a:endParaRPr>
          </a:p>
        </p:txBody>
      </p:sp>
      <p:pic>
        <p:nvPicPr>
          <p:cNvPr id="8" name="Picture 8">
            <a:extLst>
              <a:ext uri="{FF2B5EF4-FFF2-40B4-BE49-F238E27FC236}">
                <a16:creationId xmlns:a16="http://schemas.microsoft.com/office/drawing/2014/main" id="{73D1594C-1C6A-4FE2-B089-4FABB08ECAA7}"/>
              </a:ext>
            </a:extLst>
          </p:cNvPr>
          <p:cNvPicPr>
            <a:picLocks noChangeAspect="1"/>
          </p:cNvPicPr>
          <p:nvPr/>
        </p:nvPicPr>
        <p:blipFill>
          <a:blip r:embed="rId2"/>
          <a:stretch>
            <a:fillRect/>
          </a:stretch>
        </p:blipFill>
        <p:spPr>
          <a:xfrm>
            <a:off x="4958587" y="3471904"/>
            <a:ext cx="4376571" cy="3196253"/>
          </a:xfrm>
          <a:prstGeom prst="rect">
            <a:avLst/>
          </a:prstGeom>
          <a:ln>
            <a:noFill/>
          </a:ln>
          <a:effectLst>
            <a:outerShdw blurRad="292100" dist="139700" dir="2700000" algn="tl" rotWithShape="0">
              <a:srgbClr val="333333">
                <a:alpha val="65000"/>
              </a:srgbClr>
            </a:outerShdw>
          </a:effectLst>
        </p:spPr>
      </p:pic>
      <p:sp>
        <p:nvSpPr>
          <p:cNvPr id="9" name="Rounded Rectangular Callout 1">
            <a:extLst>
              <a:ext uri="{FF2B5EF4-FFF2-40B4-BE49-F238E27FC236}">
                <a16:creationId xmlns:a16="http://schemas.microsoft.com/office/drawing/2014/main" id="{4964FB05-9F16-4BF2-AEE2-2924AE6A9EB5}"/>
              </a:ext>
            </a:extLst>
          </p:cNvPr>
          <p:cNvSpPr/>
          <p:nvPr/>
        </p:nvSpPr>
        <p:spPr bwMode="auto">
          <a:xfrm>
            <a:off x="8244653" y="4925888"/>
            <a:ext cx="1669861" cy="617560"/>
          </a:xfrm>
          <a:prstGeom prst="wedgeRoundRectCallout">
            <a:avLst>
              <a:gd name="adj1" fmla="val -67476"/>
              <a:gd name="adj2" fmla="val -2350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&lt;article&gt;</a:t>
            </a:r>
            <a:endParaRPr lang="bg-BG" sz="2399" b="1" dirty="0">
              <a:solidFill>
                <a:schemeClr val="bg1"/>
              </a:solidFill>
            </a:endParaRPr>
          </a:p>
        </p:txBody>
      </p:sp>
    </p:spTree>
    <p:extLst>
      <p:ext uri="{BB962C8B-B14F-4D97-AF65-F5344CB8AC3E}">
        <p14:creationId xmlns:p14="http://schemas.microsoft.com/office/powerpoint/2010/main" val="338870737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Sections and Articles – Example</a:t>
            </a:r>
          </a:p>
        </p:txBody>
      </p:sp>
      <p:pic>
        <p:nvPicPr>
          <p:cNvPr id="5" name="Picture 2" descr="How To Make Guides (Collections of Content) in WordPress | CSS-Tricks">
            <a:extLst>
              <a:ext uri="{FF2B5EF4-FFF2-40B4-BE49-F238E27FC236}">
                <a16:creationId xmlns:a16="http://schemas.microsoft.com/office/drawing/2014/main" id="{BE9880AA-3E2B-4B63-A419-7BDD1F61C08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378" t="6167" r="18448" b="19164"/>
          <a:stretch/>
        </p:blipFill>
        <p:spPr bwMode="auto">
          <a:xfrm>
            <a:off x="2513071" y="1433997"/>
            <a:ext cx="7906852" cy="48300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Rounded Rectangular Callout 1">
            <a:extLst>
              <a:ext uri="{FF2B5EF4-FFF2-40B4-BE49-F238E27FC236}">
                <a16:creationId xmlns:a16="http://schemas.microsoft.com/office/drawing/2014/main" id="{295E85EF-0BDF-4888-B4BD-370C34F71F57}"/>
              </a:ext>
            </a:extLst>
          </p:cNvPr>
          <p:cNvSpPr/>
          <p:nvPr/>
        </p:nvSpPr>
        <p:spPr bwMode="auto">
          <a:xfrm>
            <a:off x="276873" y="3837077"/>
            <a:ext cx="1495205" cy="617560"/>
          </a:xfrm>
          <a:prstGeom prst="wedgeRoundRectCallout">
            <a:avLst>
              <a:gd name="adj1" fmla="val 66385"/>
              <a:gd name="adj2" fmla="val 10283"/>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&lt;section&gt;</a:t>
            </a:r>
            <a:endParaRPr lang="bg-BG" sz="2399" b="1" dirty="0">
              <a:solidFill>
                <a:schemeClr val="bg1"/>
              </a:solidFill>
            </a:endParaRPr>
          </a:p>
        </p:txBody>
      </p:sp>
      <p:sp>
        <p:nvSpPr>
          <p:cNvPr id="7" name="Rounded Rectangular Callout 1">
            <a:extLst>
              <a:ext uri="{FF2B5EF4-FFF2-40B4-BE49-F238E27FC236}">
                <a16:creationId xmlns:a16="http://schemas.microsoft.com/office/drawing/2014/main" id="{295E85EF-0BDF-4888-B4BD-370C34F71F57}"/>
              </a:ext>
            </a:extLst>
          </p:cNvPr>
          <p:cNvSpPr/>
          <p:nvPr/>
        </p:nvSpPr>
        <p:spPr bwMode="auto">
          <a:xfrm>
            <a:off x="4701365" y="1915241"/>
            <a:ext cx="1529847" cy="572572"/>
          </a:xfrm>
          <a:prstGeom prst="wedgeRoundRectCallout">
            <a:avLst>
              <a:gd name="adj1" fmla="val -71424"/>
              <a:gd name="adj2" fmla="val 50135"/>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&lt;header&gt;</a:t>
            </a:r>
            <a:endParaRPr lang="bg-BG" sz="2399" b="1" dirty="0">
              <a:solidFill>
                <a:schemeClr val="bg1"/>
              </a:solidFill>
            </a:endParaRPr>
          </a:p>
        </p:txBody>
      </p:sp>
      <p:sp>
        <p:nvSpPr>
          <p:cNvPr id="13" name="Double Brace 12"/>
          <p:cNvSpPr/>
          <p:nvPr/>
        </p:nvSpPr>
        <p:spPr>
          <a:xfrm>
            <a:off x="2051080" y="2220189"/>
            <a:ext cx="8813678" cy="4043810"/>
          </a:xfrm>
          <a:prstGeom prst="bracePair">
            <a:avLst>
              <a:gd name="adj" fmla="val 4322"/>
            </a:avLst>
          </a:prstGeom>
          <a:ln>
            <a:solidFill>
              <a:schemeClr val="accent1"/>
            </a:solidFill>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sz="1799" dirty="0"/>
          </a:p>
        </p:txBody>
      </p:sp>
      <p:sp>
        <p:nvSpPr>
          <p:cNvPr id="8" name="Rounded Rectangular Callout 1">
            <a:extLst>
              <a:ext uri="{FF2B5EF4-FFF2-40B4-BE49-F238E27FC236}">
                <a16:creationId xmlns:a16="http://schemas.microsoft.com/office/drawing/2014/main" id="{F1DAE91D-96A5-4360-A2DF-FE23293E8FD0}"/>
              </a:ext>
            </a:extLst>
          </p:cNvPr>
          <p:cNvSpPr/>
          <p:nvPr/>
        </p:nvSpPr>
        <p:spPr bwMode="auto">
          <a:xfrm>
            <a:off x="7445650" y="4790905"/>
            <a:ext cx="1529847" cy="572572"/>
          </a:xfrm>
          <a:prstGeom prst="wedgeRoundRectCallout">
            <a:avLst>
              <a:gd name="adj1" fmla="val -66284"/>
              <a:gd name="adj2" fmla="val 2953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&lt;article&gt;</a:t>
            </a:r>
            <a:endParaRPr lang="bg-BG" sz="2399" b="1" dirty="0">
              <a:solidFill>
                <a:schemeClr val="bg1"/>
              </a:solidFill>
            </a:endParaRPr>
          </a:p>
        </p:txBody>
      </p:sp>
      <p:sp>
        <p:nvSpPr>
          <p:cNvPr id="9" name="Rounded Rectangular Callout 1">
            <a:extLst>
              <a:ext uri="{FF2B5EF4-FFF2-40B4-BE49-F238E27FC236}">
                <a16:creationId xmlns:a16="http://schemas.microsoft.com/office/drawing/2014/main" id="{7BE4F108-C4AE-468E-98C6-5186AC8556CC}"/>
              </a:ext>
            </a:extLst>
          </p:cNvPr>
          <p:cNvSpPr/>
          <p:nvPr/>
        </p:nvSpPr>
        <p:spPr bwMode="auto">
          <a:xfrm>
            <a:off x="8975496" y="2395962"/>
            <a:ext cx="1014932" cy="572572"/>
          </a:xfrm>
          <a:prstGeom prst="wedgeRoundRectCallout">
            <a:avLst>
              <a:gd name="adj1" fmla="val -95637"/>
              <a:gd name="adj2" fmla="val 2781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&lt;h1&gt;</a:t>
            </a:r>
            <a:endParaRPr lang="bg-BG" sz="2399" b="1" dirty="0">
              <a:solidFill>
                <a:schemeClr val="bg1"/>
              </a:solidFill>
            </a:endParaRPr>
          </a:p>
        </p:txBody>
      </p:sp>
      <p:sp>
        <p:nvSpPr>
          <p:cNvPr id="10" name="Rounded Rectangular Callout 1">
            <a:extLst>
              <a:ext uri="{FF2B5EF4-FFF2-40B4-BE49-F238E27FC236}">
                <a16:creationId xmlns:a16="http://schemas.microsoft.com/office/drawing/2014/main" id="{99D71641-760B-422F-BA70-CF1641431355}"/>
              </a:ext>
            </a:extLst>
          </p:cNvPr>
          <p:cNvSpPr/>
          <p:nvPr/>
        </p:nvSpPr>
        <p:spPr bwMode="auto">
          <a:xfrm>
            <a:off x="7040754" y="3796674"/>
            <a:ext cx="1014932" cy="572572"/>
          </a:xfrm>
          <a:prstGeom prst="wedgeRoundRectCallout">
            <a:avLst>
              <a:gd name="adj1" fmla="val -81109"/>
              <a:gd name="adj2" fmla="val 3983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&lt;h1&gt;</a:t>
            </a:r>
            <a:endParaRPr lang="bg-BG" sz="2399" b="1" dirty="0">
              <a:solidFill>
                <a:schemeClr val="bg1"/>
              </a:solidFill>
            </a:endParaRPr>
          </a:p>
        </p:txBody>
      </p:sp>
      <p:sp>
        <p:nvSpPr>
          <p:cNvPr id="12" name="Slide Number">
            <a:extLst>
              <a:ext uri="{FF2B5EF4-FFF2-40B4-BE49-F238E27FC236}">
                <a16:creationId xmlns:a16="http://schemas.microsoft.com/office/drawing/2014/main" id="{ED2EB241-177B-46CF-BAA3-61CC6EA5CED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17</a:t>
            </a:fld>
            <a:endParaRPr lang="en-US" noProof="0" dirty="0"/>
          </a:p>
        </p:txBody>
      </p:sp>
    </p:spTree>
    <p:extLst>
      <p:ext uri="{BB962C8B-B14F-4D97-AF65-F5344CB8AC3E}">
        <p14:creationId xmlns:p14="http://schemas.microsoft.com/office/powerpoint/2010/main" val="176689048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animBg="1"/>
      <p:bldP spid="8" grpId="0"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Represents self-contained content</a:t>
            </a:r>
          </a:p>
          <a:p>
            <a:r>
              <a:rPr lang="en-US" dirty="0"/>
              <a:t>Frequently with a caption </a:t>
            </a:r>
            <a:r>
              <a:rPr lang="en-US" b="1" dirty="0">
                <a:solidFill>
                  <a:schemeClr val="bg1"/>
                </a:solidFill>
              </a:rPr>
              <a:t>"</a:t>
            </a:r>
            <a:r>
              <a:rPr lang="en-US" b="1" dirty="0">
                <a:solidFill>
                  <a:schemeClr val="bg1"/>
                </a:solidFill>
                <a:latin typeface="Consolas" panose="020B0609020204030204" pitchFamily="49" charset="0"/>
              </a:rPr>
              <a:t>figcaption</a:t>
            </a:r>
            <a:r>
              <a:rPr lang="en-US" b="1" dirty="0">
                <a:solidFill>
                  <a:schemeClr val="bg1"/>
                </a:solidFill>
              </a:rPr>
              <a:t>"</a:t>
            </a:r>
          </a:p>
          <a:p>
            <a:r>
              <a:rPr lang="en-US" dirty="0"/>
              <a:t>Typically referenced as a single unit</a:t>
            </a:r>
          </a:p>
        </p:txBody>
      </p:sp>
      <p:sp>
        <p:nvSpPr>
          <p:cNvPr id="4" name="Title 3"/>
          <p:cNvSpPr>
            <a:spLocks noGrp="1"/>
          </p:cNvSpPr>
          <p:nvPr>
            <p:ph type="title"/>
          </p:nvPr>
        </p:nvSpPr>
        <p:spPr/>
        <p:txBody>
          <a:bodyPr/>
          <a:lstStyle/>
          <a:p>
            <a:r>
              <a:rPr lang="en-US" dirty="0"/>
              <a:t>&lt;figure&gt;&lt;/figure&gt;</a:t>
            </a:r>
          </a:p>
        </p:txBody>
      </p:sp>
      <p:sp>
        <p:nvSpPr>
          <p:cNvPr id="7" name="Slide Number">
            <a:extLst>
              <a:ext uri="{FF2B5EF4-FFF2-40B4-BE49-F238E27FC236}">
                <a16:creationId xmlns:a16="http://schemas.microsoft.com/office/drawing/2014/main" id="{1F321DDE-F726-4EFB-8923-FE334967A51A}"/>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18</a:t>
            </a:fld>
            <a:endParaRPr lang="en-US" dirty="0"/>
          </a:p>
        </p:txBody>
      </p:sp>
      <p:sp>
        <p:nvSpPr>
          <p:cNvPr id="8" name="Rectangle 5">
            <a:extLst>
              <a:ext uri="{FF2B5EF4-FFF2-40B4-BE49-F238E27FC236}">
                <a16:creationId xmlns:a16="http://schemas.microsoft.com/office/drawing/2014/main" id="{168B29A8-844C-489D-9DA5-65EC9D69EB7D}"/>
              </a:ext>
            </a:extLst>
          </p:cNvPr>
          <p:cNvSpPr>
            <a:spLocks noChangeArrowheads="1"/>
          </p:cNvSpPr>
          <p:nvPr/>
        </p:nvSpPr>
        <p:spPr bwMode="auto">
          <a:xfrm>
            <a:off x="700972" y="3336267"/>
            <a:ext cx="6880028" cy="3107733"/>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GB" sz="2799" b="1" noProof="1">
                <a:solidFill>
                  <a:srgbClr val="800000"/>
                </a:solidFill>
                <a:latin typeface="Consolas" panose="020B0609020204030204" pitchFamily="49" charset="0"/>
              </a:rPr>
              <a:t>&lt;figure&gt;</a:t>
            </a:r>
            <a:endParaRPr lang="en-GB" sz="2799" b="1" noProof="1">
              <a:solidFill>
                <a:srgbClr val="000000"/>
              </a:solidFill>
              <a:latin typeface="Consolas" panose="020B0609020204030204" pitchFamily="49" charset="0"/>
            </a:endParaRPr>
          </a:p>
          <a:p>
            <a:r>
              <a:rPr lang="en-GB" sz="2799" b="1" noProof="1">
                <a:solidFill>
                  <a:srgbClr val="000000"/>
                </a:solidFill>
                <a:latin typeface="Consolas" panose="020B0609020204030204" pitchFamily="49" charset="0"/>
              </a:rPr>
              <a:t>  </a:t>
            </a:r>
            <a:r>
              <a:rPr lang="en-GB" sz="2799" b="1" noProof="1">
                <a:solidFill>
                  <a:srgbClr val="800000"/>
                </a:solidFill>
                <a:latin typeface="Consolas" panose="020B0609020204030204" pitchFamily="49" charset="0"/>
              </a:rPr>
              <a:t>&lt;img</a:t>
            </a:r>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src</a:t>
            </a:r>
            <a:r>
              <a:rPr lang="en-GB" sz="2799" b="1" noProof="1">
                <a:solidFill>
                  <a:srgbClr val="000000"/>
                </a:solidFill>
                <a:latin typeface="Consolas" panose="020B0609020204030204" pitchFamily="49" charset="0"/>
              </a:rPr>
              <a:t>=</a:t>
            </a:r>
            <a:r>
              <a:rPr lang="en-GB" sz="2799" b="1" noProof="1">
                <a:solidFill>
                  <a:srgbClr val="0000FF"/>
                </a:solidFill>
                <a:latin typeface="Consolas" panose="020B0609020204030204" pitchFamily="49" charset="0"/>
              </a:rPr>
              <a:t>"pic_trulli.jpg"</a:t>
            </a:r>
            <a:r>
              <a:rPr lang="en-GB" sz="2799" b="1" noProof="1">
                <a:solidFill>
                  <a:srgbClr val="000000"/>
                </a:solidFill>
                <a:latin typeface="Consolas" panose="020B0609020204030204" pitchFamily="49" charset="0"/>
              </a:rPr>
              <a:t> </a:t>
            </a:r>
          </a:p>
          <a:p>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alt</a:t>
            </a:r>
            <a:r>
              <a:rPr lang="en-GB" sz="2799" b="1" noProof="1">
                <a:solidFill>
                  <a:srgbClr val="000000"/>
                </a:solidFill>
                <a:latin typeface="Consolas" panose="020B0609020204030204" pitchFamily="49" charset="0"/>
              </a:rPr>
              <a:t>=</a:t>
            </a:r>
            <a:r>
              <a:rPr lang="en-GB" sz="2799" b="1" noProof="1">
                <a:solidFill>
                  <a:srgbClr val="0000FF"/>
                </a:solidFill>
                <a:latin typeface="Consolas" panose="020B0609020204030204" pitchFamily="49" charset="0"/>
              </a:rPr>
              <a:t>"Trulli"</a:t>
            </a:r>
            <a:r>
              <a:rPr lang="en-GB" sz="2799" b="1" noProof="1">
                <a:solidFill>
                  <a:srgbClr val="800000"/>
                </a:solidFill>
                <a:latin typeface="Consolas" panose="020B0609020204030204" pitchFamily="49" charset="0"/>
              </a:rPr>
              <a:t>&gt;</a:t>
            </a:r>
            <a:endParaRPr lang="en-GB" sz="2799" b="1" noProof="1">
              <a:solidFill>
                <a:srgbClr val="000000"/>
              </a:solidFill>
              <a:latin typeface="Consolas" panose="020B0609020204030204" pitchFamily="49" charset="0"/>
            </a:endParaRPr>
          </a:p>
          <a:p>
            <a:r>
              <a:rPr lang="en-GB" sz="2799" b="1" noProof="1">
                <a:solidFill>
                  <a:srgbClr val="000000"/>
                </a:solidFill>
                <a:latin typeface="Consolas" panose="020B0609020204030204" pitchFamily="49" charset="0"/>
              </a:rPr>
              <a:t>  </a:t>
            </a:r>
            <a:r>
              <a:rPr lang="en-GB" sz="2799" b="1" noProof="1">
                <a:solidFill>
                  <a:srgbClr val="800000"/>
                </a:solidFill>
                <a:latin typeface="Consolas" panose="020B0609020204030204" pitchFamily="49" charset="0"/>
              </a:rPr>
              <a:t>&lt;figcaption&gt;</a:t>
            </a:r>
          </a:p>
          <a:p>
            <a:r>
              <a:rPr lang="en-GB" sz="2799" b="1" noProof="1">
                <a:solidFill>
                  <a:srgbClr val="000000"/>
                </a:solidFill>
                <a:latin typeface="Consolas" panose="020B0609020204030204" pitchFamily="49" charset="0"/>
              </a:rPr>
              <a:t>    Fig.1 Trulli, Puglia, Italy.  </a:t>
            </a:r>
          </a:p>
          <a:p>
            <a:r>
              <a:rPr lang="en-GB" sz="2799" b="1" noProof="1">
                <a:solidFill>
                  <a:srgbClr val="000000"/>
                </a:solidFill>
                <a:latin typeface="Consolas" panose="020B0609020204030204" pitchFamily="49" charset="0"/>
              </a:rPr>
              <a:t>  </a:t>
            </a:r>
            <a:r>
              <a:rPr lang="en-GB" sz="2799" b="1" noProof="1">
                <a:solidFill>
                  <a:srgbClr val="800000"/>
                </a:solidFill>
                <a:latin typeface="Consolas" panose="020B0609020204030204" pitchFamily="49" charset="0"/>
              </a:rPr>
              <a:t>&lt;/figcaption&gt;</a:t>
            </a:r>
            <a:endParaRPr lang="en-GB" sz="2799" b="1" noProof="1">
              <a:solidFill>
                <a:srgbClr val="000000"/>
              </a:solidFill>
              <a:latin typeface="Consolas" panose="020B0609020204030204" pitchFamily="49" charset="0"/>
            </a:endParaRPr>
          </a:p>
          <a:p>
            <a:r>
              <a:rPr lang="en-GB" sz="2799" b="1" noProof="1">
                <a:solidFill>
                  <a:srgbClr val="800000"/>
                </a:solidFill>
                <a:latin typeface="Consolas" panose="020B0609020204030204" pitchFamily="49" charset="0"/>
              </a:rPr>
              <a:t>&lt;/figure&gt;</a:t>
            </a:r>
            <a:endParaRPr lang="en-GB" sz="2799" b="1" noProof="1">
              <a:solidFill>
                <a:srgbClr val="000000"/>
              </a:solidFill>
              <a:latin typeface="Consolas" panose="020B0609020204030204" pitchFamily="49" charset="0"/>
            </a:endParaRPr>
          </a:p>
        </p:txBody>
      </p:sp>
      <p:pic>
        <p:nvPicPr>
          <p:cNvPr id="9" name="Picture 1">
            <a:extLst>
              <a:ext uri="{FF2B5EF4-FFF2-40B4-BE49-F238E27FC236}">
                <a16:creationId xmlns:a16="http://schemas.microsoft.com/office/drawing/2014/main" id="{8EFE586E-4CFD-4B5C-A817-01D4F14CBA89}"/>
              </a:ext>
            </a:extLst>
          </p:cNvPr>
          <p:cNvPicPr>
            <a:picLocks noChangeAspect="1"/>
          </p:cNvPicPr>
          <p:nvPr/>
        </p:nvPicPr>
        <p:blipFill>
          <a:blip r:embed="rId2"/>
          <a:stretch>
            <a:fillRect/>
          </a:stretch>
        </p:blipFill>
        <p:spPr>
          <a:xfrm>
            <a:off x="7206963" y="2474779"/>
            <a:ext cx="4729774" cy="3699221"/>
          </a:xfrm>
          <a:prstGeom prst="rect">
            <a:avLst/>
          </a:prstGeom>
          <a:ln>
            <a:noFill/>
          </a:ln>
          <a:effectLst>
            <a:outerShdw blurRad="292100" dist="139700" dir="2700000" algn="tl" rotWithShape="0">
              <a:srgbClr val="333333">
                <a:alpha val="65000"/>
              </a:srgbClr>
            </a:outerShdw>
          </a:effectLst>
        </p:spPr>
      </p:pic>
      <p:sp>
        <p:nvSpPr>
          <p:cNvPr id="10" name="Rounded Rectangular Callout 1">
            <a:extLst>
              <a:ext uri="{FF2B5EF4-FFF2-40B4-BE49-F238E27FC236}">
                <a16:creationId xmlns:a16="http://schemas.microsoft.com/office/drawing/2014/main" id="{41D454C3-0E96-4D50-BF64-D8E408ACD14B}"/>
              </a:ext>
            </a:extLst>
          </p:cNvPr>
          <p:cNvSpPr/>
          <p:nvPr/>
        </p:nvSpPr>
        <p:spPr bwMode="auto">
          <a:xfrm>
            <a:off x="5826070" y="3209316"/>
            <a:ext cx="1450216" cy="617560"/>
          </a:xfrm>
          <a:prstGeom prst="wedgeRoundRectCallout">
            <a:avLst>
              <a:gd name="adj1" fmla="val 68358"/>
              <a:gd name="adj2" fmla="val 3177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&lt;figure&gt;</a:t>
            </a:r>
          </a:p>
        </p:txBody>
      </p:sp>
    </p:spTree>
    <p:extLst>
      <p:ext uri="{BB962C8B-B14F-4D97-AF65-F5344CB8AC3E}">
        <p14:creationId xmlns:p14="http://schemas.microsoft.com/office/powerpoint/2010/main" val="293752474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2" y="1196707"/>
            <a:ext cx="6129001" cy="5527326"/>
          </a:xfrm>
        </p:spPr>
        <p:txBody>
          <a:bodyPr/>
          <a:lstStyle/>
          <a:p>
            <a:pPr>
              <a:buClr>
                <a:schemeClr val="tx1"/>
              </a:buClr>
            </a:pPr>
            <a:r>
              <a:rPr lang="en-US" b="1" dirty="0">
                <a:solidFill>
                  <a:schemeClr val="bg1"/>
                </a:solidFill>
                <a:latin typeface="Consolas" panose="020B0609020204030204" pitchFamily="49" charset="0"/>
              </a:rPr>
              <a:t>&lt;details&gt;</a:t>
            </a:r>
            <a:r>
              <a:rPr lang="en-US" dirty="0"/>
              <a:t> – additional details that the user can view or hide</a:t>
            </a:r>
          </a:p>
          <a:p>
            <a:pPr>
              <a:buClr>
                <a:schemeClr val="tx1"/>
              </a:buClr>
            </a:pPr>
            <a:r>
              <a:rPr lang="en-US" b="1" dirty="0">
                <a:solidFill>
                  <a:schemeClr val="bg1"/>
                </a:solidFill>
                <a:latin typeface="Consolas" panose="020B0609020204030204" pitchFamily="49" charset="0"/>
              </a:rPr>
              <a:t>&lt;</a:t>
            </a:r>
            <a:r>
              <a:rPr lang="en-US" b="1" noProof="1">
                <a:solidFill>
                  <a:schemeClr val="bg1"/>
                </a:solidFill>
                <a:latin typeface="Consolas" panose="020B0609020204030204" pitchFamily="49" charset="0"/>
              </a:rPr>
              <a:t>summary</a:t>
            </a:r>
            <a:r>
              <a:rPr lang="en-US" b="1" dirty="0">
                <a:solidFill>
                  <a:schemeClr val="bg1"/>
                </a:solidFill>
                <a:latin typeface="Consolas" panose="020B0609020204030204" pitchFamily="49" charset="0"/>
              </a:rPr>
              <a:t>&gt;</a:t>
            </a:r>
            <a:r>
              <a:rPr lang="en-US" dirty="0"/>
              <a:t> – defines </a:t>
            </a:r>
            <a:r>
              <a:rPr lang="en-GB" dirty="0"/>
              <a:t>a visible heading for the </a:t>
            </a:r>
            <a:r>
              <a:rPr lang="en-GB" b="1" dirty="0">
                <a:solidFill>
                  <a:schemeClr val="bg1"/>
                </a:solidFill>
                <a:latin typeface="Consolas" panose="020B0609020204030204" pitchFamily="49" charset="0"/>
              </a:rPr>
              <a:t>&lt;details&gt;</a:t>
            </a:r>
            <a:r>
              <a:rPr lang="en-GB" dirty="0"/>
              <a:t> </a:t>
            </a:r>
            <a:endParaRPr lang="en-US" dirty="0"/>
          </a:p>
        </p:txBody>
      </p:sp>
      <p:sp>
        <p:nvSpPr>
          <p:cNvPr id="4" name="Title 3"/>
          <p:cNvSpPr>
            <a:spLocks noGrp="1"/>
          </p:cNvSpPr>
          <p:nvPr>
            <p:ph type="title"/>
          </p:nvPr>
        </p:nvSpPr>
        <p:spPr/>
        <p:txBody>
          <a:bodyPr/>
          <a:lstStyle/>
          <a:p>
            <a:r>
              <a:rPr lang="en-US" dirty="0"/>
              <a:t>&lt;details&gt; + &lt;summary&gt;</a:t>
            </a:r>
          </a:p>
        </p:txBody>
      </p:sp>
      <p:sp>
        <p:nvSpPr>
          <p:cNvPr id="6" name="Rectangle 5">
            <a:extLst>
              <a:ext uri="{FF2B5EF4-FFF2-40B4-BE49-F238E27FC236}">
                <a16:creationId xmlns:a16="http://schemas.microsoft.com/office/drawing/2014/main" id="{4144CD62-C417-4083-9C34-A3FA1B2E90E5}"/>
              </a:ext>
            </a:extLst>
          </p:cNvPr>
          <p:cNvSpPr>
            <a:spLocks noChangeArrowheads="1"/>
          </p:cNvSpPr>
          <p:nvPr/>
        </p:nvSpPr>
        <p:spPr bwMode="auto">
          <a:xfrm>
            <a:off x="697969" y="4582819"/>
            <a:ext cx="7558031" cy="1815409"/>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GB" sz="2799" b="1" dirty="0">
                <a:solidFill>
                  <a:srgbClr val="800000"/>
                </a:solidFill>
                <a:latin typeface="Consolas" panose="020B0609020204030204" pitchFamily="49" charset="0"/>
              </a:rPr>
              <a:t>&lt;details&gt;</a:t>
            </a:r>
            <a:endParaRPr lang="en-GB" sz="2799" b="1" dirty="0">
              <a:solidFill>
                <a:srgbClr val="000000"/>
              </a:solidFill>
              <a:latin typeface="Consolas" panose="020B0609020204030204" pitchFamily="49" charset="0"/>
            </a:endParaRPr>
          </a:p>
          <a:p>
            <a:r>
              <a:rPr lang="en-GB" sz="2799" b="1" dirty="0">
                <a:solidFill>
                  <a:srgbClr val="000000"/>
                </a:solidFill>
                <a:latin typeface="Consolas" panose="020B0609020204030204" pitchFamily="49" charset="0"/>
              </a:rPr>
              <a:t>  </a:t>
            </a:r>
            <a:r>
              <a:rPr lang="en-GB" sz="2799" b="1" dirty="0">
                <a:solidFill>
                  <a:srgbClr val="800000"/>
                </a:solidFill>
                <a:latin typeface="Consolas" panose="020B0609020204030204" pitchFamily="49" charset="0"/>
              </a:rPr>
              <a:t>&lt;summary&gt;</a:t>
            </a:r>
            <a:r>
              <a:rPr lang="en-GB" sz="2799" b="1" dirty="0">
                <a:solidFill>
                  <a:srgbClr val="000000"/>
                </a:solidFill>
                <a:latin typeface="Consolas" panose="020B0609020204030204" pitchFamily="49" charset="0"/>
              </a:rPr>
              <a:t>Some details</a:t>
            </a:r>
            <a:r>
              <a:rPr lang="en-GB" sz="2799" b="1" dirty="0">
                <a:solidFill>
                  <a:srgbClr val="800000"/>
                </a:solidFill>
                <a:latin typeface="Consolas" panose="020B0609020204030204" pitchFamily="49" charset="0"/>
              </a:rPr>
              <a:t>&lt;/summary&gt;</a:t>
            </a:r>
            <a:endParaRPr lang="en-GB" sz="2799" b="1" dirty="0">
              <a:solidFill>
                <a:srgbClr val="000000"/>
              </a:solidFill>
              <a:latin typeface="Consolas" panose="020B0609020204030204" pitchFamily="49" charset="0"/>
            </a:endParaRPr>
          </a:p>
          <a:p>
            <a:r>
              <a:rPr lang="en-GB" sz="2799" b="1" dirty="0">
                <a:solidFill>
                  <a:srgbClr val="000000"/>
                </a:solidFill>
                <a:latin typeface="Consolas" panose="020B0609020204030204" pitchFamily="49" charset="0"/>
              </a:rPr>
              <a:t>  </a:t>
            </a:r>
            <a:r>
              <a:rPr lang="en-GB" sz="2799" b="1" dirty="0">
                <a:solidFill>
                  <a:srgbClr val="800000"/>
                </a:solidFill>
                <a:latin typeface="Consolas" panose="020B0609020204030204" pitchFamily="49" charset="0"/>
              </a:rPr>
              <a:t>&lt;p&gt;</a:t>
            </a:r>
            <a:r>
              <a:rPr lang="en-GB" sz="2799" b="1" dirty="0">
                <a:solidFill>
                  <a:srgbClr val="000000"/>
                </a:solidFill>
                <a:latin typeface="Consolas" panose="020B0609020204030204" pitchFamily="49" charset="0"/>
              </a:rPr>
              <a:t>More info about the details.</a:t>
            </a:r>
            <a:r>
              <a:rPr lang="en-GB" sz="2799" b="1" dirty="0">
                <a:solidFill>
                  <a:srgbClr val="800000"/>
                </a:solidFill>
                <a:latin typeface="Consolas" panose="020B0609020204030204" pitchFamily="49" charset="0"/>
              </a:rPr>
              <a:t>&lt;/p&gt;</a:t>
            </a:r>
            <a:endParaRPr lang="en-GB" sz="2799" b="1" dirty="0">
              <a:solidFill>
                <a:srgbClr val="000000"/>
              </a:solidFill>
              <a:latin typeface="Consolas" panose="020B0609020204030204" pitchFamily="49" charset="0"/>
            </a:endParaRPr>
          </a:p>
          <a:p>
            <a:r>
              <a:rPr lang="en-GB" sz="2799" b="1" dirty="0">
                <a:solidFill>
                  <a:srgbClr val="800000"/>
                </a:solidFill>
                <a:latin typeface="Consolas" panose="020B0609020204030204" pitchFamily="49" charset="0"/>
              </a:rPr>
              <a:t>&lt;/details&gt;</a:t>
            </a:r>
            <a:endParaRPr lang="en-GB" sz="2799" b="1" dirty="0">
              <a:solidFill>
                <a:srgbClr val="000000"/>
              </a:solidFill>
              <a:latin typeface="Consolas" panose="020B0609020204030204" pitchFamily="49" charset="0"/>
            </a:endParaRPr>
          </a:p>
        </p:txBody>
      </p:sp>
      <p:pic>
        <p:nvPicPr>
          <p:cNvPr id="22" name="Picture 21"/>
          <p:cNvPicPr>
            <a:picLocks noChangeAspect="1"/>
          </p:cNvPicPr>
          <p:nvPr/>
        </p:nvPicPr>
        <p:blipFill rotWithShape="1">
          <a:blip r:embed="rId2"/>
          <a:srcRect r="31636"/>
          <a:stretch/>
        </p:blipFill>
        <p:spPr>
          <a:xfrm>
            <a:off x="6446647" y="1277229"/>
            <a:ext cx="5308617" cy="3648668"/>
          </a:xfrm>
          <a:prstGeom prst="rect">
            <a:avLst/>
          </a:prstGeom>
          <a:ln>
            <a:noFill/>
          </a:ln>
          <a:effectLst>
            <a:outerShdw blurRad="292100" dist="139700" dir="2700000" algn="tl" rotWithShape="0">
              <a:srgbClr val="333333">
                <a:alpha val="65000"/>
              </a:srgbClr>
            </a:outerShdw>
          </a:effectLst>
        </p:spPr>
      </p:pic>
      <p:sp>
        <p:nvSpPr>
          <p:cNvPr id="23" name="Rounded Rectangular Callout 1">
            <a:extLst>
              <a:ext uri="{FF2B5EF4-FFF2-40B4-BE49-F238E27FC236}">
                <a16:creationId xmlns:a16="http://schemas.microsoft.com/office/drawing/2014/main" id="{295E85EF-0BDF-4888-B4BD-370C34F71F57}"/>
              </a:ext>
            </a:extLst>
          </p:cNvPr>
          <p:cNvSpPr/>
          <p:nvPr/>
        </p:nvSpPr>
        <p:spPr bwMode="auto">
          <a:xfrm>
            <a:off x="10000721" y="1709992"/>
            <a:ext cx="1880247" cy="617560"/>
          </a:xfrm>
          <a:prstGeom prst="wedgeRoundRectCallout">
            <a:avLst>
              <a:gd name="adj1" fmla="val -66100"/>
              <a:gd name="adj2" fmla="val 6201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&lt;summary&gt;</a:t>
            </a:r>
          </a:p>
        </p:txBody>
      </p:sp>
      <p:sp>
        <p:nvSpPr>
          <p:cNvPr id="24" name="Rounded Rectangular Callout 1">
            <a:extLst>
              <a:ext uri="{FF2B5EF4-FFF2-40B4-BE49-F238E27FC236}">
                <a16:creationId xmlns:a16="http://schemas.microsoft.com/office/drawing/2014/main" id="{295E85EF-0BDF-4888-B4BD-370C34F71F57}"/>
              </a:ext>
            </a:extLst>
          </p:cNvPr>
          <p:cNvSpPr/>
          <p:nvPr/>
        </p:nvSpPr>
        <p:spPr bwMode="auto">
          <a:xfrm>
            <a:off x="4656376" y="3609000"/>
            <a:ext cx="1475353" cy="617560"/>
          </a:xfrm>
          <a:prstGeom prst="wedgeRoundRectCallout">
            <a:avLst>
              <a:gd name="adj1" fmla="val 37342"/>
              <a:gd name="adj2" fmla="val -83352"/>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&lt;details&gt; </a:t>
            </a:r>
          </a:p>
        </p:txBody>
      </p:sp>
      <p:sp>
        <p:nvSpPr>
          <p:cNvPr id="25" name="Double Brace 24"/>
          <p:cNvSpPr/>
          <p:nvPr/>
        </p:nvSpPr>
        <p:spPr>
          <a:xfrm>
            <a:off x="6131729" y="2327553"/>
            <a:ext cx="5938453" cy="1811807"/>
          </a:xfrm>
          <a:prstGeom prst="bracePair">
            <a:avLst>
              <a:gd name="adj" fmla="val 6705"/>
            </a:avLst>
          </a:prstGeom>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sz="1799" dirty="0"/>
          </a:p>
        </p:txBody>
      </p:sp>
      <p:sp>
        <p:nvSpPr>
          <p:cNvPr id="10" name="Rounded Rectangular Callout 1">
            <a:extLst>
              <a:ext uri="{FF2B5EF4-FFF2-40B4-BE49-F238E27FC236}">
                <a16:creationId xmlns:a16="http://schemas.microsoft.com/office/drawing/2014/main" id="{295E85EF-0BDF-4888-B4BD-370C34F71F57}"/>
              </a:ext>
            </a:extLst>
          </p:cNvPr>
          <p:cNvSpPr/>
          <p:nvPr/>
        </p:nvSpPr>
        <p:spPr bwMode="auto">
          <a:xfrm>
            <a:off x="9906000" y="4869000"/>
            <a:ext cx="1475353" cy="617560"/>
          </a:xfrm>
          <a:prstGeom prst="wedgeRoundRectCallout">
            <a:avLst>
              <a:gd name="adj1" fmla="val -60828"/>
              <a:gd name="adj2" fmla="val -4845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&lt;details&gt; </a:t>
            </a:r>
          </a:p>
        </p:txBody>
      </p:sp>
      <p:sp>
        <p:nvSpPr>
          <p:cNvPr id="12" name="Slide Number">
            <a:extLst>
              <a:ext uri="{FF2B5EF4-FFF2-40B4-BE49-F238E27FC236}">
                <a16:creationId xmlns:a16="http://schemas.microsoft.com/office/drawing/2014/main" id="{F149377C-20BC-45B3-853A-F6F0E5ACC15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19</a:t>
            </a:fld>
            <a:endParaRPr lang="en-US" noProof="0" dirty="0"/>
          </a:p>
        </p:txBody>
      </p:sp>
    </p:spTree>
    <p:extLst>
      <p:ext uri="{BB962C8B-B14F-4D97-AF65-F5344CB8AC3E}">
        <p14:creationId xmlns:p14="http://schemas.microsoft.com/office/powerpoint/2010/main" val="387674739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3" grpId="0" animBg="1"/>
      <p:bldP spid="24" grpId="0" animBg="1"/>
      <p:bldP spid="25"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0" y="1196707"/>
            <a:ext cx="7794060" cy="5527326"/>
          </a:xfrm>
        </p:spPr>
        <p:txBody>
          <a:bodyPr>
            <a:normAutofit/>
          </a:bodyPr>
          <a:lstStyle/>
          <a:p>
            <a:pPr>
              <a:buClr>
                <a:schemeClr val="tx1"/>
              </a:buClr>
            </a:pPr>
            <a:r>
              <a:rPr lang="en-US" sz="3199" b="1" dirty="0">
                <a:solidFill>
                  <a:schemeClr val="bg1"/>
                </a:solidFill>
                <a:latin typeface="Consolas" panose="020B0609020204030204" pitchFamily="49" charset="0"/>
              </a:rPr>
              <a:t>&lt;time&gt;</a:t>
            </a:r>
            <a:r>
              <a:rPr lang="en-US" sz="3199" dirty="0"/>
              <a:t> – </a:t>
            </a:r>
            <a:r>
              <a:rPr lang="en-GB" sz="3199" dirty="0"/>
              <a:t>a human-readable time</a:t>
            </a:r>
          </a:p>
          <a:p>
            <a:pPr lvl="1">
              <a:buClr>
                <a:schemeClr val="tx1"/>
              </a:buClr>
            </a:pPr>
            <a:r>
              <a:rPr lang="en-US" sz="3000" dirty="0"/>
              <a:t>Search engines can produce smarter results</a:t>
            </a:r>
          </a:p>
          <a:p>
            <a:pPr lvl="1">
              <a:buClr>
                <a:schemeClr val="tx1"/>
              </a:buClr>
            </a:pPr>
            <a:endParaRPr lang="en-US" sz="2399" dirty="0"/>
          </a:p>
          <a:p>
            <a:pPr marL="442779" lvl="1" indent="0">
              <a:buClr>
                <a:schemeClr val="tx1"/>
              </a:buClr>
              <a:buNone/>
            </a:pPr>
            <a:endParaRPr lang="en-US" sz="900" dirty="0"/>
          </a:p>
          <a:p>
            <a:pPr>
              <a:spcBef>
                <a:spcPts val="1799"/>
              </a:spcBef>
              <a:buClr>
                <a:schemeClr val="tx1"/>
              </a:buClr>
            </a:pPr>
            <a:r>
              <a:rPr lang="en-US" sz="3199" b="1" dirty="0">
                <a:solidFill>
                  <a:schemeClr val="bg1"/>
                </a:solidFill>
                <a:latin typeface="Consolas" panose="020B0609020204030204" pitchFamily="49" charset="0"/>
              </a:rPr>
              <a:t>&lt;</a:t>
            </a:r>
            <a:r>
              <a:rPr lang="en-US" sz="3199" b="1" noProof="1">
                <a:solidFill>
                  <a:schemeClr val="bg1"/>
                </a:solidFill>
                <a:latin typeface="Consolas" panose="020B0609020204030204" pitchFamily="49" charset="0"/>
              </a:rPr>
              <a:t>address</a:t>
            </a:r>
            <a:r>
              <a:rPr lang="en-US" sz="3199" b="1" dirty="0">
                <a:solidFill>
                  <a:schemeClr val="bg1"/>
                </a:solidFill>
                <a:latin typeface="Consolas" panose="020B0609020204030204" pitchFamily="49" charset="0"/>
              </a:rPr>
              <a:t>&gt;</a:t>
            </a:r>
            <a:r>
              <a:rPr lang="en-US" sz="3199" dirty="0"/>
              <a:t> – </a:t>
            </a:r>
            <a:r>
              <a:rPr lang="en-GB" sz="3199" dirty="0"/>
              <a:t>contact  information for site author / owner</a:t>
            </a:r>
            <a:endParaRPr lang="en-US" sz="3199" dirty="0"/>
          </a:p>
        </p:txBody>
      </p:sp>
      <p:sp>
        <p:nvSpPr>
          <p:cNvPr id="4" name="Title 3"/>
          <p:cNvSpPr>
            <a:spLocks noGrp="1"/>
          </p:cNvSpPr>
          <p:nvPr>
            <p:ph type="title"/>
          </p:nvPr>
        </p:nvSpPr>
        <p:spPr/>
        <p:txBody>
          <a:bodyPr/>
          <a:lstStyle/>
          <a:p>
            <a:r>
              <a:rPr lang="en-US" dirty="0"/>
              <a:t>&lt;time&gt; + &lt;address&gt;</a:t>
            </a:r>
          </a:p>
        </p:txBody>
      </p:sp>
      <p:sp>
        <p:nvSpPr>
          <p:cNvPr id="6" name="Rectangle 5">
            <a:extLst>
              <a:ext uri="{FF2B5EF4-FFF2-40B4-BE49-F238E27FC236}">
                <a16:creationId xmlns:a16="http://schemas.microsoft.com/office/drawing/2014/main" id="{4144CD62-C417-4083-9C34-A3FA1B2E90E5}"/>
              </a:ext>
            </a:extLst>
          </p:cNvPr>
          <p:cNvSpPr>
            <a:spLocks noChangeArrowheads="1"/>
          </p:cNvSpPr>
          <p:nvPr/>
        </p:nvSpPr>
        <p:spPr bwMode="auto">
          <a:xfrm>
            <a:off x="727831" y="4688673"/>
            <a:ext cx="6267935" cy="1569251"/>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GB" sz="2399" b="1" noProof="1">
                <a:solidFill>
                  <a:srgbClr val="800000"/>
                </a:solidFill>
                <a:latin typeface="Consolas" panose="020B0609020204030204" pitchFamily="49" charset="0"/>
              </a:rPr>
              <a:t>&lt;address&gt;</a:t>
            </a:r>
            <a:endParaRPr lang="en-GB" sz="2399" b="1" noProof="1">
              <a:solidFill>
                <a:srgbClr val="000000"/>
              </a:solidFill>
              <a:latin typeface="Consolas" panose="020B0609020204030204" pitchFamily="49" charset="0"/>
            </a:endParaRPr>
          </a:p>
          <a:p>
            <a:r>
              <a:rPr lang="en-GB" sz="2399" b="1" noProof="1">
                <a:solidFill>
                  <a:srgbClr val="000000"/>
                </a:solidFill>
                <a:latin typeface="Consolas" panose="020B0609020204030204" pitchFamily="49" charset="0"/>
              </a:rPr>
              <a:t>  </a:t>
            </a:r>
            <a:r>
              <a:rPr lang="en-GB" sz="2399" b="1" noProof="1">
                <a:solidFill>
                  <a:srgbClr val="800000"/>
                </a:solidFill>
                <a:latin typeface="Consolas" panose="020B0609020204030204" pitchFamily="49" charset="0"/>
              </a:rPr>
              <a:t>&lt;a</a:t>
            </a:r>
            <a:r>
              <a:rPr lang="en-GB" sz="2399" b="1" noProof="1">
                <a:solidFill>
                  <a:srgbClr val="000000"/>
                </a:solidFill>
                <a:latin typeface="Consolas" panose="020B0609020204030204" pitchFamily="49" charset="0"/>
              </a:rPr>
              <a:t> </a:t>
            </a:r>
            <a:r>
              <a:rPr lang="en-GB" sz="2399" b="1" noProof="1">
                <a:solidFill>
                  <a:srgbClr val="FF0000"/>
                </a:solidFill>
                <a:latin typeface="Consolas" panose="020B0609020204030204" pitchFamily="49" charset="0"/>
              </a:rPr>
              <a:t>href</a:t>
            </a:r>
            <a:r>
              <a:rPr lang="en-GB" sz="2399" b="1" noProof="1">
                <a:solidFill>
                  <a:srgbClr val="000000"/>
                </a:solidFill>
                <a:latin typeface="Consolas" panose="020B0609020204030204" pitchFamily="49" charset="0"/>
              </a:rPr>
              <a:t>=</a:t>
            </a:r>
            <a:r>
              <a:rPr lang="en-GB" sz="2399" b="1" noProof="1">
                <a:solidFill>
                  <a:srgbClr val="0000FF"/>
                </a:solidFill>
                <a:latin typeface="Consolas" panose="020B0609020204030204" pitchFamily="49" charset="0"/>
              </a:rPr>
              <a:t>"mailto:tony@gmail.com"</a:t>
            </a:r>
            <a:r>
              <a:rPr lang="en-GB" sz="2399" b="1" noProof="1">
                <a:solidFill>
                  <a:srgbClr val="800000"/>
                </a:solidFill>
                <a:latin typeface="Consolas" panose="020B0609020204030204" pitchFamily="49" charset="0"/>
              </a:rPr>
              <a:t>&gt;</a:t>
            </a:r>
            <a:br>
              <a:rPr lang="en-GB" sz="2399" b="1" noProof="1">
                <a:solidFill>
                  <a:srgbClr val="800000"/>
                </a:solidFill>
                <a:latin typeface="Consolas" panose="020B0609020204030204" pitchFamily="49" charset="0"/>
              </a:rPr>
            </a:br>
            <a:r>
              <a:rPr lang="en-GB" sz="2399" b="1" noProof="1">
                <a:solidFill>
                  <a:srgbClr val="800000"/>
                </a:solidFill>
                <a:latin typeface="Consolas" panose="020B0609020204030204" pitchFamily="49" charset="0"/>
              </a:rPr>
              <a:t>    </a:t>
            </a:r>
            <a:r>
              <a:rPr lang="en-GB" sz="2399" b="1" noProof="1">
                <a:solidFill>
                  <a:srgbClr val="000000"/>
                </a:solidFill>
                <a:latin typeface="Consolas" panose="020B0609020204030204" pitchFamily="49" charset="0"/>
              </a:rPr>
              <a:t>tony@gmail.com</a:t>
            </a:r>
            <a:r>
              <a:rPr lang="en-GB" sz="2399" b="1" noProof="1">
                <a:solidFill>
                  <a:srgbClr val="800000"/>
                </a:solidFill>
                <a:latin typeface="Consolas" panose="020B0609020204030204" pitchFamily="49" charset="0"/>
              </a:rPr>
              <a:t>&lt;/a&gt;</a:t>
            </a:r>
            <a:endParaRPr lang="en-GB" sz="2399" b="1" noProof="1">
              <a:solidFill>
                <a:srgbClr val="000000"/>
              </a:solidFill>
              <a:latin typeface="Consolas" panose="020B0609020204030204" pitchFamily="49" charset="0"/>
            </a:endParaRPr>
          </a:p>
          <a:p>
            <a:r>
              <a:rPr lang="en-GB" sz="2399" b="1" noProof="1">
                <a:solidFill>
                  <a:srgbClr val="800000"/>
                </a:solidFill>
                <a:latin typeface="Consolas" panose="020B0609020204030204" pitchFamily="49" charset="0"/>
              </a:rPr>
              <a:t>&lt;/address&gt;</a:t>
            </a:r>
            <a:endParaRPr lang="en-GB" sz="2399" b="1" noProof="1">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45679D14-668D-4E49-AADF-A94FEE333EE8}"/>
              </a:ext>
            </a:extLst>
          </p:cNvPr>
          <p:cNvSpPr>
            <a:spLocks noChangeArrowheads="1"/>
          </p:cNvSpPr>
          <p:nvPr/>
        </p:nvSpPr>
        <p:spPr bwMode="auto">
          <a:xfrm>
            <a:off x="727831" y="2484247"/>
            <a:ext cx="6267935" cy="830781"/>
          </a:xfrm>
          <a:prstGeom prst="rect">
            <a:avLst/>
          </a:prstGeom>
          <a:solidFill>
            <a:schemeClr val="tx1">
              <a:lumMod val="20000"/>
              <a:lumOff val="80000"/>
              <a:alpha val="15000"/>
            </a:schemeClr>
          </a:solidFill>
          <a:ln w="12700">
            <a:solidFill>
              <a:schemeClr val="accent5">
                <a:lumMod val="60000"/>
                <a:lumOff val="40000"/>
              </a:schemeClr>
            </a:solidFill>
          </a:ln>
        </p:spPr>
        <p:txBody>
          <a:bodyPr wrap="square">
            <a:spAutoFit/>
          </a:bodyPr>
          <a:lstStyle/>
          <a:p>
            <a:r>
              <a:rPr lang="en-GB" sz="2399" b="1" dirty="0">
                <a:solidFill>
                  <a:srgbClr val="800000"/>
                </a:solidFill>
                <a:latin typeface="Consolas" panose="020B0609020204030204" pitchFamily="49" charset="0"/>
              </a:rPr>
              <a:t>&lt;p&gt;</a:t>
            </a:r>
            <a:r>
              <a:rPr lang="en-GB" sz="2399" b="1" dirty="0">
                <a:solidFill>
                  <a:srgbClr val="000000"/>
                </a:solidFill>
                <a:latin typeface="Consolas" panose="020B0609020204030204" pitchFamily="49" charset="0"/>
              </a:rPr>
              <a:t>We open at </a:t>
            </a:r>
            <a:r>
              <a:rPr lang="en-GB" sz="2399" b="1" dirty="0">
                <a:solidFill>
                  <a:srgbClr val="800000"/>
                </a:solidFill>
                <a:latin typeface="Consolas" panose="020B0609020204030204" pitchFamily="49" charset="0"/>
              </a:rPr>
              <a:t>&lt;time&gt;</a:t>
            </a:r>
            <a:r>
              <a:rPr lang="en-GB" sz="2399" b="1" dirty="0">
                <a:solidFill>
                  <a:srgbClr val="000000"/>
                </a:solidFill>
                <a:latin typeface="Consolas" panose="020B0609020204030204" pitchFamily="49" charset="0"/>
              </a:rPr>
              <a:t>10:00</a:t>
            </a:r>
            <a:r>
              <a:rPr lang="en-GB" sz="2399" b="1" dirty="0">
                <a:solidFill>
                  <a:srgbClr val="800000"/>
                </a:solidFill>
                <a:latin typeface="Consolas" panose="020B0609020204030204" pitchFamily="49" charset="0"/>
              </a:rPr>
              <a:t>&lt;/time&gt;</a:t>
            </a:r>
            <a:r>
              <a:rPr lang="en-GB" sz="2399" b="1" dirty="0">
                <a:solidFill>
                  <a:srgbClr val="000000"/>
                </a:solidFill>
                <a:latin typeface="Consolas" panose="020B0609020204030204" pitchFamily="49" charset="0"/>
              </a:rPr>
              <a:t> </a:t>
            </a:r>
          </a:p>
          <a:p>
            <a:r>
              <a:rPr lang="en-GB" sz="2399" b="1" dirty="0">
                <a:solidFill>
                  <a:srgbClr val="000000"/>
                </a:solidFill>
                <a:latin typeface="Consolas" panose="020B0609020204030204" pitchFamily="49" charset="0"/>
              </a:rPr>
              <a:t>  every morning.</a:t>
            </a:r>
            <a:r>
              <a:rPr lang="en-GB" sz="2399" b="1" dirty="0">
                <a:solidFill>
                  <a:srgbClr val="800000"/>
                </a:solidFill>
                <a:latin typeface="Consolas" panose="020B0609020204030204" pitchFamily="49" charset="0"/>
              </a:rPr>
              <a:t>&lt;/p&gt;</a:t>
            </a:r>
            <a:endParaRPr lang="en-GB" sz="2399" b="1" dirty="0">
              <a:solidFill>
                <a:srgbClr val="000000"/>
              </a:solidFill>
              <a:latin typeface="Consolas" panose="020B0609020204030204" pitchFamily="49" charset="0"/>
            </a:endParaRPr>
          </a:p>
        </p:txBody>
      </p:sp>
      <p:pic>
        <p:nvPicPr>
          <p:cNvPr id="10" name="Picture 9"/>
          <p:cNvPicPr>
            <a:picLocks noChangeAspect="1"/>
          </p:cNvPicPr>
          <p:nvPr/>
        </p:nvPicPr>
        <p:blipFill rotWithShape="1">
          <a:blip r:embed="rId2"/>
          <a:srcRect l="2028" r="1734"/>
          <a:stretch/>
        </p:blipFill>
        <p:spPr>
          <a:xfrm>
            <a:off x="7921619" y="1377729"/>
            <a:ext cx="3895792" cy="5022620"/>
          </a:xfrm>
          <a:prstGeom prst="rect">
            <a:avLst/>
          </a:prstGeom>
          <a:ln>
            <a:noFill/>
          </a:ln>
          <a:effectLst>
            <a:outerShdw blurRad="292100" dist="139700" dir="2700000" algn="tl" rotWithShape="0">
              <a:srgbClr val="333333">
                <a:alpha val="65000"/>
              </a:srgbClr>
            </a:outerShdw>
          </a:effectLst>
        </p:spPr>
      </p:pic>
      <p:sp>
        <p:nvSpPr>
          <p:cNvPr id="8" name="Rounded Rectangular Callout 1">
            <a:extLst>
              <a:ext uri="{FF2B5EF4-FFF2-40B4-BE49-F238E27FC236}">
                <a16:creationId xmlns:a16="http://schemas.microsoft.com/office/drawing/2014/main" id="{00B3C9E6-B7B4-4511-8BF2-3AE2A1479E36}"/>
              </a:ext>
            </a:extLst>
          </p:cNvPr>
          <p:cNvSpPr/>
          <p:nvPr/>
        </p:nvSpPr>
        <p:spPr bwMode="auto">
          <a:xfrm>
            <a:off x="9906000" y="2293112"/>
            <a:ext cx="1610318" cy="617560"/>
          </a:xfrm>
          <a:prstGeom prst="wedgeRoundRectCallout">
            <a:avLst>
              <a:gd name="adj1" fmla="val -71592"/>
              <a:gd name="adj2" fmla="val 4370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&lt;address&gt; </a:t>
            </a:r>
          </a:p>
        </p:txBody>
      </p:sp>
      <p:sp>
        <p:nvSpPr>
          <p:cNvPr id="11" name="Rounded Rectangular Callout 1">
            <a:extLst>
              <a:ext uri="{FF2B5EF4-FFF2-40B4-BE49-F238E27FC236}">
                <a16:creationId xmlns:a16="http://schemas.microsoft.com/office/drawing/2014/main" id="{E690CB59-896C-4FA2-A9B0-9C908CF7CA84}"/>
              </a:ext>
            </a:extLst>
          </p:cNvPr>
          <p:cNvSpPr/>
          <p:nvPr/>
        </p:nvSpPr>
        <p:spPr bwMode="auto">
          <a:xfrm>
            <a:off x="9066000" y="5094000"/>
            <a:ext cx="1160435" cy="617560"/>
          </a:xfrm>
          <a:prstGeom prst="wedgeRoundRectCallout">
            <a:avLst>
              <a:gd name="adj1" fmla="val 72803"/>
              <a:gd name="adj2" fmla="val 3415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chemeClr val="bg1"/>
                </a:solidFill>
              </a:rPr>
              <a:t>&lt;time&gt; </a:t>
            </a:r>
          </a:p>
        </p:txBody>
      </p:sp>
      <p:sp>
        <p:nvSpPr>
          <p:cNvPr id="13" name="Slide Number">
            <a:extLst>
              <a:ext uri="{FF2B5EF4-FFF2-40B4-BE49-F238E27FC236}">
                <a16:creationId xmlns:a16="http://schemas.microsoft.com/office/drawing/2014/main" id="{FEF8F43F-1654-4A8A-9C0D-617133BD644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20</a:t>
            </a:fld>
            <a:endParaRPr lang="en-US" noProof="0" dirty="0"/>
          </a:p>
        </p:txBody>
      </p:sp>
    </p:spTree>
    <p:extLst>
      <p:ext uri="{BB962C8B-B14F-4D97-AF65-F5344CB8AC3E}">
        <p14:creationId xmlns:p14="http://schemas.microsoft.com/office/powerpoint/2010/main" val="2748337904"/>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Your </a:t>
            </a:r>
            <a:r>
              <a:rPr lang="en-US" dirty="0"/>
              <a:t>F</a:t>
            </a:r>
            <a:r>
              <a:rPr lang="en-GB" dirty="0" err="1"/>
              <a:t>irst</a:t>
            </a:r>
            <a:r>
              <a:rPr lang="en-GB" dirty="0"/>
              <a:t> HTML</a:t>
            </a:r>
            <a:r>
              <a:rPr lang="en-GB" dirty="0">
                <a:solidFill>
                  <a:schemeClr val="bg1"/>
                </a:solidFill>
              </a:rPr>
              <a:t> </a:t>
            </a:r>
            <a:r>
              <a:rPr lang="en-GB" dirty="0"/>
              <a:t>Document</a:t>
            </a:r>
          </a:p>
        </p:txBody>
      </p:sp>
      <p:pic>
        <p:nvPicPr>
          <p:cNvPr id="5" name="Картина 4">
            <a:extLst>
              <a:ext uri="{FF2B5EF4-FFF2-40B4-BE49-F238E27FC236}">
                <a16:creationId xmlns:a16="http://schemas.microsoft.com/office/drawing/2014/main" id="{A06134F1-6171-4C97-BE2A-924F474E80EE}"/>
              </a:ext>
            </a:extLst>
          </p:cNvPr>
          <p:cNvPicPr>
            <a:picLocks noChangeAspect="1"/>
          </p:cNvPicPr>
          <p:nvPr/>
        </p:nvPicPr>
        <p:blipFill>
          <a:blip r:embed="rId2"/>
          <a:stretch>
            <a:fillRect/>
          </a:stretch>
        </p:blipFill>
        <p:spPr>
          <a:xfrm>
            <a:off x="2032484" y="1539000"/>
            <a:ext cx="8127031" cy="46300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01295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D5F163F-8AA4-AD6D-756B-041839FED8CE}"/>
              </a:ext>
            </a:extLst>
          </p:cNvPr>
          <p:cNvSpPr>
            <a:spLocks noGrp="1"/>
          </p:cNvSpPr>
          <p:nvPr>
            <p:ph type="body" sz="quarter" idx="10"/>
          </p:nvPr>
        </p:nvSpPr>
        <p:spPr/>
        <p:txBody>
          <a:bodyPr>
            <a:normAutofit/>
          </a:bodyPr>
          <a:lstStyle/>
          <a:p>
            <a:pPr>
              <a:lnSpc>
                <a:spcPct val="110000"/>
              </a:lnSpc>
            </a:pPr>
            <a:r>
              <a:rPr lang="en-US" sz="3400" b="0" dirty="0"/>
              <a:t>Time passes, people think of new ways to entertain themselves</a:t>
            </a:r>
            <a:endParaRPr lang="en-US" sz="3400" dirty="0"/>
          </a:p>
          <a:p>
            <a:pPr lvl="1">
              <a:lnSpc>
                <a:spcPct val="110000"/>
              </a:lnSpc>
            </a:pPr>
            <a:r>
              <a:rPr lang="en-US" sz="3200" b="0" dirty="0"/>
              <a:t>So </a:t>
            </a:r>
            <a:r>
              <a:rPr lang="en-US" sz="3200" b="1" dirty="0">
                <a:solidFill>
                  <a:schemeClr val="bg1"/>
                </a:solidFill>
              </a:rPr>
              <a:t>new</a:t>
            </a:r>
            <a:r>
              <a:rPr lang="en-US" sz="3200" b="0" dirty="0"/>
              <a:t> versions of HTML have been created</a:t>
            </a:r>
          </a:p>
          <a:p>
            <a:pPr>
              <a:lnSpc>
                <a:spcPct val="110000"/>
              </a:lnSpc>
            </a:pPr>
            <a:r>
              <a:rPr lang="en-US" sz="3400" b="0" dirty="0"/>
              <a:t>How do we differentiate between the </a:t>
            </a:r>
            <a:r>
              <a:rPr lang="en-US" sz="3400" b="1" dirty="0">
                <a:solidFill>
                  <a:schemeClr val="bg1"/>
                </a:solidFill>
              </a:rPr>
              <a:t>different versions</a:t>
            </a:r>
            <a:r>
              <a:rPr lang="en-US" sz="3400" b="0" dirty="0"/>
              <a: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Versions</a:t>
            </a:r>
          </a:p>
        </p:txBody>
      </p:sp>
      <p:pic>
        <p:nvPicPr>
          <p:cNvPr id="2" name="Picture 1">
            <a:extLst>
              <a:ext uri="{FF2B5EF4-FFF2-40B4-BE49-F238E27FC236}">
                <a16:creationId xmlns:a16="http://schemas.microsoft.com/office/drawing/2014/main" id="{9F4DC02F-F139-9A63-8FDE-2041CE274F0D}"/>
              </a:ext>
            </a:extLst>
          </p:cNvPr>
          <p:cNvPicPr>
            <a:picLocks noChangeAspect="1"/>
          </p:cNvPicPr>
          <p:nvPr/>
        </p:nvPicPr>
        <p:blipFill>
          <a:blip r:embed="rId2"/>
          <a:stretch>
            <a:fillRect/>
          </a:stretch>
        </p:blipFill>
        <p:spPr>
          <a:xfrm>
            <a:off x="3683362" y="3789000"/>
            <a:ext cx="4825275" cy="271287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5444482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C28500AC-39C0-7B11-E384-7E6228A8373F}"/>
              </a:ext>
            </a:extLst>
          </p:cNvPr>
          <p:cNvSpPr>
            <a:spLocks noGrp="1"/>
          </p:cNvSpPr>
          <p:nvPr>
            <p:ph type="body" sz="quarter" idx="10"/>
          </p:nvPr>
        </p:nvSpPr>
        <p:spPr/>
        <p:txBody>
          <a:bodyPr/>
          <a:lstStyle/>
          <a:p>
            <a:r>
              <a:rPr lang="en-US" sz="3600" b="0" dirty="0"/>
              <a:t>There are many different documents on the web, and a browser can only display an HTML page </a:t>
            </a:r>
            <a:r>
              <a:rPr lang="en-US" sz="3600" b="1" dirty="0">
                <a:solidFill>
                  <a:schemeClr val="bg1"/>
                </a:solidFill>
              </a:rPr>
              <a:t>100</a:t>
            </a:r>
            <a:r>
              <a:rPr lang="en-US" sz="3600" b="0" dirty="0"/>
              <a:t>% </a:t>
            </a:r>
            <a:r>
              <a:rPr lang="en-US" sz="3600" b="1" dirty="0">
                <a:solidFill>
                  <a:schemeClr val="bg1"/>
                </a:solidFill>
              </a:rPr>
              <a:t>correctly</a:t>
            </a:r>
            <a:r>
              <a:rPr lang="en-US" sz="3600" b="0" dirty="0"/>
              <a:t> if it knows the </a:t>
            </a:r>
            <a:r>
              <a:rPr lang="en-US" sz="3600" b="1" dirty="0">
                <a:solidFill>
                  <a:schemeClr val="bg1"/>
                </a:solidFill>
              </a:rPr>
              <a:t>HTML</a:t>
            </a:r>
            <a:r>
              <a:rPr lang="en-US" sz="3600" b="0" dirty="0"/>
              <a:t> </a:t>
            </a:r>
            <a:r>
              <a:rPr lang="en-US" sz="3600" b="1" dirty="0">
                <a:solidFill>
                  <a:schemeClr val="bg1"/>
                </a:solidFill>
              </a:rPr>
              <a:t>type</a:t>
            </a:r>
            <a:r>
              <a:rPr lang="en-US" sz="3600" b="0" dirty="0"/>
              <a:t> and </a:t>
            </a:r>
            <a:r>
              <a:rPr lang="en-US" sz="3600" b="1" dirty="0">
                <a:solidFill>
                  <a:schemeClr val="bg1"/>
                </a:solidFill>
              </a:rPr>
              <a:t>version</a:t>
            </a:r>
            <a:r>
              <a:rPr lang="en-US" sz="3600" b="0" dirty="0"/>
              <a:t> used</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sz="4000" dirty="0"/>
              <a:t>THE &lt;!DOCTYPE&gt; DECLARATION</a:t>
            </a:r>
          </a:p>
        </p:txBody>
      </p:sp>
      <p:pic>
        <p:nvPicPr>
          <p:cNvPr id="6" name="Картина 5">
            <a:extLst>
              <a:ext uri="{FF2B5EF4-FFF2-40B4-BE49-F238E27FC236}">
                <a16:creationId xmlns:a16="http://schemas.microsoft.com/office/drawing/2014/main" id="{F59BB284-D3DC-F9B9-B30A-36616E4CCA5B}"/>
              </a:ext>
            </a:extLst>
          </p:cNvPr>
          <p:cNvPicPr>
            <a:picLocks noChangeAspect="1"/>
          </p:cNvPicPr>
          <p:nvPr/>
        </p:nvPicPr>
        <p:blipFill>
          <a:blip r:embed="rId2"/>
          <a:stretch>
            <a:fillRect/>
          </a:stretch>
        </p:blipFill>
        <p:spPr>
          <a:xfrm>
            <a:off x="3030748" y="3069000"/>
            <a:ext cx="6130503" cy="34715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5923085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sz="quarter" idx="10"/>
          </p:nvPr>
        </p:nvSpPr>
        <p:spPr/>
        <p:txBody>
          <a:bodyPr/>
          <a:lstStyle/>
          <a:p>
            <a:r>
              <a:rPr lang="en-US" dirty="0"/>
              <a:t>Common HTML Tags</a:t>
            </a:r>
          </a:p>
        </p:txBody>
      </p:sp>
      <p:sp>
        <p:nvSpPr>
          <p:cNvPr id="17" name="Slide Number">
            <a:extLst>
              <a:ext uri="{FF2B5EF4-FFF2-40B4-BE49-F238E27FC236}">
                <a16:creationId xmlns:a16="http://schemas.microsoft.com/office/drawing/2014/main" id="{35E7E3A7-C2E6-4217-8EEC-E48F9DC8777D}"/>
              </a:ext>
            </a:extLst>
          </p:cNvPr>
          <p:cNvSpPr>
            <a:spLocks noGrp="1"/>
          </p:cNvSpPr>
          <p:nvPr>
            <p:ph type="sldNum" sz="quarter" idx="4294967295"/>
          </p:nvPr>
        </p:nvSpPr>
        <p:spPr>
          <a:xfrm>
            <a:off x="11823700" y="6507163"/>
            <a:ext cx="368300" cy="296862"/>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24</a:t>
            </a:fld>
            <a:endParaRPr lang="en-US" noProof="0" dirty="0"/>
          </a:p>
        </p:txBody>
      </p:sp>
      <p:sp>
        <p:nvSpPr>
          <p:cNvPr id="4" name="TextBox 3"/>
          <p:cNvSpPr txBox="1"/>
          <p:nvPr/>
        </p:nvSpPr>
        <p:spPr>
          <a:xfrm rot="1008642">
            <a:off x="6031339" y="1162151"/>
            <a:ext cx="993924" cy="523084"/>
          </a:xfrm>
          <a:prstGeom prst="rect">
            <a:avLst/>
          </a:prstGeom>
          <a:noFill/>
        </p:spPr>
        <p:txBody>
          <a:bodyPr wrap="none" rtlCol="0">
            <a:spAutoFit/>
          </a:bodyPr>
          <a:lstStyle/>
          <a:p>
            <a:r>
              <a:rPr lang="en-US" sz="2799" b="1" noProof="1">
                <a:solidFill>
                  <a:srgbClr val="00B050"/>
                </a:solidFill>
              </a:rPr>
              <a:t>&lt;div&gt;</a:t>
            </a:r>
          </a:p>
        </p:txBody>
      </p:sp>
      <p:sp>
        <p:nvSpPr>
          <p:cNvPr id="5" name="TextBox 4"/>
          <p:cNvSpPr txBox="1"/>
          <p:nvPr/>
        </p:nvSpPr>
        <p:spPr>
          <a:xfrm rot="20516259">
            <a:off x="5988111" y="3495010"/>
            <a:ext cx="1369120" cy="523084"/>
          </a:xfrm>
          <a:prstGeom prst="rect">
            <a:avLst/>
          </a:prstGeom>
          <a:noFill/>
        </p:spPr>
        <p:txBody>
          <a:bodyPr wrap="none" rtlCol="0">
            <a:spAutoFit/>
          </a:bodyPr>
          <a:lstStyle/>
          <a:p>
            <a:r>
              <a:rPr lang="en-US" sz="2799" b="1" noProof="1">
                <a:solidFill>
                  <a:srgbClr val="92D050"/>
                </a:solidFill>
              </a:rPr>
              <a:t>&lt;script&gt;</a:t>
            </a:r>
          </a:p>
        </p:txBody>
      </p:sp>
      <p:sp>
        <p:nvSpPr>
          <p:cNvPr id="6" name="TextBox 5"/>
          <p:cNvSpPr txBox="1"/>
          <p:nvPr/>
        </p:nvSpPr>
        <p:spPr>
          <a:xfrm rot="699201">
            <a:off x="6222531" y="2729282"/>
            <a:ext cx="1555085" cy="523084"/>
          </a:xfrm>
          <a:prstGeom prst="rect">
            <a:avLst/>
          </a:prstGeom>
          <a:noFill/>
        </p:spPr>
        <p:txBody>
          <a:bodyPr wrap="none" rtlCol="0">
            <a:spAutoFit/>
          </a:bodyPr>
          <a:lstStyle/>
          <a:p>
            <a:r>
              <a:rPr lang="en-US" sz="2799" b="1" noProof="1">
                <a:solidFill>
                  <a:srgbClr val="00B0F0"/>
                </a:solidFill>
              </a:rPr>
              <a:t>&lt;button&gt;</a:t>
            </a:r>
          </a:p>
        </p:txBody>
      </p:sp>
      <p:sp>
        <p:nvSpPr>
          <p:cNvPr id="7" name="TextBox 6"/>
          <p:cNvSpPr txBox="1"/>
          <p:nvPr/>
        </p:nvSpPr>
        <p:spPr>
          <a:xfrm rot="21098724">
            <a:off x="5734050" y="2230345"/>
            <a:ext cx="715074" cy="523084"/>
          </a:xfrm>
          <a:prstGeom prst="rect">
            <a:avLst/>
          </a:prstGeom>
          <a:noFill/>
        </p:spPr>
        <p:txBody>
          <a:bodyPr wrap="none" rtlCol="0">
            <a:spAutoFit/>
          </a:bodyPr>
          <a:lstStyle/>
          <a:p>
            <a:r>
              <a:rPr lang="en-US" sz="2799" b="1" noProof="1">
                <a:solidFill>
                  <a:srgbClr val="FF3399"/>
                </a:solidFill>
              </a:rPr>
              <a:t>&lt;a&gt;</a:t>
            </a:r>
          </a:p>
        </p:txBody>
      </p:sp>
      <p:sp>
        <p:nvSpPr>
          <p:cNvPr id="8" name="TextBox 7"/>
          <p:cNvSpPr txBox="1"/>
          <p:nvPr/>
        </p:nvSpPr>
        <p:spPr>
          <a:xfrm rot="20856118">
            <a:off x="4338397" y="2688175"/>
            <a:ext cx="1248735" cy="523084"/>
          </a:xfrm>
          <a:prstGeom prst="rect">
            <a:avLst/>
          </a:prstGeom>
          <a:noFill/>
        </p:spPr>
        <p:txBody>
          <a:bodyPr wrap="none" rtlCol="0">
            <a:spAutoFit/>
          </a:bodyPr>
          <a:lstStyle/>
          <a:p>
            <a:r>
              <a:rPr lang="en-US" sz="2799" b="1" noProof="1">
                <a:solidFill>
                  <a:srgbClr val="00B050"/>
                </a:solidFill>
              </a:rPr>
              <a:t>&lt;span&gt;</a:t>
            </a:r>
          </a:p>
        </p:txBody>
      </p:sp>
      <p:sp>
        <p:nvSpPr>
          <p:cNvPr id="9" name="TextBox 8"/>
          <p:cNvSpPr txBox="1"/>
          <p:nvPr/>
        </p:nvSpPr>
        <p:spPr>
          <a:xfrm rot="630690">
            <a:off x="6942958" y="2043494"/>
            <a:ext cx="719881" cy="523084"/>
          </a:xfrm>
          <a:prstGeom prst="rect">
            <a:avLst/>
          </a:prstGeom>
          <a:noFill/>
        </p:spPr>
        <p:txBody>
          <a:bodyPr wrap="none" rtlCol="0">
            <a:spAutoFit/>
          </a:bodyPr>
          <a:lstStyle/>
          <a:p>
            <a:r>
              <a:rPr lang="en-US" sz="2799" b="1" noProof="1">
                <a:solidFill>
                  <a:srgbClr val="FFFF00"/>
                </a:solidFill>
              </a:rPr>
              <a:t>&lt;li&gt;</a:t>
            </a:r>
          </a:p>
        </p:txBody>
      </p:sp>
      <p:sp>
        <p:nvSpPr>
          <p:cNvPr id="10" name="TextBox 9"/>
          <p:cNvSpPr txBox="1"/>
          <p:nvPr/>
        </p:nvSpPr>
        <p:spPr>
          <a:xfrm rot="20050254">
            <a:off x="7048211" y="2440165"/>
            <a:ext cx="824050" cy="523084"/>
          </a:xfrm>
          <a:prstGeom prst="rect">
            <a:avLst/>
          </a:prstGeom>
          <a:noFill/>
        </p:spPr>
        <p:txBody>
          <a:bodyPr wrap="none" rtlCol="0">
            <a:spAutoFit/>
          </a:bodyPr>
          <a:lstStyle/>
          <a:p>
            <a:r>
              <a:rPr lang="en-US" sz="2799" b="1" noProof="1"/>
              <a:t>&lt;ul&gt;</a:t>
            </a:r>
          </a:p>
        </p:txBody>
      </p:sp>
      <p:sp>
        <p:nvSpPr>
          <p:cNvPr id="11" name="TextBox 10"/>
          <p:cNvSpPr txBox="1"/>
          <p:nvPr/>
        </p:nvSpPr>
        <p:spPr>
          <a:xfrm rot="21240044">
            <a:off x="5180805" y="1725619"/>
            <a:ext cx="1615727" cy="523084"/>
          </a:xfrm>
          <a:prstGeom prst="rect">
            <a:avLst/>
          </a:prstGeom>
          <a:noFill/>
        </p:spPr>
        <p:txBody>
          <a:bodyPr wrap="none" rtlCol="0">
            <a:spAutoFit/>
          </a:bodyPr>
          <a:lstStyle/>
          <a:p>
            <a:r>
              <a:rPr lang="en-US" sz="2799" b="1" noProof="1">
                <a:solidFill>
                  <a:srgbClr val="7030A0"/>
                </a:solidFill>
              </a:rPr>
              <a:t>&lt;section&gt;</a:t>
            </a:r>
          </a:p>
        </p:txBody>
      </p:sp>
      <p:sp>
        <p:nvSpPr>
          <p:cNvPr id="12" name="TextBox 11"/>
          <p:cNvSpPr txBox="1"/>
          <p:nvPr/>
        </p:nvSpPr>
        <p:spPr>
          <a:xfrm rot="21110687">
            <a:off x="5050205" y="1274414"/>
            <a:ext cx="915397" cy="523084"/>
          </a:xfrm>
          <a:prstGeom prst="rect">
            <a:avLst/>
          </a:prstGeom>
          <a:noFill/>
        </p:spPr>
        <p:txBody>
          <a:bodyPr wrap="none" rtlCol="0">
            <a:spAutoFit/>
          </a:bodyPr>
          <a:lstStyle/>
          <a:p>
            <a:r>
              <a:rPr lang="en-US" sz="2799" b="1" noProof="1">
                <a:solidFill>
                  <a:schemeClr val="bg1"/>
                </a:solidFill>
              </a:rPr>
              <a:t>&lt;h1&gt;</a:t>
            </a:r>
          </a:p>
        </p:txBody>
      </p:sp>
      <p:sp>
        <p:nvSpPr>
          <p:cNvPr id="13" name="TextBox 12"/>
          <p:cNvSpPr txBox="1"/>
          <p:nvPr/>
        </p:nvSpPr>
        <p:spPr>
          <a:xfrm rot="255400">
            <a:off x="4739103" y="3306204"/>
            <a:ext cx="1485533" cy="523084"/>
          </a:xfrm>
          <a:prstGeom prst="rect">
            <a:avLst/>
          </a:prstGeom>
          <a:noFill/>
        </p:spPr>
        <p:txBody>
          <a:bodyPr wrap="none" rtlCol="0">
            <a:spAutoFit/>
          </a:bodyPr>
          <a:lstStyle/>
          <a:p>
            <a:r>
              <a:rPr lang="en-US" sz="2799" b="1" noProof="1">
                <a:solidFill>
                  <a:srgbClr val="ADA485"/>
                </a:solidFill>
              </a:rPr>
              <a:t>&lt;strong&gt;</a:t>
            </a:r>
          </a:p>
        </p:txBody>
      </p:sp>
      <p:sp>
        <p:nvSpPr>
          <p:cNvPr id="14" name="TextBox 13"/>
          <p:cNvSpPr txBox="1"/>
          <p:nvPr/>
        </p:nvSpPr>
        <p:spPr>
          <a:xfrm rot="826208">
            <a:off x="5321832" y="2899424"/>
            <a:ext cx="1333673" cy="523084"/>
          </a:xfrm>
          <a:prstGeom prst="rect">
            <a:avLst/>
          </a:prstGeom>
          <a:noFill/>
        </p:spPr>
        <p:txBody>
          <a:bodyPr wrap="none" rtlCol="0">
            <a:spAutoFit/>
          </a:bodyPr>
          <a:lstStyle/>
          <a:p>
            <a:r>
              <a:rPr lang="en-US" sz="2799" b="1" noProof="1">
                <a:solidFill>
                  <a:schemeClr val="bg1"/>
                </a:solidFill>
              </a:rPr>
              <a:t>&lt;input&gt;</a:t>
            </a:r>
          </a:p>
        </p:txBody>
      </p:sp>
      <p:sp>
        <p:nvSpPr>
          <p:cNvPr id="15" name="TextBox 14"/>
          <p:cNvSpPr txBox="1"/>
          <p:nvPr/>
        </p:nvSpPr>
        <p:spPr>
          <a:xfrm rot="161718">
            <a:off x="4421028" y="2139956"/>
            <a:ext cx="1093284" cy="523084"/>
          </a:xfrm>
          <a:prstGeom prst="rect">
            <a:avLst/>
          </a:prstGeom>
          <a:noFill/>
        </p:spPr>
        <p:txBody>
          <a:bodyPr wrap="none" rtlCol="0">
            <a:spAutoFit/>
          </a:bodyPr>
          <a:lstStyle/>
          <a:p>
            <a:r>
              <a:rPr lang="en-US" sz="2799" b="1" noProof="1">
                <a:solidFill>
                  <a:srgbClr val="0070C0"/>
                </a:solidFill>
              </a:rPr>
              <a:t>&lt;img&gt;</a:t>
            </a:r>
          </a:p>
        </p:txBody>
      </p:sp>
    </p:spTree>
    <p:extLst>
      <p:ext uri="{BB962C8B-B14F-4D97-AF65-F5344CB8AC3E}">
        <p14:creationId xmlns:p14="http://schemas.microsoft.com/office/powerpoint/2010/main" val="296089999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Headings and Paragraphs</a:t>
            </a:r>
          </a:p>
        </p:txBody>
      </p:sp>
      <p:sp>
        <p:nvSpPr>
          <p:cNvPr id="14" name="Content Placeholder 13"/>
          <p:cNvSpPr>
            <a:spLocks noGrp="1"/>
          </p:cNvSpPr>
          <p:nvPr>
            <p:ph idx="4294967295"/>
          </p:nvPr>
        </p:nvSpPr>
        <p:spPr>
          <a:xfrm>
            <a:off x="132955" y="1234035"/>
            <a:ext cx="11801576" cy="5569087"/>
          </a:xfrm>
        </p:spPr>
        <p:txBody>
          <a:bodyPr>
            <a:normAutofit/>
          </a:bodyPr>
          <a:lstStyle/>
          <a:p>
            <a:r>
              <a:rPr lang="en-US" sz="3400" dirty="0"/>
              <a:t>Headings: </a:t>
            </a:r>
            <a:r>
              <a:rPr lang="en-US" sz="3400" b="1" dirty="0">
                <a:solidFill>
                  <a:schemeClr val="bg1"/>
                </a:solidFill>
                <a:latin typeface="Consolas" pitchFamily="49" charset="0"/>
                <a:cs typeface="Consolas" pitchFamily="49" charset="0"/>
              </a:rPr>
              <a:t>&lt;h1&gt;</a:t>
            </a:r>
            <a:r>
              <a:rPr lang="en-US" sz="3400" b="1" dirty="0">
                <a:solidFill>
                  <a:schemeClr val="bg1"/>
                </a:solidFill>
                <a:cs typeface="Consolas" pitchFamily="49" charset="0"/>
              </a:rPr>
              <a:t> </a:t>
            </a:r>
            <a:r>
              <a:rPr lang="en-US" sz="3400" dirty="0"/>
              <a:t>to</a:t>
            </a:r>
            <a:r>
              <a:rPr lang="en-US" sz="3400" b="1" dirty="0">
                <a:solidFill>
                  <a:schemeClr val="tx2">
                    <a:lumMod val="75000"/>
                  </a:schemeClr>
                </a:solidFill>
                <a:cs typeface="Consolas" pitchFamily="49" charset="0"/>
              </a:rPr>
              <a:t> </a:t>
            </a:r>
            <a:r>
              <a:rPr lang="en-US" sz="3400" b="1" dirty="0">
                <a:solidFill>
                  <a:schemeClr val="bg1"/>
                </a:solidFill>
                <a:latin typeface="Consolas" pitchFamily="49" charset="0"/>
                <a:cs typeface="Consolas" pitchFamily="49" charset="0"/>
              </a:rPr>
              <a:t>&lt;h6&gt;</a:t>
            </a:r>
          </a:p>
          <a:p>
            <a:endParaRPr lang="en-US" sz="3199" dirty="0"/>
          </a:p>
          <a:p>
            <a:endParaRPr lang="en-US" sz="3199" dirty="0"/>
          </a:p>
          <a:p>
            <a:endParaRPr lang="en-US" sz="3199" dirty="0"/>
          </a:p>
          <a:p>
            <a:r>
              <a:rPr lang="en-US" sz="3400" dirty="0"/>
              <a:t>Paragraphs: </a:t>
            </a:r>
            <a:r>
              <a:rPr lang="en-US" sz="3400" b="1" dirty="0">
                <a:solidFill>
                  <a:schemeClr val="bg1"/>
                </a:solidFill>
                <a:latin typeface="Consolas" pitchFamily="49" charset="0"/>
                <a:cs typeface="Consolas" pitchFamily="49" charset="0"/>
              </a:rPr>
              <a:t>&lt;p&gt;&lt;/p&gt;</a:t>
            </a:r>
          </a:p>
        </p:txBody>
      </p:sp>
      <p:sp>
        <p:nvSpPr>
          <p:cNvPr id="8" name="Text Placeholder 5"/>
          <p:cNvSpPr txBox="1">
            <a:spLocks/>
          </p:cNvSpPr>
          <p:nvPr/>
        </p:nvSpPr>
        <p:spPr>
          <a:xfrm>
            <a:off x="479489" y="1989000"/>
            <a:ext cx="7281511" cy="1695380"/>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anose="020B0609020204030204" pitchFamily="49" charset="0"/>
                <a:cs typeface="Consolas" pitchFamily="49" charset="0"/>
              </a:rPr>
              <a:t>&lt;h1&gt;</a:t>
            </a:r>
            <a:r>
              <a:rPr lang="en-US" sz="2400" b="1" noProof="1">
                <a:latin typeface="Consolas" panose="020B0609020204030204" pitchFamily="49" charset="0"/>
                <a:cs typeface="Consolas" pitchFamily="49" charset="0"/>
              </a:rPr>
              <a:t>This is Heading 1 </a:t>
            </a:r>
            <a:r>
              <a:rPr lang="ru-RU" sz="2400" b="1" noProof="1">
                <a:latin typeface="Consolas" panose="020B0609020204030204" pitchFamily="49" charset="0"/>
                <a:cs typeface="Consolas" pitchFamily="49" charset="0"/>
              </a:rPr>
              <a:t>(</a:t>
            </a:r>
            <a:r>
              <a:rPr lang="en-US" sz="2400" b="1" noProof="1">
                <a:latin typeface="Consolas" panose="020B0609020204030204" pitchFamily="49" charset="0"/>
                <a:cs typeface="Consolas" pitchFamily="49" charset="0"/>
              </a:rPr>
              <a:t>Biggest</a:t>
            </a:r>
            <a:r>
              <a:rPr lang="ru-RU" sz="2400" b="1" noProof="1">
                <a:latin typeface="Consolas" panose="020B0609020204030204" pitchFamily="49" charset="0"/>
                <a:cs typeface="Consolas" pitchFamily="49" charset="0"/>
              </a:rPr>
              <a:t>)</a:t>
            </a:r>
            <a:r>
              <a:rPr lang="ru-RU" sz="2400" b="1" noProof="1">
                <a:solidFill>
                  <a:schemeClr val="bg1"/>
                </a:solidFill>
                <a:latin typeface="Consolas" pitchFamily="49" charset="0"/>
                <a:cs typeface="Consolas" pitchFamily="49" charset="0"/>
              </a:rPr>
              <a:t>&lt;/h1&gt;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&lt;h2&gt;</a:t>
            </a:r>
            <a:r>
              <a:rPr lang="en-US" sz="2400" b="1" noProof="1">
                <a:latin typeface="Consolas" panose="020B0609020204030204" pitchFamily="49" charset="0"/>
                <a:cs typeface="Consolas" pitchFamily="49" charset="0"/>
              </a:rPr>
              <a:t>This is Heading 2 </a:t>
            </a:r>
            <a:r>
              <a:rPr lang="ru-RU" sz="2400" b="1" noProof="1">
                <a:latin typeface="Consolas" panose="020B0609020204030204" pitchFamily="49" charset="0"/>
                <a:cs typeface="Consolas" pitchFamily="49" charset="0"/>
              </a:rPr>
              <a:t>(</a:t>
            </a:r>
            <a:r>
              <a:rPr lang="en-US" sz="2400" b="1" noProof="1">
                <a:latin typeface="Consolas" panose="020B0609020204030204" pitchFamily="49" charset="0"/>
                <a:cs typeface="Consolas" pitchFamily="49" charset="0"/>
              </a:rPr>
              <a:t>Smaller</a:t>
            </a:r>
            <a:r>
              <a:rPr lang="ru-RU" sz="2400" b="1" noProof="1">
                <a:latin typeface="Consolas" panose="020B0609020204030204" pitchFamily="49" charset="0"/>
                <a:cs typeface="Consolas" pitchFamily="49" charset="0"/>
              </a:rPr>
              <a:t>)</a:t>
            </a:r>
            <a:r>
              <a:rPr lang="ru-RU" sz="2400" b="1" noProof="1">
                <a:solidFill>
                  <a:schemeClr val="bg1"/>
                </a:solidFill>
                <a:latin typeface="Consolas" pitchFamily="49" charset="0"/>
                <a:cs typeface="Consolas" pitchFamily="49" charset="0"/>
              </a:rPr>
              <a:t>&lt;/h2&gt;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&lt;h3&gt;</a:t>
            </a:r>
            <a:r>
              <a:rPr lang="en-US" sz="2400" b="1" noProof="1">
                <a:latin typeface="Consolas" panose="020B0609020204030204" pitchFamily="49" charset="0"/>
                <a:cs typeface="Consolas" pitchFamily="49" charset="0"/>
              </a:rPr>
              <a:t>This is Heading 3 </a:t>
            </a:r>
            <a:r>
              <a:rPr lang="ru-RU" sz="2400" b="1" noProof="1">
                <a:latin typeface="Consolas" panose="020B0609020204030204" pitchFamily="49" charset="0"/>
                <a:cs typeface="Consolas" pitchFamily="49" charset="0"/>
              </a:rPr>
              <a:t>(</a:t>
            </a:r>
            <a:r>
              <a:rPr lang="en-US" sz="2400" b="1" noProof="1">
                <a:latin typeface="Consolas" panose="020B0609020204030204" pitchFamily="49" charset="0"/>
                <a:cs typeface="Consolas" pitchFamily="49" charset="0"/>
              </a:rPr>
              <a:t>More Smaller</a:t>
            </a:r>
            <a:r>
              <a:rPr lang="ru-RU" sz="2400" b="1" noProof="1">
                <a:latin typeface="Consolas" panose="020B0609020204030204" pitchFamily="49" charset="0"/>
                <a:cs typeface="Consolas" pitchFamily="49" charset="0"/>
              </a:rPr>
              <a:t>)</a:t>
            </a:r>
            <a:r>
              <a:rPr lang="ru-RU" sz="2400" b="1" noProof="1">
                <a:solidFill>
                  <a:schemeClr val="bg1"/>
                </a:solidFill>
                <a:latin typeface="Consolas" pitchFamily="49" charset="0"/>
                <a:cs typeface="Consolas" pitchFamily="49" charset="0"/>
              </a:rPr>
              <a:t>&lt;/h3&gt;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&lt;h4&gt;</a:t>
            </a:r>
            <a:r>
              <a:rPr lang="en-US" sz="2400" b="1" noProof="1">
                <a:latin typeface="Consolas" panose="020B0609020204030204" pitchFamily="49" charset="0"/>
                <a:cs typeface="Consolas" pitchFamily="49" charset="0"/>
              </a:rPr>
              <a:t>This is Heading 4 </a:t>
            </a:r>
            <a:r>
              <a:rPr lang="ru-RU" sz="2400" b="1" noProof="1">
                <a:latin typeface="Consolas" panose="020B0609020204030204" pitchFamily="49" charset="0"/>
                <a:cs typeface="Consolas" pitchFamily="49" charset="0"/>
              </a:rPr>
              <a:t>(</a:t>
            </a:r>
            <a:r>
              <a:rPr lang="en-US" sz="2400" b="1" noProof="1">
                <a:latin typeface="Consolas" panose="020B0609020204030204" pitchFamily="49" charset="0"/>
                <a:cs typeface="Consolas" pitchFamily="49" charset="0"/>
              </a:rPr>
              <a:t>Smallest</a:t>
            </a:r>
            <a:r>
              <a:rPr lang="ru-RU" sz="2400" b="1" noProof="1">
                <a:latin typeface="Consolas" panose="020B0609020204030204" pitchFamily="49" charset="0"/>
                <a:cs typeface="Consolas" pitchFamily="49" charset="0"/>
              </a:rPr>
              <a:t>)</a:t>
            </a:r>
            <a:r>
              <a:rPr lang="ru-RU" sz="2400" b="1" noProof="1">
                <a:solidFill>
                  <a:schemeClr val="bg1"/>
                </a:solidFill>
                <a:latin typeface="Consolas" panose="020B0609020204030204" pitchFamily="49" charset="0"/>
                <a:cs typeface="Consolas" pitchFamily="49" charset="0"/>
              </a:rPr>
              <a:t>&lt;/h4&gt;</a:t>
            </a:r>
            <a:endParaRPr lang="en-US" sz="2400" b="1" noProof="1">
              <a:solidFill>
                <a:schemeClr val="bg1"/>
              </a:solidFill>
              <a:latin typeface="Consolas" panose="020B0609020204030204" pitchFamily="49" charset="0"/>
              <a:cs typeface="Consolas" pitchFamily="49" charset="0"/>
            </a:endParaRPr>
          </a:p>
        </p:txBody>
      </p:sp>
      <p:sp>
        <p:nvSpPr>
          <p:cNvPr id="9" name="Text Placeholder 5"/>
          <p:cNvSpPr txBox="1">
            <a:spLocks/>
          </p:cNvSpPr>
          <p:nvPr/>
        </p:nvSpPr>
        <p:spPr>
          <a:xfrm>
            <a:off x="479489" y="4703620"/>
            <a:ext cx="7281511" cy="1695380"/>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&lt;p&gt;</a:t>
            </a:r>
            <a:r>
              <a:rPr lang="en-US" sz="2400" b="1" noProof="1">
                <a:latin typeface="Consolas" pitchFamily="49" charset="0"/>
                <a:cs typeface="Consolas" pitchFamily="49" charset="0"/>
              </a:rPr>
              <a:t>First paragraph</a:t>
            </a:r>
            <a:r>
              <a:rPr lang="ru-RU" sz="2400" b="1" noProof="1">
                <a:solidFill>
                  <a:schemeClr val="bg1"/>
                </a:solidFill>
                <a:latin typeface="Consolas" pitchFamily="49" charset="0"/>
                <a:cs typeface="Consolas" pitchFamily="49" charset="0"/>
              </a:rPr>
              <a:t>&lt;/p&gt;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&lt;p&gt;</a:t>
            </a:r>
            <a:r>
              <a:rPr lang="en-US" sz="2400" b="1" noProof="1">
                <a:latin typeface="Consolas" pitchFamily="49" charset="0"/>
                <a:cs typeface="Consolas" pitchFamily="49" charset="0"/>
              </a:rPr>
              <a:t>Second paragraph</a:t>
            </a:r>
            <a:r>
              <a:rPr lang="ru-RU" sz="2400" b="1" noProof="1">
                <a:solidFill>
                  <a:schemeClr val="bg1"/>
                </a:solidFill>
                <a:latin typeface="Consolas" pitchFamily="49" charset="0"/>
                <a:cs typeface="Consolas" pitchFamily="49" charset="0"/>
              </a:rPr>
              <a:t>&lt;/p&gt;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&lt;br</a:t>
            </a:r>
            <a:r>
              <a:rPr lang="en-US" sz="2400" b="1" noProof="1">
                <a:solidFill>
                  <a:schemeClr val="bg1"/>
                </a:solidFill>
                <a:cs typeface="Consolas" pitchFamily="49" charset="0"/>
              </a:rPr>
              <a:t> </a:t>
            </a:r>
            <a:r>
              <a:rPr lang="en-US" sz="2400" b="1" noProof="1">
                <a:solidFill>
                  <a:schemeClr val="bg1"/>
                </a:solidFill>
                <a:latin typeface="Consolas" pitchFamily="49" charset="0"/>
                <a:cs typeface="Consolas" pitchFamily="49" charset="0"/>
              </a:rPr>
              <a:t>/</a:t>
            </a:r>
            <a:r>
              <a:rPr lang="ru-RU" sz="2400" b="1" noProof="1">
                <a:solidFill>
                  <a:schemeClr val="bg1"/>
                </a:solidFill>
                <a:latin typeface="Consolas" pitchFamily="49" charset="0"/>
                <a:cs typeface="Consolas" pitchFamily="49" charset="0"/>
              </a:rPr>
              <a:t>&gt; </a:t>
            </a:r>
            <a:r>
              <a:rPr lang="ru-RU" sz="2400" b="1" i="1" noProof="1">
                <a:solidFill>
                  <a:schemeClr val="accent2"/>
                </a:solidFill>
                <a:latin typeface="Consolas" pitchFamily="49" charset="0"/>
                <a:cs typeface="Consolas" pitchFamily="49" charset="0"/>
              </a:rPr>
              <a:t>&lt;!</a:t>
            </a:r>
            <a:r>
              <a:rPr lang="en-US" sz="2400" b="1" i="1" noProof="1">
                <a:solidFill>
                  <a:schemeClr val="accent2"/>
                </a:solidFill>
                <a:latin typeface="Consolas" pitchFamily="49" charset="0"/>
                <a:cs typeface="Consolas" pitchFamily="49" charset="0"/>
              </a:rPr>
              <a:t>--</a:t>
            </a:r>
            <a:r>
              <a:rPr lang="ru-RU" sz="2400" b="1" i="1" noProof="1">
                <a:solidFill>
                  <a:schemeClr val="accent2"/>
                </a:solidFill>
                <a:latin typeface="Consolas" pitchFamily="49" charset="0"/>
                <a:cs typeface="Consolas" pitchFamily="49" charset="0"/>
              </a:rPr>
              <a:t> </a:t>
            </a:r>
            <a:r>
              <a:rPr lang="en-US" sz="2400" b="1" i="1" noProof="1">
                <a:solidFill>
                  <a:schemeClr val="accent2"/>
                </a:solidFill>
                <a:latin typeface="Consolas" pitchFamily="49" charset="0"/>
                <a:cs typeface="Consolas" pitchFamily="49" charset="0"/>
              </a:rPr>
              <a:t>empty line</a:t>
            </a:r>
            <a:r>
              <a:rPr lang="ru-RU" sz="2400" b="1" i="1" noProof="1">
                <a:solidFill>
                  <a:schemeClr val="accent2"/>
                </a:solidFill>
                <a:latin typeface="Consolas" pitchFamily="49" charset="0"/>
                <a:cs typeface="Consolas" pitchFamily="49" charset="0"/>
              </a:rPr>
              <a:t> --&gt;</a:t>
            </a:r>
          </a:p>
          <a:p>
            <a:pPr marL="0" lvl="1" indent="0">
              <a:lnSpc>
                <a:spcPct val="100000"/>
              </a:lnSpc>
              <a:spcBef>
                <a:spcPts val="0"/>
              </a:spcBef>
              <a:spcAft>
                <a:spcPts val="0"/>
              </a:spcAft>
              <a:buClr>
                <a:srgbClr val="F2B254"/>
              </a:buClr>
              <a:buSzPct val="100000"/>
              <a:buNone/>
            </a:pPr>
            <a:r>
              <a:rPr lang="ru-RU" sz="2400" b="1" noProof="1">
                <a:solidFill>
                  <a:schemeClr val="bg1"/>
                </a:solidFill>
                <a:latin typeface="Consolas" pitchFamily="49" charset="0"/>
                <a:cs typeface="Consolas" pitchFamily="49" charset="0"/>
              </a:rPr>
              <a:t>&lt;p&gt;</a:t>
            </a:r>
            <a:r>
              <a:rPr lang="en-US" sz="2400" b="1" noProof="1">
                <a:latin typeface="Consolas" pitchFamily="49" charset="0"/>
                <a:cs typeface="Consolas" pitchFamily="49" charset="0"/>
              </a:rPr>
              <a:t>Third paragraph</a:t>
            </a:r>
            <a:r>
              <a:rPr lang="ru-RU" sz="2400" b="1" noProof="1">
                <a:solidFill>
                  <a:schemeClr val="bg1"/>
                </a:solidFill>
                <a:latin typeface="Consolas" pitchFamily="49" charset="0"/>
                <a:cs typeface="Consolas" pitchFamily="49" charset="0"/>
              </a:rPr>
              <a:t>&lt;/p&gt;</a:t>
            </a:r>
          </a:p>
        </p:txBody>
      </p:sp>
      <p:sp>
        <p:nvSpPr>
          <p:cNvPr id="15" name="AutoShape 25"/>
          <p:cNvSpPr>
            <a:spLocks noChangeArrowheads="1"/>
          </p:cNvSpPr>
          <p:nvPr/>
        </p:nvSpPr>
        <p:spPr bwMode="auto">
          <a:xfrm>
            <a:off x="5241875" y="4824000"/>
            <a:ext cx="1708250" cy="652600"/>
          </a:xfrm>
          <a:prstGeom prst="wedgeRoundRectCallout">
            <a:avLst>
              <a:gd name="adj1" fmla="val -74644"/>
              <a:gd name="adj2" fmla="val 56115"/>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rgbClr val="FFFFFF"/>
                </a:solidFill>
              </a:rPr>
              <a:t>Comment</a:t>
            </a:r>
            <a:endParaRPr lang="bg-BG" sz="2399" b="1" dirty="0">
              <a:solidFill>
                <a:srgbClr val="FFFFFF"/>
              </a:solidFill>
            </a:endParaRPr>
          </a:p>
        </p:txBody>
      </p:sp>
      <p:pic>
        <p:nvPicPr>
          <p:cNvPr id="6" name="Picture 5"/>
          <p:cNvPicPr>
            <a:picLocks noChangeAspect="1"/>
          </p:cNvPicPr>
          <p:nvPr/>
        </p:nvPicPr>
        <p:blipFill>
          <a:blip r:embed="rId2"/>
          <a:stretch>
            <a:fillRect/>
          </a:stretch>
        </p:blipFill>
        <p:spPr>
          <a:xfrm>
            <a:off x="7545064" y="1707994"/>
            <a:ext cx="4566000" cy="2122840"/>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a:stretch>
            <a:fillRect/>
          </a:stretch>
        </p:blipFill>
        <p:spPr>
          <a:xfrm>
            <a:off x="7545064" y="3968196"/>
            <a:ext cx="2552333" cy="2596800"/>
          </a:xfrm>
          <a:prstGeom prst="rect">
            <a:avLst/>
          </a:prstGeom>
          <a:ln>
            <a:noFill/>
          </a:ln>
          <a:effectLst>
            <a:outerShdw blurRad="292100" dist="139700" dir="2700000" algn="tl" rotWithShape="0">
              <a:srgbClr val="333333">
                <a:alpha val="65000"/>
              </a:srgbClr>
            </a:outerShdw>
          </a:effectLst>
        </p:spPr>
      </p:pic>
      <p:sp>
        <p:nvSpPr>
          <p:cNvPr id="11" name="Slide Number">
            <a:extLst>
              <a:ext uri="{FF2B5EF4-FFF2-40B4-BE49-F238E27FC236}">
                <a16:creationId xmlns:a16="http://schemas.microsoft.com/office/drawing/2014/main" id="{5BCBDE6A-F7D4-4C5D-B8D5-031AC29F73E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25</a:t>
            </a:fld>
            <a:endParaRPr lang="en-US" noProof="0" dirty="0"/>
          </a:p>
        </p:txBody>
      </p:sp>
    </p:spTree>
    <p:extLst>
      <p:ext uri="{BB962C8B-B14F-4D97-AF65-F5344CB8AC3E}">
        <p14:creationId xmlns:p14="http://schemas.microsoft.com/office/powerpoint/2010/main" val="156887758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Hyperlinks</a:t>
            </a:r>
          </a:p>
        </p:txBody>
      </p:sp>
      <p:sp>
        <p:nvSpPr>
          <p:cNvPr id="3" name="Content Placeholder 2"/>
          <p:cNvSpPr>
            <a:spLocks noGrp="1"/>
          </p:cNvSpPr>
          <p:nvPr>
            <p:ph idx="4294967295"/>
          </p:nvPr>
        </p:nvSpPr>
        <p:spPr>
          <a:xfrm>
            <a:off x="202536" y="1179587"/>
            <a:ext cx="11804750" cy="5569086"/>
          </a:xfrm>
        </p:spPr>
        <p:txBody>
          <a:bodyPr/>
          <a:lstStyle/>
          <a:p>
            <a:r>
              <a:rPr lang="en-ZA" dirty="0"/>
              <a:t>External hyperlink</a:t>
            </a:r>
          </a:p>
          <a:p>
            <a:endParaRPr lang="en-ZA" dirty="0"/>
          </a:p>
          <a:p>
            <a:pPr>
              <a:spcBef>
                <a:spcPts val="1200"/>
              </a:spcBef>
            </a:pPr>
            <a:r>
              <a:rPr lang="en-ZA" dirty="0"/>
              <a:t>Local hyperlink</a:t>
            </a:r>
          </a:p>
          <a:p>
            <a:endParaRPr lang="en-ZA" dirty="0"/>
          </a:p>
          <a:p>
            <a:endParaRPr lang="en-ZA" dirty="0"/>
          </a:p>
          <a:p>
            <a:pPr>
              <a:spcBef>
                <a:spcPts val="2399"/>
              </a:spcBef>
            </a:pPr>
            <a:r>
              <a:rPr lang="en-ZA" dirty="0"/>
              <a:t>Relative hyperlink</a:t>
            </a:r>
            <a:endParaRPr lang="en-US" dirty="0"/>
          </a:p>
        </p:txBody>
      </p:sp>
      <p:sp>
        <p:nvSpPr>
          <p:cNvPr id="5" name="Rectangle 4"/>
          <p:cNvSpPr>
            <a:spLocks noChangeArrowheads="1"/>
          </p:cNvSpPr>
          <p:nvPr/>
        </p:nvSpPr>
        <p:spPr bwMode="auto">
          <a:xfrm>
            <a:off x="703690" y="1927361"/>
            <a:ext cx="10864918" cy="50795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599" b="1" noProof="1">
                <a:solidFill>
                  <a:schemeClr val="bg1"/>
                </a:solidFill>
                <a:latin typeface="Consolas" pitchFamily="49" charset="0"/>
                <a:cs typeface="Consolas" pitchFamily="49" charset="0"/>
              </a:rPr>
              <a:t>&lt;a href</a:t>
            </a:r>
            <a:r>
              <a:rPr lang="en-US" sz="2599" b="1" noProof="1">
                <a:latin typeface="Consolas" pitchFamily="49" charset="0"/>
                <a:cs typeface="Consolas" pitchFamily="49" charset="0"/>
              </a:rPr>
              <a:t>="https://softuni.bg"</a:t>
            </a:r>
            <a:r>
              <a:rPr lang="en-US" sz="2599" b="1" noProof="1">
                <a:solidFill>
                  <a:schemeClr val="bg1"/>
                </a:solidFill>
                <a:latin typeface="Consolas" pitchFamily="49" charset="0"/>
                <a:cs typeface="Consolas" pitchFamily="49" charset="0"/>
              </a:rPr>
              <a:t>&gt;</a:t>
            </a:r>
            <a:r>
              <a:rPr lang="en-US" sz="2599" b="1" noProof="1">
                <a:latin typeface="Consolas" pitchFamily="49" charset="0"/>
                <a:cs typeface="Consolas" pitchFamily="49" charset="0"/>
              </a:rPr>
              <a:t>SoftUni</a:t>
            </a:r>
            <a:r>
              <a:rPr lang="en-US" sz="2599" b="1" noProof="1">
                <a:solidFill>
                  <a:schemeClr val="bg1"/>
                </a:solidFill>
                <a:latin typeface="Consolas" pitchFamily="49" charset="0"/>
                <a:cs typeface="Consolas" pitchFamily="49" charset="0"/>
              </a:rPr>
              <a:t>&lt;/a&gt;</a:t>
            </a:r>
          </a:p>
        </p:txBody>
      </p:sp>
      <p:sp>
        <p:nvSpPr>
          <p:cNvPr id="6" name="Rectangle 5"/>
          <p:cNvSpPr>
            <a:spLocks noChangeArrowheads="1"/>
          </p:cNvSpPr>
          <p:nvPr/>
        </p:nvSpPr>
        <p:spPr bwMode="auto">
          <a:xfrm>
            <a:off x="703690" y="3411311"/>
            <a:ext cx="10864918" cy="141232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599" b="1" noProof="1">
                <a:solidFill>
                  <a:schemeClr val="bg1"/>
                </a:solidFill>
                <a:latin typeface="Consolas" pitchFamily="49" charset="0"/>
                <a:cs typeface="Consolas" pitchFamily="49" charset="0"/>
              </a:rPr>
              <a:t>&lt;h1 id</a:t>
            </a:r>
            <a:r>
              <a:rPr lang="en-US" sz="2599" b="1" noProof="1">
                <a:latin typeface="Consolas" pitchFamily="49" charset="0"/>
                <a:cs typeface="Consolas" pitchFamily="49" charset="0"/>
              </a:rPr>
              <a:t>="</a:t>
            </a:r>
            <a:r>
              <a:rPr lang="en-US" sz="2599" b="1" noProof="1">
                <a:solidFill>
                  <a:schemeClr val="bg1"/>
                </a:solidFill>
                <a:latin typeface="Consolas" pitchFamily="49" charset="0"/>
                <a:cs typeface="Consolas" pitchFamily="49" charset="0"/>
              </a:rPr>
              <a:t>exercises</a:t>
            </a:r>
            <a:r>
              <a:rPr lang="en-US" sz="2599" b="1" noProof="1">
                <a:latin typeface="Consolas" pitchFamily="49" charset="0"/>
                <a:cs typeface="Consolas" pitchFamily="49" charset="0"/>
              </a:rPr>
              <a:t>"&gt;Exercises</a:t>
            </a:r>
            <a:r>
              <a:rPr lang="en-US" sz="2599" b="1" noProof="1">
                <a:solidFill>
                  <a:schemeClr val="bg1"/>
                </a:solidFill>
                <a:latin typeface="Consolas" pitchFamily="49" charset="0"/>
                <a:cs typeface="Consolas" pitchFamily="49" charset="0"/>
              </a:rPr>
              <a:t>&lt;/h1&gt;</a:t>
            </a:r>
          </a:p>
          <a:p>
            <a:pPr eaLnBrk="0" hangingPunct="0">
              <a:lnSpc>
                <a:spcPct val="110000"/>
              </a:lnSpc>
              <a:buClr>
                <a:schemeClr val="accent5">
                  <a:lumMod val="40000"/>
                  <a:lumOff val="60000"/>
                </a:schemeClr>
              </a:buClr>
              <a:buSzPct val="70000"/>
              <a:defRPr/>
            </a:pPr>
            <a:r>
              <a:rPr lang="en-US" sz="2599" b="1" noProof="1">
                <a:latin typeface="Consolas" pitchFamily="49" charset="0"/>
                <a:cs typeface="Consolas" pitchFamily="49" charset="0"/>
              </a:rPr>
              <a:t>…</a:t>
            </a:r>
          </a:p>
          <a:p>
            <a:pPr eaLnBrk="0" hangingPunct="0">
              <a:lnSpc>
                <a:spcPct val="110000"/>
              </a:lnSpc>
              <a:buClr>
                <a:schemeClr val="accent5">
                  <a:lumMod val="40000"/>
                  <a:lumOff val="60000"/>
                </a:schemeClr>
              </a:buClr>
              <a:buSzPct val="70000"/>
              <a:defRPr/>
            </a:pPr>
            <a:r>
              <a:rPr lang="en-US" sz="2599" b="1" noProof="1">
                <a:latin typeface="Consolas" pitchFamily="49" charset="0"/>
                <a:cs typeface="Consolas" pitchFamily="49" charset="0"/>
              </a:rPr>
              <a:t>See the </a:t>
            </a:r>
            <a:r>
              <a:rPr lang="en-US" sz="2599" b="1" noProof="1">
                <a:solidFill>
                  <a:schemeClr val="bg1"/>
                </a:solidFill>
                <a:latin typeface="Consolas" pitchFamily="49" charset="0"/>
                <a:cs typeface="Consolas" pitchFamily="49" charset="0"/>
              </a:rPr>
              <a:t>&lt;a href</a:t>
            </a:r>
            <a:r>
              <a:rPr lang="en-US" sz="2599" b="1" noProof="1">
                <a:latin typeface="Consolas" pitchFamily="49" charset="0"/>
                <a:cs typeface="Consolas" pitchFamily="49" charset="0"/>
              </a:rPr>
              <a:t>="#</a:t>
            </a:r>
            <a:r>
              <a:rPr lang="en-US" sz="2599" b="1" noProof="1">
                <a:solidFill>
                  <a:schemeClr val="bg1"/>
                </a:solidFill>
                <a:latin typeface="Consolas" pitchFamily="49" charset="0"/>
                <a:cs typeface="Consolas" pitchFamily="49" charset="0"/>
              </a:rPr>
              <a:t>exercises</a:t>
            </a:r>
            <a:r>
              <a:rPr lang="en-US" sz="2599" b="1" noProof="1">
                <a:latin typeface="Consolas" pitchFamily="49" charset="0"/>
                <a:cs typeface="Consolas" pitchFamily="49" charset="0"/>
              </a:rPr>
              <a:t>" target="</a:t>
            </a:r>
            <a:r>
              <a:rPr lang="en-US" sz="2599" b="1" noProof="1">
                <a:solidFill>
                  <a:schemeClr val="bg1"/>
                </a:solidFill>
                <a:latin typeface="Consolas" pitchFamily="49" charset="0"/>
                <a:cs typeface="Consolas" pitchFamily="49" charset="0"/>
              </a:rPr>
              <a:t>_blank</a:t>
            </a:r>
            <a:r>
              <a:rPr lang="en-US" sz="2599" b="1" noProof="1">
                <a:latin typeface="Consolas" pitchFamily="49" charset="0"/>
                <a:cs typeface="Consolas" pitchFamily="49" charset="0"/>
              </a:rPr>
              <a:t>"&gt;exercises</a:t>
            </a:r>
            <a:r>
              <a:rPr lang="en-US" sz="2599" b="1" noProof="1">
                <a:solidFill>
                  <a:schemeClr val="bg1"/>
                </a:solidFill>
                <a:latin typeface="Consolas" pitchFamily="49" charset="0"/>
                <a:cs typeface="Consolas" pitchFamily="49" charset="0"/>
              </a:rPr>
              <a:t>&lt;/a&gt;</a:t>
            </a:r>
          </a:p>
        </p:txBody>
      </p:sp>
      <p:sp>
        <p:nvSpPr>
          <p:cNvPr id="7" name="Rectangle 6"/>
          <p:cNvSpPr>
            <a:spLocks noChangeArrowheads="1"/>
          </p:cNvSpPr>
          <p:nvPr/>
        </p:nvSpPr>
        <p:spPr bwMode="auto">
          <a:xfrm>
            <a:off x="703690" y="5644549"/>
            <a:ext cx="10864918" cy="50802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599" b="1" noProof="1">
                <a:solidFill>
                  <a:schemeClr val="bg1"/>
                </a:solidFill>
                <a:latin typeface="Consolas" pitchFamily="49" charset="0"/>
                <a:cs typeface="Consolas" pitchFamily="49" charset="0"/>
              </a:rPr>
              <a:t>&lt;a </a:t>
            </a:r>
            <a:r>
              <a:rPr lang="en-US" sz="2599" b="1" noProof="1">
                <a:latin typeface="Consolas" pitchFamily="49" charset="0"/>
                <a:cs typeface="Consolas" pitchFamily="49" charset="0"/>
              </a:rPr>
              <a:t>href="</a:t>
            </a:r>
            <a:r>
              <a:rPr lang="en-US" sz="2599" b="1" noProof="1">
                <a:solidFill>
                  <a:schemeClr val="bg1"/>
                </a:solidFill>
                <a:latin typeface="Consolas" pitchFamily="49" charset="0"/>
                <a:cs typeface="Consolas" pitchFamily="49" charset="0"/>
              </a:rPr>
              <a:t>../2.%20HTML5-Overview.pptx</a:t>
            </a:r>
            <a:r>
              <a:rPr lang="en-US" sz="2599" b="1" noProof="1">
                <a:latin typeface="Consolas" pitchFamily="49" charset="0"/>
                <a:cs typeface="Consolas" pitchFamily="49" charset="0"/>
              </a:rPr>
              <a:t>"</a:t>
            </a:r>
            <a:r>
              <a:rPr lang="en-US" sz="2599" b="1" noProof="1">
                <a:solidFill>
                  <a:schemeClr val="bg1"/>
                </a:solidFill>
                <a:latin typeface="Consolas" pitchFamily="49" charset="0"/>
                <a:cs typeface="Consolas" pitchFamily="49" charset="0"/>
              </a:rPr>
              <a:t>&gt;</a:t>
            </a:r>
            <a:r>
              <a:rPr lang="en-US" sz="2599" b="1" noProof="1">
                <a:latin typeface="Consolas" pitchFamily="49" charset="0"/>
                <a:cs typeface="Consolas" pitchFamily="49" charset="0"/>
              </a:rPr>
              <a:t>presentation</a:t>
            </a:r>
            <a:r>
              <a:rPr lang="en-US" sz="2599" b="1" noProof="1">
                <a:solidFill>
                  <a:schemeClr val="bg1"/>
                </a:solidFill>
                <a:latin typeface="Consolas" pitchFamily="49" charset="0"/>
                <a:cs typeface="Consolas" pitchFamily="49" charset="0"/>
              </a:rPr>
              <a:t>&lt;/a&gt;</a:t>
            </a:r>
          </a:p>
        </p:txBody>
      </p:sp>
      <p:pic>
        <p:nvPicPr>
          <p:cNvPr id="8" name="Picture 7"/>
          <p:cNvPicPr>
            <a:picLocks noChangeAspect="1"/>
          </p:cNvPicPr>
          <p:nvPr/>
        </p:nvPicPr>
        <p:blipFill>
          <a:blip r:embed="rId2"/>
          <a:stretch>
            <a:fillRect/>
          </a:stretch>
        </p:blipFill>
        <p:spPr>
          <a:xfrm>
            <a:off x="8689784" y="1337458"/>
            <a:ext cx="2294927" cy="866549"/>
          </a:xfrm>
          <a:prstGeom prst="rect">
            <a:avLst/>
          </a:prstGeom>
          <a:ln>
            <a:noFill/>
          </a:ln>
          <a:effectLst>
            <a:outerShdw blurRad="292100" dist="139700" dir="2700000" algn="tl" rotWithShape="0">
              <a:srgbClr val="333333">
                <a:alpha val="65000"/>
              </a:srgbClr>
            </a:outerShdw>
          </a:effectLst>
        </p:spPr>
      </p:pic>
      <p:pic>
        <p:nvPicPr>
          <p:cNvPr id="9" name="Picture 8"/>
          <p:cNvPicPr>
            <a:picLocks noChangeAspect="1"/>
          </p:cNvPicPr>
          <p:nvPr/>
        </p:nvPicPr>
        <p:blipFill>
          <a:blip r:embed="rId3"/>
          <a:stretch>
            <a:fillRect/>
          </a:stretch>
        </p:blipFill>
        <p:spPr>
          <a:xfrm>
            <a:off x="8689782" y="2527311"/>
            <a:ext cx="2679988" cy="739675"/>
          </a:xfrm>
          <a:prstGeom prst="rect">
            <a:avLst/>
          </a:prstGeom>
          <a:ln>
            <a:noFill/>
          </a:ln>
          <a:effectLst>
            <a:outerShdw blurRad="292100" dist="139700" dir="2700000" algn="tl" rotWithShape="0">
              <a:srgbClr val="333333">
                <a:alpha val="65000"/>
              </a:srgbClr>
            </a:outerShdw>
          </a:effectLst>
        </p:spPr>
      </p:pic>
      <p:pic>
        <p:nvPicPr>
          <p:cNvPr id="10" name="Picture 9"/>
          <p:cNvPicPr>
            <a:picLocks noChangeAspect="1"/>
          </p:cNvPicPr>
          <p:nvPr/>
        </p:nvPicPr>
        <p:blipFill>
          <a:blip r:embed="rId4"/>
          <a:stretch>
            <a:fillRect/>
          </a:stretch>
        </p:blipFill>
        <p:spPr>
          <a:xfrm>
            <a:off x="8689784" y="3623237"/>
            <a:ext cx="2923413" cy="590396"/>
          </a:xfrm>
          <a:prstGeom prst="rect">
            <a:avLst/>
          </a:prstGeom>
          <a:ln>
            <a:noFill/>
          </a:ln>
          <a:effectLst>
            <a:outerShdw blurRad="292100" dist="139700" dir="2700000" algn="tl" rotWithShape="0">
              <a:srgbClr val="333333">
                <a:alpha val="65000"/>
              </a:srgbClr>
            </a:outerShdw>
          </a:effectLst>
        </p:spPr>
      </p:pic>
      <p:sp>
        <p:nvSpPr>
          <p:cNvPr id="11" name="Curved Right Arrow 10"/>
          <p:cNvSpPr/>
          <p:nvPr/>
        </p:nvSpPr>
        <p:spPr>
          <a:xfrm flipV="1">
            <a:off x="8073884" y="2823290"/>
            <a:ext cx="457080" cy="101295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solidFill>
                <a:schemeClr val="tx1"/>
              </a:solidFill>
            </a:endParaRPr>
          </a:p>
        </p:txBody>
      </p:sp>
      <p:pic>
        <p:nvPicPr>
          <p:cNvPr id="12" name="Picture 11"/>
          <p:cNvPicPr>
            <a:picLocks noChangeAspect="1"/>
          </p:cNvPicPr>
          <p:nvPr/>
        </p:nvPicPr>
        <p:blipFill>
          <a:blip r:embed="rId5"/>
          <a:stretch>
            <a:fillRect/>
          </a:stretch>
        </p:blipFill>
        <p:spPr>
          <a:xfrm>
            <a:off x="8689783" y="5026610"/>
            <a:ext cx="2133044" cy="561829"/>
          </a:xfrm>
          <a:prstGeom prst="rect">
            <a:avLst/>
          </a:prstGeom>
          <a:ln>
            <a:noFill/>
          </a:ln>
          <a:effectLst>
            <a:outerShdw blurRad="292100" dist="139700" dir="2700000" algn="tl" rotWithShape="0">
              <a:srgbClr val="333333">
                <a:alpha val="65000"/>
              </a:srgbClr>
            </a:outerShdw>
          </a:effectLst>
        </p:spPr>
      </p:pic>
      <p:sp>
        <p:nvSpPr>
          <p:cNvPr id="13" name="AutoShape 5"/>
          <p:cNvSpPr>
            <a:spLocks noChangeArrowheads="1"/>
          </p:cNvSpPr>
          <p:nvPr/>
        </p:nvSpPr>
        <p:spPr bwMode="auto">
          <a:xfrm>
            <a:off x="4620984" y="1149921"/>
            <a:ext cx="2818666" cy="674203"/>
          </a:xfrm>
          <a:prstGeom prst="wedgeRoundRectCallout">
            <a:avLst>
              <a:gd name="adj1" fmla="val -62554"/>
              <a:gd name="adj2" fmla="val 54856"/>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399" b="1" dirty="0">
                <a:solidFill>
                  <a:srgbClr val="FFFFFF"/>
                </a:solidFill>
              </a:rPr>
              <a:t>Specify the URL</a:t>
            </a:r>
            <a:endParaRPr lang="bg-BG" sz="2399" b="1" dirty="0">
              <a:solidFill>
                <a:srgbClr val="FFFFFF"/>
              </a:solidFill>
            </a:endParaRPr>
          </a:p>
        </p:txBody>
      </p:sp>
      <p:sp>
        <p:nvSpPr>
          <p:cNvPr id="15" name="Slide Number">
            <a:extLst>
              <a:ext uri="{FF2B5EF4-FFF2-40B4-BE49-F238E27FC236}">
                <a16:creationId xmlns:a16="http://schemas.microsoft.com/office/drawing/2014/main" id="{1C5B3DE2-EC49-4248-822E-9E80C0653E8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26</a:t>
            </a:fld>
            <a:endParaRPr lang="en-US" noProof="0" dirty="0"/>
          </a:p>
        </p:txBody>
      </p:sp>
    </p:spTree>
    <p:extLst>
      <p:ext uri="{BB962C8B-B14F-4D97-AF65-F5344CB8AC3E}">
        <p14:creationId xmlns:p14="http://schemas.microsoft.com/office/powerpoint/2010/main" val="33439852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Images</a:t>
            </a:r>
          </a:p>
        </p:txBody>
      </p:sp>
      <p:sp>
        <p:nvSpPr>
          <p:cNvPr id="3" name="Content Placeholder 2"/>
          <p:cNvSpPr>
            <a:spLocks noGrp="1"/>
          </p:cNvSpPr>
          <p:nvPr>
            <p:ph idx="4294967295"/>
          </p:nvPr>
        </p:nvSpPr>
        <p:spPr>
          <a:xfrm>
            <a:off x="213885" y="1234035"/>
            <a:ext cx="11801576" cy="5569086"/>
          </a:xfrm>
        </p:spPr>
        <p:txBody>
          <a:bodyPr>
            <a:noAutofit/>
          </a:bodyPr>
          <a:lstStyle/>
          <a:p>
            <a:pPr>
              <a:lnSpc>
                <a:spcPct val="90000"/>
              </a:lnSpc>
            </a:pPr>
            <a:r>
              <a:rPr lang="en-US" sz="3400" dirty="0"/>
              <a:t>Images are </a:t>
            </a:r>
            <a:r>
              <a:rPr lang="en-US" sz="3400" b="1" dirty="0">
                <a:solidFill>
                  <a:schemeClr val="bg1"/>
                </a:solidFill>
              </a:rPr>
              <a:t>external files</a:t>
            </a:r>
            <a:r>
              <a:rPr lang="en-US" sz="3400" dirty="0"/>
              <a:t>, inserted through the </a:t>
            </a:r>
            <a:r>
              <a:rPr lang="en-US" sz="3400" b="1" noProof="1">
                <a:solidFill>
                  <a:schemeClr val="bg1"/>
                </a:solidFill>
                <a:latin typeface="Consolas" panose="020B0609020204030204" pitchFamily="49" charset="0"/>
              </a:rPr>
              <a:t>&lt;img&gt;</a:t>
            </a:r>
            <a:r>
              <a:rPr lang="en-US" sz="3400" dirty="0">
                <a:solidFill>
                  <a:schemeClr val="bg1"/>
                </a:solidFill>
              </a:rPr>
              <a:t> </a:t>
            </a:r>
            <a:r>
              <a:rPr lang="en-US" sz="3400" dirty="0"/>
              <a:t>tag</a:t>
            </a:r>
          </a:p>
          <a:p>
            <a:pPr>
              <a:lnSpc>
                <a:spcPct val="90000"/>
              </a:lnSpc>
            </a:pPr>
            <a:endParaRPr lang="en-US" sz="3199" dirty="0"/>
          </a:p>
          <a:p>
            <a:pPr>
              <a:lnSpc>
                <a:spcPct val="90000"/>
              </a:lnSpc>
            </a:pPr>
            <a:endParaRPr lang="en-US" sz="3199" dirty="0"/>
          </a:p>
          <a:p>
            <a:pPr>
              <a:lnSpc>
                <a:spcPct val="90000"/>
              </a:lnSpc>
            </a:pPr>
            <a:endParaRPr lang="en-US" sz="3199" dirty="0"/>
          </a:p>
          <a:p>
            <a:pPr>
              <a:lnSpc>
                <a:spcPct val="90000"/>
              </a:lnSpc>
            </a:pPr>
            <a:endParaRPr lang="en-US" sz="3199" dirty="0"/>
          </a:p>
          <a:p>
            <a:pPr>
              <a:lnSpc>
                <a:spcPct val="90000"/>
              </a:lnSpc>
            </a:pPr>
            <a:r>
              <a:rPr lang="en-US" sz="3400" dirty="0"/>
              <a:t>Embedded image (</a:t>
            </a:r>
            <a:r>
              <a:rPr lang="en-US" sz="3400" b="1" dirty="0"/>
              <a:t>data URI</a:t>
            </a:r>
            <a:r>
              <a:rPr lang="en-US" sz="3400" dirty="0"/>
              <a:t>)</a:t>
            </a:r>
          </a:p>
          <a:p>
            <a:pPr lvl="1">
              <a:lnSpc>
                <a:spcPct val="90000"/>
              </a:lnSpc>
              <a:spcBef>
                <a:spcPts val="0"/>
              </a:spcBef>
            </a:pPr>
            <a:endParaRPr lang="en-US" sz="3199" dirty="0"/>
          </a:p>
          <a:p>
            <a:pPr lvl="1">
              <a:lnSpc>
                <a:spcPct val="90000"/>
              </a:lnSpc>
              <a:spcBef>
                <a:spcPts val="0"/>
              </a:spcBef>
            </a:pPr>
            <a:endParaRPr lang="en-US" sz="3199" dirty="0"/>
          </a:p>
          <a:p>
            <a:pPr lvl="1">
              <a:lnSpc>
                <a:spcPct val="90000"/>
              </a:lnSpc>
              <a:spcBef>
                <a:spcPts val="0"/>
              </a:spcBef>
            </a:pPr>
            <a:r>
              <a:rPr lang="en-US" sz="3199" dirty="0"/>
              <a:t>Example: </a:t>
            </a:r>
            <a:r>
              <a:rPr lang="en-US" sz="3199" dirty="0">
                <a:hlinkClick r:id="rId2"/>
              </a:rPr>
              <a:t>https://codepen.io/snakov/pen/poNxXry</a:t>
            </a:r>
            <a:endParaRPr lang="en-US" sz="3199" dirty="0"/>
          </a:p>
        </p:txBody>
      </p:sp>
      <p:sp>
        <p:nvSpPr>
          <p:cNvPr id="5" name="Text Placeholder 5"/>
          <p:cNvSpPr txBox="1">
            <a:spLocks/>
          </p:cNvSpPr>
          <p:nvPr/>
        </p:nvSpPr>
        <p:spPr>
          <a:xfrm>
            <a:off x="767715" y="2027707"/>
            <a:ext cx="10512860" cy="1941152"/>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marL="0" lvl="1" indent="0">
              <a:lnSpc>
                <a:spcPct val="100000"/>
              </a:lnSpc>
              <a:spcBef>
                <a:spcPts val="0"/>
              </a:spcBef>
              <a:spcAft>
                <a:spcPts val="0"/>
              </a:spcAft>
              <a:buClr>
                <a:srgbClr val="F2B254"/>
              </a:buClr>
              <a:buSzPct val="100000"/>
              <a:buNone/>
            </a:pPr>
            <a:r>
              <a:rPr lang="en-US" sz="2799" b="1" noProof="1">
                <a:solidFill>
                  <a:schemeClr val="bg1"/>
                </a:solidFill>
                <a:latin typeface="Consolas" pitchFamily="49" charset="0"/>
                <a:cs typeface="Consolas" pitchFamily="49" charset="0"/>
              </a:rPr>
              <a:t>&lt;img </a:t>
            </a:r>
          </a:p>
          <a:p>
            <a:pPr marL="0" lvl="1" indent="0">
              <a:lnSpc>
                <a:spcPct val="100000"/>
              </a:lnSpc>
              <a:spcBef>
                <a:spcPts val="0"/>
              </a:spcBef>
              <a:spcAft>
                <a:spcPts val="0"/>
              </a:spcAft>
              <a:buClr>
                <a:srgbClr val="F2B254"/>
              </a:buClr>
              <a:buSzPct val="100000"/>
              <a:buNone/>
            </a:pPr>
            <a:r>
              <a:rPr lang="en-US" sz="2799" b="1" noProof="1">
                <a:latin typeface="Consolas" pitchFamily="49" charset="0"/>
                <a:cs typeface="Consolas" pitchFamily="49" charset="0"/>
              </a:rPr>
              <a:t>  </a:t>
            </a:r>
            <a:r>
              <a:rPr lang="en-US" sz="2799" b="1" noProof="1">
                <a:solidFill>
                  <a:schemeClr val="bg1"/>
                </a:solidFill>
                <a:latin typeface="Consolas" pitchFamily="49" charset="0"/>
                <a:cs typeface="Consolas" pitchFamily="49" charset="0"/>
              </a:rPr>
              <a:t>src="</a:t>
            </a:r>
            <a:r>
              <a:rPr lang="en-US" sz="2799" b="1" noProof="1">
                <a:latin typeface="Consolas" pitchFamily="49" charset="0"/>
                <a:cs typeface="Consolas" pitchFamily="49" charset="0"/>
              </a:rPr>
              <a:t>images/SoftUni-logo.png</a:t>
            </a:r>
            <a:r>
              <a:rPr lang="en-US" sz="2799" b="1" noProof="1">
                <a:solidFill>
                  <a:schemeClr val="bg1"/>
                </a:solidFill>
                <a:latin typeface="Consolas" pitchFamily="49" charset="0"/>
                <a:cs typeface="Consolas" pitchFamily="49" charset="0"/>
              </a:rPr>
              <a:t>"</a:t>
            </a:r>
            <a:r>
              <a:rPr lang="en-US" sz="2799" b="1" noProof="1">
                <a:latin typeface="Consolas" pitchFamily="49" charset="0"/>
                <a:cs typeface="Consolas" pitchFamily="49" charset="0"/>
              </a:rPr>
              <a:t> </a:t>
            </a:r>
          </a:p>
          <a:p>
            <a:pPr marL="0" lvl="1" indent="0">
              <a:lnSpc>
                <a:spcPct val="100000"/>
              </a:lnSpc>
              <a:spcBef>
                <a:spcPts val="0"/>
              </a:spcBef>
              <a:spcAft>
                <a:spcPts val="0"/>
              </a:spcAft>
              <a:buClr>
                <a:srgbClr val="F2B254"/>
              </a:buClr>
              <a:buSzPct val="100000"/>
              <a:buNone/>
            </a:pPr>
            <a:r>
              <a:rPr lang="en-US" sz="2799" b="1" noProof="1">
                <a:latin typeface="Consolas" pitchFamily="49" charset="0"/>
                <a:cs typeface="Consolas" pitchFamily="49" charset="0"/>
              </a:rPr>
              <a:t>  </a:t>
            </a:r>
            <a:r>
              <a:rPr lang="en-US" sz="2799" b="1" noProof="1">
                <a:solidFill>
                  <a:schemeClr val="bg1"/>
                </a:solidFill>
                <a:latin typeface="Consolas" pitchFamily="49" charset="0"/>
                <a:cs typeface="Consolas" pitchFamily="49" charset="0"/>
              </a:rPr>
              <a:t>width="</a:t>
            </a:r>
            <a:r>
              <a:rPr lang="en-US" sz="2799" b="1" noProof="1">
                <a:latin typeface="Consolas" pitchFamily="49" charset="0"/>
                <a:cs typeface="Consolas" pitchFamily="49" charset="0"/>
              </a:rPr>
              <a:t>400</a:t>
            </a:r>
            <a:r>
              <a:rPr lang="en-US" sz="2799" b="1" noProof="1">
                <a:solidFill>
                  <a:schemeClr val="bg1"/>
                </a:solidFill>
                <a:latin typeface="Consolas" pitchFamily="49" charset="0"/>
                <a:cs typeface="Consolas" pitchFamily="49" charset="0"/>
              </a:rPr>
              <a:t>"</a:t>
            </a:r>
            <a:r>
              <a:rPr lang="en-US" sz="2799" b="1" noProof="1">
                <a:latin typeface="Consolas" pitchFamily="49" charset="0"/>
                <a:cs typeface="Consolas" pitchFamily="49" charset="0"/>
              </a:rPr>
              <a:t> </a:t>
            </a:r>
          </a:p>
          <a:p>
            <a:pPr marL="0" lvl="1" indent="0">
              <a:lnSpc>
                <a:spcPct val="100000"/>
              </a:lnSpc>
              <a:spcBef>
                <a:spcPts val="0"/>
              </a:spcBef>
              <a:spcAft>
                <a:spcPts val="0"/>
              </a:spcAft>
              <a:buClr>
                <a:srgbClr val="F2B254"/>
              </a:buClr>
              <a:buSzPct val="100000"/>
              <a:buNone/>
            </a:pPr>
            <a:r>
              <a:rPr lang="en-US" sz="2799" b="1" noProof="1">
                <a:latin typeface="Consolas" pitchFamily="49" charset="0"/>
                <a:cs typeface="Consolas" pitchFamily="49" charset="0"/>
              </a:rPr>
              <a:t>  </a:t>
            </a:r>
            <a:r>
              <a:rPr lang="en-US" sz="2799" b="1" noProof="1">
                <a:solidFill>
                  <a:schemeClr val="bg1"/>
                </a:solidFill>
                <a:latin typeface="Consolas" pitchFamily="49" charset="0"/>
                <a:cs typeface="Consolas" pitchFamily="49" charset="0"/>
              </a:rPr>
              <a:t>height="</a:t>
            </a:r>
            <a:r>
              <a:rPr lang="en-US" sz="2799" b="1" noProof="1">
                <a:latin typeface="Consolas" pitchFamily="49" charset="0"/>
                <a:cs typeface="Consolas" pitchFamily="49" charset="0"/>
              </a:rPr>
              <a:t>313</a:t>
            </a:r>
            <a:r>
              <a:rPr lang="en-US" sz="2799" b="1" noProof="1">
                <a:solidFill>
                  <a:schemeClr val="bg1"/>
                </a:solidFill>
                <a:latin typeface="Consolas" pitchFamily="49" charset="0"/>
                <a:cs typeface="Consolas" pitchFamily="49" charset="0"/>
              </a:rPr>
              <a:t>" /&gt;</a:t>
            </a:r>
          </a:p>
        </p:txBody>
      </p:sp>
      <p:sp>
        <p:nvSpPr>
          <p:cNvPr id="12" name="Text Placeholder 5">
            <a:hlinkClick r:id="rId3"/>
          </p:cNvPr>
          <p:cNvSpPr txBox="1">
            <a:spLocks/>
          </p:cNvSpPr>
          <p:nvPr/>
        </p:nvSpPr>
        <p:spPr>
          <a:xfrm>
            <a:off x="767716" y="4940172"/>
            <a:ext cx="10512861"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marL="0" lvl="1" indent="0">
              <a:lnSpc>
                <a:spcPct val="100000"/>
              </a:lnSpc>
              <a:spcBef>
                <a:spcPts val="0"/>
              </a:spcBef>
              <a:spcAft>
                <a:spcPts val="0"/>
              </a:spcAft>
              <a:buClr>
                <a:srgbClr val="F2B254"/>
              </a:buClr>
              <a:buSzPct val="100000"/>
              <a:buNone/>
            </a:pPr>
            <a:r>
              <a:rPr lang="en-US" sz="2799" b="1" noProof="1">
                <a:solidFill>
                  <a:schemeClr val="bg1"/>
                </a:solidFill>
                <a:latin typeface="Consolas" pitchFamily="49" charset="0"/>
                <a:cs typeface="Consolas" pitchFamily="49" charset="0"/>
              </a:rPr>
              <a:t>&lt;img src="</a:t>
            </a:r>
            <a:r>
              <a:rPr lang="en-US" sz="2799" b="1" noProof="1">
                <a:latin typeface="Consolas" pitchFamily="49" charset="0"/>
                <a:cs typeface="Consolas" pitchFamily="49" charset="0"/>
              </a:rPr>
              <a:t>data:image/gif;base64, R0lGODlhEAAOAL…</a:t>
            </a:r>
            <a:r>
              <a:rPr lang="en-US" sz="2799" b="1" noProof="1">
                <a:solidFill>
                  <a:schemeClr val="bg1"/>
                </a:solidFill>
                <a:latin typeface="Consolas" pitchFamily="49" charset="0"/>
                <a:cs typeface="Consolas" pitchFamily="49" charset="0"/>
              </a:rPr>
              <a:t>"/&gt;</a:t>
            </a:r>
          </a:p>
        </p:txBody>
      </p:sp>
      <p:pic>
        <p:nvPicPr>
          <p:cNvPr id="6" name="Picture 5">
            <a:hlinkClick r:id="rId3"/>
          </p:cNvPr>
          <p:cNvPicPr>
            <a:picLocks noChangeAspect="1"/>
          </p:cNvPicPr>
          <p:nvPr/>
        </p:nvPicPr>
        <p:blipFill>
          <a:blip r:embed="rId4"/>
          <a:stretch>
            <a:fillRect/>
          </a:stretch>
        </p:blipFill>
        <p:spPr>
          <a:xfrm>
            <a:off x="5781084" y="4014000"/>
            <a:ext cx="950521" cy="871311"/>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3245" y="1854000"/>
            <a:ext cx="2917330" cy="2825009"/>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9E084AA7-221F-40BB-BA06-CAA0DA81BF0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27</a:t>
            </a:fld>
            <a:endParaRPr lang="en-US" noProof="0" dirty="0"/>
          </a:p>
        </p:txBody>
      </p:sp>
    </p:spTree>
    <p:extLst>
      <p:ext uri="{BB962C8B-B14F-4D97-AF65-F5344CB8AC3E}">
        <p14:creationId xmlns:p14="http://schemas.microsoft.com/office/powerpoint/2010/main" val="299108905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p:txBody>
          <a:bodyPr/>
          <a:lstStyle/>
          <a:p>
            <a:pPr>
              <a:defRPr/>
            </a:pPr>
            <a:r>
              <a:rPr lang="en-US" dirty="0"/>
              <a:t>Ordered Lists: &lt;</a:t>
            </a:r>
            <a:r>
              <a:rPr lang="en-US" dirty="0" err="1"/>
              <a:t>ol</a:t>
            </a:r>
            <a:r>
              <a:rPr lang="en-US" dirty="0"/>
              <a:t>&gt; Tag</a:t>
            </a:r>
          </a:p>
        </p:txBody>
      </p:sp>
      <p:sp>
        <p:nvSpPr>
          <p:cNvPr id="921603" name="Rectangle 3"/>
          <p:cNvSpPr>
            <a:spLocks noGrp="1" noChangeArrowheads="1"/>
          </p:cNvSpPr>
          <p:nvPr>
            <p:ph idx="4294967295"/>
          </p:nvPr>
        </p:nvSpPr>
        <p:spPr>
          <a:xfrm>
            <a:off x="157547" y="1209766"/>
            <a:ext cx="11576210" cy="2309210"/>
          </a:xfrm>
        </p:spPr>
        <p:txBody>
          <a:bodyPr>
            <a:normAutofit/>
          </a:bodyPr>
          <a:lstStyle/>
          <a:p>
            <a:pPr>
              <a:defRPr/>
            </a:pPr>
            <a:r>
              <a:rPr lang="en-US" sz="3400" dirty="0"/>
              <a:t>Create an </a:t>
            </a:r>
            <a:r>
              <a:rPr lang="en-US" sz="3400" b="1" dirty="0">
                <a:solidFill>
                  <a:schemeClr val="bg1"/>
                </a:solidFill>
              </a:rPr>
              <a:t>O</a:t>
            </a:r>
            <a:r>
              <a:rPr lang="en-US" sz="3400" dirty="0"/>
              <a:t>rdered </a:t>
            </a:r>
            <a:r>
              <a:rPr lang="en-US" sz="3400" b="1" dirty="0">
                <a:solidFill>
                  <a:schemeClr val="bg1"/>
                </a:solidFill>
              </a:rPr>
              <a:t>L</a:t>
            </a:r>
            <a:r>
              <a:rPr lang="en-US" sz="3400" dirty="0"/>
              <a:t>ist</a:t>
            </a:r>
          </a:p>
          <a:p>
            <a:pPr>
              <a:defRPr/>
            </a:pPr>
            <a:r>
              <a:rPr lang="en-US" sz="3400" dirty="0"/>
              <a:t>Use </a:t>
            </a:r>
            <a:r>
              <a:rPr lang="en-US" sz="3400" b="1" noProof="1">
                <a:solidFill>
                  <a:schemeClr val="bg1"/>
                </a:solidFill>
                <a:latin typeface="Consolas" pitchFamily="49" charset="0"/>
                <a:cs typeface="Consolas" pitchFamily="49" charset="0"/>
              </a:rPr>
              <a:t>&lt;ol&gt;&lt;/ol&gt;</a:t>
            </a:r>
          </a:p>
          <a:p>
            <a:pPr lvl="1">
              <a:defRPr/>
            </a:pPr>
            <a:r>
              <a:rPr lang="en-US" sz="3200" noProof="1"/>
              <a:t>Each holding </a:t>
            </a:r>
            <a:r>
              <a:rPr lang="en-US" sz="3200" b="1" noProof="1">
                <a:solidFill>
                  <a:schemeClr val="bg1"/>
                </a:solidFill>
                <a:latin typeface="Consolas" pitchFamily="49" charset="0"/>
                <a:cs typeface="Consolas" pitchFamily="49" charset="0"/>
              </a:rPr>
              <a:t>&lt;li&gt;&lt;/li&gt;</a:t>
            </a:r>
          </a:p>
        </p:txBody>
      </p:sp>
      <p:sp>
        <p:nvSpPr>
          <p:cNvPr id="22" name="Rectangle 14"/>
          <p:cNvSpPr>
            <a:spLocks noChangeArrowheads="1"/>
          </p:cNvSpPr>
          <p:nvPr/>
        </p:nvSpPr>
        <p:spPr bwMode="auto">
          <a:xfrm>
            <a:off x="5564084" y="1218526"/>
            <a:ext cx="5525616" cy="243541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5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ol</a:t>
            </a:r>
            <a:r>
              <a:rPr lang="it-IT" sz="2799" b="1" noProof="1">
                <a:latin typeface="Consolas" pitchFamily="49" charset="0"/>
                <a:cs typeface="Consolas" pitchFamily="49" charset="0"/>
              </a:rPr>
              <a:t> type="</a:t>
            </a:r>
            <a:r>
              <a:rPr lang="it-IT" sz="2799" b="1" noProof="1">
                <a:solidFill>
                  <a:schemeClr val="bg1"/>
                </a:solidFill>
                <a:latin typeface="Consolas" pitchFamily="49" charset="0"/>
                <a:cs typeface="Consolas" pitchFamily="49" charset="0"/>
              </a:rPr>
              <a:t>1</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&gt;One&lt;/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&gt;Two&lt;/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r>
              <a:rPr lang="en-US" sz="2799" b="1" noProof="1">
                <a:latin typeface="Consolas" pitchFamily="49" charset="0"/>
                <a:cs typeface="Consolas" pitchFamily="49" charset="0"/>
              </a:rPr>
              <a:t>Three</a:t>
            </a:r>
            <a:r>
              <a:rPr lang="it-IT" sz="27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ol</a:t>
            </a:r>
            <a:r>
              <a:rPr lang="it-IT" sz="2799" b="1" noProof="1">
                <a:latin typeface="Consolas" pitchFamily="49" charset="0"/>
                <a:cs typeface="Consolas" pitchFamily="49" charset="0"/>
              </a:rPr>
              <a:t>&gt;</a:t>
            </a:r>
          </a:p>
        </p:txBody>
      </p:sp>
      <p:sp>
        <p:nvSpPr>
          <p:cNvPr id="921609" name="Line 9"/>
          <p:cNvSpPr>
            <a:spLocks noChangeShapeType="1"/>
          </p:cNvSpPr>
          <p:nvPr/>
        </p:nvSpPr>
        <p:spPr bwMode="auto">
          <a:xfrm flipH="1">
            <a:off x="3254570" y="4260232"/>
            <a:ext cx="2598805" cy="1014999"/>
          </a:xfrm>
          <a:prstGeom prst="line">
            <a:avLst/>
          </a:prstGeom>
          <a:noFill/>
          <a:ln w="38100">
            <a:solidFill>
              <a:schemeClr val="accent5">
                <a:lumMod val="60000"/>
                <a:lumOff val="40000"/>
              </a:schemeClr>
            </a:solidFill>
            <a:round/>
            <a:headEnd/>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921611" name="Line 11"/>
          <p:cNvSpPr>
            <a:spLocks noChangeShapeType="1"/>
          </p:cNvSpPr>
          <p:nvPr/>
        </p:nvSpPr>
        <p:spPr bwMode="auto">
          <a:xfrm flipH="1">
            <a:off x="5376000" y="4252733"/>
            <a:ext cx="866363" cy="1045313"/>
          </a:xfrm>
          <a:prstGeom prst="line">
            <a:avLst/>
          </a:prstGeom>
          <a:noFill/>
          <a:ln w="38100">
            <a:solidFill>
              <a:schemeClr val="accent5">
                <a:lumMod val="60000"/>
                <a:lumOff val="40000"/>
              </a:schemeClr>
            </a:solidFill>
            <a:round/>
            <a:headEnd/>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921613" name="Line 13"/>
          <p:cNvSpPr>
            <a:spLocks noChangeShapeType="1"/>
          </p:cNvSpPr>
          <p:nvPr/>
        </p:nvSpPr>
        <p:spPr bwMode="auto">
          <a:xfrm>
            <a:off x="6726000" y="4252731"/>
            <a:ext cx="1" cy="1014998"/>
          </a:xfrm>
          <a:prstGeom prst="line">
            <a:avLst/>
          </a:prstGeom>
          <a:noFill/>
          <a:ln w="38100">
            <a:solidFill>
              <a:schemeClr val="accent5">
                <a:lumMod val="60000"/>
                <a:lumOff val="40000"/>
              </a:schemeClr>
            </a:solidFill>
            <a:round/>
            <a:headEnd/>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921615" name="Line 15"/>
          <p:cNvSpPr>
            <a:spLocks noChangeShapeType="1"/>
          </p:cNvSpPr>
          <p:nvPr/>
        </p:nvSpPr>
        <p:spPr bwMode="auto">
          <a:xfrm>
            <a:off x="7221000" y="4252731"/>
            <a:ext cx="912574" cy="1014998"/>
          </a:xfrm>
          <a:prstGeom prst="line">
            <a:avLst/>
          </a:prstGeom>
          <a:noFill/>
          <a:ln w="38100">
            <a:solidFill>
              <a:schemeClr val="accent5">
                <a:lumMod val="60000"/>
                <a:lumOff val="40000"/>
              </a:schemeClr>
            </a:solidFill>
            <a:round/>
            <a:headEnd/>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3"/>
          <a:stretch>
            <a:fillRect/>
          </a:stretch>
        </p:blipFill>
        <p:spPr>
          <a:xfrm>
            <a:off x="1845952" y="4812661"/>
            <a:ext cx="1323630" cy="1152225"/>
          </a:xfrm>
          <a:prstGeom prst="rect">
            <a:avLst/>
          </a:prstGeom>
          <a:ln>
            <a:solidFill>
              <a:schemeClr val="tx1"/>
            </a:solidFill>
          </a:ln>
        </p:spPr>
      </p:pic>
      <p:pic>
        <p:nvPicPr>
          <p:cNvPr id="4" name="Picture 3"/>
          <p:cNvPicPr>
            <a:picLocks noChangeAspect="1"/>
          </p:cNvPicPr>
          <p:nvPr/>
        </p:nvPicPr>
        <p:blipFill>
          <a:blip r:embed="rId4"/>
          <a:stretch>
            <a:fillRect/>
          </a:stretch>
        </p:blipFill>
        <p:spPr>
          <a:xfrm>
            <a:off x="4334485" y="5481674"/>
            <a:ext cx="1342675" cy="1085567"/>
          </a:xfrm>
          <a:prstGeom prst="rect">
            <a:avLst/>
          </a:prstGeom>
          <a:ln>
            <a:solidFill>
              <a:schemeClr val="tx1"/>
            </a:solidFill>
          </a:ln>
        </p:spPr>
      </p:pic>
      <p:pic>
        <p:nvPicPr>
          <p:cNvPr id="5" name="Picture 4"/>
          <p:cNvPicPr>
            <a:picLocks noChangeAspect="1"/>
          </p:cNvPicPr>
          <p:nvPr/>
        </p:nvPicPr>
        <p:blipFill>
          <a:blip r:embed="rId5"/>
          <a:stretch>
            <a:fillRect/>
          </a:stretch>
        </p:blipFill>
        <p:spPr>
          <a:xfrm>
            <a:off x="6158810" y="5459412"/>
            <a:ext cx="1255540" cy="1107829"/>
          </a:xfrm>
          <a:prstGeom prst="rect">
            <a:avLst/>
          </a:prstGeom>
          <a:ln>
            <a:solidFill>
              <a:schemeClr val="tx1"/>
            </a:solidFill>
          </a:ln>
        </p:spPr>
      </p:pic>
      <p:pic>
        <p:nvPicPr>
          <p:cNvPr id="6" name="Picture 5"/>
          <p:cNvPicPr>
            <a:picLocks noChangeAspect="1"/>
          </p:cNvPicPr>
          <p:nvPr/>
        </p:nvPicPr>
        <p:blipFill>
          <a:blip r:embed="rId6"/>
          <a:stretch>
            <a:fillRect/>
          </a:stretch>
        </p:blipFill>
        <p:spPr>
          <a:xfrm>
            <a:off x="7896000" y="5467415"/>
            <a:ext cx="1430666" cy="1091825"/>
          </a:xfrm>
          <a:prstGeom prst="rect">
            <a:avLst/>
          </a:prstGeom>
          <a:ln>
            <a:solidFill>
              <a:schemeClr val="tx1"/>
            </a:solidFill>
          </a:ln>
        </p:spPr>
      </p:pic>
      <p:pic>
        <p:nvPicPr>
          <p:cNvPr id="7" name="Picture 6"/>
          <p:cNvPicPr>
            <a:picLocks noChangeAspect="1"/>
          </p:cNvPicPr>
          <p:nvPr/>
        </p:nvPicPr>
        <p:blipFill>
          <a:blip r:embed="rId7"/>
          <a:stretch>
            <a:fillRect/>
          </a:stretch>
        </p:blipFill>
        <p:spPr>
          <a:xfrm>
            <a:off x="10020296" y="5087168"/>
            <a:ext cx="1333153" cy="1104612"/>
          </a:xfrm>
          <a:prstGeom prst="rect">
            <a:avLst/>
          </a:prstGeom>
          <a:ln>
            <a:solidFill>
              <a:schemeClr val="tx1"/>
            </a:solidFill>
          </a:ln>
        </p:spPr>
      </p:pic>
      <p:pic>
        <p:nvPicPr>
          <p:cNvPr id="17" name="Picture 16"/>
          <p:cNvPicPr>
            <a:picLocks noChangeAspect="1"/>
          </p:cNvPicPr>
          <p:nvPr/>
        </p:nvPicPr>
        <p:blipFill>
          <a:blip r:embed="rId3"/>
          <a:stretch>
            <a:fillRect/>
          </a:stretch>
        </p:blipFill>
        <p:spPr>
          <a:xfrm>
            <a:off x="9028182" y="1349211"/>
            <a:ext cx="1924599" cy="1675371"/>
          </a:xfrm>
          <a:prstGeom prst="roundRect">
            <a:avLst>
              <a:gd name="adj" fmla="val 2249"/>
            </a:avLst>
          </a:prstGeom>
          <a:ln>
            <a:solidFill>
              <a:schemeClr val="bg2">
                <a:lumMod val="65000"/>
              </a:schemeClr>
            </a:solidFill>
          </a:ln>
        </p:spPr>
      </p:pic>
      <p:sp>
        <p:nvSpPr>
          <p:cNvPr id="18" name="Rectangle 3"/>
          <p:cNvSpPr txBox="1">
            <a:spLocks noChangeArrowheads="1"/>
          </p:cNvSpPr>
          <p:nvPr/>
        </p:nvSpPr>
        <p:spPr>
          <a:xfrm>
            <a:off x="156000" y="3706773"/>
            <a:ext cx="11576369" cy="638772"/>
          </a:xfrm>
          <a:prstGeom prst="rect">
            <a:avLst/>
          </a:prstGeom>
        </p:spPr>
        <p:txBody>
          <a:bodyPr vert="horz" lIns="107972" tIns="35991" rIns="107972" bIns="35991" rtlCol="0">
            <a:normAutofit/>
          </a:bodyPr>
          <a:lstStyle>
            <a:lvl1pPr marL="304747" indent="-304747" algn="l" defTabSz="1218987" rtl="0" eaLnBrk="1" latinLnBrk="0" hangingPunct="1">
              <a:lnSpc>
                <a:spcPct val="105000"/>
              </a:lnSpc>
              <a:spcBef>
                <a:spcPts val="600"/>
              </a:spcBef>
              <a:spcAft>
                <a:spcPts val="600"/>
              </a:spcAft>
              <a:buClr>
                <a:srgbClr val="F2B254"/>
              </a:buClr>
              <a:buSzPct val="100000"/>
              <a:buFont typeface="Wingdings" panose="05000000000000000000" pitchFamily="2" charset="2"/>
              <a:buChar char="§"/>
              <a:defRPr sz="3400" b="0" kern="1200">
                <a:solidFill>
                  <a:schemeClr val="tx1"/>
                </a:solidFill>
                <a:latin typeface="+mn-lt"/>
                <a:ea typeface="+mn-ea"/>
                <a:cs typeface="+mn-cs"/>
              </a:defRPr>
            </a:lvl1pPr>
            <a:lvl2pPr marL="609493" indent="-231606" algn="l" defTabSz="1218987" rtl="0" eaLnBrk="1" latinLnBrk="0" hangingPunct="1">
              <a:lnSpc>
                <a:spcPct val="105000"/>
              </a:lnSpc>
              <a:spcBef>
                <a:spcPts val="600"/>
              </a:spcBef>
              <a:spcAft>
                <a:spcPts val="600"/>
              </a:spcAft>
              <a:buClr>
                <a:schemeClr val="accent1"/>
              </a:buClr>
              <a:buSzPct val="80000"/>
              <a:buFont typeface="Wingdings" panose="05000000000000000000" pitchFamily="2" charset="2"/>
              <a:buChar char="§"/>
              <a:defRPr sz="3200" b="0" kern="1200">
                <a:solidFill>
                  <a:schemeClr val="tx1"/>
                </a:solidFill>
                <a:latin typeface="+mn-lt"/>
                <a:ea typeface="+mn-ea"/>
                <a:cs typeface="+mn-cs"/>
              </a:defRPr>
            </a:lvl2pPr>
            <a:lvl3pPr marL="914240" indent="-231606" algn="l" defTabSz="1218987" rtl="0" eaLnBrk="1" latinLnBrk="0" hangingPunct="1">
              <a:lnSpc>
                <a:spcPct val="105000"/>
              </a:lnSpc>
              <a:spcBef>
                <a:spcPts val="600"/>
              </a:spcBef>
              <a:spcAft>
                <a:spcPts val="600"/>
              </a:spcAft>
              <a:buClr>
                <a:srgbClr val="EF9A1D"/>
              </a:buClr>
              <a:buSzPct val="80000"/>
              <a:buFont typeface="Wingdings" panose="05000000000000000000" pitchFamily="2" charset="2"/>
              <a:buChar char="§"/>
              <a:defRPr sz="3000" b="0" kern="1200">
                <a:solidFill>
                  <a:schemeClr val="tx1"/>
                </a:solidFill>
                <a:latin typeface="+mn-lt"/>
                <a:ea typeface="+mn-ea"/>
                <a:cs typeface="+mn-cs"/>
              </a:defRPr>
            </a:lvl3pPr>
            <a:lvl4pPr marL="1218987" indent="-231606" algn="l" defTabSz="1218987" rtl="0" eaLnBrk="1" latinLnBrk="0" hangingPunct="1">
              <a:lnSpc>
                <a:spcPct val="105000"/>
              </a:lnSpc>
              <a:spcBef>
                <a:spcPts val="600"/>
              </a:spcBef>
              <a:spcAft>
                <a:spcPts val="600"/>
              </a:spcAft>
              <a:buClr>
                <a:srgbClr val="ED9411"/>
              </a:buClr>
              <a:buSzPct val="80000"/>
              <a:buFont typeface="Wingdings" panose="05000000000000000000" pitchFamily="2" charset="2"/>
              <a:buChar char="§"/>
              <a:defRPr sz="2800" b="0" kern="1200">
                <a:solidFill>
                  <a:schemeClr val="tx1"/>
                </a:solidFill>
                <a:latin typeface="+mn-lt"/>
                <a:ea typeface="+mn-ea"/>
                <a:cs typeface="+mn-cs"/>
              </a:defRPr>
            </a:lvl4pPr>
            <a:lvl5pPr marL="1523733" indent="-231606" algn="l" defTabSz="1218987" rtl="0" eaLnBrk="1" latinLnBrk="0" hangingPunct="1">
              <a:lnSpc>
                <a:spcPct val="105000"/>
              </a:lnSpc>
              <a:spcBef>
                <a:spcPts val="600"/>
              </a:spcBef>
              <a:spcAft>
                <a:spcPts val="600"/>
              </a:spcAft>
              <a:buClr>
                <a:srgbClr val="E28D10"/>
              </a:buClr>
              <a:buSzPct val="80000"/>
              <a:buFont typeface="Wingdings" panose="05000000000000000000" pitchFamily="2" charset="2"/>
              <a:buChar char="§"/>
              <a:defRPr sz="2600" b="0" kern="1200">
                <a:solidFill>
                  <a:schemeClr val="tx1"/>
                </a:solidFill>
                <a:latin typeface="+mn-lt"/>
                <a:ea typeface="+mn-ea"/>
                <a:cs typeface="+mn-cs"/>
              </a:defRPr>
            </a:lvl5pPr>
            <a:lvl6pPr marL="1828480" indent="-231606"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6"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2" indent="-231606"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6"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a:spcAft>
                <a:spcPts val="1200"/>
              </a:spcAft>
              <a:buClr>
                <a:schemeClr val="tx1"/>
              </a:buClr>
              <a:defRPr/>
            </a:pPr>
            <a:r>
              <a:rPr lang="en-US" dirty="0"/>
              <a:t>Attribute values for </a:t>
            </a:r>
            <a:r>
              <a:rPr lang="en-US" b="1" dirty="0">
                <a:solidFill>
                  <a:schemeClr val="bg1"/>
                </a:solidFill>
                <a:latin typeface="Consolas" pitchFamily="49" charset="0"/>
                <a:cs typeface="Consolas" pitchFamily="49" charset="0"/>
              </a:rPr>
              <a:t>type</a:t>
            </a:r>
            <a:r>
              <a:rPr lang="en-US" dirty="0"/>
              <a:t> are </a:t>
            </a:r>
            <a:r>
              <a:rPr lang="en-US" b="1" noProof="1">
                <a:solidFill>
                  <a:schemeClr val="bg1"/>
                </a:solidFill>
                <a:latin typeface="Consolas" pitchFamily="49" charset="0"/>
                <a:cs typeface="Consolas" pitchFamily="49" charset="0"/>
              </a:rPr>
              <a:t>1</a:t>
            </a:r>
            <a:r>
              <a:rPr lang="en-US" dirty="0"/>
              <a:t>, </a:t>
            </a:r>
            <a:r>
              <a:rPr lang="en-US" b="1" noProof="1">
                <a:solidFill>
                  <a:schemeClr val="bg1"/>
                </a:solidFill>
                <a:latin typeface="Consolas" pitchFamily="49" charset="0"/>
                <a:cs typeface="Consolas" pitchFamily="49" charset="0"/>
              </a:rPr>
              <a:t>A</a:t>
            </a:r>
            <a:r>
              <a:rPr lang="en-US" dirty="0"/>
              <a:t>, </a:t>
            </a:r>
            <a:r>
              <a:rPr lang="en-US" b="1" noProof="1">
                <a:solidFill>
                  <a:schemeClr val="bg1"/>
                </a:solidFill>
                <a:latin typeface="Consolas" pitchFamily="49" charset="0"/>
                <a:cs typeface="Consolas" pitchFamily="49" charset="0"/>
              </a:rPr>
              <a:t>a</a:t>
            </a:r>
            <a:r>
              <a:rPr lang="en-US" dirty="0"/>
              <a:t>, </a:t>
            </a:r>
            <a:r>
              <a:rPr lang="en-US" b="1" noProof="1">
                <a:solidFill>
                  <a:schemeClr val="bg1"/>
                </a:solidFill>
                <a:latin typeface="Consolas" pitchFamily="49" charset="0"/>
                <a:cs typeface="Consolas" pitchFamily="49" charset="0"/>
              </a:rPr>
              <a:t>I</a:t>
            </a:r>
            <a:r>
              <a:rPr lang="en-US" dirty="0"/>
              <a:t>, or </a:t>
            </a:r>
            <a:r>
              <a:rPr lang="en-US" b="1" noProof="1">
                <a:solidFill>
                  <a:schemeClr val="bg1"/>
                </a:solidFill>
                <a:latin typeface="Consolas" pitchFamily="49" charset="0"/>
                <a:cs typeface="Consolas" pitchFamily="49" charset="0"/>
              </a:rPr>
              <a:t>i</a:t>
            </a:r>
          </a:p>
        </p:txBody>
      </p:sp>
      <p:sp>
        <p:nvSpPr>
          <p:cNvPr id="19" name="Line 9"/>
          <p:cNvSpPr>
            <a:spLocks noChangeShapeType="1"/>
          </p:cNvSpPr>
          <p:nvPr/>
        </p:nvSpPr>
        <p:spPr bwMode="auto">
          <a:xfrm>
            <a:off x="8211000" y="4279539"/>
            <a:ext cx="1651657" cy="904461"/>
          </a:xfrm>
          <a:prstGeom prst="line">
            <a:avLst/>
          </a:prstGeom>
          <a:noFill/>
          <a:ln w="38100">
            <a:solidFill>
              <a:schemeClr val="accent5">
                <a:lumMod val="60000"/>
                <a:lumOff val="40000"/>
              </a:schemeClr>
            </a:solidFill>
            <a:round/>
            <a:headEnd/>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21" name="Slide Number">
            <a:extLst>
              <a:ext uri="{FF2B5EF4-FFF2-40B4-BE49-F238E27FC236}">
                <a16:creationId xmlns:a16="http://schemas.microsoft.com/office/drawing/2014/main" id="{EF6D293C-9350-4469-B8A5-C04DC6A6221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28</a:t>
            </a:fld>
            <a:endParaRPr lang="en-US" noProof="0" dirty="0"/>
          </a:p>
        </p:txBody>
      </p:sp>
    </p:spTree>
    <p:extLst>
      <p:ext uri="{BB962C8B-B14F-4D97-AF65-F5344CB8AC3E}">
        <p14:creationId xmlns:p14="http://schemas.microsoft.com/office/powerpoint/2010/main" val="101360957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0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0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6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16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216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216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09" grpId="0" animBg="1"/>
      <p:bldP spid="921611" grpId="0" animBg="1"/>
      <p:bldP spid="921613" grpId="0" animBg="1"/>
      <p:bldP spid="921615"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normAutofit/>
          </a:bodyPr>
          <a:lstStyle/>
          <a:p>
            <a:pPr>
              <a:defRPr/>
            </a:pPr>
            <a:r>
              <a:rPr lang="en-US" dirty="0"/>
              <a:t>Unordered Lists: &lt;</a:t>
            </a:r>
            <a:r>
              <a:rPr lang="en-US" dirty="0" err="1"/>
              <a:t>ul</a:t>
            </a:r>
            <a:r>
              <a:rPr lang="en-US" dirty="0"/>
              <a:t>&gt; Tag</a:t>
            </a:r>
          </a:p>
        </p:txBody>
      </p:sp>
      <p:sp>
        <p:nvSpPr>
          <p:cNvPr id="923651" name="Rectangle 3"/>
          <p:cNvSpPr>
            <a:spLocks noGrp="1" noChangeArrowheads="1"/>
          </p:cNvSpPr>
          <p:nvPr>
            <p:ph idx="4294967295"/>
          </p:nvPr>
        </p:nvSpPr>
        <p:spPr>
          <a:xfrm>
            <a:off x="278291" y="1242832"/>
            <a:ext cx="11576210" cy="566590"/>
          </a:xfrm>
        </p:spPr>
        <p:txBody>
          <a:bodyPr>
            <a:normAutofit lnSpcReduction="10000"/>
          </a:bodyPr>
          <a:lstStyle/>
          <a:p>
            <a:pPr>
              <a:lnSpc>
                <a:spcPct val="100000"/>
              </a:lnSpc>
              <a:defRPr/>
            </a:pPr>
            <a:r>
              <a:rPr lang="en-US" dirty="0"/>
              <a:t>Create an </a:t>
            </a:r>
            <a:r>
              <a:rPr lang="en-US" b="1" dirty="0">
                <a:solidFill>
                  <a:schemeClr val="bg1"/>
                </a:solidFill>
                <a:latin typeface="Consolas" panose="020B0609020204030204" pitchFamily="49" charset="0"/>
                <a:cs typeface="Consolas" panose="020B0609020204030204" pitchFamily="49" charset="0"/>
              </a:rPr>
              <a:t>U</a:t>
            </a:r>
            <a:r>
              <a:rPr lang="en-US" dirty="0"/>
              <a:t>nordered </a:t>
            </a:r>
            <a:r>
              <a:rPr lang="en-US" b="1" dirty="0">
                <a:solidFill>
                  <a:schemeClr val="bg1"/>
                </a:solidFill>
                <a:latin typeface="Consolas" panose="020B0609020204030204" pitchFamily="49" charset="0"/>
                <a:cs typeface="Consolas" panose="020B0609020204030204" pitchFamily="49" charset="0"/>
              </a:rPr>
              <a:t>L</a:t>
            </a:r>
            <a:r>
              <a:rPr lang="en-US" dirty="0"/>
              <a:t>ist using </a:t>
            </a:r>
            <a:r>
              <a:rPr lang="en-US" b="1" noProof="1">
                <a:solidFill>
                  <a:schemeClr val="bg1"/>
                </a:solidFill>
                <a:latin typeface="Consolas" pitchFamily="49" charset="0"/>
                <a:cs typeface="Consolas" pitchFamily="49" charset="0"/>
              </a:rPr>
              <a:t>&lt;ul&gt;&lt;/ul&gt;</a:t>
            </a:r>
            <a:r>
              <a:rPr lang="en-US" dirty="0">
                <a:solidFill>
                  <a:schemeClr val="bg1"/>
                </a:solidFill>
              </a:rPr>
              <a:t>:</a:t>
            </a:r>
            <a:endParaRPr lang="en-US" b="1" dirty="0">
              <a:solidFill>
                <a:schemeClr val="bg1"/>
              </a:solidFill>
            </a:endParaRPr>
          </a:p>
        </p:txBody>
      </p:sp>
      <p:sp>
        <p:nvSpPr>
          <p:cNvPr id="923652" name="Line 4"/>
          <p:cNvSpPr>
            <a:spLocks noChangeShapeType="1"/>
          </p:cNvSpPr>
          <p:nvPr/>
        </p:nvSpPr>
        <p:spPr bwMode="auto">
          <a:xfrm flipH="1">
            <a:off x="4010761" y="4913614"/>
            <a:ext cx="1838358" cy="727468"/>
          </a:xfrm>
          <a:prstGeom prst="line">
            <a:avLst/>
          </a:prstGeom>
          <a:noFill/>
          <a:ln w="38100">
            <a:solidFill>
              <a:schemeClr val="accent5">
                <a:lumMod val="75000"/>
              </a:schemeClr>
            </a:solidFill>
            <a:round/>
            <a:headEnd type="none" w="lg" len="sm"/>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923654" name="Line 6"/>
          <p:cNvSpPr>
            <a:spLocks noChangeShapeType="1"/>
          </p:cNvSpPr>
          <p:nvPr/>
        </p:nvSpPr>
        <p:spPr bwMode="auto">
          <a:xfrm flipH="1">
            <a:off x="6136530" y="4913614"/>
            <a:ext cx="999989" cy="656713"/>
          </a:xfrm>
          <a:prstGeom prst="line">
            <a:avLst/>
          </a:prstGeom>
          <a:noFill/>
          <a:ln w="38100">
            <a:solidFill>
              <a:schemeClr val="accent5">
                <a:lumMod val="75000"/>
              </a:schemeClr>
            </a:solidFill>
            <a:round/>
            <a:headEnd type="none" w="lg" len="sm"/>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923662" name="Rectangle 14"/>
          <p:cNvSpPr>
            <a:spLocks noChangeArrowheads="1"/>
          </p:cNvSpPr>
          <p:nvPr/>
        </p:nvSpPr>
        <p:spPr bwMode="auto">
          <a:xfrm>
            <a:off x="786000" y="1848362"/>
            <a:ext cx="8227455" cy="243541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ul</a:t>
            </a:r>
            <a:r>
              <a:rPr lang="it-IT" sz="2799" b="1" noProof="1">
                <a:latin typeface="Consolas" pitchFamily="49" charset="0"/>
                <a:cs typeface="Consolas" pitchFamily="49" charset="0"/>
              </a:rPr>
              <a:t> type="</a:t>
            </a:r>
            <a:r>
              <a:rPr lang="it-IT" sz="2799" b="1" noProof="1">
                <a:solidFill>
                  <a:schemeClr val="bg1"/>
                </a:solidFill>
                <a:latin typeface="Consolas" pitchFamily="49" charset="0"/>
                <a:cs typeface="Consolas" pitchFamily="49" charset="0"/>
              </a:rPr>
              <a:t>disc</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&gt;First item&lt;/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&gt;Second item&lt;/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  &lt;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r>
              <a:rPr lang="en-US" sz="2799" b="1" noProof="1">
                <a:latin typeface="Consolas" pitchFamily="49" charset="0"/>
                <a:cs typeface="Consolas" pitchFamily="49" charset="0"/>
              </a:rPr>
              <a:t>Third item</a:t>
            </a:r>
            <a:r>
              <a:rPr lang="it-IT" sz="27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li</a:t>
            </a:r>
            <a:r>
              <a:rPr lang="it-IT" sz="2799" b="1" noProof="1">
                <a:latin typeface="Consolas" pitchFamily="49" charset="0"/>
                <a:cs typeface="Consolas" pitchFamily="49" charset="0"/>
              </a:rPr>
              <a:t>&gt;</a:t>
            </a:r>
          </a:p>
          <a:p>
            <a:pPr eaLnBrk="0" hangingPunct="0">
              <a:lnSpc>
                <a:spcPct val="110000"/>
              </a:lnSpc>
              <a:buClr>
                <a:schemeClr val="accent5">
                  <a:lumMod val="40000"/>
                  <a:lumOff val="60000"/>
                </a:schemeClr>
              </a:buClr>
              <a:buSzPct val="70000"/>
              <a:defRPr/>
            </a:pPr>
            <a:r>
              <a:rPr lang="it-IT" sz="2799" b="1" noProof="1">
                <a:latin typeface="Consolas" pitchFamily="49" charset="0"/>
                <a:cs typeface="Consolas" pitchFamily="49" charset="0"/>
              </a:rPr>
              <a:t>&lt;/</a:t>
            </a:r>
            <a:r>
              <a:rPr lang="it-IT" sz="2799" b="1" noProof="1">
                <a:solidFill>
                  <a:schemeClr val="bg1"/>
                </a:solidFill>
                <a:latin typeface="Consolas" pitchFamily="49" charset="0"/>
                <a:cs typeface="Consolas" pitchFamily="49" charset="0"/>
              </a:rPr>
              <a:t>ul</a:t>
            </a:r>
            <a:r>
              <a:rPr lang="it-IT" sz="2799" b="1" noProof="1">
                <a:latin typeface="Consolas" pitchFamily="49" charset="0"/>
                <a:cs typeface="Consolas" pitchFamily="49" charset="0"/>
              </a:rPr>
              <a:t>&gt;</a:t>
            </a:r>
          </a:p>
        </p:txBody>
      </p:sp>
      <p:pic>
        <p:nvPicPr>
          <p:cNvPr id="3" name="Picture 2"/>
          <p:cNvPicPr>
            <a:picLocks noChangeAspect="1"/>
          </p:cNvPicPr>
          <p:nvPr/>
        </p:nvPicPr>
        <p:blipFill>
          <a:blip r:embed="rId3"/>
          <a:stretch>
            <a:fillRect/>
          </a:stretch>
        </p:blipFill>
        <p:spPr>
          <a:xfrm>
            <a:off x="4960212" y="5641108"/>
            <a:ext cx="1744142" cy="982061"/>
          </a:xfrm>
          <a:prstGeom prst="rect">
            <a:avLst/>
          </a:prstGeom>
          <a:ln>
            <a:solidFill>
              <a:schemeClr val="tx1"/>
            </a:solidFill>
          </a:ln>
        </p:spPr>
      </p:pic>
      <p:pic>
        <p:nvPicPr>
          <p:cNvPr id="20" name="Picture 19"/>
          <p:cNvPicPr>
            <a:picLocks noChangeAspect="1"/>
          </p:cNvPicPr>
          <p:nvPr/>
        </p:nvPicPr>
        <p:blipFill>
          <a:blip r:embed="rId4"/>
          <a:stretch>
            <a:fillRect/>
          </a:stretch>
        </p:blipFill>
        <p:spPr>
          <a:xfrm>
            <a:off x="2335930" y="5303755"/>
            <a:ext cx="1674833" cy="982061"/>
          </a:xfrm>
          <a:prstGeom prst="roundRect">
            <a:avLst>
              <a:gd name="adj" fmla="val 1545"/>
            </a:avLst>
          </a:prstGeom>
          <a:ln>
            <a:solidFill>
              <a:schemeClr val="tx1"/>
            </a:solidFill>
          </a:ln>
        </p:spPr>
      </p:pic>
      <p:pic>
        <p:nvPicPr>
          <p:cNvPr id="4" name="Picture 3"/>
          <p:cNvPicPr>
            <a:picLocks noChangeAspect="1"/>
          </p:cNvPicPr>
          <p:nvPr/>
        </p:nvPicPr>
        <p:blipFill>
          <a:blip r:embed="rId5"/>
          <a:stretch>
            <a:fillRect/>
          </a:stretch>
        </p:blipFill>
        <p:spPr>
          <a:xfrm>
            <a:off x="7018477" y="5641108"/>
            <a:ext cx="1828527" cy="982061"/>
          </a:xfrm>
          <a:prstGeom prst="rect">
            <a:avLst/>
          </a:prstGeom>
          <a:ln>
            <a:solidFill>
              <a:schemeClr val="tx1"/>
            </a:solidFill>
          </a:ln>
        </p:spPr>
      </p:pic>
      <p:pic>
        <p:nvPicPr>
          <p:cNvPr id="5" name="Picture 4"/>
          <p:cNvPicPr>
            <a:picLocks noChangeAspect="1"/>
          </p:cNvPicPr>
          <p:nvPr/>
        </p:nvPicPr>
        <p:blipFill>
          <a:blip r:embed="rId6"/>
          <a:stretch>
            <a:fillRect/>
          </a:stretch>
        </p:blipFill>
        <p:spPr>
          <a:xfrm>
            <a:off x="9134416" y="5641108"/>
            <a:ext cx="1858129" cy="982061"/>
          </a:xfrm>
          <a:prstGeom prst="rect">
            <a:avLst/>
          </a:prstGeom>
          <a:ln>
            <a:solidFill>
              <a:schemeClr val="tx1"/>
            </a:solidFill>
          </a:ln>
        </p:spPr>
      </p:pic>
      <p:pic>
        <p:nvPicPr>
          <p:cNvPr id="16" name="Picture 15"/>
          <p:cNvPicPr>
            <a:picLocks noChangeAspect="1"/>
          </p:cNvPicPr>
          <p:nvPr/>
        </p:nvPicPr>
        <p:blipFill>
          <a:blip r:embed="rId4"/>
          <a:stretch>
            <a:fillRect/>
          </a:stretch>
        </p:blipFill>
        <p:spPr>
          <a:xfrm>
            <a:off x="5766874" y="2047345"/>
            <a:ext cx="3046832" cy="1786551"/>
          </a:xfrm>
          <a:prstGeom prst="roundRect">
            <a:avLst>
              <a:gd name="adj" fmla="val 1545"/>
            </a:avLst>
          </a:prstGeom>
          <a:ln>
            <a:solidFill>
              <a:schemeClr val="tx1"/>
            </a:solidFill>
          </a:ln>
        </p:spPr>
      </p:pic>
      <p:sp>
        <p:nvSpPr>
          <p:cNvPr id="15" name="Rectangle 3"/>
          <p:cNvSpPr txBox="1">
            <a:spLocks noChangeArrowheads="1"/>
          </p:cNvSpPr>
          <p:nvPr/>
        </p:nvSpPr>
        <p:spPr>
          <a:xfrm>
            <a:off x="307817" y="4418742"/>
            <a:ext cx="11576369" cy="614290"/>
          </a:xfrm>
          <a:prstGeom prst="rect">
            <a:avLst/>
          </a:prstGeom>
        </p:spPr>
        <p:txBody>
          <a:bodyPr vert="horz" lIns="107972" tIns="35991" rIns="107972" bIns="35991" rtlCol="0">
            <a:normAutofit/>
          </a:bodyPr>
          <a:lstStyle>
            <a:lvl1pPr marL="304747" indent="-304747" algn="l" defTabSz="1218987" rtl="0" eaLnBrk="1" latinLnBrk="0" hangingPunct="1">
              <a:lnSpc>
                <a:spcPct val="105000"/>
              </a:lnSpc>
              <a:spcBef>
                <a:spcPts val="600"/>
              </a:spcBef>
              <a:spcAft>
                <a:spcPts val="600"/>
              </a:spcAft>
              <a:buClr>
                <a:srgbClr val="F2B254"/>
              </a:buClr>
              <a:buSzPct val="100000"/>
              <a:buFont typeface="Wingdings" panose="05000000000000000000" pitchFamily="2" charset="2"/>
              <a:buChar char="§"/>
              <a:defRPr sz="3400" b="0" kern="1200">
                <a:solidFill>
                  <a:schemeClr val="tx1"/>
                </a:solidFill>
                <a:latin typeface="+mn-lt"/>
                <a:ea typeface="+mn-ea"/>
                <a:cs typeface="+mn-cs"/>
              </a:defRPr>
            </a:lvl1pPr>
            <a:lvl2pPr marL="609493" indent="-231606" algn="l" defTabSz="1218987" rtl="0" eaLnBrk="1" latinLnBrk="0" hangingPunct="1">
              <a:lnSpc>
                <a:spcPct val="105000"/>
              </a:lnSpc>
              <a:spcBef>
                <a:spcPts val="600"/>
              </a:spcBef>
              <a:spcAft>
                <a:spcPts val="600"/>
              </a:spcAft>
              <a:buClr>
                <a:schemeClr val="accent1"/>
              </a:buClr>
              <a:buSzPct val="80000"/>
              <a:buFont typeface="Wingdings" panose="05000000000000000000" pitchFamily="2" charset="2"/>
              <a:buChar char="§"/>
              <a:defRPr sz="3200" b="0" kern="1200">
                <a:solidFill>
                  <a:schemeClr val="tx1"/>
                </a:solidFill>
                <a:latin typeface="+mn-lt"/>
                <a:ea typeface="+mn-ea"/>
                <a:cs typeface="+mn-cs"/>
              </a:defRPr>
            </a:lvl2pPr>
            <a:lvl3pPr marL="914240" indent="-231606" algn="l" defTabSz="1218987" rtl="0" eaLnBrk="1" latinLnBrk="0" hangingPunct="1">
              <a:lnSpc>
                <a:spcPct val="105000"/>
              </a:lnSpc>
              <a:spcBef>
                <a:spcPts val="600"/>
              </a:spcBef>
              <a:spcAft>
                <a:spcPts val="600"/>
              </a:spcAft>
              <a:buClr>
                <a:srgbClr val="EF9A1D"/>
              </a:buClr>
              <a:buSzPct val="80000"/>
              <a:buFont typeface="Wingdings" panose="05000000000000000000" pitchFamily="2" charset="2"/>
              <a:buChar char="§"/>
              <a:defRPr sz="3000" b="0" kern="1200">
                <a:solidFill>
                  <a:schemeClr val="tx1"/>
                </a:solidFill>
                <a:latin typeface="+mn-lt"/>
                <a:ea typeface="+mn-ea"/>
                <a:cs typeface="+mn-cs"/>
              </a:defRPr>
            </a:lvl3pPr>
            <a:lvl4pPr marL="1218987" indent="-231606" algn="l" defTabSz="1218987" rtl="0" eaLnBrk="1" latinLnBrk="0" hangingPunct="1">
              <a:lnSpc>
                <a:spcPct val="105000"/>
              </a:lnSpc>
              <a:spcBef>
                <a:spcPts val="600"/>
              </a:spcBef>
              <a:spcAft>
                <a:spcPts val="600"/>
              </a:spcAft>
              <a:buClr>
                <a:srgbClr val="ED9411"/>
              </a:buClr>
              <a:buSzPct val="80000"/>
              <a:buFont typeface="Wingdings" panose="05000000000000000000" pitchFamily="2" charset="2"/>
              <a:buChar char="§"/>
              <a:defRPr sz="2800" b="0" kern="1200">
                <a:solidFill>
                  <a:schemeClr val="tx1"/>
                </a:solidFill>
                <a:latin typeface="+mn-lt"/>
                <a:ea typeface="+mn-ea"/>
                <a:cs typeface="+mn-cs"/>
              </a:defRPr>
            </a:lvl4pPr>
            <a:lvl5pPr marL="1523733" indent="-231606" algn="l" defTabSz="1218987" rtl="0" eaLnBrk="1" latinLnBrk="0" hangingPunct="1">
              <a:lnSpc>
                <a:spcPct val="105000"/>
              </a:lnSpc>
              <a:spcBef>
                <a:spcPts val="600"/>
              </a:spcBef>
              <a:spcAft>
                <a:spcPts val="600"/>
              </a:spcAft>
              <a:buClr>
                <a:srgbClr val="E28D10"/>
              </a:buClr>
              <a:buSzPct val="80000"/>
              <a:buFont typeface="Wingdings" panose="05000000000000000000" pitchFamily="2" charset="2"/>
              <a:buChar char="§"/>
              <a:defRPr sz="2600" b="0" kern="1200">
                <a:solidFill>
                  <a:schemeClr val="tx1"/>
                </a:solidFill>
                <a:latin typeface="+mn-lt"/>
                <a:ea typeface="+mn-ea"/>
                <a:cs typeface="+mn-cs"/>
              </a:defRPr>
            </a:lvl5pPr>
            <a:lvl6pPr marL="1828480" indent="-231606"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6"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2" indent="-231606"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6"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a:lnSpc>
                <a:spcPct val="100000"/>
              </a:lnSpc>
              <a:spcBef>
                <a:spcPts val="1799"/>
              </a:spcBef>
              <a:buClr>
                <a:schemeClr val="tx1"/>
              </a:buClr>
              <a:defRPr/>
            </a:pPr>
            <a:r>
              <a:rPr lang="en-US" sz="3200" dirty="0"/>
              <a:t>Attribute values for </a:t>
            </a:r>
            <a:r>
              <a:rPr lang="en-US" sz="3200" b="1" dirty="0">
                <a:solidFill>
                  <a:schemeClr val="bg1"/>
                </a:solidFill>
                <a:latin typeface="Consolas" pitchFamily="49" charset="0"/>
                <a:cs typeface="Consolas" pitchFamily="49" charset="0"/>
              </a:rPr>
              <a:t>type</a:t>
            </a:r>
            <a:r>
              <a:rPr lang="en-US" sz="3200" dirty="0"/>
              <a:t> are</a:t>
            </a:r>
            <a:r>
              <a:rPr lang="bg-BG" sz="3200" dirty="0"/>
              <a:t>: </a:t>
            </a:r>
            <a:r>
              <a:rPr lang="en-US" sz="3200" b="1" dirty="0">
                <a:solidFill>
                  <a:schemeClr val="bg1"/>
                </a:solidFill>
                <a:latin typeface="Consolas" panose="020B0609020204030204" pitchFamily="49" charset="0"/>
              </a:rPr>
              <a:t>disc</a:t>
            </a:r>
            <a:r>
              <a:rPr lang="en-US" sz="3200" dirty="0"/>
              <a:t>, </a:t>
            </a:r>
            <a:r>
              <a:rPr lang="en-US" sz="3200" b="1" dirty="0">
                <a:solidFill>
                  <a:schemeClr val="bg1"/>
                </a:solidFill>
                <a:latin typeface="Consolas" panose="020B0609020204030204" pitchFamily="49" charset="0"/>
              </a:rPr>
              <a:t>circle</a:t>
            </a:r>
            <a:r>
              <a:rPr lang="en-US" sz="3200" dirty="0"/>
              <a:t>, </a:t>
            </a:r>
            <a:r>
              <a:rPr lang="en-US" sz="3200" b="1" dirty="0">
                <a:solidFill>
                  <a:schemeClr val="bg1"/>
                </a:solidFill>
                <a:latin typeface="Consolas" panose="020B0609020204030204" pitchFamily="49" charset="0"/>
              </a:rPr>
              <a:t>square</a:t>
            </a:r>
            <a:r>
              <a:rPr lang="en-US" sz="3200" b="1" dirty="0"/>
              <a:t> </a:t>
            </a:r>
            <a:r>
              <a:rPr lang="en-US" sz="3200" dirty="0"/>
              <a:t>and</a:t>
            </a:r>
            <a:r>
              <a:rPr lang="en-US" sz="3200" b="1" dirty="0"/>
              <a:t> </a:t>
            </a:r>
            <a:r>
              <a:rPr lang="en-US" sz="3200" b="1" dirty="0">
                <a:solidFill>
                  <a:schemeClr val="bg1"/>
                </a:solidFill>
                <a:latin typeface="Consolas" panose="020B0609020204030204" pitchFamily="49" charset="0"/>
              </a:rPr>
              <a:t>none</a:t>
            </a:r>
          </a:p>
        </p:txBody>
      </p:sp>
      <p:sp>
        <p:nvSpPr>
          <p:cNvPr id="23" name="Line 6"/>
          <p:cNvSpPr>
            <a:spLocks noChangeShapeType="1"/>
          </p:cNvSpPr>
          <p:nvPr/>
        </p:nvSpPr>
        <p:spPr bwMode="auto">
          <a:xfrm flipH="1">
            <a:off x="8054002" y="4965594"/>
            <a:ext cx="583212" cy="622845"/>
          </a:xfrm>
          <a:prstGeom prst="line">
            <a:avLst/>
          </a:prstGeom>
          <a:noFill/>
          <a:ln w="38100">
            <a:solidFill>
              <a:schemeClr val="accent5">
                <a:lumMod val="75000"/>
              </a:schemeClr>
            </a:solidFill>
            <a:round/>
            <a:headEnd type="none" w="lg" len="sm"/>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24" name="Line 6"/>
          <p:cNvSpPr>
            <a:spLocks noChangeShapeType="1"/>
          </p:cNvSpPr>
          <p:nvPr/>
        </p:nvSpPr>
        <p:spPr bwMode="auto">
          <a:xfrm flipH="1">
            <a:off x="10368200" y="4965594"/>
            <a:ext cx="250135" cy="604733"/>
          </a:xfrm>
          <a:prstGeom prst="line">
            <a:avLst/>
          </a:prstGeom>
          <a:noFill/>
          <a:ln w="38100">
            <a:solidFill>
              <a:schemeClr val="accent5">
                <a:lumMod val="75000"/>
              </a:schemeClr>
            </a:solidFill>
            <a:round/>
            <a:headEnd type="none" w="lg" len="sm"/>
            <a:tailEnd type="stealth" w="lg" len="lg"/>
          </a:ln>
          <a:effectLst/>
        </p:spPr>
        <p:txBody>
          <a:bodyPr wrap="none"/>
          <a:lstStyle/>
          <a:p>
            <a:pPr>
              <a:defRPr/>
            </a:pPr>
            <a:endParaRPr lang="en-US" sz="1799" dirty="0">
              <a:effectLst>
                <a:outerShdw blurRad="38100" dist="38100" dir="2700000" algn="tl">
                  <a:srgbClr val="000000">
                    <a:alpha val="43137"/>
                  </a:srgbClr>
                </a:outerShdw>
              </a:effectLst>
            </a:endParaRPr>
          </a:p>
        </p:txBody>
      </p:sp>
      <p:sp>
        <p:nvSpPr>
          <p:cNvPr id="17" name="Slide Number">
            <a:extLst>
              <a:ext uri="{FF2B5EF4-FFF2-40B4-BE49-F238E27FC236}">
                <a16:creationId xmlns:a16="http://schemas.microsoft.com/office/drawing/2014/main" id="{3CD6450B-E262-4FF3-86BE-C6A5BCE3FD7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29</a:t>
            </a:fld>
            <a:endParaRPr lang="en-US" noProof="0" dirty="0"/>
          </a:p>
        </p:txBody>
      </p:sp>
    </p:spTree>
    <p:extLst>
      <p:ext uri="{BB962C8B-B14F-4D97-AF65-F5344CB8AC3E}">
        <p14:creationId xmlns:p14="http://schemas.microsoft.com/office/powerpoint/2010/main" val="80705011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36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36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52" grpId="0" animBg="1"/>
      <p:bldP spid="923654" grpId="0" animBg="1"/>
      <p:bldP spid="15" grpId="0"/>
      <p:bldP spid="23"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Grp="1" noChangeArrowheads="1"/>
          </p:cNvSpPr>
          <p:nvPr>
            <p:ph type="title"/>
          </p:nvPr>
        </p:nvSpPr>
        <p:spPr/>
        <p:txBody>
          <a:bodyPr/>
          <a:lstStyle/>
          <a:p>
            <a:pPr>
              <a:defRPr/>
            </a:pPr>
            <a:r>
              <a:rPr lang="en-US" dirty="0"/>
              <a:t>Definition Lists: &lt;dl&gt; Tag</a:t>
            </a:r>
            <a:endParaRPr lang="bg-BG" dirty="0"/>
          </a:p>
        </p:txBody>
      </p:sp>
      <p:sp>
        <p:nvSpPr>
          <p:cNvPr id="1061891" name="Rectangle 3"/>
          <p:cNvSpPr>
            <a:spLocks noGrp="1" noChangeArrowheads="1"/>
          </p:cNvSpPr>
          <p:nvPr>
            <p:ph idx="4294967295"/>
          </p:nvPr>
        </p:nvSpPr>
        <p:spPr>
          <a:xfrm>
            <a:off x="184715" y="1189047"/>
            <a:ext cx="11804750" cy="5569086"/>
          </a:xfrm>
        </p:spPr>
        <p:txBody>
          <a:bodyPr>
            <a:normAutofit/>
          </a:bodyPr>
          <a:lstStyle/>
          <a:p>
            <a:pPr>
              <a:defRPr/>
            </a:pPr>
            <a:r>
              <a:rPr lang="en-US" dirty="0"/>
              <a:t>Create definition lists using </a:t>
            </a:r>
            <a:r>
              <a:rPr lang="en-US" b="1" dirty="0">
                <a:solidFill>
                  <a:schemeClr val="bg1"/>
                </a:solidFill>
                <a:latin typeface="Consolas" pitchFamily="49" charset="0"/>
                <a:cs typeface="Consolas" pitchFamily="49" charset="0"/>
              </a:rPr>
              <a:t>&lt;dl&gt;</a:t>
            </a:r>
          </a:p>
          <a:p>
            <a:pPr lvl="1">
              <a:defRPr/>
            </a:pPr>
            <a:r>
              <a:rPr lang="en-US" dirty="0"/>
              <a:t>Holds </a:t>
            </a:r>
            <a:r>
              <a:rPr lang="en-US" b="1" dirty="0">
                <a:solidFill>
                  <a:schemeClr val="bg1"/>
                </a:solidFill>
              </a:rPr>
              <a:t>terms</a:t>
            </a:r>
            <a:r>
              <a:rPr lang="en-US" dirty="0"/>
              <a:t> (</a:t>
            </a:r>
            <a:r>
              <a:rPr lang="en-US" b="1" noProof="1">
                <a:solidFill>
                  <a:schemeClr val="bg1"/>
                </a:solidFill>
                <a:latin typeface="Consolas" pitchFamily="49" charset="0"/>
                <a:cs typeface="Consolas" pitchFamily="49" charset="0"/>
              </a:rPr>
              <a:t>&lt;dt&gt;</a:t>
            </a:r>
            <a:r>
              <a:rPr lang="en-US" dirty="0"/>
              <a:t>) with their </a:t>
            </a:r>
            <a:r>
              <a:rPr lang="en-US" b="1" dirty="0">
                <a:solidFill>
                  <a:schemeClr val="bg1"/>
                </a:solidFill>
              </a:rPr>
              <a:t>definitions</a:t>
            </a:r>
            <a:r>
              <a:rPr lang="en-US" dirty="0"/>
              <a:t> (</a:t>
            </a:r>
            <a:r>
              <a:rPr lang="en-US" b="1" noProof="1">
                <a:solidFill>
                  <a:schemeClr val="bg1"/>
                </a:solidFill>
                <a:latin typeface="Consolas" pitchFamily="49" charset="0"/>
                <a:cs typeface="Consolas" pitchFamily="49" charset="0"/>
              </a:rPr>
              <a:t>&lt;dd&gt;</a:t>
            </a:r>
            <a:r>
              <a:rPr lang="en-US" dirty="0"/>
              <a:t>)</a:t>
            </a:r>
          </a:p>
        </p:txBody>
      </p:sp>
      <p:sp>
        <p:nvSpPr>
          <p:cNvPr id="1061892" name="Rectangle 4"/>
          <p:cNvSpPr>
            <a:spLocks noChangeArrowheads="1"/>
          </p:cNvSpPr>
          <p:nvPr/>
        </p:nvSpPr>
        <p:spPr bwMode="auto">
          <a:xfrm>
            <a:off x="594650" y="2767185"/>
            <a:ext cx="7075941" cy="304619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3199" b="1" noProof="1">
                <a:latin typeface="Consolas" pitchFamily="49" charset="0"/>
                <a:cs typeface="Consolas" pitchFamily="49" charset="0"/>
              </a:rPr>
              <a:t>&lt;</a:t>
            </a:r>
            <a:r>
              <a:rPr lang="en-US" sz="3199" b="1" noProof="1">
                <a:solidFill>
                  <a:schemeClr val="bg1"/>
                </a:solidFill>
                <a:latin typeface="Consolas" pitchFamily="49" charset="0"/>
                <a:cs typeface="Consolas" pitchFamily="49" charset="0"/>
              </a:rPr>
              <a:t>dl</a:t>
            </a:r>
            <a:r>
              <a:rPr lang="en-US" sz="3199" b="1" noProof="1">
                <a:latin typeface="Consolas" pitchFamily="49" charset="0"/>
                <a:cs typeface="Consolas" pitchFamily="49" charset="0"/>
              </a:rPr>
              <a:t>&gt;</a:t>
            </a:r>
          </a:p>
          <a:p>
            <a:pPr eaLnBrk="0" hangingPunct="0">
              <a:buClr>
                <a:schemeClr val="accent5">
                  <a:lumMod val="40000"/>
                  <a:lumOff val="60000"/>
                </a:schemeClr>
              </a:buClr>
              <a:buSzPct val="70000"/>
              <a:defRPr/>
            </a:pPr>
            <a:r>
              <a:rPr lang="en-US" sz="3199" b="1" noProof="1">
                <a:latin typeface="Consolas" pitchFamily="49" charset="0"/>
                <a:cs typeface="Consolas" pitchFamily="49" charset="0"/>
              </a:rPr>
              <a:t>  &lt;</a:t>
            </a:r>
            <a:r>
              <a:rPr lang="en-US" sz="3199" b="1" noProof="1">
                <a:solidFill>
                  <a:schemeClr val="bg1"/>
                </a:solidFill>
                <a:latin typeface="Consolas" pitchFamily="49" charset="0"/>
                <a:cs typeface="Consolas" pitchFamily="49" charset="0"/>
              </a:rPr>
              <a:t>dt</a:t>
            </a:r>
            <a:r>
              <a:rPr lang="en-US" sz="3199" b="1" noProof="1">
                <a:latin typeface="Consolas" pitchFamily="49" charset="0"/>
                <a:cs typeface="Consolas" pitchFamily="49" charset="0"/>
              </a:rPr>
              <a:t>&gt;HTML&lt;/</a:t>
            </a:r>
            <a:r>
              <a:rPr lang="en-US" sz="3199" b="1" noProof="1">
                <a:solidFill>
                  <a:schemeClr val="bg1"/>
                </a:solidFill>
                <a:latin typeface="Consolas" pitchFamily="49" charset="0"/>
                <a:cs typeface="Consolas" pitchFamily="49" charset="0"/>
              </a:rPr>
              <a:t>dt</a:t>
            </a:r>
            <a:r>
              <a:rPr lang="en-US" sz="3199" b="1" noProof="1">
                <a:latin typeface="Consolas" pitchFamily="49" charset="0"/>
                <a:cs typeface="Consolas" pitchFamily="49" charset="0"/>
              </a:rPr>
              <a:t>&gt;</a:t>
            </a:r>
          </a:p>
          <a:p>
            <a:pPr eaLnBrk="0" hangingPunct="0">
              <a:buClr>
                <a:schemeClr val="accent5">
                  <a:lumMod val="40000"/>
                  <a:lumOff val="60000"/>
                </a:schemeClr>
              </a:buClr>
              <a:buSzPct val="70000"/>
              <a:defRPr/>
            </a:pPr>
            <a:r>
              <a:rPr lang="en-US" sz="3199" b="1" noProof="1">
                <a:latin typeface="Consolas" pitchFamily="49" charset="0"/>
                <a:cs typeface="Consolas" pitchFamily="49" charset="0"/>
              </a:rPr>
              <a:t>  &lt;</a:t>
            </a:r>
            <a:r>
              <a:rPr lang="en-US" sz="3199" b="1" noProof="1">
                <a:solidFill>
                  <a:schemeClr val="bg1"/>
                </a:solidFill>
                <a:latin typeface="Consolas" pitchFamily="49" charset="0"/>
                <a:cs typeface="Consolas" pitchFamily="49" charset="0"/>
              </a:rPr>
              <a:t>dd</a:t>
            </a:r>
            <a:r>
              <a:rPr lang="en-US" sz="3199" b="1" noProof="1">
                <a:latin typeface="Consolas" pitchFamily="49" charset="0"/>
                <a:cs typeface="Consolas" pitchFamily="49" charset="0"/>
              </a:rPr>
              <a:t>&gt;A markup language …&lt;/</a:t>
            </a:r>
            <a:r>
              <a:rPr lang="en-US" sz="3199" b="1" noProof="1">
                <a:solidFill>
                  <a:schemeClr val="bg1"/>
                </a:solidFill>
                <a:latin typeface="Consolas" pitchFamily="49" charset="0"/>
                <a:cs typeface="Consolas" pitchFamily="49" charset="0"/>
              </a:rPr>
              <a:t>dd</a:t>
            </a:r>
            <a:r>
              <a:rPr lang="en-US" sz="3199" b="1" noProof="1">
                <a:latin typeface="Consolas" pitchFamily="49" charset="0"/>
                <a:cs typeface="Consolas" pitchFamily="49" charset="0"/>
              </a:rPr>
              <a:t>&gt;</a:t>
            </a:r>
          </a:p>
          <a:p>
            <a:pPr eaLnBrk="0" hangingPunct="0">
              <a:buClr>
                <a:schemeClr val="accent5">
                  <a:lumMod val="40000"/>
                  <a:lumOff val="60000"/>
                </a:schemeClr>
              </a:buClr>
              <a:buSzPct val="70000"/>
              <a:defRPr/>
            </a:pPr>
            <a:r>
              <a:rPr lang="en-US" sz="3199" b="1" noProof="1">
                <a:latin typeface="Consolas" pitchFamily="49" charset="0"/>
                <a:cs typeface="Consolas" pitchFamily="49" charset="0"/>
              </a:rPr>
              <a:t>  &lt;</a:t>
            </a:r>
            <a:r>
              <a:rPr lang="en-US" sz="3199" b="1" noProof="1">
                <a:solidFill>
                  <a:schemeClr val="bg1"/>
                </a:solidFill>
                <a:latin typeface="Consolas" pitchFamily="49" charset="0"/>
                <a:cs typeface="Consolas" pitchFamily="49" charset="0"/>
              </a:rPr>
              <a:t>dt</a:t>
            </a:r>
            <a:r>
              <a:rPr lang="en-US" sz="3199" b="1" noProof="1">
                <a:latin typeface="Consolas" pitchFamily="49" charset="0"/>
                <a:cs typeface="Consolas" pitchFamily="49" charset="0"/>
              </a:rPr>
              <a:t>&gt;CSS&lt;/</a:t>
            </a:r>
            <a:r>
              <a:rPr lang="en-US" sz="3199" b="1" noProof="1">
                <a:solidFill>
                  <a:schemeClr val="bg1"/>
                </a:solidFill>
                <a:latin typeface="Consolas" pitchFamily="49" charset="0"/>
                <a:cs typeface="Consolas" pitchFamily="49" charset="0"/>
              </a:rPr>
              <a:t>dt</a:t>
            </a:r>
            <a:r>
              <a:rPr lang="en-US" sz="3199" b="1" noProof="1">
                <a:latin typeface="Consolas" pitchFamily="49" charset="0"/>
                <a:cs typeface="Consolas" pitchFamily="49" charset="0"/>
              </a:rPr>
              <a:t>&gt;</a:t>
            </a:r>
          </a:p>
          <a:p>
            <a:pPr eaLnBrk="0" hangingPunct="0">
              <a:buClr>
                <a:schemeClr val="accent5">
                  <a:lumMod val="40000"/>
                  <a:lumOff val="60000"/>
                </a:schemeClr>
              </a:buClr>
              <a:buSzPct val="70000"/>
              <a:defRPr/>
            </a:pPr>
            <a:r>
              <a:rPr lang="en-US" sz="3199" b="1" noProof="1">
                <a:latin typeface="Consolas" pitchFamily="49" charset="0"/>
                <a:cs typeface="Consolas" pitchFamily="49" charset="0"/>
              </a:rPr>
              <a:t>  &lt;</a:t>
            </a:r>
            <a:r>
              <a:rPr lang="en-US" sz="3199" b="1" noProof="1">
                <a:solidFill>
                  <a:schemeClr val="bg1"/>
                </a:solidFill>
                <a:latin typeface="Consolas" pitchFamily="49" charset="0"/>
                <a:cs typeface="Consolas" pitchFamily="49" charset="0"/>
              </a:rPr>
              <a:t>dd</a:t>
            </a:r>
            <a:r>
              <a:rPr lang="en-US" sz="3199" b="1" noProof="1">
                <a:latin typeface="Consolas" pitchFamily="49" charset="0"/>
                <a:cs typeface="Consolas" pitchFamily="49" charset="0"/>
              </a:rPr>
              <a:t>&gt;Language used to …&lt;/</a:t>
            </a:r>
            <a:r>
              <a:rPr lang="en-US" sz="3199" b="1" noProof="1">
                <a:solidFill>
                  <a:schemeClr val="bg1"/>
                </a:solidFill>
                <a:latin typeface="Consolas" pitchFamily="49" charset="0"/>
                <a:cs typeface="Consolas" pitchFamily="49" charset="0"/>
              </a:rPr>
              <a:t>dd</a:t>
            </a:r>
            <a:r>
              <a:rPr lang="en-US" sz="3199" b="1" noProof="1">
                <a:latin typeface="Consolas" pitchFamily="49" charset="0"/>
                <a:cs typeface="Consolas" pitchFamily="49" charset="0"/>
              </a:rPr>
              <a:t>&gt;</a:t>
            </a:r>
          </a:p>
          <a:p>
            <a:pPr eaLnBrk="0" hangingPunct="0">
              <a:buClr>
                <a:schemeClr val="accent5">
                  <a:lumMod val="40000"/>
                  <a:lumOff val="60000"/>
                </a:schemeClr>
              </a:buClr>
              <a:buSzPct val="70000"/>
              <a:defRPr/>
            </a:pPr>
            <a:r>
              <a:rPr lang="en-US" sz="3199" b="1" noProof="1">
                <a:latin typeface="Consolas" pitchFamily="49" charset="0"/>
                <a:cs typeface="Consolas" pitchFamily="49" charset="0"/>
              </a:rPr>
              <a:t>&lt;/</a:t>
            </a:r>
            <a:r>
              <a:rPr lang="en-US" sz="3199" b="1" noProof="1">
                <a:solidFill>
                  <a:schemeClr val="bg1"/>
                </a:solidFill>
                <a:latin typeface="Consolas" pitchFamily="49" charset="0"/>
                <a:cs typeface="Consolas" pitchFamily="49" charset="0"/>
              </a:rPr>
              <a:t>dl</a:t>
            </a:r>
            <a:r>
              <a:rPr lang="en-US" sz="3199" b="1" noProof="1">
                <a:latin typeface="Consolas" pitchFamily="49" charset="0"/>
                <a:cs typeface="Consolas" pitchFamily="49" charset="0"/>
              </a:rPr>
              <a:t>&gt;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0367" y="3085189"/>
            <a:ext cx="4376197" cy="2941379"/>
          </a:xfrm>
          <a:prstGeom prst="rect">
            <a:avLst/>
          </a:prstGeom>
          <a:ln>
            <a:noFill/>
          </a:ln>
          <a:effectLst>
            <a:outerShdw blurRad="292100" dist="139700" dir="2700000" algn="tl" rotWithShape="0">
              <a:srgbClr val="333333">
                <a:alpha val="65000"/>
              </a:srgbClr>
            </a:outerShdw>
          </a:effectLst>
        </p:spPr>
      </p:pic>
      <p:sp>
        <p:nvSpPr>
          <p:cNvPr id="8" name="Slide Number">
            <a:extLst>
              <a:ext uri="{FF2B5EF4-FFF2-40B4-BE49-F238E27FC236}">
                <a16:creationId xmlns:a16="http://schemas.microsoft.com/office/drawing/2014/main" id="{49DF49C1-983B-481F-9456-E3E79F2BAE4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30</a:t>
            </a:fld>
            <a:endParaRPr lang="en-US" noProof="0" dirty="0"/>
          </a:p>
        </p:txBody>
      </p:sp>
    </p:spTree>
    <p:extLst>
      <p:ext uri="{BB962C8B-B14F-4D97-AF65-F5344CB8AC3E}">
        <p14:creationId xmlns:p14="http://schemas.microsoft.com/office/powerpoint/2010/main" val="12691014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18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9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E232-2B46-A3F1-B7AF-0B1F6A5824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1A8AED-0CCC-C113-17E3-803594310C27}"/>
              </a:ext>
            </a:extLst>
          </p:cNvPr>
          <p:cNvSpPr>
            <a:spLocks noGrp="1"/>
          </p:cNvSpPr>
          <p:nvPr>
            <p:ph type="title" sz="quarter" idx="10"/>
          </p:nvPr>
        </p:nvSpPr>
        <p:spPr/>
        <p:txBody>
          <a:bodyPr/>
          <a:lstStyle/>
          <a:p>
            <a:r>
              <a:rPr lang="en-US" dirty="0"/>
              <a:t>Common HTML Attributes</a:t>
            </a:r>
          </a:p>
        </p:txBody>
      </p:sp>
      <p:sp>
        <p:nvSpPr>
          <p:cNvPr id="6" name="Slide Number">
            <a:extLst>
              <a:ext uri="{FF2B5EF4-FFF2-40B4-BE49-F238E27FC236}">
                <a16:creationId xmlns:a16="http://schemas.microsoft.com/office/drawing/2014/main" id="{641287AD-EEB4-DF70-4C96-F123523D919B}"/>
              </a:ext>
            </a:extLst>
          </p:cNvPr>
          <p:cNvSpPr>
            <a:spLocks noGrp="1"/>
          </p:cNvSpPr>
          <p:nvPr>
            <p:ph type="sldNum" sz="quarter" idx="4294967295"/>
          </p:nvPr>
        </p:nvSpPr>
        <p:spPr>
          <a:xfrm>
            <a:off x="11823700" y="6507163"/>
            <a:ext cx="368300" cy="296862"/>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31</a:t>
            </a:fld>
            <a:endParaRPr lang="en-US" noProof="0" dirty="0"/>
          </a:p>
        </p:txBody>
      </p:sp>
      <p:pic>
        <p:nvPicPr>
          <p:cNvPr id="8" name="Picture 4">
            <a:extLst>
              <a:ext uri="{FF2B5EF4-FFF2-40B4-BE49-F238E27FC236}">
                <a16:creationId xmlns:a16="http://schemas.microsoft.com/office/drawing/2014/main" id="{4C0C0972-8601-86D3-3448-969898E623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62635" y="1179000"/>
            <a:ext cx="2866729" cy="28667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919173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41D4E1A7-AD6F-B3A6-106B-441912853906}"/>
              </a:ext>
            </a:extLst>
          </p:cNvPr>
          <p:cNvSpPr>
            <a:spLocks noGrp="1"/>
          </p:cNvSpPr>
          <p:nvPr>
            <p:ph type="body" sz="quarter" idx="10"/>
          </p:nvPr>
        </p:nvSpPr>
        <p:spPr/>
        <p:txBody>
          <a:bodyPr>
            <a:normAutofit/>
          </a:bodyPr>
          <a:lstStyle/>
          <a:p>
            <a:pPr>
              <a:lnSpc>
                <a:spcPct val="110000"/>
              </a:lnSpc>
              <a:buClr>
                <a:schemeClr val="tx1"/>
              </a:buClr>
            </a:pPr>
            <a:r>
              <a:rPr lang="en-US" sz="3600" b="1" dirty="0">
                <a:solidFill>
                  <a:schemeClr val="bg1"/>
                </a:solidFill>
              </a:rPr>
              <a:t>Attributes</a:t>
            </a:r>
            <a:r>
              <a:rPr lang="en-US" sz="3600" b="0" dirty="0"/>
              <a:t> provide </a:t>
            </a:r>
            <a:r>
              <a:rPr lang="en-US" sz="3600" b="1" dirty="0">
                <a:solidFill>
                  <a:schemeClr val="bg1"/>
                </a:solidFill>
              </a:rPr>
              <a:t>additional</a:t>
            </a:r>
            <a:r>
              <a:rPr lang="en-US" sz="3600" b="0" dirty="0"/>
              <a:t> information about </a:t>
            </a:r>
            <a:br>
              <a:rPr lang="en-US" sz="3600" b="0" dirty="0"/>
            </a:br>
            <a:r>
              <a:rPr lang="en-US" sz="3600" b="0" dirty="0"/>
              <a:t>HTML elements</a:t>
            </a:r>
          </a:p>
          <a:p>
            <a:pPr>
              <a:lnSpc>
                <a:spcPct val="110000"/>
              </a:lnSpc>
              <a:buClr>
                <a:schemeClr val="tx1"/>
              </a:buClr>
            </a:pPr>
            <a:r>
              <a:rPr lang="en-US" sz="3600" b="0" dirty="0"/>
              <a:t>Tags elements can have </a:t>
            </a:r>
            <a:r>
              <a:rPr lang="en-US" sz="3600" b="1" dirty="0">
                <a:solidFill>
                  <a:schemeClr val="bg1"/>
                </a:solidFill>
              </a:rPr>
              <a:t>attributes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Tag Attributes</a:t>
            </a:r>
          </a:p>
        </p:txBody>
      </p:sp>
      <p:pic>
        <p:nvPicPr>
          <p:cNvPr id="5122" name="Picture 2" descr="Anatomy of an HTML Tag">
            <a:extLst>
              <a:ext uri="{FF2B5EF4-FFF2-40B4-BE49-F238E27FC236}">
                <a16:creationId xmlns:a16="http://schemas.microsoft.com/office/drawing/2014/main" id="{6A4D4A81-513A-84E1-0AA0-80AB6116F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3429000"/>
            <a:ext cx="6667500" cy="30194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6418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41D4E1A7-AD6F-B3A6-106B-441912853906}"/>
              </a:ext>
            </a:extLst>
          </p:cNvPr>
          <p:cNvSpPr>
            <a:spLocks noGrp="1"/>
          </p:cNvSpPr>
          <p:nvPr>
            <p:ph type="body" sz="quarter" idx="10"/>
          </p:nvPr>
        </p:nvSpPr>
        <p:spPr/>
        <p:txBody>
          <a:bodyPr/>
          <a:lstStyle/>
          <a:p>
            <a:pPr>
              <a:lnSpc>
                <a:spcPct val="110000"/>
              </a:lnSpc>
            </a:pPr>
            <a:r>
              <a:rPr lang="en-US" sz="3600" b="0" dirty="0"/>
              <a:t>Attributes provide </a:t>
            </a:r>
            <a:r>
              <a:rPr lang="en-US" sz="3600" b="1" dirty="0">
                <a:solidFill>
                  <a:schemeClr val="bg1"/>
                </a:solidFill>
              </a:rPr>
              <a:t>additional</a:t>
            </a:r>
            <a:r>
              <a:rPr lang="en-US" sz="3600" b="0" dirty="0"/>
              <a:t> information about an </a:t>
            </a:r>
            <a:r>
              <a:rPr lang="en-US" sz="3600" b="1" dirty="0">
                <a:solidFill>
                  <a:schemeClr val="bg1"/>
                </a:solidFill>
              </a:rPr>
              <a:t>element</a:t>
            </a:r>
          </a:p>
          <a:p>
            <a:pPr>
              <a:lnSpc>
                <a:spcPct val="110000"/>
              </a:lnSpc>
            </a:pPr>
            <a:r>
              <a:rPr lang="en-US" sz="3600" b="0" dirty="0"/>
              <a:t>Attributes are </a:t>
            </a:r>
            <a:r>
              <a:rPr lang="en-US" sz="3600" b="1" dirty="0">
                <a:solidFill>
                  <a:schemeClr val="bg1"/>
                </a:solidFill>
              </a:rPr>
              <a:t>always</a:t>
            </a:r>
            <a:r>
              <a:rPr lang="en-US" sz="3600" b="0" dirty="0"/>
              <a:t> specified in the </a:t>
            </a:r>
            <a:r>
              <a:rPr lang="en-US" sz="3600" b="1" dirty="0">
                <a:solidFill>
                  <a:schemeClr val="bg1"/>
                </a:solidFill>
              </a:rPr>
              <a:t>start tag</a:t>
            </a:r>
          </a:p>
          <a:p>
            <a:pPr>
              <a:lnSpc>
                <a:spcPct val="110000"/>
              </a:lnSpc>
            </a:pPr>
            <a:r>
              <a:rPr lang="en-US" sz="3600" b="0" dirty="0"/>
              <a:t>Attributes come in </a:t>
            </a:r>
            <a:r>
              <a:rPr lang="en-US" sz="3600" b="1" dirty="0">
                <a:solidFill>
                  <a:schemeClr val="bg1"/>
                </a:solidFill>
              </a:rPr>
              <a:t>name</a:t>
            </a:r>
            <a:r>
              <a:rPr lang="en-US" sz="3600" b="0" dirty="0"/>
              <a:t>/</a:t>
            </a:r>
            <a:r>
              <a:rPr lang="en-US" sz="3600" b="1" dirty="0">
                <a:solidFill>
                  <a:schemeClr val="bg1"/>
                </a:solidFill>
              </a:rPr>
              <a:t>value pairs</a:t>
            </a:r>
            <a:r>
              <a:rPr lang="en-US" sz="3600" b="0" dirty="0">
                <a:solidFill>
                  <a:schemeClr val="bg1"/>
                </a:solidFill>
              </a:rPr>
              <a:t> </a:t>
            </a:r>
            <a:r>
              <a:rPr lang="en-US" sz="3600" b="0" dirty="0"/>
              <a:t>like - </a:t>
            </a:r>
            <a:r>
              <a:rPr lang="en-US" sz="3600" b="1" dirty="0">
                <a:solidFill>
                  <a:schemeClr val="bg1"/>
                </a:solidFill>
              </a:rPr>
              <a:t>name="value"</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Tag Attributes</a:t>
            </a:r>
          </a:p>
        </p:txBody>
      </p:sp>
      <p:pic>
        <p:nvPicPr>
          <p:cNvPr id="5" name="Picture 6">
            <a:extLst>
              <a:ext uri="{FF2B5EF4-FFF2-40B4-BE49-F238E27FC236}">
                <a16:creationId xmlns:a16="http://schemas.microsoft.com/office/drawing/2014/main" id="{CA1D38FD-9BD1-BB8B-1AB5-2B512F0788FA}"/>
              </a:ext>
            </a:extLst>
          </p:cNvPr>
          <p:cNvPicPr>
            <a:picLocks noChangeAspect="1"/>
          </p:cNvPicPr>
          <p:nvPr/>
        </p:nvPicPr>
        <p:blipFill>
          <a:blip r:embed="rId2"/>
          <a:stretch>
            <a:fillRect/>
          </a:stretch>
        </p:blipFill>
        <p:spPr>
          <a:xfrm>
            <a:off x="1731409" y="4014000"/>
            <a:ext cx="8729182" cy="2115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2232483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Текстов контейнер 9">
            <a:extLst>
              <a:ext uri="{FF2B5EF4-FFF2-40B4-BE49-F238E27FC236}">
                <a16:creationId xmlns:a16="http://schemas.microsoft.com/office/drawing/2014/main" id="{48474664-4C74-F013-CEFE-38ED25E9F7B3}"/>
              </a:ext>
            </a:extLst>
          </p:cNvPr>
          <p:cNvSpPr>
            <a:spLocks noGrp="1"/>
          </p:cNvSpPr>
          <p:nvPr>
            <p:ph type="body" sz="quarter" idx="10"/>
          </p:nvPr>
        </p:nvSpPr>
        <p:spPr/>
        <p:txBody>
          <a:bodyPr/>
          <a:lstStyle/>
          <a:p>
            <a:pPr>
              <a:buClr>
                <a:schemeClr val="tx1"/>
              </a:buClr>
            </a:pPr>
            <a:r>
              <a:rPr lang="en-US" sz="3400" b="1" dirty="0" err="1">
                <a:solidFill>
                  <a:schemeClr val="bg1"/>
                </a:solidFill>
              </a:rPr>
              <a:t>href</a:t>
            </a:r>
            <a:r>
              <a:rPr lang="en-US" sz="3400" b="0" dirty="0"/>
              <a:t> – gives the tag the location information for the link</a:t>
            </a:r>
          </a:p>
          <a:p>
            <a:endParaRPr lang="bg-BG" sz="3400" dirty="0"/>
          </a:p>
          <a:p>
            <a:endParaRPr lang="bg-BG" sz="3400" dirty="0"/>
          </a:p>
          <a:p>
            <a:pPr marL="0" indent="0">
              <a:buNone/>
            </a:pPr>
            <a:endParaRPr lang="en-US" sz="3400" dirty="0"/>
          </a:p>
          <a:p>
            <a:pPr>
              <a:buClr>
                <a:schemeClr val="tx1"/>
              </a:buClr>
            </a:pPr>
            <a:r>
              <a:rPr lang="en-US" sz="3400" b="1" dirty="0" err="1">
                <a:solidFill>
                  <a:schemeClr val="bg1"/>
                </a:solidFill>
              </a:rPr>
              <a:t>src</a:t>
            </a:r>
            <a:r>
              <a:rPr lang="en-US" sz="3400" b="0" dirty="0"/>
              <a:t> – tells the tag where to look for the image file</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Tag Attributes</a:t>
            </a:r>
          </a:p>
        </p:txBody>
      </p:sp>
      <p:pic>
        <p:nvPicPr>
          <p:cNvPr id="3" name="Картина 2">
            <a:extLst>
              <a:ext uri="{FF2B5EF4-FFF2-40B4-BE49-F238E27FC236}">
                <a16:creationId xmlns:a16="http://schemas.microsoft.com/office/drawing/2014/main" id="{76E210C1-4A60-920F-7C88-9D85B380CEA2}"/>
              </a:ext>
            </a:extLst>
          </p:cNvPr>
          <p:cNvPicPr>
            <a:picLocks noChangeAspect="1"/>
          </p:cNvPicPr>
          <p:nvPr/>
        </p:nvPicPr>
        <p:blipFill>
          <a:blip r:embed="rId2"/>
          <a:stretch>
            <a:fillRect/>
          </a:stretch>
        </p:blipFill>
        <p:spPr>
          <a:xfrm>
            <a:off x="655796" y="2034000"/>
            <a:ext cx="6615000" cy="1642152"/>
          </a:xfrm>
          <a:prstGeom prst="rect">
            <a:avLst/>
          </a:prstGeom>
          <a:ln>
            <a:noFill/>
          </a:ln>
          <a:effectLst>
            <a:outerShdw blurRad="292100" dist="139700" dir="2700000" algn="tl" rotWithShape="0">
              <a:srgbClr val="333333">
                <a:alpha val="65000"/>
              </a:srgbClr>
            </a:outerShdw>
          </a:effectLst>
        </p:spPr>
      </p:pic>
      <p:pic>
        <p:nvPicPr>
          <p:cNvPr id="6" name="Картина 5">
            <a:extLst>
              <a:ext uri="{FF2B5EF4-FFF2-40B4-BE49-F238E27FC236}">
                <a16:creationId xmlns:a16="http://schemas.microsoft.com/office/drawing/2014/main" id="{4C7F3501-B832-CFDC-B188-91F2199477BF}"/>
              </a:ext>
            </a:extLst>
          </p:cNvPr>
          <p:cNvPicPr>
            <a:picLocks noChangeAspect="1"/>
          </p:cNvPicPr>
          <p:nvPr/>
        </p:nvPicPr>
        <p:blipFill>
          <a:blip r:embed="rId3"/>
          <a:stretch>
            <a:fillRect/>
          </a:stretch>
        </p:blipFill>
        <p:spPr>
          <a:xfrm>
            <a:off x="655796" y="4681664"/>
            <a:ext cx="4265405" cy="19604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8562101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EA182034-03AF-6B15-6050-972F4FD9C1AE}"/>
              </a:ext>
            </a:extLst>
          </p:cNvPr>
          <p:cNvSpPr>
            <a:spLocks noGrp="1"/>
          </p:cNvSpPr>
          <p:nvPr>
            <p:ph type="body" sz="quarter" idx="10"/>
          </p:nvPr>
        </p:nvSpPr>
        <p:spPr/>
        <p:txBody>
          <a:bodyPr>
            <a:noAutofit/>
          </a:bodyPr>
          <a:lstStyle/>
          <a:p>
            <a:pPr>
              <a:buClr>
                <a:schemeClr val="tx1"/>
              </a:buClr>
            </a:pPr>
            <a:r>
              <a:rPr lang="en-GB" sz="3200" dirty="0"/>
              <a:t>Some tips</a:t>
            </a:r>
          </a:p>
          <a:p>
            <a:pPr lvl="1">
              <a:lnSpc>
                <a:spcPct val="110000"/>
              </a:lnSpc>
              <a:buClr>
                <a:schemeClr val="tx1"/>
              </a:buClr>
            </a:pPr>
            <a:r>
              <a:rPr lang="en-US" sz="3000" b="0" dirty="0"/>
              <a:t>Always </a:t>
            </a:r>
            <a:r>
              <a:rPr lang="en-US" sz="3000" b="1" dirty="0">
                <a:solidFill>
                  <a:schemeClr val="bg1"/>
                </a:solidFill>
              </a:rPr>
              <a:t>Quote Attribute Values</a:t>
            </a:r>
            <a:r>
              <a:rPr lang="en-US" sz="3000" b="0" dirty="0"/>
              <a:t>. Attribute values should always be </a:t>
            </a:r>
            <a:r>
              <a:rPr lang="en-US" sz="3000" b="1" dirty="0">
                <a:solidFill>
                  <a:schemeClr val="bg1"/>
                </a:solidFill>
              </a:rPr>
              <a:t>enclosed</a:t>
            </a:r>
            <a:r>
              <a:rPr lang="en-US" sz="3000" b="0" dirty="0"/>
              <a:t> in quotes</a:t>
            </a:r>
          </a:p>
          <a:p>
            <a:pPr lvl="1">
              <a:lnSpc>
                <a:spcPct val="110000"/>
              </a:lnSpc>
              <a:buClr>
                <a:schemeClr val="tx1"/>
              </a:buClr>
            </a:pPr>
            <a:r>
              <a:rPr lang="en-US" sz="3000" b="1" dirty="0">
                <a:solidFill>
                  <a:schemeClr val="bg1"/>
                </a:solidFill>
              </a:rPr>
              <a:t>Double style quotes</a:t>
            </a:r>
            <a:r>
              <a:rPr lang="en-US" sz="3000" b="0" dirty="0">
                <a:solidFill>
                  <a:schemeClr val="bg1"/>
                </a:solidFill>
              </a:rPr>
              <a:t> </a:t>
            </a:r>
            <a:r>
              <a:rPr lang="en-US" sz="3000" b="0" dirty="0"/>
              <a:t>are the </a:t>
            </a:r>
            <a:r>
              <a:rPr lang="en-US" sz="3000" b="1" dirty="0">
                <a:solidFill>
                  <a:schemeClr val="bg1"/>
                </a:solidFill>
              </a:rPr>
              <a:t>most</a:t>
            </a:r>
            <a:r>
              <a:rPr lang="en-US" sz="3000" b="0" dirty="0"/>
              <a:t> </a:t>
            </a:r>
            <a:r>
              <a:rPr lang="en-US" sz="3000" b="1" dirty="0">
                <a:solidFill>
                  <a:schemeClr val="bg1"/>
                </a:solidFill>
              </a:rPr>
              <a:t>common</a:t>
            </a:r>
            <a:r>
              <a:rPr lang="en-US" sz="3000" b="0" dirty="0"/>
              <a:t>, but </a:t>
            </a:r>
            <a:r>
              <a:rPr lang="en-US" sz="3000" b="1" dirty="0">
                <a:solidFill>
                  <a:schemeClr val="bg1"/>
                </a:solidFill>
              </a:rPr>
              <a:t>single style quotes </a:t>
            </a:r>
            <a:r>
              <a:rPr lang="en-US" sz="3000" b="0" dirty="0"/>
              <a:t>are also allowed</a:t>
            </a:r>
          </a:p>
          <a:p>
            <a:pPr lvl="1">
              <a:lnSpc>
                <a:spcPct val="110000"/>
              </a:lnSpc>
              <a:buClr>
                <a:schemeClr val="tx1"/>
              </a:buClr>
            </a:pPr>
            <a:r>
              <a:rPr lang="en-US" sz="3000" b="0" dirty="0"/>
              <a:t>Be careful when </a:t>
            </a:r>
            <a:r>
              <a:rPr lang="en-US" sz="3000" b="1" dirty="0">
                <a:solidFill>
                  <a:schemeClr val="bg1"/>
                </a:solidFill>
              </a:rPr>
              <a:t>combining</a:t>
            </a:r>
            <a:r>
              <a:rPr lang="en-US" sz="3000" b="0" dirty="0"/>
              <a:t> </a:t>
            </a:r>
            <a:r>
              <a:rPr lang="en-US" sz="3000" b="1" dirty="0">
                <a:solidFill>
                  <a:schemeClr val="bg1"/>
                </a:solidFill>
              </a:rPr>
              <a:t>single</a:t>
            </a:r>
            <a:r>
              <a:rPr lang="en-US" sz="3000" b="0" dirty="0"/>
              <a:t> and </a:t>
            </a:r>
            <a:r>
              <a:rPr lang="en-US" sz="3000" b="1" dirty="0">
                <a:solidFill>
                  <a:schemeClr val="bg1"/>
                </a:solidFill>
              </a:rPr>
              <a:t>double</a:t>
            </a:r>
            <a:r>
              <a:rPr lang="en-US" sz="3000" b="0" dirty="0"/>
              <a:t> quotes, make sure you use </a:t>
            </a:r>
            <a:r>
              <a:rPr lang="en-US" sz="3000" b="1" dirty="0">
                <a:solidFill>
                  <a:schemeClr val="bg1"/>
                </a:solidFill>
              </a:rPr>
              <a:t>only one type</a:t>
            </a:r>
          </a:p>
          <a:p>
            <a:pPr lvl="1">
              <a:lnSpc>
                <a:spcPct val="110000"/>
              </a:lnSpc>
              <a:buClr>
                <a:schemeClr val="tx1"/>
              </a:buClr>
            </a:pPr>
            <a:r>
              <a:rPr lang="en-GB" sz="3000" dirty="0">
                <a:hlinkClick r:id="rId2"/>
              </a:rPr>
              <a:t>Reference Documentation</a:t>
            </a:r>
            <a:endParaRPr lang="en-US" sz="32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Tag Attributes</a:t>
            </a:r>
          </a:p>
        </p:txBody>
      </p:sp>
    </p:spTree>
    <p:extLst>
      <p:ext uri="{BB962C8B-B14F-4D97-AF65-F5344CB8AC3E}">
        <p14:creationId xmlns:p14="http://schemas.microsoft.com/office/powerpoint/2010/main" val="360184889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FFD79421-F038-DF74-CDE9-60E8F5C5F3DA}"/>
              </a:ext>
            </a:extLst>
          </p:cNvPr>
          <p:cNvSpPr>
            <a:spLocks noGrp="1"/>
          </p:cNvSpPr>
          <p:nvPr>
            <p:ph type="body" sz="quarter" idx="10"/>
          </p:nvPr>
        </p:nvSpPr>
        <p:spPr/>
        <p:txBody>
          <a:bodyPr>
            <a:normAutofit/>
          </a:bodyPr>
          <a:lstStyle/>
          <a:p>
            <a:pPr>
              <a:lnSpc>
                <a:spcPct val="110000"/>
              </a:lnSpc>
              <a:buClr>
                <a:schemeClr val="tx1"/>
              </a:buClr>
            </a:pPr>
            <a:r>
              <a:rPr lang="en-US" sz="3200" b="0" dirty="0"/>
              <a:t>The following tags can be added to the head section:</a:t>
            </a:r>
          </a:p>
          <a:p>
            <a:pPr lvl="1">
              <a:lnSpc>
                <a:spcPct val="110000"/>
              </a:lnSpc>
              <a:buClr>
                <a:schemeClr val="tx1"/>
              </a:buClr>
            </a:pPr>
            <a:r>
              <a:rPr lang="en-US" sz="3000" b="0" dirty="0"/>
              <a:t>&lt;title&gt;, &lt;style&gt;, &lt;meta&gt;, &lt;link&gt;, &lt;script&gt;, &lt;</a:t>
            </a:r>
            <a:r>
              <a:rPr lang="en-US" sz="3000" b="0" dirty="0" err="1"/>
              <a:t>noscript</a:t>
            </a:r>
            <a:r>
              <a:rPr lang="en-US" sz="3000" b="0" dirty="0"/>
              <a:t>&gt;</a:t>
            </a:r>
            <a:endParaRPr lang="en-GB" sz="3000" i="1" dirty="0"/>
          </a:p>
          <a:p>
            <a:pPr>
              <a:lnSpc>
                <a:spcPct val="110000"/>
              </a:lnSpc>
              <a:buClr>
                <a:schemeClr val="tx1"/>
              </a:buClr>
            </a:pPr>
            <a:r>
              <a:rPr lang="en-GB" sz="3200" dirty="0">
                <a:hlinkClick r:id="rId2"/>
              </a:rPr>
              <a:t>Reference Documentation</a:t>
            </a:r>
            <a:endParaRPr lang="en-US" sz="3200" b="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HTML Metadata Section</a:t>
            </a:r>
          </a:p>
        </p:txBody>
      </p:sp>
      <p:pic>
        <p:nvPicPr>
          <p:cNvPr id="6" name="Картина 5">
            <a:extLst>
              <a:ext uri="{FF2B5EF4-FFF2-40B4-BE49-F238E27FC236}">
                <a16:creationId xmlns:a16="http://schemas.microsoft.com/office/drawing/2014/main" id="{1B6F502D-EE1C-8C4F-73DE-37F776022D7D}"/>
              </a:ext>
            </a:extLst>
          </p:cNvPr>
          <p:cNvPicPr>
            <a:picLocks noChangeAspect="1"/>
          </p:cNvPicPr>
          <p:nvPr/>
        </p:nvPicPr>
        <p:blipFill>
          <a:blip r:embed="rId3"/>
          <a:stretch>
            <a:fillRect/>
          </a:stretch>
        </p:blipFill>
        <p:spPr>
          <a:xfrm>
            <a:off x="6186000" y="3968211"/>
            <a:ext cx="5898881" cy="1474720"/>
          </a:xfrm>
          <a:prstGeom prst="rect">
            <a:avLst/>
          </a:prstGeom>
          <a:ln>
            <a:noFill/>
          </a:ln>
          <a:effectLst>
            <a:outerShdw blurRad="292100" dist="139700" dir="2700000" algn="tl" rotWithShape="0">
              <a:srgbClr val="333333">
                <a:alpha val="65000"/>
              </a:srgbClr>
            </a:outerShdw>
          </a:effectLst>
        </p:spPr>
      </p:pic>
      <p:pic>
        <p:nvPicPr>
          <p:cNvPr id="10" name="Картина 9">
            <a:extLst>
              <a:ext uri="{FF2B5EF4-FFF2-40B4-BE49-F238E27FC236}">
                <a16:creationId xmlns:a16="http://schemas.microsoft.com/office/drawing/2014/main" id="{59DE4EBC-979F-6D00-63C2-98EC099F1D19}"/>
              </a:ext>
            </a:extLst>
          </p:cNvPr>
          <p:cNvPicPr>
            <a:picLocks noChangeAspect="1"/>
          </p:cNvPicPr>
          <p:nvPr/>
        </p:nvPicPr>
        <p:blipFill>
          <a:blip r:embed="rId4"/>
          <a:stretch>
            <a:fillRect/>
          </a:stretch>
        </p:blipFill>
        <p:spPr>
          <a:xfrm>
            <a:off x="649676" y="3429000"/>
            <a:ext cx="5459941" cy="31311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0604306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94DBE02F-E803-39EC-A1D5-0AD585E57D51}"/>
              </a:ext>
            </a:extLst>
          </p:cNvPr>
          <p:cNvSpPr>
            <a:spLocks noGrp="1"/>
          </p:cNvSpPr>
          <p:nvPr>
            <p:ph type="body" sz="quarter" idx="10"/>
          </p:nvPr>
        </p:nvSpPr>
        <p:spPr/>
        <p:txBody>
          <a:bodyPr>
            <a:normAutofit/>
          </a:bodyPr>
          <a:lstStyle/>
          <a:p>
            <a:r>
              <a:rPr lang="en-GB" sz="3600" dirty="0"/>
              <a:t>Title</a:t>
            </a:r>
            <a:endParaRPr lang="en-US" sz="3600" dirty="0"/>
          </a:p>
          <a:p>
            <a:endParaRPr lang="en-US" sz="3600" dirty="0"/>
          </a:p>
          <a:p>
            <a:endParaRPr lang="en-US" sz="3600" dirty="0"/>
          </a:p>
          <a:p>
            <a:r>
              <a:rPr lang="en-US" sz="3600" dirty="0"/>
              <a:t>Link</a:t>
            </a:r>
          </a:p>
          <a:p>
            <a:pPr lvl="1"/>
            <a:r>
              <a:rPr lang="en-US" sz="3400" b="0" dirty="0"/>
              <a:t>The </a:t>
            </a:r>
            <a:r>
              <a:rPr lang="en-US" sz="3400" b="1" dirty="0">
                <a:solidFill>
                  <a:schemeClr val="bg1"/>
                </a:solidFill>
              </a:rPr>
              <a:t>&lt;link&gt; </a:t>
            </a:r>
            <a:r>
              <a:rPr lang="en-US" sz="3400" b="0" dirty="0"/>
              <a:t>tag defines the relationship between a document and an external resource</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Metadata Section</a:t>
            </a:r>
          </a:p>
        </p:txBody>
      </p:sp>
      <p:sp>
        <p:nvSpPr>
          <p:cNvPr id="8" name="Текстово поле 7">
            <a:extLst>
              <a:ext uri="{FF2B5EF4-FFF2-40B4-BE49-F238E27FC236}">
                <a16:creationId xmlns:a16="http://schemas.microsoft.com/office/drawing/2014/main" id="{B038FC92-BBFC-1529-20DF-F429CA8FD3DE}"/>
              </a:ext>
            </a:extLst>
          </p:cNvPr>
          <p:cNvSpPr txBox="1"/>
          <p:nvPr/>
        </p:nvSpPr>
        <p:spPr>
          <a:xfrm>
            <a:off x="696000" y="1913803"/>
            <a:ext cx="7200429" cy="128875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head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title</a:t>
            </a:r>
            <a:r>
              <a:rPr lang="en-US" sz="2400" b="1" i="0" dirty="0">
                <a:effectLst/>
                <a:latin typeface="Consolas" panose="020B0609020204030204" pitchFamily="49" charset="0"/>
              </a:rPr>
              <a:t>&gt;HTML Document title&lt;/</a:t>
            </a:r>
            <a:r>
              <a:rPr lang="en-US" sz="2400" b="1" i="0" dirty="0">
                <a:solidFill>
                  <a:schemeClr val="bg1"/>
                </a:solidFill>
                <a:effectLst/>
                <a:latin typeface="Consolas" panose="020B0609020204030204" pitchFamily="49" charset="0"/>
              </a:rPr>
              <a:t>title</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head</a:t>
            </a:r>
            <a:r>
              <a:rPr lang="en-US" sz="2400" b="1" i="0" dirty="0">
                <a:effectLst/>
                <a:latin typeface="Consolas" panose="020B0609020204030204" pitchFamily="49" charset="0"/>
              </a:rPr>
              <a:t>&gt;</a:t>
            </a:r>
            <a:endParaRPr lang="en-US" sz="2400" b="1" dirty="0">
              <a:latin typeface="Consolas" panose="020B0609020204030204" pitchFamily="49" charset="0"/>
            </a:endParaRPr>
          </a:p>
        </p:txBody>
      </p:sp>
      <p:sp>
        <p:nvSpPr>
          <p:cNvPr id="14" name="Текстово поле 13">
            <a:extLst>
              <a:ext uri="{FF2B5EF4-FFF2-40B4-BE49-F238E27FC236}">
                <a16:creationId xmlns:a16="http://schemas.microsoft.com/office/drawing/2014/main" id="{CBB51402-C578-66B4-00DA-D6165C8759CB}"/>
              </a:ext>
            </a:extLst>
          </p:cNvPr>
          <p:cNvSpPr txBox="1"/>
          <p:nvPr/>
        </p:nvSpPr>
        <p:spPr>
          <a:xfrm>
            <a:off x="696000" y="5319000"/>
            <a:ext cx="10890000" cy="128875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solidFill>
                  <a:srgbClr val="657B83"/>
                </a:solidFill>
                <a:latin typeface="Consolas" panose="020B0609020204030204" pitchFamily="49" charset="0"/>
              </a:rPr>
              <a:t>	</a:t>
            </a: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link</a:t>
            </a:r>
            <a:r>
              <a:rPr lang="en-US" sz="2400" b="1" i="0" dirty="0">
                <a:solidFill>
                  <a:srgbClr val="657B83"/>
                </a:solidFill>
                <a:effectLst/>
                <a:latin typeface="Consolas" panose="020B0609020204030204" pitchFamily="49" charset="0"/>
              </a:rPr>
              <a:t> </a:t>
            </a:r>
            <a:r>
              <a:rPr lang="en-US" sz="2400" b="1" i="0" dirty="0" err="1">
                <a:solidFill>
                  <a:srgbClr val="B58900"/>
                </a:solidFill>
                <a:effectLst/>
                <a:latin typeface="Consolas" panose="020B0609020204030204" pitchFamily="49" charset="0"/>
              </a:rPr>
              <a:t>rel</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"stylesheet"</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type</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"text/</a:t>
            </a:r>
            <a:r>
              <a:rPr lang="en-US" sz="2400" b="1" i="0" dirty="0" err="1">
                <a:solidFill>
                  <a:srgbClr val="2AA198"/>
                </a:solidFill>
                <a:effectLst/>
                <a:latin typeface="Consolas" panose="020B0609020204030204" pitchFamily="49" charset="0"/>
              </a:rPr>
              <a:t>css</a:t>
            </a:r>
            <a:r>
              <a:rPr lang="en-US" sz="2400" b="1" i="0" dirty="0">
                <a:solidFill>
                  <a:srgbClr val="2AA198"/>
                </a:solidFill>
                <a:effectLst/>
                <a:latin typeface="Consolas" panose="020B0609020204030204" pitchFamily="49" charset="0"/>
              </a:rPr>
              <a:t>"</a:t>
            </a:r>
            <a:r>
              <a:rPr lang="en-US" sz="2400" b="1" i="0" dirty="0">
                <a:solidFill>
                  <a:srgbClr val="657B83"/>
                </a:solidFill>
                <a:effectLst/>
                <a:latin typeface="Consolas" panose="020B0609020204030204" pitchFamily="49" charset="0"/>
              </a:rPr>
              <a:t> </a:t>
            </a:r>
            <a:r>
              <a:rPr lang="en-US" sz="2400" b="1" i="0" dirty="0" err="1">
                <a:solidFill>
                  <a:srgbClr val="B58900"/>
                </a:solidFill>
                <a:effectLst/>
                <a:latin typeface="Consolas" panose="020B0609020204030204" pitchFamily="49" charset="0"/>
              </a:rPr>
              <a:t>href</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"mystyle.css"</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dirty="0">
                <a:latin typeface="Consolas" panose="020B0609020204030204" pitchFamily="49" charset="0"/>
              </a:rPr>
              <a:t>&gt;</a:t>
            </a:r>
            <a:endParaRPr lang="en-US" sz="2400" b="1" i="0" dirty="0">
              <a:effectLst/>
              <a:latin typeface="Consolas" panose="020B0609020204030204" pitchFamily="49" charset="0"/>
            </a:endParaRPr>
          </a:p>
        </p:txBody>
      </p:sp>
    </p:spTree>
    <p:extLst>
      <p:ext uri="{BB962C8B-B14F-4D97-AF65-F5344CB8AC3E}">
        <p14:creationId xmlns:p14="http://schemas.microsoft.com/office/powerpoint/2010/main" val="122487151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104FB592-F7A2-D5E1-8BA6-F68BC3EF87F7}"/>
              </a:ext>
            </a:extLst>
          </p:cNvPr>
          <p:cNvSpPr>
            <a:spLocks noGrp="1"/>
          </p:cNvSpPr>
          <p:nvPr>
            <p:ph type="body" sz="quarter" idx="10"/>
          </p:nvPr>
        </p:nvSpPr>
        <p:spPr/>
        <p:txBody>
          <a:bodyPr/>
          <a:lstStyle/>
          <a:p>
            <a:r>
              <a:rPr lang="en-GB" sz="3600" dirty="0"/>
              <a:t>Meta</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Metadata Section</a:t>
            </a:r>
          </a:p>
        </p:txBody>
      </p:sp>
      <p:sp>
        <p:nvSpPr>
          <p:cNvPr id="9" name="Текстово поле 8">
            <a:extLst>
              <a:ext uri="{FF2B5EF4-FFF2-40B4-BE49-F238E27FC236}">
                <a16:creationId xmlns:a16="http://schemas.microsoft.com/office/drawing/2014/main" id="{8EDA0B7B-FF80-B6DC-9749-74A5270784D6}"/>
              </a:ext>
            </a:extLst>
          </p:cNvPr>
          <p:cNvSpPr txBox="1"/>
          <p:nvPr/>
        </p:nvSpPr>
        <p:spPr>
          <a:xfrm>
            <a:off x="651000" y="1973751"/>
            <a:ext cx="11340000" cy="453887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solidFill>
                  <a:schemeClr val="accent2">
                    <a:lumMod val="50000"/>
                  </a:schemeClr>
                </a:solidFill>
                <a:effectLst/>
                <a:latin typeface="Consolas" panose="020B0609020204030204" pitchFamily="49" charset="0"/>
              </a:rPr>
              <a:t>	&lt;!-- Define keywords for search engines: --&gt;</a:t>
            </a:r>
          </a:p>
          <a:p>
            <a:pPr eaLnBrk="0" hangingPunct="0">
              <a:lnSpc>
                <a:spcPct val="110000"/>
              </a:lnSpc>
              <a:buClr>
                <a:schemeClr val="accent5">
                  <a:lumMod val="40000"/>
                  <a:lumOff val="60000"/>
                </a:schemeClr>
              </a:buClr>
              <a:buSzPct val="70000"/>
            </a:pPr>
            <a:r>
              <a:rPr lang="en-US" sz="2400" b="1" dirty="0">
                <a:solidFill>
                  <a:srgbClr val="93A1A1"/>
                </a:solidFill>
                <a:latin typeface="Consolas" panose="020B0609020204030204" pitchFamily="49" charset="0"/>
              </a:rPr>
              <a:t>	</a:t>
            </a: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meta</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name</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"keywords"</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content</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"HTML, CSS, XML, XHTML, JavaScript"</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endParaRPr lang="en-US" sz="2400" b="1" dirty="0">
              <a:solidFill>
                <a:srgbClr val="657B83"/>
              </a:solidFill>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	</a:t>
            </a:r>
            <a:r>
              <a:rPr lang="en-US" sz="2400" b="1" i="0" dirty="0">
                <a:solidFill>
                  <a:schemeClr val="accent2">
                    <a:lumMod val="50000"/>
                  </a:schemeClr>
                </a:solidFill>
                <a:effectLst/>
                <a:latin typeface="Consolas" panose="020B0609020204030204" pitchFamily="49" charset="0"/>
              </a:rPr>
              <a:t>&lt;!--Define a description of your web page:--&gt;</a:t>
            </a:r>
          </a:p>
          <a:p>
            <a:pPr eaLnBrk="0" hangingPunct="0">
              <a:lnSpc>
                <a:spcPct val="110000"/>
              </a:lnSpc>
              <a:buClr>
                <a:schemeClr val="accent5">
                  <a:lumMod val="40000"/>
                  <a:lumOff val="60000"/>
                </a:schemeClr>
              </a:buClr>
              <a:buSzPct val="70000"/>
            </a:pPr>
            <a:r>
              <a:rPr lang="en-US" sz="2400" b="1" dirty="0">
                <a:solidFill>
                  <a:srgbClr val="93A1A1"/>
                </a:solidFill>
                <a:latin typeface="Consolas" panose="020B0609020204030204" pitchFamily="49" charset="0"/>
              </a:rPr>
              <a:t>	</a:t>
            </a: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meta</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name</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"description"</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content</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”Courses on HTML and CSS"</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endParaRPr lang="en-US" sz="2400" b="1" dirty="0">
              <a:solidFill>
                <a:srgbClr val="657B83"/>
              </a:solidFill>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	</a:t>
            </a:r>
            <a:r>
              <a:rPr lang="en-US" sz="2400" b="1" i="0" dirty="0">
                <a:solidFill>
                  <a:schemeClr val="accent2">
                    <a:lumMod val="50000"/>
                  </a:schemeClr>
                </a:solidFill>
                <a:effectLst/>
                <a:latin typeface="Consolas" panose="020B0609020204030204" pitchFamily="49" charset="0"/>
              </a:rPr>
              <a:t>&lt;!--Define the author of a page:--&gt;</a:t>
            </a:r>
          </a:p>
          <a:p>
            <a:pPr eaLnBrk="0" hangingPunct="0">
              <a:lnSpc>
                <a:spcPct val="110000"/>
              </a:lnSpc>
              <a:buClr>
                <a:schemeClr val="accent5">
                  <a:lumMod val="40000"/>
                  <a:lumOff val="60000"/>
                </a:schemeClr>
              </a:buClr>
              <a:buSzPct val="70000"/>
            </a:pPr>
            <a:r>
              <a:rPr lang="en-US" sz="2400" b="1" dirty="0">
                <a:solidFill>
                  <a:srgbClr val="657B83"/>
                </a:solidFill>
                <a:latin typeface="Consolas" panose="020B0609020204030204" pitchFamily="49" charset="0"/>
              </a:rPr>
              <a:t>	</a:t>
            </a: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meta</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name</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"author"</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content</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”Koko"</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dirty="0">
                <a:latin typeface="Consolas" panose="020B0609020204030204" pitchFamily="49" charset="0"/>
              </a:rPr>
              <a:t>&gt;</a:t>
            </a:r>
            <a:endParaRPr lang="en-US" sz="2400" b="1" i="0" dirty="0">
              <a:effectLst/>
              <a:latin typeface="Consolas" panose="020B0609020204030204" pitchFamily="49" charset="0"/>
            </a:endParaRPr>
          </a:p>
        </p:txBody>
      </p:sp>
    </p:spTree>
    <p:extLst>
      <p:ext uri="{BB962C8B-B14F-4D97-AF65-F5344CB8AC3E}">
        <p14:creationId xmlns:p14="http://schemas.microsoft.com/office/powerpoint/2010/main" val="26575156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8F917BD9-8E69-4908-CCF3-D639593D4160}"/>
              </a:ext>
            </a:extLst>
          </p:cNvPr>
          <p:cNvSpPr>
            <a:spLocks noGrp="1"/>
          </p:cNvSpPr>
          <p:nvPr>
            <p:ph type="body" sz="quarter" idx="10"/>
          </p:nvPr>
        </p:nvSpPr>
        <p:spPr/>
        <p:txBody>
          <a:bodyPr/>
          <a:lstStyle/>
          <a:p>
            <a:pPr>
              <a:lnSpc>
                <a:spcPct val="100000"/>
              </a:lnSpc>
              <a:buClr>
                <a:schemeClr val="tx1"/>
              </a:buClr>
            </a:pPr>
            <a:r>
              <a:rPr lang="en-US" sz="3400" b="0" dirty="0"/>
              <a:t>We will be using tabs that are 4 spaces long</a:t>
            </a:r>
          </a:p>
          <a:p>
            <a:pPr>
              <a:lnSpc>
                <a:spcPct val="100000"/>
              </a:lnSpc>
              <a:buClr>
                <a:schemeClr val="tx1"/>
              </a:buClr>
            </a:pPr>
            <a:r>
              <a:rPr lang="en-US" sz="3400" b="1" dirty="0">
                <a:solidFill>
                  <a:schemeClr val="bg1"/>
                </a:solidFill>
              </a:rPr>
              <a:t>Indentation is extremely important</a:t>
            </a:r>
          </a:p>
          <a:p>
            <a:pPr marL="914400" lvl="1" indent="-457200">
              <a:lnSpc>
                <a:spcPct val="100000"/>
              </a:lnSpc>
              <a:buClr>
                <a:schemeClr val="tx1"/>
              </a:buClr>
            </a:pPr>
            <a:r>
              <a:rPr lang="en-US" sz="3200" b="0" dirty="0"/>
              <a:t>It hel</a:t>
            </a:r>
            <a:r>
              <a:rPr lang="en-US" sz="3200" dirty="0"/>
              <a:t>ps with navigating the code</a:t>
            </a:r>
          </a:p>
          <a:p>
            <a:pPr marL="914400" lvl="1" indent="-457200">
              <a:lnSpc>
                <a:spcPct val="100000"/>
              </a:lnSpc>
              <a:buClr>
                <a:schemeClr val="tx1"/>
              </a:buClr>
            </a:pPr>
            <a:r>
              <a:rPr lang="en-US" sz="3200" b="0" dirty="0"/>
              <a:t>It helps to find mistakes faster</a:t>
            </a:r>
          </a:p>
          <a:p>
            <a:pPr marL="914400" lvl="1" indent="-457200">
              <a:lnSpc>
                <a:spcPct val="100000"/>
              </a:lnSpc>
              <a:buClr>
                <a:schemeClr val="tx1"/>
              </a:buClr>
            </a:pPr>
            <a:r>
              <a:rPr lang="en-US" sz="3200" dirty="0"/>
              <a:t>It makes debugging issues </a:t>
            </a:r>
            <a:r>
              <a:rPr lang="en-US" sz="3200" b="0" dirty="0"/>
              <a:t>faster</a:t>
            </a:r>
          </a:p>
          <a:p>
            <a:pPr>
              <a:lnSpc>
                <a:spcPct val="100000"/>
              </a:lnSpc>
              <a:buClr>
                <a:schemeClr val="tx1"/>
              </a:buClr>
            </a:pPr>
            <a:r>
              <a:rPr lang="en-US" sz="3400" b="0" dirty="0"/>
              <a:t>Bad indentation is shameful – when sharing</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a:xfrm>
            <a:off x="190405" y="100749"/>
            <a:ext cx="9715594" cy="882654"/>
          </a:xfrm>
        </p:spPr>
        <p:txBody>
          <a:bodyPr/>
          <a:lstStyle/>
          <a:p>
            <a:r>
              <a:rPr lang="en-GB" dirty="0"/>
              <a:t>Indentation &amp; Code formatting</a:t>
            </a:r>
          </a:p>
        </p:txBody>
      </p:sp>
      <p:pic>
        <p:nvPicPr>
          <p:cNvPr id="7170" name="Picture 2" descr="tabs - Format using 4 spaces instead of 2 in VS Code - Stack Overflow">
            <a:extLst>
              <a:ext uri="{FF2B5EF4-FFF2-40B4-BE49-F238E27FC236}">
                <a16:creationId xmlns:a16="http://schemas.microsoft.com/office/drawing/2014/main" id="{B16E4F87-8082-D328-2345-49FBC2C60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7665" y="2034000"/>
            <a:ext cx="5008335" cy="238112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5016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13B4CA08-BCE6-4D51-A6E3-5E8D0115FDA2}"/>
              </a:ext>
            </a:extLst>
          </p:cNvPr>
          <p:cNvSpPr>
            <a:spLocks noGrp="1"/>
          </p:cNvSpPr>
          <p:nvPr>
            <p:ph type="subTitle" sz="quarter" idx="11"/>
          </p:nvPr>
        </p:nvSpPr>
        <p:spPr/>
        <p:txBody>
          <a:bodyPr/>
          <a:lstStyle/>
          <a:p>
            <a:r>
              <a:rPr lang="en-US" sz="4000" dirty="0"/>
              <a:t>Cascading Style Sheets</a:t>
            </a:r>
          </a:p>
        </p:txBody>
      </p:sp>
      <p:sp>
        <p:nvSpPr>
          <p:cNvPr id="3" name="Title 2"/>
          <p:cNvSpPr>
            <a:spLocks noGrp="1"/>
          </p:cNvSpPr>
          <p:nvPr>
            <p:ph type="title" sz="quarter" idx="10"/>
          </p:nvPr>
        </p:nvSpPr>
        <p:spPr/>
        <p:txBody>
          <a:bodyPr/>
          <a:lstStyle/>
          <a:p>
            <a:r>
              <a:rPr lang="en-US" dirty="0"/>
              <a:t>What is CSS?</a:t>
            </a:r>
          </a:p>
        </p:txBody>
      </p:sp>
      <p:sp>
        <p:nvSpPr>
          <p:cNvPr id="6" name="Slide Number">
            <a:extLst>
              <a:ext uri="{FF2B5EF4-FFF2-40B4-BE49-F238E27FC236}">
                <a16:creationId xmlns:a16="http://schemas.microsoft.com/office/drawing/2014/main" id="{1BF24C84-D852-4BD0-B7C9-8C7F8F6881B1}"/>
              </a:ext>
            </a:extLst>
          </p:cNvPr>
          <p:cNvSpPr>
            <a:spLocks noGrp="1"/>
          </p:cNvSpPr>
          <p:nvPr>
            <p:ph type="sldNum" sz="quarter" idx="4294967295"/>
          </p:nvPr>
        </p:nvSpPr>
        <p:spPr>
          <a:xfrm>
            <a:off x="11823700" y="6507163"/>
            <a:ext cx="368300" cy="296862"/>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40</a:t>
            </a:fld>
            <a:endParaRPr lang="en-US" noProof="0" dirty="0"/>
          </a:p>
        </p:txBody>
      </p:sp>
      <p:pic>
        <p:nvPicPr>
          <p:cNvPr id="4" name="Picture 2">
            <a:extLst>
              <a:ext uri="{FF2B5EF4-FFF2-40B4-BE49-F238E27FC236}">
                <a16:creationId xmlns:a16="http://schemas.microsoft.com/office/drawing/2014/main" id="{5168CA51-CC5E-2824-D16D-01CA08092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1158" y="1314000"/>
            <a:ext cx="2689683" cy="26896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3371456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1A5989A5-D4A8-8419-C318-78B2DAFD966B}"/>
              </a:ext>
            </a:extLst>
          </p:cNvPr>
          <p:cNvSpPr>
            <a:spLocks noGrp="1"/>
          </p:cNvSpPr>
          <p:nvPr>
            <p:ph type="body" sz="quarter" idx="10"/>
          </p:nvPr>
        </p:nvSpPr>
        <p:spPr>
          <a:xfrm>
            <a:off x="190402" y="1196125"/>
            <a:ext cx="9715594" cy="5528766"/>
          </a:xfrm>
        </p:spPr>
        <p:txBody>
          <a:bodyPr>
            <a:normAutofit/>
          </a:bodyPr>
          <a:lstStyle/>
          <a:p>
            <a:pPr>
              <a:lnSpc>
                <a:spcPct val="110000"/>
              </a:lnSpc>
            </a:pPr>
            <a:r>
              <a:rPr lang="en-US" sz="3200" b="0" dirty="0"/>
              <a:t>CSS stands for </a:t>
            </a:r>
            <a:r>
              <a:rPr lang="en-US" sz="3200" b="1" dirty="0">
                <a:solidFill>
                  <a:schemeClr val="bg1"/>
                </a:solidFill>
              </a:rPr>
              <a:t>Cascading Style Sheets</a:t>
            </a:r>
            <a:endParaRPr lang="en-US" sz="3200" b="1" dirty="0"/>
          </a:p>
          <a:p>
            <a:pPr>
              <a:lnSpc>
                <a:spcPct val="110000"/>
              </a:lnSpc>
            </a:pPr>
            <a:r>
              <a:rPr lang="en-US" sz="3200" b="0" dirty="0"/>
              <a:t>Styles define the visual presentation of HTML elements</a:t>
            </a:r>
          </a:p>
          <a:p>
            <a:pPr>
              <a:lnSpc>
                <a:spcPct val="110000"/>
              </a:lnSpc>
            </a:pPr>
            <a:r>
              <a:rPr lang="en-GB" sz="3200" dirty="0"/>
              <a:t>CSS solved a problem</a:t>
            </a:r>
          </a:p>
          <a:p>
            <a:pPr>
              <a:lnSpc>
                <a:spcPct val="110000"/>
              </a:lnSpc>
            </a:pPr>
            <a:r>
              <a:rPr lang="en-US" sz="3200" b="0" dirty="0"/>
              <a:t>HTML was never intended to contain tags for formatting a document.</a:t>
            </a:r>
          </a:p>
          <a:p>
            <a:pPr>
              <a:lnSpc>
                <a:spcPct val="110000"/>
              </a:lnSpc>
            </a:pPr>
            <a:r>
              <a:rPr lang="en-US" sz="3200" b="0" dirty="0"/>
              <a:t>With CSS the separation between semantic content and visual presentation can be achieved again.</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What is CSS?</a:t>
            </a:r>
          </a:p>
        </p:txBody>
      </p:sp>
      <p:pic>
        <p:nvPicPr>
          <p:cNvPr id="3" name="Picture 2">
            <a:extLst>
              <a:ext uri="{FF2B5EF4-FFF2-40B4-BE49-F238E27FC236}">
                <a16:creationId xmlns:a16="http://schemas.microsoft.com/office/drawing/2014/main" id="{E37029D2-9DE8-6FDB-5B2B-0F743279B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915" y="3879000"/>
            <a:ext cx="2689683" cy="26896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9341899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CSS?</a:t>
            </a:r>
          </a:p>
        </p:txBody>
      </p:sp>
      <p:sp>
        <p:nvSpPr>
          <p:cNvPr id="3" name="Content Placeholder 2"/>
          <p:cNvSpPr>
            <a:spLocks noGrp="1"/>
          </p:cNvSpPr>
          <p:nvPr>
            <p:ph idx="4294967295"/>
          </p:nvPr>
        </p:nvSpPr>
        <p:spPr>
          <a:xfrm>
            <a:off x="97912" y="1189047"/>
            <a:ext cx="11801576" cy="5569086"/>
          </a:xfrm>
        </p:spPr>
        <p:txBody>
          <a:bodyPr/>
          <a:lstStyle/>
          <a:p>
            <a:pPr>
              <a:buClr>
                <a:schemeClr val="tx1"/>
              </a:buClr>
            </a:pPr>
            <a:r>
              <a:rPr lang="en-US" b="1" dirty="0">
                <a:solidFill>
                  <a:schemeClr val="bg1"/>
                </a:solidFill>
              </a:rPr>
              <a:t>CSS</a:t>
            </a:r>
            <a:r>
              <a:rPr lang="en-US" dirty="0">
                <a:solidFill>
                  <a:schemeClr val="tx2">
                    <a:lumMod val="75000"/>
                  </a:schemeClr>
                </a:solidFill>
              </a:rPr>
              <a:t> </a:t>
            </a:r>
            <a:r>
              <a:rPr lang="en-US" dirty="0"/>
              <a:t>defines </a:t>
            </a:r>
            <a:r>
              <a:rPr lang="en-US" b="1" dirty="0">
                <a:solidFill>
                  <a:schemeClr val="bg1"/>
                </a:solidFill>
              </a:rPr>
              <a:t>styling</a:t>
            </a:r>
            <a:r>
              <a:rPr lang="en-US" dirty="0">
                <a:solidFill>
                  <a:schemeClr val="tx2">
                    <a:lumMod val="75000"/>
                  </a:schemeClr>
                </a:solidFill>
              </a:rPr>
              <a:t> </a:t>
            </a:r>
            <a:r>
              <a:rPr lang="en-US" dirty="0"/>
              <a:t>of the HTML elements</a:t>
            </a:r>
          </a:p>
          <a:p>
            <a:pPr lvl="1"/>
            <a:r>
              <a:rPr lang="en-US" dirty="0"/>
              <a:t>Specifies fonts, colors, margins, sizes, positioning, floating, …</a:t>
            </a:r>
          </a:p>
          <a:p>
            <a:pPr lvl="1"/>
            <a:r>
              <a:rPr lang="en-US" dirty="0"/>
              <a:t>CSS </a:t>
            </a:r>
            <a:r>
              <a:rPr lang="en-US" b="1" dirty="0">
                <a:solidFill>
                  <a:schemeClr val="bg1"/>
                </a:solidFill>
              </a:rPr>
              <a:t>rules</a:t>
            </a:r>
            <a:r>
              <a:rPr lang="en-US" dirty="0"/>
              <a:t> format: </a:t>
            </a:r>
            <a:r>
              <a:rPr lang="en-US" b="1" dirty="0">
                <a:solidFill>
                  <a:schemeClr val="bg1"/>
                </a:solidFill>
                <a:latin typeface="Consolas" panose="020B0609020204030204" pitchFamily="49" charset="0"/>
              </a:rPr>
              <a:t>selector</a:t>
            </a:r>
            <a:r>
              <a:rPr lang="en-US" b="1" dirty="0">
                <a:solidFill>
                  <a:schemeClr val="bg1"/>
                </a:solidFill>
              </a:rPr>
              <a:t> </a:t>
            </a:r>
            <a:r>
              <a:rPr lang="en-US" b="1" dirty="0">
                <a:solidFill>
                  <a:schemeClr val="bg1"/>
                </a:solidFill>
                <a:latin typeface="Consolas" panose="020B0609020204030204" pitchFamily="49" charset="0"/>
              </a:rPr>
              <a:t>{</a:t>
            </a:r>
            <a:r>
              <a:rPr lang="en-US" b="1" dirty="0">
                <a:solidFill>
                  <a:schemeClr val="bg1"/>
                </a:solidFill>
              </a:rPr>
              <a:t> </a:t>
            </a:r>
            <a:r>
              <a:rPr lang="en-US" b="1" noProof="1">
                <a:solidFill>
                  <a:schemeClr val="bg1"/>
                </a:solidFill>
                <a:latin typeface="Consolas" panose="020B0609020204030204" pitchFamily="49" charset="0"/>
              </a:rPr>
              <a:t>prop1:val1;</a:t>
            </a:r>
            <a:r>
              <a:rPr lang="en-US" b="1" noProof="1">
                <a:solidFill>
                  <a:schemeClr val="bg1"/>
                </a:solidFill>
              </a:rPr>
              <a:t> </a:t>
            </a:r>
            <a:r>
              <a:rPr lang="en-US" b="1" noProof="1">
                <a:solidFill>
                  <a:schemeClr val="bg1"/>
                </a:solidFill>
                <a:latin typeface="Consolas" panose="020B0609020204030204" pitchFamily="49" charset="0"/>
              </a:rPr>
              <a:t>prop2:val2;</a:t>
            </a:r>
            <a:r>
              <a:rPr lang="en-US" b="1" noProof="1">
                <a:solidFill>
                  <a:schemeClr val="bg1"/>
                </a:solidFill>
              </a:rPr>
              <a:t> </a:t>
            </a:r>
            <a:r>
              <a:rPr lang="en-US" b="1" noProof="1">
                <a:solidFill>
                  <a:schemeClr val="bg1"/>
                </a:solidFill>
                <a:latin typeface="Consolas" panose="020B0609020204030204" pitchFamily="49" charset="0"/>
              </a:rPr>
              <a:t>…</a:t>
            </a:r>
            <a:r>
              <a:rPr lang="en-US" b="1" noProof="1">
                <a:solidFill>
                  <a:schemeClr val="bg1"/>
                </a:solidFill>
              </a:rPr>
              <a:t> </a:t>
            </a:r>
            <a:r>
              <a:rPr lang="en-US" b="1" noProof="1">
                <a:solidFill>
                  <a:schemeClr val="bg1"/>
                </a:solidFill>
                <a:latin typeface="Consolas" panose="020B0609020204030204" pitchFamily="49" charset="0"/>
              </a:rPr>
              <a:t>}</a:t>
            </a:r>
          </a:p>
          <a:p>
            <a:pPr>
              <a:buClr>
                <a:schemeClr val="tx1"/>
              </a:buClr>
            </a:pPr>
            <a:r>
              <a:rPr lang="en-US" b="1" dirty="0">
                <a:solidFill>
                  <a:schemeClr val="bg1"/>
                </a:solidFill>
              </a:rPr>
              <a:t>CSS</a:t>
            </a:r>
            <a:r>
              <a:rPr lang="en-US" dirty="0">
                <a:solidFill>
                  <a:schemeClr val="tx2">
                    <a:lumMod val="75000"/>
                  </a:schemeClr>
                </a:solidFill>
              </a:rPr>
              <a:t> </a:t>
            </a:r>
            <a:r>
              <a:rPr lang="en-US" dirty="0"/>
              <a:t>rule example:</a:t>
            </a:r>
          </a:p>
        </p:txBody>
      </p:sp>
      <p:sp>
        <p:nvSpPr>
          <p:cNvPr id="14" name="Text Placeholder 5"/>
          <p:cNvSpPr txBox="1">
            <a:spLocks/>
          </p:cNvSpPr>
          <p:nvPr/>
        </p:nvSpPr>
        <p:spPr>
          <a:xfrm>
            <a:off x="4242903" y="3968783"/>
            <a:ext cx="5180251" cy="2187309"/>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3199" dirty="0">
                <a:solidFill>
                  <a:schemeClr val="tx1"/>
                </a:solidFill>
                <a:effectLst/>
              </a:rPr>
              <a:t>h1 {</a:t>
            </a:r>
          </a:p>
          <a:p>
            <a:pPr eaLnBrk="0" fontAlgn="base" hangingPunct="0">
              <a:spcBef>
                <a:spcPct val="0"/>
              </a:spcBef>
              <a:spcAft>
                <a:spcPct val="0"/>
              </a:spcAft>
              <a:buClrTx/>
              <a:buSzTx/>
            </a:pPr>
            <a:r>
              <a:rPr lang="en-US" altLang="en-US" sz="3199" dirty="0">
                <a:solidFill>
                  <a:schemeClr val="tx1"/>
                </a:solidFill>
                <a:effectLst/>
              </a:rPr>
              <a:t>  font-size: 42px;</a:t>
            </a:r>
          </a:p>
          <a:p>
            <a:pPr eaLnBrk="0" fontAlgn="base" hangingPunct="0">
              <a:spcBef>
                <a:spcPct val="0"/>
              </a:spcBef>
              <a:spcAft>
                <a:spcPct val="0"/>
              </a:spcAft>
              <a:buClrTx/>
              <a:buSzTx/>
            </a:pPr>
            <a:r>
              <a:rPr lang="en-US" altLang="en-US" sz="3199" dirty="0">
                <a:solidFill>
                  <a:schemeClr val="tx1"/>
                </a:solidFill>
                <a:effectLst/>
              </a:rPr>
              <a:t>  color: yellow;</a:t>
            </a:r>
          </a:p>
          <a:p>
            <a:pPr eaLnBrk="0" fontAlgn="base" hangingPunct="0">
              <a:spcBef>
                <a:spcPct val="0"/>
              </a:spcBef>
              <a:spcAft>
                <a:spcPct val="0"/>
              </a:spcAft>
              <a:buClrTx/>
              <a:buSzTx/>
            </a:pPr>
            <a:r>
              <a:rPr lang="en-US" altLang="en-US" sz="3199" dirty="0">
                <a:solidFill>
                  <a:schemeClr val="tx1"/>
                </a:solidFill>
                <a:effectLst/>
              </a:rPr>
              <a:t>}</a:t>
            </a:r>
          </a:p>
        </p:txBody>
      </p:sp>
      <p:sp>
        <p:nvSpPr>
          <p:cNvPr id="15" name="AutoShape 5"/>
          <p:cNvSpPr>
            <a:spLocks noChangeArrowheads="1"/>
          </p:cNvSpPr>
          <p:nvPr/>
        </p:nvSpPr>
        <p:spPr bwMode="auto">
          <a:xfrm>
            <a:off x="1918598" y="4183363"/>
            <a:ext cx="1722670" cy="579044"/>
          </a:xfrm>
          <a:prstGeom prst="wedgeRoundRectCallout">
            <a:avLst>
              <a:gd name="adj1" fmla="val 80519"/>
              <a:gd name="adj2" fmla="val -23523"/>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Selector</a:t>
            </a:r>
            <a:endParaRPr lang="bg-BG" sz="2399" b="1" dirty="0">
              <a:solidFill>
                <a:srgbClr val="FFFFFF"/>
              </a:solidFill>
            </a:endParaRPr>
          </a:p>
        </p:txBody>
      </p:sp>
      <p:sp>
        <p:nvSpPr>
          <p:cNvPr id="16" name="AutoShape 5"/>
          <p:cNvSpPr>
            <a:spLocks noChangeArrowheads="1"/>
          </p:cNvSpPr>
          <p:nvPr/>
        </p:nvSpPr>
        <p:spPr bwMode="auto">
          <a:xfrm>
            <a:off x="5917279" y="3543525"/>
            <a:ext cx="3353514" cy="614649"/>
          </a:xfrm>
          <a:prstGeom prst="wedgeRoundRectCallout">
            <a:avLst>
              <a:gd name="adj1" fmla="val -64429"/>
              <a:gd name="adj2" fmla="val 5920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Opening curly brace</a:t>
            </a:r>
          </a:p>
        </p:txBody>
      </p:sp>
      <p:sp>
        <p:nvSpPr>
          <p:cNvPr id="20" name="AutoShape 5"/>
          <p:cNvSpPr>
            <a:spLocks noChangeArrowheads="1"/>
          </p:cNvSpPr>
          <p:nvPr/>
        </p:nvSpPr>
        <p:spPr bwMode="auto">
          <a:xfrm>
            <a:off x="586258" y="5501720"/>
            <a:ext cx="3093913" cy="631930"/>
          </a:xfrm>
          <a:prstGeom prst="wedgeRoundRectCallout">
            <a:avLst>
              <a:gd name="adj1" fmla="val 65931"/>
              <a:gd name="adj2" fmla="val 10663"/>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Closing curly brace</a:t>
            </a:r>
          </a:p>
        </p:txBody>
      </p:sp>
      <p:sp>
        <p:nvSpPr>
          <p:cNvPr id="5" name="Rectangle 4"/>
          <p:cNvSpPr/>
          <p:nvPr/>
        </p:nvSpPr>
        <p:spPr>
          <a:xfrm>
            <a:off x="4699984" y="5037951"/>
            <a:ext cx="3961368" cy="591613"/>
          </a:xfrm>
          <a:prstGeom prst="rect">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2" name="AutoShape 5"/>
          <p:cNvSpPr>
            <a:spLocks noChangeArrowheads="1"/>
          </p:cNvSpPr>
          <p:nvPr/>
        </p:nvSpPr>
        <p:spPr bwMode="auto">
          <a:xfrm>
            <a:off x="9350768" y="4647495"/>
            <a:ext cx="2235232" cy="667622"/>
          </a:xfrm>
          <a:prstGeom prst="wedgeRoundRectCallout">
            <a:avLst>
              <a:gd name="adj1" fmla="val -72193"/>
              <a:gd name="adj2" fmla="val 4335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Declaration</a:t>
            </a:r>
            <a:endParaRPr lang="bg-BG" sz="2399" b="1" dirty="0">
              <a:solidFill>
                <a:srgbClr val="FFFFFF"/>
              </a:solidFill>
            </a:endParaRPr>
          </a:p>
        </p:txBody>
      </p:sp>
      <p:sp>
        <p:nvSpPr>
          <p:cNvPr id="17" name="AutoShape 5"/>
          <p:cNvSpPr>
            <a:spLocks noChangeArrowheads="1"/>
          </p:cNvSpPr>
          <p:nvPr/>
        </p:nvSpPr>
        <p:spPr bwMode="auto">
          <a:xfrm>
            <a:off x="5508164" y="5940964"/>
            <a:ext cx="1733300" cy="593036"/>
          </a:xfrm>
          <a:prstGeom prst="wedgeRoundRectCallout">
            <a:avLst>
              <a:gd name="adj1" fmla="val -37006"/>
              <a:gd name="adj2" fmla="val -9622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Property</a:t>
            </a:r>
            <a:endParaRPr lang="bg-BG" sz="2799" b="1" dirty="0">
              <a:solidFill>
                <a:srgbClr val="FFFFFF"/>
              </a:solidFill>
            </a:endParaRPr>
          </a:p>
        </p:txBody>
      </p:sp>
      <p:sp>
        <p:nvSpPr>
          <p:cNvPr id="21" name="AutoShape 5"/>
          <p:cNvSpPr>
            <a:spLocks noChangeArrowheads="1"/>
          </p:cNvSpPr>
          <p:nvPr/>
        </p:nvSpPr>
        <p:spPr bwMode="auto">
          <a:xfrm>
            <a:off x="7671011" y="5940964"/>
            <a:ext cx="1218552" cy="593036"/>
          </a:xfrm>
          <a:prstGeom prst="wedgeRoundRectCallout">
            <a:avLst>
              <a:gd name="adj1" fmla="val -42787"/>
              <a:gd name="adj2" fmla="val -9464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Value</a:t>
            </a:r>
            <a:endParaRPr lang="bg-BG" sz="2799" b="1" dirty="0">
              <a:solidFill>
                <a:srgbClr val="FFFFFF"/>
              </a:solidFill>
            </a:endParaRPr>
          </a:p>
        </p:txBody>
      </p:sp>
      <p:sp>
        <p:nvSpPr>
          <p:cNvPr id="18" name="Slide Number">
            <a:extLst>
              <a:ext uri="{FF2B5EF4-FFF2-40B4-BE49-F238E27FC236}">
                <a16:creationId xmlns:a16="http://schemas.microsoft.com/office/drawing/2014/main" id="{CCC616B9-102F-430F-9E8C-4F619C75CC8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42</a:t>
            </a:fld>
            <a:endParaRPr lang="en-US" noProof="0" dirty="0"/>
          </a:p>
        </p:txBody>
      </p:sp>
    </p:spTree>
    <p:extLst>
      <p:ext uri="{BB962C8B-B14F-4D97-AF65-F5344CB8AC3E}">
        <p14:creationId xmlns:p14="http://schemas.microsoft.com/office/powerpoint/2010/main" val="327169025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0" grpId="0" animBg="1"/>
      <p:bldP spid="5" grpId="0" animBg="1"/>
      <p:bldP spid="12" grpId="0" animBg="1"/>
      <p:bldP spid="17" grpId="0" animBg="1"/>
      <p:bldP spid="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02535" y="1832021"/>
            <a:ext cx="7270404" cy="415390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199" b="1" noProof="1">
                <a:latin typeface="Consolas" pitchFamily="49" charset="0"/>
                <a:cs typeface="Consolas" pitchFamily="49" charset="0"/>
              </a:rPr>
              <a:t>&lt;!DOCTYPE html&gt;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&lt;html&gt;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&lt;head&gt;</a:t>
            </a:r>
          </a:p>
          <a:p>
            <a:pPr eaLnBrk="0" hangingPunct="0">
              <a:buClr>
                <a:schemeClr val="accent5">
                  <a:lumMod val="40000"/>
                  <a:lumOff val="60000"/>
                </a:schemeClr>
              </a:buClr>
              <a:buSzPct val="70000"/>
              <a:defRPr/>
            </a:pPr>
            <a:r>
              <a:rPr lang="en-US" sz="2199" b="1" noProof="1">
                <a:solidFill>
                  <a:schemeClr val="bg1"/>
                </a:solidFill>
                <a:latin typeface="Consolas" pitchFamily="49" charset="0"/>
                <a:cs typeface="Consolas" pitchFamily="49" charset="0"/>
              </a:rPr>
              <a:t>    &lt;link rel="stylesheet" type="text/css"     </a:t>
            </a:r>
          </a:p>
          <a:p>
            <a:pPr eaLnBrk="0" hangingPunct="0">
              <a:buClr>
                <a:schemeClr val="accent5">
                  <a:lumMod val="40000"/>
                  <a:lumOff val="60000"/>
                </a:schemeClr>
              </a:buClr>
              <a:buSzPct val="70000"/>
              <a:defRPr/>
            </a:pPr>
            <a:r>
              <a:rPr lang="en-US" sz="2199" b="1" noProof="1">
                <a:solidFill>
                  <a:schemeClr val="bg1"/>
                </a:solidFill>
                <a:latin typeface="Consolas" pitchFamily="49" charset="0"/>
                <a:cs typeface="Consolas" pitchFamily="49" charset="0"/>
              </a:rPr>
              <a:t>href="styles.css"&gt;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&lt;/head&gt;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&lt;body </a:t>
            </a:r>
            <a:r>
              <a:rPr lang="en-US" sz="2199" b="1" noProof="1">
                <a:solidFill>
                  <a:schemeClr val="bg1"/>
                </a:solidFill>
                <a:latin typeface="Consolas" pitchFamily="49" charset="0"/>
                <a:cs typeface="Consolas" pitchFamily="49" charset="0"/>
              </a:rPr>
              <a:t>id="modern"</a:t>
            </a:r>
            <a:r>
              <a:rPr lang="en-US" sz="2199" b="1" noProof="1">
                <a:latin typeface="Consolas" pitchFamily="49" charset="0"/>
                <a:cs typeface="Consolas" pitchFamily="49" charset="0"/>
              </a:rPr>
              <a:t>&gt;&lt;p&gt;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This is a &lt;span </a:t>
            </a:r>
            <a:r>
              <a:rPr lang="en-US" sz="2199" b="1" noProof="1">
                <a:solidFill>
                  <a:schemeClr val="bg1"/>
                </a:solidFill>
                <a:latin typeface="Consolas" pitchFamily="49" charset="0"/>
                <a:cs typeface="Consolas" pitchFamily="49" charset="0"/>
              </a:rPr>
              <a:t>class="special"</a:t>
            </a:r>
            <a:r>
              <a:rPr lang="en-US" sz="2199" b="1" noProof="1">
                <a:latin typeface="Consolas" pitchFamily="49" charset="0"/>
                <a:cs typeface="Consolas" pitchFamily="49" charset="0"/>
              </a:rPr>
              <a:t>&gt;special drink&lt;/span&gt; for &lt;span </a:t>
            </a:r>
            <a:r>
              <a:rPr lang="en-US" sz="2199" b="1" noProof="1">
                <a:solidFill>
                  <a:schemeClr val="bg1"/>
                </a:solidFill>
                <a:latin typeface="Consolas" pitchFamily="49" charset="0"/>
                <a:cs typeface="Consolas" pitchFamily="49" charset="0"/>
              </a:rPr>
              <a:t>class="special"</a:t>
            </a:r>
            <a:r>
              <a:rPr lang="en-US" sz="2199" b="1" noProof="1">
                <a:latin typeface="Consolas" pitchFamily="49" charset="0"/>
                <a:cs typeface="Consolas" pitchFamily="49" charset="0"/>
              </a:rPr>
              <a:t>&gt;special drinkers&lt;/span&gt;.&lt;/p&gt;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&lt;/body&gt;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&lt;/html&gt;</a:t>
            </a:r>
          </a:p>
        </p:txBody>
      </p:sp>
      <p:sp>
        <p:nvSpPr>
          <p:cNvPr id="8" name="Rectangle 7"/>
          <p:cNvSpPr>
            <a:spLocks noChangeArrowheads="1"/>
          </p:cNvSpPr>
          <p:nvPr/>
        </p:nvSpPr>
        <p:spPr bwMode="auto">
          <a:xfrm>
            <a:off x="7607051" y="1832022"/>
            <a:ext cx="4303029" cy="428198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noAutofit/>
          </a:bodyPr>
          <a:lstStyle/>
          <a:p>
            <a:pPr eaLnBrk="0" hangingPunct="0">
              <a:buClr>
                <a:schemeClr val="accent5">
                  <a:lumMod val="40000"/>
                  <a:lumOff val="60000"/>
                </a:schemeClr>
              </a:buClr>
              <a:buSzPct val="70000"/>
              <a:defRPr/>
            </a:pPr>
            <a:r>
              <a:rPr lang="en-US" sz="2199" b="1" noProof="1">
                <a:solidFill>
                  <a:schemeClr val="bg1"/>
                </a:solidFill>
                <a:latin typeface="Consolas" pitchFamily="49" charset="0"/>
                <a:cs typeface="Consolas" pitchFamily="49" charset="0"/>
              </a:rPr>
              <a:t>.special </a:t>
            </a:r>
            <a:r>
              <a:rPr lang="en-US" sz="2199" b="1" noProof="1">
                <a:latin typeface="Consolas" pitchFamily="49" charset="0"/>
                <a:cs typeface="Consolas" pitchFamily="49" charset="0"/>
              </a:rPr>
              <a: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font-style: italic;</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font-weight: bold;</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color: blue;</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a:t>
            </a:r>
          </a:p>
          <a:p>
            <a:pPr eaLnBrk="0" hangingPunct="0">
              <a:spcBef>
                <a:spcPts val="1799"/>
              </a:spcBef>
              <a:buClr>
                <a:schemeClr val="accent5">
                  <a:lumMod val="40000"/>
                  <a:lumOff val="60000"/>
                </a:schemeClr>
              </a:buClr>
              <a:buSzPct val="70000"/>
              <a:defRPr/>
            </a:pPr>
            <a:r>
              <a:rPr lang="en-US" sz="2199" b="1" noProof="1">
                <a:solidFill>
                  <a:schemeClr val="bg1"/>
                </a:solidFill>
                <a:latin typeface="Consolas" pitchFamily="49" charset="0"/>
                <a:cs typeface="Consolas" pitchFamily="49" charset="0"/>
              </a:rPr>
              <a:t>#modern </a:t>
            </a:r>
            <a:r>
              <a:rPr lang="en-US" sz="2199" b="1" noProof="1">
                <a:latin typeface="Consolas" pitchFamily="49" charset="0"/>
                <a:cs typeface="Consolas" pitchFamily="49" charset="0"/>
              </a:rPr>
              <a: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background: #EEE;</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a:t>
            </a:r>
          </a:p>
          <a:p>
            <a:pPr eaLnBrk="0" hangingPunct="0">
              <a:spcBef>
                <a:spcPts val="1799"/>
              </a:spcBef>
              <a:buClr>
                <a:schemeClr val="accent5">
                  <a:lumMod val="40000"/>
                  <a:lumOff val="60000"/>
                </a:schemeClr>
              </a:buClr>
              <a:buSzPct val="70000"/>
              <a:defRPr/>
            </a:pPr>
            <a:r>
              <a:rPr lang="en-US" sz="2199" b="1" noProof="1">
                <a:solidFill>
                  <a:schemeClr val="bg1"/>
                </a:solidFill>
                <a:latin typeface="Consolas" pitchFamily="49" charset="0"/>
                <a:cs typeface="Consolas" pitchFamily="49" charset="0"/>
              </a:rPr>
              <a:t>p</a:t>
            </a:r>
            <a:r>
              <a:rPr lang="en-US" sz="2199" b="1" noProof="1">
                <a:latin typeface="Consolas" pitchFamily="49" charset="0"/>
                <a:cs typeface="Consolas" pitchFamily="49" charset="0"/>
              </a:rPr>
              <a:t> {</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  font-size: 24pt;</a:t>
            </a:r>
          </a:p>
          <a:p>
            <a:pPr eaLnBrk="0" hangingPunct="0">
              <a:buClr>
                <a:schemeClr val="accent5">
                  <a:lumMod val="40000"/>
                  <a:lumOff val="60000"/>
                </a:schemeClr>
              </a:buClr>
              <a:buSzPct val="70000"/>
              <a:defRPr/>
            </a:pPr>
            <a:r>
              <a:rPr lang="en-US" sz="2199" b="1" noProof="1">
                <a:latin typeface="Consolas" pitchFamily="49" charset="0"/>
                <a:cs typeface="Consolas" pitchFamily="49" charset="0"/>
              </a:rPr>
              <a:t>}</a:t>
            </a:r>
          </a:p>
        </p:txBody>
      </p:sp>
      <p:sp>
        <p:nvSpPr>
          <p:cNvPr id="22" name="Rectangle 21"/>
          <p:cNvSpPr>
            <a:spLocks noChangeArrowheads="1"/>
          </p:cNvSpPr>
          <p:nvPr/>
        </p:nvSpPr>
        <p:spPr bwMode="auto">
          <a:xfrm>
            <a:off x="7690438" y="1886435"/>
            <a:ext cx="1340393" cy="375636"/>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no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3" name="Rectangle 22"/>
          <p:cNvSpPr>
            <a:spLocks noChangeArrowheads="1"/>
          </p:cNvSpPr>
          <p:nvPr/>
        </p:nvSpPr>
        <p:spPr bwMode="auto">
          <a:xfrm>
            <a:off x="7682584" y="3774619"/>
            <a:ext cx="1228212" cy="369490"/>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no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1" name="Rectangle 20"/>
          <p:cNvSpPr>
            <a:spLocks noChangeArrowheads="1"/>
          </p:cNvSpPr>
          <p:nvPr/>
        </p:nvSpPr>
        <p:spPr bwMode="auto">
          <a:xfrm>
            <a:off x="3351715" y="4224503"/>
            <a:ext cx="2349982" cy="363457"/>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sp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17" name="Rectangle 16"/>
          <p:cNvSpPr>
            <a:spLocks noChangeArrowheads="1"/>
          </p:cNvSpPr>
          <p:nvPr/>
        </p:nvSpPr>
        <p:spPr bwMode="auto">
          <a:xfrm>
            <a:off x="1057313" y="3234761"/>
            <a:ext cx="2024473" cy="363457"/>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sp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4" name="Title 3"/>
          <p:cNvSpPr>
            <a:spLocks noGrp="1"/>
          </p:cNvSpPr>
          <p:nvPr>
            <p:ph type="title"/>
          </p:nvPr>
        </p:nvSpPr>
        <p:spPr/>
        <p:txBody>
          <a:bodyPr>
            <a:normAutofit/>
          </a:bodyPr>
          <a:lstStyle/>
          <a:p>
            <a:r>
              <a:rPr lang="en-US" sz="3800" dirty="0"/>
              <a:t>Combining HTML and CSS Files (External Style)</a:t>
            </a:r>
          </a:p>
        </p:txBody>
      </p:sp>
      <p:sp>
        <p:nvSpPr>
          <p:cNvPr id="11" name="Rectangle 10"/>
          <p:cNvSpPr>
            <a:spLocks noChangeArrowheads="1"/>
          </p:cNvSpPr>
          <p:nvPr/>
        </p:nvSpPr>
        <p:spPr bwMode="auto">
          <a:xfrm>
            <a:off x="202536" y="1298956"/>
            <a:ext cx="7270404" cy="533066"/>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tIns="71981" bIns="71981">
            <a:spAutoFit/>
          </a:bodyPr>
          <a:lstStyle/>
          <a:p>
            <a:pPr algn="ctr" eaLnBrk="0" hangingPunct="0">
              <a:lnSpc>
                <a:spcPct val="105000"/>
              </a:lnSpc>
              <a:buClr>
                <a:schemeClr val="accent5">
                  <a:lumMod val="40000"/>
                  <a:lumOff val="60000"/>
                </a:schemeClr>
              </a:buClr>
              <a:buSzPct val="70000"/>
              <a:defRPr/>
            </a:pPr>
            <a:r>
              <a:rPr lang="en-US" sz="2399" b="1" dirty="0">
                <a:solidFill>
                  <a:schemeClr val="bg1"/>
                </a:solidFill>
                <a:latin typeface="Consolas" panose="020B0609020204030204" pitchFamily="49" charset="0"/>
              </a:rPr>
              <a:t>using-css.html</a:t>
            </a:r>
            <a:endParaRPr lang="en-US" sz="1799" b="1" noProof="1">
              <a:solidFill>
                <a:schemeClr val="bg1"/>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12" name="Rectangle 11"/>
          <p:cNvSpPr>
            <a:spLocks noChangeArrowheads="1"/>
          </p:cNvSpPr>
          <p:nvPr/>
        </p:nvSpPr>
        <p:spPr bwMode="auto">
          <a:xfrm>
            <a:off x="7607051" y="1298956"/>
            <a:ext cx="4303029" cy="533066"/>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tIns="71981" bIns="71981">
            <a:spAutoFit/>
          </a:bodyPr>
          <a:lstStyle/>
          <a:p>
            <a:pPr algn="ctr" eaLnBrk="0" hangingPunct="0">
              <a:lnSpc>
                <a:spcPct val="105000"/>
              </a:lnSpc>
              <a:buClr>
                <a:schemeClr val="accent5">
                  <a:lumMod val="40000"/>
                  <a:lumOff val="60000"/>
                </a:schemeClr>
              </a:buClr>
              <a:buSzPct val="70000"/>
              <a:defRPr/>
            </a:pPr>
            <a:r>
              <a:rPr lang="en-US" sz="2399" b="1" dirty="0">
                <a:solidFill>
                  <a:schemeClr val="bg1"/>
                </a:solidFill>
                <a:latin typeface="Consolas" panose="020B0609020204030204" pitchFamily="49" charset="0"/>
              </a:rPr>
              <a:t>styles.css</a:t>
            </a:r>
            <a:endParaRPr lang="en-US" sz="1799" b="1" noProof="1">
              <a:solidFill>
                <a:schemeClr val="bg1"/>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5" name="Rectangle 24"/>
          <p:cNvSpPr>
            <a:spLocks noChangeArrowheads="1"/>
          </p:cNvSpPr>
          <p:nvPr/>
        </p:nvSpPr>
        <p:spPr bwMode="auto">
          <a:xfrm>
            <a:off x="1472798" y="3898503"/>
            <a:ext cx="1744806" cy="363457"/>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sp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6" name="Rectangle 25"/>
          <p:cNvSpPr>
            <a:spLocks noChangeArrowheads="1"/>
          </p:cNvSpPr>
          <p:nvPr/>
        </p:nvSpPr>
        <p:spPr bwMode="auto">
          <a:xfrm>
            <a:off x="3801598" y="4584409"/>
            <a:ext cx="2339391" cy="363457"/>
          </a:xfrm>
          <a:prstGeom prst="rect">
            <a:avLst/>
          </a:prstGeom>
          <a:solidFill>
            <a:schemeClr val="accent5">
              <a:lumMod val="40000"/>
              <a:lumOff val="60000"/>
              <a:alpha val="30000"/>
            </a:schemeClr>
          </a:solidFill>
          <a:ln w="12700">
            <a:solidFill>
              <a:schemeClr val="accent5">
                <a:lumMod val="60000"/>
                <a:lumOff val="40000"/>
              </a:schemeClr>
            </a:solidFill>
          </a:ln>
        </p:spPr>
        <p:txBody>
          <a:bodyPr wrap="square" lIns="71981" tIns="35991" rIns="71981" bIns="35991">
            <a:spAutoFit/>
          </a:bodyPr>
          <a:lstStyle/>
          <a:p>
            <a:pPr algn="ctr" eaLnBrk="0" hangingPunct="0">
              <a:lnSpc>
                <a:spcPct val="105000"/>
              </a:lnSpc>
              <a:buClr>
                <a:schemeClr val="accent5">
                  <a:lumMod val="40000"/>
                  <a:lumOff val="60000"/>
                </a:schemeClr>
              </a:buClr>
              <a:buSzPct val="70000"/>
              <a:defRPr/>
            </a:pPr>
            <a:endParaRPr lang="en-US" sz="1799" b="1" noProof="1">
              <a:solidFill>
                <a:schemeClr val="tx2">
                  <a:lumMod val="75000"/>
                </a:schemeClr>
              </a:solidFill>
              <a:effectLst>
                <a:outerShdw blurRad="38100" dist="38100" dir="2700000" algn="tl">
                  <a:srgbClr val="000000">
                    <a:alpha val="43137"/>
                  </a:srgbClr>
                </a:outerShdw>
              </a:effectLst>
              <a:latin typeface="Consolas" pitchFamily="49" charset="0"/>
              <a:cs typeface="Consolas" pitchFamily="49" charset="0"/>
            </a:endParaRPr>
          </a:p>
        </p:txBody>
      </p:sp>
      <p:cxnSp>
        <p:nvCxnSpPr>
          <p:cNvPr id="13" name="Elbow Connector 12"/>
          <p:cNvCxnSpPr>
            <a:cxnSpLocks/>
            <a:stCxn id="17" idx="3"/>
          </p:cNvCxnSpPr>
          <p:nvPr/>
        </p:nvCxnSpPr>
        <p:spPr>
          <a:xfrm flipV="1">
            <a:off x="3081786" y="1577834"/>
            <a:ext cx="5769091" cy="1838655"/>
          </a:xfrm>
          <a:prstGeom prst="bentConnector3">
            <a:avLst>
              <a:gd name="adj1" fmla="val 50000"/>
            </a:avLst>
          </a:prstGeom>
          <a:ln w="76200">
            <a:prstDash val="sysDash"/>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20" name="Elbow Connector 12">
            <a:extLst>
              <a:ext uri="{FF2B5EF4-FFF2-40B4-BE49-F238E27FC236}">
                <a16:creationId xmlns:a16="http://schemas.microsoft.com/office/drawing/2014/main" id="{F01495D5-6C87-4AA1-8422-B9CEAB045908}"/>
              </a:ext>
            </a:extLst>
          </p:cNvPr>
          <p:cNvCxnSpPr>
            <a:cxnSpLocks/>
            <a:endCxn id="23" idx="1"/>
          </p:cNvCxnSpPr>
          <p:nvPr/>
        </p:nvCxnSpPr>
        <p:spPr>
          <a:xfrm>
            <a:off x="3217604" y="3898502"/>
            <a:ext cx="4464980" cy="60862"/>
          </a:xfrm>
          <a:prstGeom prst="straightConnector1">
            <a:avLst/>
          </a:prstGeom>
          <a:ln w="76200">
            <a:solidFill>
              <a:schemeClr val="accent2">
                <a:lumMod val="75000"/>
              </a:schemeClr>
            </a:solidFill>
            <a:prstDash val="sysDash"/>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27" name="Elbow Connector 12">
            <a:extLst>
              <a:ext uri="{FF2B5EF4-FFF2-40B4-BE49-F238E27FC236}">
                <a16:creationId xmlns:a16="http://schemas.microsoft.com/office/drawing/2014/main" id="{A5990AB3-0DDC-4E62-B4BF-F9A8DB93AC32}"/>
              </a:ext>
            </a:extLst>
          </p:cNvPr>
          <p:cNvCxnSpPr>
            <a:cxnSpLocks/>
            <a:stCxn id="21" idx="0"/>
            <a:endCxn id="22" idx="1"/>
          </p:cNvCxnSpPr>
          <p:nvPr/>
        </p:nvCxnSpPr>
        <p:spPr>
          <a:xfrm rot="5400000" flipH="1" flipV="1">
            <a:off x="5008096" y="1592866"/>
            <a:ext cx="2200952" cy="3163731"/>
          </a:xfrm>
          <a:prstGeom prst="bentConnector2">
            <a:avLst/>
          </a:prstGeom>
          <a:ln w="76200">
            <a:solidFill>
              <a:schemeClr val="bg1">
                <a:lumMod val="75000"/>
              </a:schemeClr>
            </a:solidFill>
            <a:prstDash val="sysDash"/>
            <a:headEnd type="triangle"/>
            <a:tailEnd type="triangle"/>
          </a:ln>
        </p:spPr>
        <p:style>
          <a:lnRef idx="3">
            <a:schemeClr val="accent5"/>
          </a:lnRef>
          <a:fillRef idx="0">
            <a:schemeClr val="accent5"/>
          </a:fillRef>
          <a:effectRef idx="2">
            <a:schemeClr val="accent5"/>
          </a:effectRef>
          <a:fontRef idx="minor">
            <a:schemeClr val="tx1"/>
          </a:fontRef>
        </p:style>
      </p:cxnSp>
      <p:pic>
        <p:nvPicPr>
          <p:cNvPr id="34" name="Picture 33"/>
          <p:cNvPicPr>
            <a:picLocks noChangeAspect="1"/>
          </p:cNvPicPr>
          <p:nvPr/>
        </p:nvPicPr>
        <p:blipFill>
          <a:blip r:embed="rId2"/>
          <a:stretch>
            <a:fillRect/>
          </a:stretch>
        </p:blipFill>
        <p:spPr>
          <a:xfrm>
            <a:off x="4775070" y="5098400"/>
            <a:ext cx="2382523" cy="1556261"/>
          </a:xfrm>
          <a:prstGeom prst="rect">
            <a:avLst/>
          </a:prstGeom>
          <a:ln>
            <a:noFill/>
          </a:ln>
          <a:effectLst>
            <a:outerShdw blurRad="292100" dist="139700" dir="2700000" algn="tl" rotWithShape="0">
              <a:srgbClr val="333333">
                <a:alpha val="65000"/>
              </a:srgbClr>
            </a:outerShdw>
          </a:effectLst>
        </p:spPr>
      </p:pic>
      <p:sp>
        <p:nvSpPr>
          <p:cNvPr id="19" name="Slide Number">
            <a:extLst>
              <a:ext uri="{FF2B5EF4-FFF2-40B4-BE49-F238E27FC236}">
                <a16:creationId xmlns:a16="http://schemas.microsoft.com/office/drawing/2014/main" id="{73CDE059-1901-4F8F-8052-517CED03B72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43</a:t>
            </a:fld>
            <a:endParaRPr lang="en-US" noProof="0" dirty="0"/>
          </a:p>
        </p:txBody>
      </p:sp>
    </p:spTree>
    <p:extLst>
      <p:ext uri="{BB962C8B-B14F-4D97-AF65-F5344CB8AC3E}">
        <p14:creationId xmlns:p14="http://schemas.microsoft.com/office/powerpoint/2010/main" val="219014564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xEl>
                                              <p:pRg st="6" end="6"/>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
                                            <p:txEl>
                                              <p:pRg st="7" end="7"/>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
                                            <p:txEl>
                                              <p:pRg st="9" end="9"/>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1" grpId="0" animBg="1"/>
      <p:bldP spid="17" grpId="0" animBg="1"/>
      <p:bldP spid="25" grpId="0" animBg="1"/>
      <p:bldP spid="2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лавие 2">
            <a:extLst>
              <a:ext uri="{FF2B5EF4-FFF2-40B4-BE49-F238E27FC236}">
                <a16:creationId xmlns:a16="http://schemas.microsoft.com/office/drawing/2014/main" id="{6A35223A-51CA-754A-FC16-B93F5F28E8D9}"/>
              </a:ext>
            </a:extLst>
          </p:cNvPr>
          <p:cNvSpPr>
            <a:spLocks noGrp="1"/>
          </p:cNvSpPr>
          <p:nvPr>
            <p:ph type="title" sz="quarter" idx="10"/>
          </p:nvPr>
        </p:nvSpPr>
        <p:spPr/>
        <p:txBody>
          <a:bodyPr/>
          <a:lstStyle/>
          <a:p>
            <a:r>
              <a:rPr lang="en-US" dirty="0"/>
              <a:t>CSS Syntax – Selectors and Rules</a:t>
            </a:r>
          </a:p>
        </p:txBody>
      </p:sp>
      <p:pic>
        <p:nvPicPr>
          <p:cNvPr id="4" name="Picture 2">
            <a:extLst>
              <a:ext uri="{FF2B5EF4-FFF2-40B4-BE49-F238E27FC236}">
                <a16:creationId xmlns:a16="http://schemas.microsoft.com/office/drawing/2014/main" id="{C5AA93D0-18A4-DF1D-20A2-66B0E15AB9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1158" y="1337123"/>
            <a:ext cx="2689683" cy="26896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887548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58DE1C2-7BAA-81E9-294B-5173A390BCA6}"/>
              </a:ext>
            </a:extLst>
          </p:cNvPr>
          <p:cNvSpPr>
            <a:spLocks noGrp="1"/>
          </p:cNvSpPr>
          <p:nvPr>
            <p:ph type="body" sz="quarter" idx="10"/>
          </p:nvPr>
        </p:nvSpPr>
        <p:spPr/>
        <p:txBody>
          <a:bodyPr>
            <a:normAutofit/>
          </a:bodyPr>
          <a:lstStyle/>
          <a:p>
            <a:pPr>
              <a:lnSpc>
                <a:spcPct val="110000"/>
              </a:lnSpc>
            </a:pPr>
            <a:r>
              <a:rPr lang="en-US" sz="3600" b="0" dirty="0"/>
              <a:t>In CSS, selectors are used to target the HTML elements on our web pages that we want to style</a:t>
            </a:r>
          </a:p>
          <a:p>
            <a:pPr>
              <a:lnSpc>
                <a:spcPct val="110000"/>
              </a:lnSpc>
            </a:pPr>
            <a:r>
              <a:rPr lang="en-US" sz="3600" b="0" dirty="0"/>
              <a:t>There are a wide variety of CSS selectors available, allowing for fine-grained precision when selecting elements to style. </a:t>
            </a:r>
            <a:br>
              <a:rPr lang="en-US" sz="3600" b="0" dirty="0"/>
            </a:br>
            <a:r>
              <a:rPr lang="en-US" sz="3600" b="0" dirty="0"/>
              <a:t>A CSS selector is the first part of a CSS Rule</a:t>
            </a:r>
          </a:p>
          <a:p>
            <a:pPr>
              <a:lnSpc>
                <a:spcPct val="110000"/>
              </a:lnSpc>
              <a:buClr>
                <a:schemeClr val="tx1"/>
              </a:buClr>
            </a:pPr>
            <a:r>
              <a:rPr lang="en-GB" sz="3600" dirty="0">
                <a:hlinkClick r:id="rId2"/>
              </a:rPr>
              <a:t>Reference Documentation</a:t>
            </a:r>
            <a:endParaRPr lang="en-US" sz="36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Tree>
    <p:extLst>
      <p:ext uri="{BB962C8B-B14F-4D97-AF65-F5344CB8AC3E}">
        <p14:creationId xmlns:p14="http://schemas.microsoft.com/office/powerpoint/2010/main" val="128442280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F9010FA-8D80-40F1-8392-FF390124FF76}"/>
              </a:ext>
            </a:extLst>
          </p:cNvPr>
          <p:cNvSpPr>
            <a:spLocks noGrp="1"/>
          </p:cNvSpPr>
          <p:nvPr>
            <p:ph type="body" sz="quarter" idx="10"/>
          </p:nvPr>
        </p:nvSpPr>
        <p:spPr/>
        <p:txBody>
          <a:bodyPr/>
          <a:lstStyle/>
          <a:p>
            <a:pPr>
              <a:lnSpc>
                <a:spcPct val="90000"/>
              </a:lnSpc>
              <a:spcBef>
                <a:spcPts val="1200"/>
              </a:spcBef>
            </a:pPr>
            <a:r>
              <a:rPr lang="en-US" dirty="0"/>
              <a:t>Select elements by </a:t>
            </a:r>
            <a:r>
              <a:rPr lang="en-US" b="1" dirty="0"/>
              <a:t>name</a:t>
            </a:r>
          </a:p>
          <a:p>
            <a:pPr>
              <a:lnSpc>
                <a:spcPct val="90000"/>
              </a:lnSpc>
              <a:spcBef>
                <a:spcPts val="1200"/>
              </a:spcBef>
            </a:pPr>
            <a:endParaRPr lang="en-US" b="1" dirty="0"/>
          </a:p>
          <a:p>
            <a:pPr>
              <a:lnSpc>
                <a:spcPct val="90000"/>
              </a:lnSpc>
              <a:spcBef>
                <a:spcPts val="1200"/>
              </a:spcBef>
            </a:pPr>
            <a:r>
              <a:rPr lang="en-US" dirty="0"/>
              <a:t>Select by </a:t>
            </a:r>
            <a:r>
              <a:rPr lang="en-US" b="1" dirty="0"/>
              <a:t>class</a:t>
            </a:r>
            <a:r>
              <a:rPr lang="en-US" dirty="0"/>
              <a:t> name</a:t>
            </a:r>
          </a:p>
          <a:p>
            <a:pPr>
              <a:lnSpc>
                <a:spcPct val="90000"/>
              </a:lnSpc>
              <a:spcBef>
                <a:spcPts val="1200"/>
              </a:spcBef>
            </a:pPr>
            <a:endParaRPr lang="en-US" dirty="0"/>
          </a:p>
          <a:p>
            <a:pPr>
              <a:lnSpc>
                <a:spcPct val="90000"/>
              </a:lnSpc>
              <a:spcBef>
                <a:spcPts val="1200"/>
              </a:spcBef>
            </a:pPr>
            <a:r>
              <a:rPr lang="en-US" dirty="0"/>
              <a:t>Select by element </a:t>
            </a:r>
            <a:r>
              <a:rPr lang="en-US" b="1" dirty="0"/>
              <a:t>id</a:t>
            </a:r>
          </a:p>
          <a:p>
            <a:pPr>
              <a:lnSpc>
                <a:spcPct val="90000"/>
              </a:lnSpc>
              <a:spcBef>
                <a:spcPts val="1200"/>
              </a:spcBef>
            </a:pPr>
            <a:endParaRPr lang="en-US" b="1" dirty="0"/>
          </a:p>
          <a:p>
            <a:pPr>
              <a:lnSpc>
                <a:spcPct val="90000"/>
              </a:lnSpc>
              <a:spcBef>
                <a:spcPts val="1200"/>
              </a:spcBef>
            </a:pPr>
            <a:r>
              <a:rPr lang="en-US" dirty="0"/>
              <a:t>Select </a:t>
            </a:r>
            <a:r>
              <a:rPr lang="en-US" b="1" dirty="0"/>
              <a:t>element</a:t>
            </a:r>
            <a:r>
              <a:rPr lang="en-US" dirty="0"/>
              <a:t> with certain </a:t>
            </a:r>
            <a:r>
              <a:rPr lang="en-US" b="1" dirty="0"/>
              <a:t>class</a:t>
            </a:r>
          </a:p>
        </p:txBody>
      </p:sp>
      <p:sp>
        <p:nvSpPr>
          <p:cNvPr id="5" name="Title 4">
            <a:extLst>
              <a:ext uri="{FF2B5EF4-FFF2-40B4-BE49-F238E27FC236}">
                <a16:creationId xmlns:a16="http://schemas.microsoft.com/office/drawing/2014/main" id="{FA237DE7-64FB-4710-9848-10CBF568D863}"/>
              </a:ext>
            </a:extLst>
          </p:cNvPr>
          <p:cNvSpPr>
            <a:spLocks noGrp="1"/>
          </p:cNvSpPr>
          <p:nvPr>
            <p:ph type="title"/>
          </p:nvPr>
        </p:nvSpPr>
        <p:spPr/>
        <p:txBody>
          <a:bodyPr/>
          <a:lstStyle/>
          <a:p>
            <a:r>
              <a:rPr lang="en-US" dirty="0"/>
              <a:t>CSS Selectors</a:t>
            </a:r>
          </a:p>
        </p:txBody>
      </p:sp>
      <p:sp>
        <p:nvSpPr>
          <p:cNvPr id="9" name="Text Placeholder 5">
            <a:extLst>
              <a:ext uri="{FF2B5EF4-FFF2-40B4-BE49-F238E27FC236}">
                <a16:creationId xmlns:a16="http://schemas.microsoft.com/office/drawing/2014/main" id="{3F371D03-6A47-486A-A0AE-DD0E8FFECAF9}"/>
              </a:ext>
            </a:extLst>
          </p:cNvPr>
          <p:cNvSpPr txBox="1">
            <a:spLocks/>
          </p:cNvSpPr>
          <p:nvPr/>
        </p:nvSpPr>
        <p:spPr>
          <a:xfrm>
            <a:off x="6588071" y="1809423"/>
            <a:ext cx="5086477"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h1</a:t>
            </a:r>
            <a:r>
              <a:rPr lang="en-US" altLang="en-US" sz="2699" dirty="0">
                <a:solidFill>
                  <a:schemeClr val="tx1"/>
                </a:solidFill>
                <a:effectLst/>
              </a:rPr>
              <a:t> {</a:t>
            </a:r>
            <a:r>
              <a:rPr lang="en-US" altLang="en-US" sz="2699" dirty="0">
                <a:solidFill>
                  <a:schemeClr val="tx1"/>
                </a:solidFill>
                <a:effectLst/>
                <a:latin typeface="+mn-lt"/>
              </a:rPr>
              <a:t> </a:t>
            </a:r>
            <a:r>
              <a:rPr lang="en-US" altLang="en-US" sz="2699" dirty="0">
                <a:solidFill>
                  <a:schemeClr val="tx1"/>
                </a:solidFill>
                <a:effectLst/>
              </a:rPr>
              <a:t>color: blue;</a:t>
            </a:r>
            <a:r>
              <a:rPr lang="en-US" altLang="en-US" sz="2699" dirty="0">
                <a:solidFill>
                  <a:schemeClr val="tx1"/>
                </a:solidFill>
                <a:effectLst/>
                <a:latin typeface="+mn-lt"/>
              </a:rPr>
              <a:t> </a:t>
            </a:r>
            <a:r>
              <a:rPr lang="en-US" altLang="en-US" sz="2699" dirty="0">
                <a:solidFill>
                  <a:schemeClr val="tx1"/>
                </a:solidFill>
                <a:effectLst/>
              </a:rPr>
              <a:t>}</a:t>
            </a:r>
          </a:p>
        </p:txBody>
      </p:sp>
      <p:sp>
        <p:nvSpPr>
          <p:cNvPr id="10" name="Text Placeholder 5">
            <a:extLst>
              <a:ext uri="{FF2B5EF4-FFF2-40B4-BE49-F238E27FC236}">
                <a16:creationId xmlns:a16="http://schemas.microsoft.com/office/drawing/2014/main" id="{4CF54E66-5333-44A7-AA7F-9BA0C9372315}"/>
              </a:ext>
            </a:extLst>
          </p:cNvPr>
          <p:cNvSpPr txBox="1">
            <a:spLocks/>
          </p:cNvSpPr>
          <p:nvPr/>
        </p:nvSpPr>
        <p:spPr>
          <a:xfrm>
            <a:off x="597601" y="1809423"/>
            <a:ext cx="5318446"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&lt;h1&gt;</a:t>
            </a:r>
            <a:r>
              <a:rPr lang="en-US" altLang="en-US" sz="2699" dirty="0">
                <a:solidFill>
                  <a:schemeClr val="tx1"/>
                </a:solidFill>
                <a:effectLst/>
              </a:rPr>
              <a:t>Page Title</a:t>
            </a:r>
            <a:r>
              <a:rPr lang="en-US" altLang="en-US" sz="2699" dirty="0">
                <a:solidFill>
                  <a:schemeClr val="bg1"/>
                </a:solidFill>
                <a:effectLst/>
              </a:rPr>
              <a:t>&lt;/h1&gt; </a:t>
            </a:r>
            <a:endParaRPr lang="en-US" altLang="en-US" sz="2699" dirty="0">
              <a:solidFill>
                <a:schemeClr val="tx1"/>
              </a:solidFill>
              <a:effectLst/>
            </a:endParaRPr>
          </a:p>
        </p:txBody>
      </p:sp>
      <p:sp>
        <p:nvSpPr>
          <p:cNvPr id="12" name="Text Placeholder 5">
            <a:extLst>
              <a:ext uri="{FF2B5EF4-FFF2-40B4-BE49-F238E27FC236}">
                <a16:creationId xmlns:a16="http://schemas.microsoft.com/office/drawing/2014/main" id="{A80CBEDD-0A51-4773-83E6-6B1B94051287}"/>
              </a:ext>
            </a:extLst>
          </p:cNvPr>
          <p:cNvSpPr txBox="1">
            <a:spLocks/>
          </p:cNvSpPr>
          <p:nvPr/>
        </p:nvSpPr>
        <p:spPr>
          <a:xfrm>
            <a:off x="6588071" y="3204060"/>
            <a:ext cx="5086477"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.odd</a:t>
            </a:r>
            <a:r>
              <a:rPr lang="en-US" altLang="en-US" sz="2699" dirty="0">
                <a:solidFill>
                  <a:schemeClr val="tx1"/>
                </a:solidFill>
                <a:effectLst/>
              </a:rPr>
              <a:t> {</a:t>
            </a:r>
            <a:r>
              <a:rPr lang="en-US" altLang="en-US" sz="2699" dirty="0">
                <a:solidFill>
                  <a:schemeClr val="tx1"/>
                </a:solidFill>
                <a:effectLst/>
                <a:latin typeface="+mn-lt"/>
              </a:rPr>
              <a:t> </a:t>
            </a:r>
            <a:r>
              <a:rPr lang="en-US" altLang="en-US" sz="2699" dirty="0">
                <a:solidFill>
                  <a:schemeClr val="tx1"/>
                </a:solidFill>
                <a:effectLst/>
              </a:rPr>
              <a:t>font-size: 10px;</a:t>
            </a:r>
            <a:r>
              <a:rPr lang="en-US" altLang="en-US" sz="2699" dirty="0">
                <a:solidFill>
                  <a:schemeClr val="tx1"/>
                </a:solidFill>
                <a:effectLst/>
                <a:latin typeface="+mn-lt"/>
              </a:rPr>
              <a:t> </a:t>
            </a:r>
            <a:r>
              <a:rPr lang="en-US" altLang="en-US" sz="2699" dirty="0">
                <a:solidFill>
                  <a:schemeClr val="tx1"/>
                </a:solidFill>
                <a:effectLst/>
              </a:rPr>
              <a:t>}</a:t>
            </a:r>
          </a:p>
        </p:txBody>
      </p:sp>
      <p:sp>
        <p:nvSpPr>
          <p:cNvPr id="13" name="Text Placeholder 5">
            <a:extLst>
              <a:ext uri="{FF2B5EF4-FFF2-40B4-BE49-F238E27FC236}">
                <a16:creationId xmlns:a16="http://schemas.microsoft.com/office/drawing/2014/main" id="{884C5413-EC3A-4CA6-870E-DBFAB1158EC1}"/>
              </a:ext>
            </a:extLst>
          </p:cNvPr>
          <p:cNvSpPr txBox="1">
            <a:spLocks/>
          </p:cNvSpPr>
          <p:nvPr/>
        </p:nvSpPr>
        <p:spPr>
          <a:xfrm>
            <a:off x="597601" y="3204060"/>
            <a:ext cx="5318446"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&lt;p class="odd"&gt;</a:t>
            </a:r>
            <a:r>
              <a:rPr lang="en-US" altLang="en-US" sz="2699" dirty="0">
                <a:solidFill>
                  <a:schemeClr val="tx1"/>
                </a:solidFill>
                <a:effectLst/>
              </a:rPr>
              <a:t>Text</a:t>
            </a:r>
            <a:r>
              <a:rPr lang="en-US" altLang="en-US" sz="2699" dirty="0">
                <a:solidFill>
                  <a:schemeClr val="bg1"/>
                </a:solidFill>
                <a:effectLst/>
              </a:rPr>
              <a:t>&lt;/p&gt;</a:t>
            </a:r>
            <a:endParaRPr lang="en-US" altLang="en-US" sz="2699" dirty="0">
              <a:solidFill>
                <a:schemeClr val="tx1"/>
              </a:solidFill>
              <a:effectLst/>
            </a:endParaRPr>
          </a:p>
        </p:txBody>
      </p:sp>
      <p:sp>
        <p:nvSpPr>
          <p:cNvPr id="14" name="Text Placeholder 5">
            <a:extLst>
              <a:ext uri="{FF2B5EF4-FFF2-40B4-BE49-F238E27FC236}">
                <a16:creationId xmlns:a16="http://schemas.microsoft.com/office/drawing/2014/main" id="{36BF0052-D9C0-4A74-99E8-F67EBFF4E33B}"/>
              </a:ext>
            </a:extLst>
          </p:cNvPr>
          <p:cNvSpPr txBox="1">
            <a:spLocks/>
          </p:cNvSpPr>
          <p:nvPr/>
        </p:nvSpPr>
        <p:spPr>
          <a:xfrm>
            <a:off x="6588071" y="4595089"/>
            <a:ext cx="5086477"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#login</a:t>
            </a:r>
            <a:r>
              <a:rPr lang="en-US" altLang="en-US" sz="2699" dirty="0">
                <a:solidFill>
                  <a:schemeClr val="tx1"/>
                </a:solidFill>
                <a:effectLst/>
              </a:rPr>
              <a:t> {</a:t>
            </a:r>
            <a:r>
              <a:rPr lang="en-US" altLang="en-US" sz="2699" dirty="0">
                <a:solidFill>
                  <a:schemeClr val="tx1"/>
                </a:solidFill>
                <a:effectLst/>
                <a:latin typeface="+mn-lt"/>
              </a:rPr>
              <a:t> </a:t>
            </a:r>
            <a:r>
              <a:rPr lang="en-US" altLang="en-US" sz="2699" dirty="0">
                <a:solidFill>
                  <a:schemeClr val="tx1"/>
                </a:solidFill>
                <a:effectLst/>
              </a:rPr>
              <a:t>width: 150px;</a:t>
            </a:r>
            <a:r>
              <a:rPr lang="en-US" altLang="en-US" sz="2699" dirty="0">
                <a:solidFill>
                  <a:schemeClr val="tx1"/>
                </a:solidFill>
                <a:effectLst/>
                <a:latin typeface="+mn-lt"/>
              </a:rPr>
              <a:t> </a:t>
            </a:r>
            <a:r>
              <a:rPr lang="en-US" altLang="en-US" sz="2699" dirty="0">
                <a:solidFill>
                  <a:schemeClr val="tx1"/>
                </a:solidFill>
                <a:effectLst/>
              </a:rPr>
              <a:t>}</a:t>
            </a:r>
          </a:p>
        </p:txBody>
      </p:sp>
      <p:sp>
        <p:nvSpPr>
          <p:cNvPr id="15" name="Text Placeholder 5">
            <a:extLst>
              <a:ext uri="{FF2B5EF4-FFF2-40B4-BE49-F238E27FC236}">
                <a16:creationId xmlns:a16="http://schemas.microsoft.com/office/drawing/2014/main" id="{CFE9056C-ACF8-45F6-9DBD-2CC3E09509C3}"/>
              </a:ext>
            </a:extLst>
          </p:cNvPr>
          <p:cNvSpPr txBox="1">
            <a:spLocks/>
          </p:cNvSpPr>
          <p:nvPr/>
        </p:nvSpPr>
        <p:spPr>
          <a:xfrm>
            <a:off x="597601" y="4595089"/>
            <a:ext cx="5318446"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&lt;span id="login"&gt;</a:t>
            </a:r>
            <a:r>
              <a:rPr lang="en-US" altLang="en-US" sz="2699" dirty="0">
                <a:solidFill>
                  <a:schemeClr val="tx1"/>
                </a:solidFill>
                <a:effectLst/>
              </a:rPr>
              <a:t>Go</a:t>
            </a:r>
            <a:r>
              <a:rPr lang="en-US" altLang="en-US" sz="2699" dirty="0">
                <a:solidFill>
                  <a:schemeClr val="bg1"/>
                </a:solidFill>
                <a:effectLst/>
              </a:rPr>
              <a:t>&lt;/span&gt;</a:t>
            </a:r>
            <a:endParaRPr lang="en-US" altLang="en-US" sz="2699" dirty="0">
              <a:solidFill>
                <a:schemeClr val="tx1"/>
              </a:solidFill>
              <a:effectLst/>
            </a:endParaRPr>
          </a:p>
        </p:txBody>
      </p:sp>
      <p:sp>
        <p:nvSpPr>
          <p:cNvPr id="16" name="Text Placeholder 5">
            <a:extLst>
              <a:ext uri="{FF2B5EF4-FFF2-40B4-BE49-F238E27FC236}">
                <a16:creationId xmlns:a16="http://schemas.microsoft.com/office/drawing/2014/main" id="{B346F1DD-EA78-43B6-A19A-E93C9C6DB64D}"/>
              </a:ext>
            </a:extLst>
          </p:cNvPr>
          <p:cNvSpPr txBox="1">
            <a:spLocks/>
          </p:cNvSpPr>
          <p:nvPr/>
        </p:nvSpPr>
        <p:spPr>
          <a:xfrm>
            <a:off x="6588071" y="5989726"/>
            <a:ext cx="5086477"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a.login</a:t>
            </a:r>
            <a:r>
              <a:rPr lang="en-US" altLang="en-US" sz="2699" dirty="0">
                <a:solidFill>
                  <a:schemeClr val="tx1"/>
                </a:solidFill>
                <a:effectLst/>
              </a:rPr>
              <a:t> {</a:t>
            </a:r>
            <a:r>
              <a:rPr lang="en-US" altLang="en-US" sz="2699" dirty="0">
                <a:solidFill>
                  <a:schemeClr val="tx1"/>
                </a:solidFill>
                <a:effectLst/>
                <a:latin typeface="+mn-lt"/>
              </a:rPr>
              <a:t> </a:t>
            </a:r>
            <a:r>
              <a:rPr lang="en-US" altLang="en-US" sz="2699" dirty="0">
                <a:solidFill>
                  <a:schemeClr val="tx1"/>
                </a:solidFill>
                <a:effectLst/>
              </a:rPr>
              <a:t>width:</a:t>
            </a:r>
            <a:r>
              <a:rPr lang="en-US" altLang="en-US" sz="2699" dirty="0">
                <a:solidFill>
                  <a:schemeClr val="tx1"/>
                </a:solidFill>
                <a:effectLst/>
                <a:latin typeface="+mn-lt"/>
              </a:rPr>
              <a:t> </a:t>
            </a:r>
            <a:r>
              <a:rPr lang="en-US" altLang="en-US" sz="2699" dirty="0">
                <a:solidFill>
                  <a:schemeClr val="tx1"/>
                </a:solidFill>
                <a:effectLst/>
              </a:rPr>
              <a:t>80px;</a:t>
            </a:r>
            <a:r>
              <a:rPr lang="en-US" altLang="en-US" sz="2699" dirty="0">
                <a:solidFill>
                  <a:schemeClr val="tx1"/>
                </a:solidFill>
                <a:effectLst/>
                <a:latin typeface="+mn-lt"/>
              </a:rPr>
              <a:t> </a:t>
            </a:r>
            <a:r>
              <a:rPr lang="en-US" altLang="en-US" sz="2699" dirty="0">
                <a:solidFill>
                  <a:schemeClr val="tx1"/>
                </a:solidFill>
                <a:effectLst/>
              </a:rPr>
              <a:t>}</a:t>
            </a:r>
          </a:p>
        </p:txBody>
      </p:sp>
      <p:sp>
        <p:nvSpPr>
          <p:cNvPr id="17" name="Text Placeholder 5">
            <a:extLst>
              <a:ext uri="{FF2B5EF4-FFF2-40B4-BE49-F238E27FC236}">
                <a16:creationId xmlns:a16="http://schemas.microsoft.com/office/drawing/2014/main" id="{702C3868-B09E-4A0D-B1A9-AEA55D6C3479}"/>
              </a:ext>
            </a:extLst>
          </p:cNvPr>
          <p:cNvSpPr txBox="1">
            <a:spLocks/>
          </p:cNvSpPr>
          <p:nvPr/>
        </p:nvSpPr>
        <p:spPr>
          <a:xfrm>
            <a:off x="597601" y="5989726"/>
            <a:ext cx="5318446" cy="63344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699" dirty="0">
                <a:solidFill>
                  <a:schemeClr val="bg1"/>
                </a:solidFill>
                <a:effectLst/>
              </a:rPr>
              <a:t>&lt;a class="login"&gt;</a:t>
            </a:r>
            <a:r>
              <a:rPr lang="en-US" altLang="en-US" sz="2699" dirty="0">
                <a:solidFill>
                  <a:schemeClr val="tx1"/>
                </a:solidFill>
                <a:effectLst/>
              </a:rPr>
              <a:t>Login</a:t>
            </a:r>
            <a:r>
              <a:rPr lang="en-US" altLang="en-US" sz="2699" dirty="0">
                <a:solidFill>
                  <a:schemeClr val="bg1"/>
                </a:solidFill>
                <a:effectLst/>
              </a:rPr>
              <a:t>&lt;/a&gt;</a:t>
            </a:r>
            <a:endParaRPr lang="en-US" altLang="en-US" sz="2699" dirty="0">
              <a:solidFill>
                <a:schemeClr val="tx1"/>
              </a:solidFill>
              <a:effectLst/>
            </a:endParaRPr>
          </a:p>
        </p:txBody>
      </p:sp>
      <p:sp>
        <p:nvSpPr>
          <p:cNvPr id="18" name="Arrow: Right 17">
            <a:extLst>
              <a:ext uri="{FF2B5EF4-FFF2-40B4-BE49-F238E27FC236}">
                <a16:creationId xmlns:a16="http://schemas.microsoft.com/office/drawing/2014/main" id="{8A95832F-3F8E-433F-90EE-C90A6B9D229E}"/>
              </a:ext>
            </a:extLst>
          </p:cNvPr>
          <p:cNvSpPr/>
          <p:nvPr/>
        </p:nvSpPr>
        <p:spPr bwMode="auto">
          <a:xfrm>
            <a:off x="6061982" y="1968684"/>
            <a:ext cx="380153" cy="314918"/>
          </a:xfrm>
          <a:prstGeom prst="right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sp>
        <p:nvSpPr>
          <p:cNvPr id="19" name="Arrow: Right 18">
            <a:extLst>
              <a:ext uri="{FF2B5EF4-FFF2-40B4-BE49-F238E27FC236}">
                <a16:creationId xmlns:a16="http://schemas.microsoft.com/office/drawing/2014/main" id="{28511E15-B0AF-4C45-AF54-12FC772FC8B6}"/>
              </a:ext>
            </a:extLst>
          </p:cNvPr>
          <p:cNvSpPr/>
          <p:nvPr/>
        </p:nvSpPr>
        <p:spPr bwMode="auto">
          <a:xfrm>
            <a:off x="6061982" y="3363321"/>
            <a:ext cx="380153" cy="314918"/>
          </a:xfrm>
          <a:prstGeom prst="right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sp>
        <p:nvSpPr>
          <p:cNvPr id="20" name="Arrow: Right 19">
            <a:extLst>
              <a:ext uri="{FF2B5EF4-FFF2-40B4-BE49-F238E27FC236}">
                <a16:creationId xmlns:a16="http://schemas.microsoft.com/office/drawing/2014/main" id="{44D9E2A7-4071-4E4B-A44D-F57FBE3BAB12}"/>
              </a:ext>
            </a:extLst>
          </p:cNvPr>
          <p:cNvSpPr/>
          <p:nvPr/>
        </p:nvSpPr>
        <p:spPr bwMode="auto">
          <a:xfrm>
            <a:off x="6061982" y="4754351"/>
            <a:ext cx="380153" cy="314918"/>
          </a:xfrm>
          <a:prstGeom prst="right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sp>
        <p:nvSpPr>
          <p:cNvPr id="21" name="Arrow: Right 20">
            <a:extLst>
              <a:ext uri="{FF2B5EF4-FFF2-40B4-BE49-F238E27FC236}">
                <a16:creationId xmlns:a16="http://schemas.microsoft.com/office/drawing/2014/main" id="{F85AB9A5-7419-4B4B-84FC-069A23237C6E}"/>
              </a:ext>
            </a:extLst>
          </p:cNvPr>
          <p:cNvSpPr/>
          <p:nvPr/>
        </p:nvSpPr>
        <p:spPr bwMode="auto">
          <a:xfrm>
            <a:off x="6061982" y="6148987"/>
            <a:ext cx="380153" cy="314918"/>
          </a:xfrm>
          <a:prstGeom prst="right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sp>
        <p:nvSpPr>
          <p:cNvPr id="23" name="Slide Number">
            <a:extLst>
              <a:ext uri="{FF2B5EF4-FFF2-40B4-BE49-F238E27FC236}">
                <a16:creationId xmlns:a16="http://schemas.microsoft.com/office/drawing/2014/main" id="{7FC667BF-CEA5-4971-A903-7280955FFC3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46</a:t>
            </a:fld>
            <a:endParaRPr lang="en-US" noProof="0" dirty="0"/>
          </a:p>
        </p:txBody>
      </p:sp>
    </p:spTree>
    <p:extLst>
      <p:ext uri="{BB962C8B-B14F-4D97-AF65-F5344CB8AC3E}">
        <p14:creationId xmlns:p14="http://schemas.microsoft.com/office/powerpoint/2010/main" val="84698990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9" grpId="0" animBg="1"/>
      <p:bldP spid="20" grpId="0" animBg="1"/>
      <p:bldP spid="2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F1CFDE99-2C04-4C47-FF7B-ADB9F8FACD2D}"/>
              </a:ext>
            </a:extLst>
          </p:cNvPr>
          <p:cNvSpPr>
            <a:spLocks noGrp="1"/>
          </p:cNvSpPr>
          <p:nvPr>
            <p:ph type="body" sz="quarter" idx="10"/>
          </p:nvPr>
        </p:nvSpPr>
        <p:spPr/>
        <p:txBody>
          <a:bodyPr>
            <a:normAutofit/>
          </a:bodyPr>
          <a:lstStyle/>
          <a:p>
            <a:pPr>
              <a:buClr>
                <a:schemeClr val="tx1"/>
              </a:buClr>
            </a:pPr>
            <a:r>
              <a:rPr lang="en-GB" sz="3600" b="1" dirty="0">
                <a:solidFill>
                  <a:schemeClr val="bg1"/>
                </a:solidFill>
              </a:rPr>
              <a:t>Type selectors</a:t>
            </a:r>
          </a:p>
          <a:p>
            <a:pPr lvl="1">
              <a:lnSpc>
                <a:spcPct val="110000"/>
              </a:lnSpc>
            </a:pPr>
            <a:r>
              <a:rPr lang="en-US" sz="3400" b="0" dirty="0"/>
              <a:t>The CSS type selector matches elements by node name. In other words, it selects all elements of the given type within </a:t>
            </a:r>
            <a:br>
              <a:rPr lang="bg-BG" sz="3400" b="0" dirty="0"/>
            </a:br>
            <a:r>
              <a:rPr lang="en-US" sz="3400" b="0" dirty="0"/>
              <a:t>a document</a:t>
            </a:r>
          </a:p>
          <a:p>
            <a:pPr lvl="1">
              <a:lnSpc>
                <a:spcPct val="110000"/>
              </a:lnSpc>
            </a:pPr>
            <a:r>
              <a:rPr lang="en-US" sz="3400" dirty="0">
                <a:hlinkClick r:id="rId2"/>
              </a:rPr>
              <a:t>Reference Documentation</a:t>
            </a:r>
            <a:endParaRPr lang="en-US" sz="36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
        <p:nvSpPr>
          <p:cNvPr id="2" name="Текстово поле 7">
            <a:extLst>
              <a:ext uri="{FF2B5EF4-FFF2-40B4-BE49-F238E27FC236}">
                <a16:creationId xmlns:a16="http://schemas.microsoft.com/office/drawing/2014/main" id="{92D4C14A-86CA-AD65-63C6-020C33A09A4D}"/>
              </a:ext>
            </a:extLst>
          </p:cNvPr>
          <p:cNvSpPr txBox="1"/>
          <p:nvPr/>
        </p:nvSpPr>
        <p:spPr>
          <a:xfrm>
            <a:off x="1101000" y="4689000"/>
            <a:ext cx="4185000" cy="1697068"/>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[tag-name]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
        <p:nvSpPr>
          <p:cNvPr id="5" name="Текстово поле 7">
            <a:extLst>
              <a:ext uri="{FF2B5EF4-FFF2-40B4-BE49-F238E27FC236}">
                <a16:creationId xmlns:a16="http://schemas.microsoft.com/office/drawing/2014/main" id="{31D630E6-7B21-26C2-0181-72FF97543591}"/>
              </a:ext>
            </a:extLst>
          </p:cNvPr>
          <p:cNvSpPr txBox="1"/>
          <p:nvPr/>
        </p:nvSpPr>
        <p:spPr>
          <a:xfrm>
            <a:off x="6546000" y="4691052"/>
            <a:ext cx="4365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h1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98513964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78E0DBE7-0D03-92CF-16B8-0A2D2EC45DD3}"/>
              </a:ext>
            </a:extLst>
          </p:cNvPr>
          <p:cNvSpPr>
            <a:spLocks noGrp="1"/>
          </p:cNvSpPr>
          <p:nvPr>
            <p:ph type="body" sz="quarter" idx="10"/>
          </p:nvPr>
        </p:nvSpPr>
        <p:spPr/>
        <p:txBody>
          <a:bodyPr/>
          <a:lstStyle/>
          <a:p>
            <a:pPr>
              <a:buClr>
                <a:schemeClr val="tx1"/>
              </a:buClr>
            </a:pPr>
            <a:r>
              <a:rPr lang="en-GB" sz="3600" b="1" dirty="0">
                <a:solidFill>
                  <a:schemeClr val="bg1"/>
                </a:solidFill>
              </a:rPr>
              <a:t>Class selectors</a:t>
            </a:r>
          </a:p>
          <a:p>
            <a:pPr lvl="1">
              <a:lnSpc>
                <a:spcPct val="110000"/>
              </a:lnSpc>
            </a:pPr>
            <a:r>
              <a:rPr lang="en-US" sz="3400" b="0" dirty="0"/>
              <a:t>The CSS class selector matches elements based on the contents of their class attribute</a:t>
            </a:r>
          </a:p>
          <a:p>
            <a:pPr lvl="1">
              <a:lnSpc>
                <a:spcPct val="110000"/>
              </a:lnSpc>
            </a:pPr>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
        <p:nvSpPr>
          <p:cNvPr id="6" name="Текстово поле 7">
            <a:extLst>
              <a:ext uri="{FF2B5EF4-FFF2-40B4-BE49-F238E27FC236}">
                <a16:creationId xmlns:a16="http://schemas.microsoft.com/office/drawing/2014/main" id="{35A07ACD-C356-E92B-6636-E40B69EB9DA9}"/>
              </a:ext>
            </a:extLst>
          </p:cNvPr>
          <p:cNvSpPr txBox="1"/>
          <p:nvPr/>
        </p:nvSpPr>
        <p:spPr>
          <a:xfrm>
            <a:off x="1109571" y="4191948"/>
            <a:ext cx="4185000" cy="1697068"/>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.[tag-name]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
        <p:nvSpPr>
          <p:cNvPr id="7" name="Текстово поле 7">
            <a:extLst>
              <a:ext uri="{FF2B5EF4-FFF2-40B4-BE49-F238E27FC236}">
                <a16:creationId xmlns:a16="http://schemas.microsoft.com/office/drawing/2014/main" id="{B4CB7058-B188-FFE1-7CDB-33D68E7906E4}"/>
              </a:ext>
            </a:extLst>
          </p:cNvPr>
          <p:cNvSpPr txBox="1"/>
          <p:nvPr/>
        </p:nvSpPr>
        <p:spPr>
          <a:xfrm>
            <a:off x="6096000" y="4194000"/>
            <a:ext cx="4365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bg-BG" sz="2400" b="1" dirty="0">
                <a:solidFill>
                  <a:srgbClr val="C00000"/>
                </a:solidFill>
                <a:latin typeface="Consolas" panose="020B0609020204030204" pitchFamily="49" charset="0"/>
              </a:rPr>
              <a:t>.</a:t>
            </a:r>
            <a:r>
              <a:rPr lang="en-US" sz="2400" b="1" dirty="0">
                <a:solidFill>
                  <a:srgbClr val="C00000"/>
                </a:solidFill>
                <a:latin typeface="Consolas" panose="020B0609020204030204" pitchFamily="49" charset="0"/>
              </a:rPr>
              <a:t>[class-name]</a:t>
            </a:r>
            <a:r>
              <a:rPr lang="en-US" sz="2400" b="1" i="0" dirty="0">
                <a:solidFill>
                  <a:srgbClr val="C00000"/>
                </a:solidFill>
                <a:effectLst/>
                <a:latin typeface="Consolas" panose="020B0609020204030204" pitchFamily="49" charset="0"/>
              </a:rPr>
              <a:t>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74372363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FDADBD60-96C9-A6BA-53DF-C979343F8212}"/>
              </a:ext>
            </a:extLst>
          </p:cNvPr>
          <p:cNvSpPr>
            <a:spLocks noGrp="1"/>
          </p:cNvSpPr>
          <p:nvPr>
            <p:ph type="body" sz="quarter" idx="10"/>
          </p:nvPr>
        </p:nvSpPr>
        <p:spPr/>
        <p:txBody>
          <a:bodyPr/>
          <a:lstStyle/>
          <a:p>
            <a:pPr>
              <a:buClr>
                <a:schemeClr val="tx1"/>
              </a:buClr>
            </a:pPr>
            <a:r>
              <a:rPr lang="en-GB" sz="3600" b="1" dirty="0">
                <a:solidFill>
                  <a:schemeClr val="bg1"/>
                </a:solidFill>
              </a:rPr>
              <a:t>ID selectors</a:t>
            </a:r>
          </a:p>
          <a:p>
            <a:pPr lvl="1">
              <a:lnSpc>
                <a:spcPct val="110000"/>
              </a:lnSpc>
            </a:pPr>
            <a:r>
              <a:rPr lang="en-US" sz="3200" b="0" dirty="0"/>
              <a:t>The CSS ID selector matches an element based on the value of the element's id attribute. For the element to be selected, its id attribute must match exactly the value given in the selector.</a:t>
            </a:r>
          </a:p>
          <a:p>
            <a:pPr lvl="1">
              <a:lnSpc>
                <a:spcPct val="110000"/>
              </a:lnSpc>
            </a:pPr>
            <a:r>
              <a:rPr lang="en-US" sz="3400" dirty="0">
                <a:hlinkClick r:id="rId2"/>
              </a:rPr>
              <a:t>Reference Documentation</a:t>
            </a:r>
            <a:endParaRPr lang="en-US" sz="34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
        <p:nvSpPr>
          <p:cNvPr id="6" name="Текстово поле 7">
            <a:extLst>
              <a:ext uri="{FF2B5EF4-FFF2-40B4-BE49-F238E27FC236}">
                <a16:creationId xmlns:a16="http://schemas.microsoft.com/office/drawing/2014/main" id="{6CDEAA0F-DE2D-F5B0-4128-3DBD0472AF65}"/>
              </a:ext>
            </a:extLst>
          </p:cNvPr>
          <p:cNvSpPr txBox="1"/>
          <p:nvPr/>
        </p:nvSpPr>
        <p:spPr>
          <a:xfrm>
            <a:off x="1101000" y="4554000"/>
            <a:ext cx="4185000" cy="1697068"/>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#[tag-name]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
        <p:nvSpPr>
          <p:cNvPr id="7" name="Текстово поле 7">
            <a:extLst>
              <a:ext uri="{FF2B5EF4-FFF2-40B4-BE49-F238E27FC236}">
                <a16:creationId xmlns:a16="http://schemas.microsoft.com/office/drawing/2014/main" id="{932A49CC-3912-B98B-AABA-7E5CD2C287E1}"/>
              </a:ext>
            </a:extLst>
          </p:cNvPr>
          <p:cNvSpPr txBox="1"/>
          <p:nvPr/>
        </p:nvSpPr>
        <p:spPr>
          <a:xfrm>
            <a:off x="5961000" y="4554000"/>
            <a:ext cx="4365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#[id-name]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232155587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Текстов контейнер 7">
            <a:extLst>
              <a:ext uri="{FF2B5EF4-FFF2-40B4-BE49-F238E27FC236}">
                <a16:creationId xmlns:a16="http://schemas.microsoft.com/office/drawing/2014/main" id="{4E80EE50-FB20-A9F0-C37D-D4148D1887A3}"/>
              </a:ext>
            </a:extLst>
          </p:cNvPr>
          <p:cNvSpPr>
            <a:spLocks noGrp="1"/>
          </p:cNvSpPr>
          <p:nvPr>
            <p:ph type="body" sz="quarter" idx="10"/>
          </p:nvPr>
        </p:nvSpPr>
        <p:spPr/>
        <p:txBody>
          <a:bodyPr/>
          <a:lstStyle/>
          <a:p>
            <a:pPr>
              <a:buClr>
                <a:schemeClr val="tx1"/>
              </a:buClr>
            </a:pPr>
            <a:r>
              <a:rPr lang="en-GB" sz="3600" b="1" dirty="0">
                <a:solidFill>
                  <a:schemeClr val="bg1"/>
                </a:solidFill>
              </a:rPr>
              <a:t>Attribute selectors</a:t>
            </a:r>
          </a:p>
          <a:p>
            <a:pPr lvl="1">
              <a:lnSpc>
                <a:spcPct val="110000"/>
              </a:lnSpc>
            </a:pPr>
            <a:r>
              <a:rPr lang="en-US" sz="3400" b="0" dirty="0"/>
              <a:t>The CSS attribute selector matches elements based on the element having a given attribute explicitly set, with options for defining an attribute value or substring value match</a:t>
            </a:r>
          </a:p>
          <a:p>
            <a:pPr lvl="1">
              <a:lnSpc>
                <a:spcPct val="110000"/>
              </a:lnSpc>
            </a:pPr>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
        <p:nvSpPr>
          <p:cNvPr id="2" name="Текстово поле 7">
            <a:extLst>
              <a:ext uri="{FF2B5EF4-FFF2-40B4-BE49-F238E27FC236}">
                <a16:creationId xmlns:a16="http://schemas.microsoft.com/office/drawing/2014/main" id="{A305B1AC-9464-C7CB-66D5-53E5B0A0198C}"/>
              </a:ext>
            </a:extLst>
          </p:cNvPr>
          <p:cNvSpPr txBox="1"/>
          <p:nvPr/>
        </p:nvSpPr>
        <p:spPr>
          <a:xfrm>
            <a:off x="1132480" y="4692958"/>
            <a:ext cx="4185000" cy="1697068"/>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a:t>
            </a:r>
            <a:r>
              <a:rPr lang="en-US" sz="2400" b="1" dirty="0">
                <a:solidFill>
                  <a:srgbClr val="C00000"/>
                </a:solidFill>
                <a:latin typeface="Consolas" panose="020B0609020204030204" pitchFamily="49" charset="0"/>
              </a:rPr>
              <a:t>attribute="value"]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
        <p:nvSpPr>
          <p:cNvPr id="3" name="Текстово поле 7">
            <a:extLst>
              <a:ext uri="{FF2B5EF4-FFF2-40B4-BE49-F238E27FC236}">
                <a16:creationId xmlns:a16="http://schemas.microsoft.com/office/drawing/2014/main" id="{2C1AEBFD-93CA-B343-1EF4-030DA98167D2}"/>
              </a:ext>
            </a:extLst>
          </p:cNvPr>
          <p:cNvSpPr txBox="1"/>
          <p:nvPr/>
        </p:nvSpPr>
        <p:spPr>
          <a:xfrm>
            <a:off x="5826000" y="4689000"/>
            <a:ext cx="529648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dirty="0">
                <a:solidFill>
                  <a:srgbClr val="C00000"/>
                </a:solidFill>
                <a:latin typeface="Consolas" panose="020B0609020204030204" pitchFamily="49" charset="0"/>
              </a:rPr>
              <a:t>[</a:t>
            </a:r>
            <a:r>
              <a:rPr lang="en-US" sz="2400" b="1" dirty="0" err="1">
                <a:solidFill>
                  <a:srgbClr val="C00000"/>
                </a:solidFill>
                <a:latin typeface="Consolas" panose="020B0609020204030204" pitchFamily="49" charset="0"/>
              </a:rPr>
              <a:t>href</a:t>
            </a:r>
            <a:r>
              <a:rPr lang="en-US" sz="2400" b="1" dirty="0">
                <a:solidFill>
                  <a:srgbClr val="C00000"/>
                </a:solidFill>
                <a:latin typeface="Consolas" panose="020B0609020204030204" pitchFamily="49" charset="0"/>
              </a:rPr>
              <a:t>="https://</a:t>
            </a:r>
            <a:r>
              <a:rPr lang="en-US" sz="2400" b="1" dirty="0" err="1">
                <a:solidFill>
                  <a:srgbClr val="C00000"/>
                </a:solidFill>
                <a:latin typeface="Consolas" panose="020B0609020204030204" pitchFamily="49" charset="0"/>
              </a:rPr>
              <a:t>softuni.bg</a:t>
            </a:r>
            <a:r>
              <a:rPr lang="en-US" sz="2400" b="1" dirty="0">
                <a:solidFill>
                  <a:srgbClr val="C00000"/>
                </a:solidFill>
                <a:latin typeface="Consolas" panose="020B0609020204030204" pitchFamily="49" charset="0"/>
              </a:rPr>
              <a:t>"]</a:t>
            </a:r>
            <a:r>
              <a:rPr lang="en-US" sz="2400" b="1" i="0" dirty="0">
                <a:solidFill>
                  <a:srgbClr val="C00000"/>
                </a:solidFill>
                <a:effectLst/>
                <a:latin typeface="Consolas" panose="020B0609020204030204" pitchFamily="49" charset="0"/>
              </a:rPr>
              <a:t>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143402581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6406762C-B011-6E0E-736F-4252DF83012A}"/>
              </a:ext>
            </a:extLst>
          </p:cNvPr>
          <p:cNvSpPr>
            <a:spLocks noGrp="1"/>
          </p:cNvSpPr>
          <p:nvPr>
            <p:ph type="body" sz="quarter" idx="10"/>
          </p:nvPr>
        </p:nvSpPr>
        <p:spPr/>
        <p:txBody>
          <a:bodyPr/>
          <a:lstStyle/>
          <a:p>
            <a:pPr>
              <a:buClr>
                <a:schemeClr val="tx1"/>
              </a:buClr>
            </a:pPr>
            <a:r>
              <a:rPr lang="en-GB" sz="3600" b="1" dirty="0">
                <a:solidFill>
                  <a:schemeClr val="bg1"/>
                </a:solidFill>
              </a:rPr>
              <a:t>Universal selector</a:t>
            </a:r>
          </a:p>
          <a:p>
            <a:pPr lvl="1">
              <a:lnSpc>
                <a:spcPct val="110000"/>
              </a:lnSpc>
            </a:pPr>
            <a:r>
              <a:rPr lang="en-US" sz="3400" b="0" dirty="0"/>
              <a:t>The CSS universal selector (*) matches elements of any type.</a:t>
            </a:r>
          </a:p>
          <a:p>
            <a:pPr lvl="1">
              <a:lnSpc>
                <a:spcPct val="110000"/>
              </a:lnSpc>
            </a:pPr>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Selectors</a:t>
            </a:r>
          </a:p>
        </p:txBody>
      </p:sp>
      <p:sp>
        <p:nvSpPr>
          <p:cNvPr id="6" name="Текстово поле 7">
            <a:extLst>
              <a:ext uri="{FF2B5EF4-FFF2-40B4-BE49-F238E27FC236}">
                <a16:creationId xmlns:a16="http://schemas.microsoft.com/office/drawing/2014/main" id="{B63CAD29-03DD-3E47-6C4E-EB39FF77FD7D}"/>
              </a:ext>
            </a:extLst>
          </p:cNvPr>
          <p:cNvSpPr txBox="1"/>
          <p:nvPr/>
        </p:nvSpPr>
        <p:spPr>
          <a:xfrm>
            <a:off x="1102162" y="3609000"/>
            <a:ext cx="4185000" cy="1697068"/>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C00000"/>
                </a:solidFill>
                <a:effectLst/>
                <a:latin typeface="Consolas" panose="020B0609020204030204" pitchFamily="49" charset="0"/>
              </a:rPr>
              <a:t>*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[declaration]</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
        <p:nvSpPr>
          <p:cNvPr id="7" name="Текстово поле 7">
            <a:extLst>
              <a:ext uri="{FF2B5EF4-FFF2-40B4-BE49-F238E27FC236}">
                <a16:creationId xmlns:a16="http://schemas.microsoft.com/office/drawing/2014/main" id="{E822D45A-D25A-BB1E-0461-6DFE33DB401A}"/>
              </a:ext>
            </a:extLst>
          </p:cNvPr>
          <p:cNvSpPr txBox="1"/>
          <p:nvPr/>
        </p:nvSpPr>
        <p:spPr>
          <a:xfrm>
            <a:off x="5467162" y="3609000"/>
            <a:ext cx="4440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dirty="0">
                <a:solidFill>
                  <a:srgbClr val="C00000"/>
                </a:solidFill>
                <a:latin typeface="Consolas" panose="020B0609020204030204" pitchFamily="49" charset="0"/>
              </a:rPr>
              <a:t>*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21839685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237DE7-64FB-4710-9848-10CBF568D863}"/>
              </a:ext>
            </a:extLst>
          </p:cNvPr>
          <p:cNvSpPr>
            <a:spLocks noGrp="1"/>
          </p:cNvSpPr>
          <p:nvPr>
            <p:ph type="title"/>
          </p:nvPr>
        </p:nvSpPr>
        <p:spPr/>
        <p:txBody>
          <a:bodyPr/>
          <a:lstStyle/>
          <a:p>
            <a:r>
              <a:rPr lang="en-US" dirty="0"/>
              <a:t>Combined CSS Selectors</a:t>
            </a:r>
          </a:p>
        </p:txBody>
      </p:sp>
      <p:sp>
        <p:nvSpPr>
          <p:cNvPr id="9" name="Text Placeholder 5">
            <a:extLst>
              <a:ext uri="{FF2B5EF4-FFF2-40B4-BE49-F238E27FC236}">
                <a16:creationId xmlns:a16="http://schemas.microsoft.com/office/drawing/2014/main" id="{3F371D03-6A47-486A-A0AE-DD0E8FFECAF9}"/>
              </a:ext>
            </a:extLst>
          </p:cNvPr>
          <p:cNvSpPr txBox="1">
            <a:spLocks/>
          </p:cNvSpPr>
          <p:nvPr/>
        </p:nvSpPr>
        <p:spPr>
          <a:xfrm>
            <a:off x="7580614" y="1420028"/>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#news &gt; h1</a:t>
            </a:r>
          </a:p>
        </p:txBody>
      </p:sp>
      <p:sp>
        <p:nvSpPr>
          <p:cNvPr id="10" name="Text Placeholder 5">
            <a:extLst>
              <a:ext uri="{FF2B5EF4-FFF2-40B4-BE49-F238E27FC236}">
                <a16:creationId xmlns:a16="http://schemas.microsoft.com/office/drawing/2014/main" id="{4CF54E66-5333-44A7-AA7F-9BA0C9372315}"/>
              </a:ext>
            </a:extLst>
          </p:cNvPr>
          <p:cNvSpPr txBox="1">
            <a:spLocks/>
          </p:cNvSpPr>
          <p:nvPr/>
        </p:nvSpPr>
        <p:spPr>
          <a:xfrm>
            <a:off x="382489" y="1420029"/>
            <a:ext cx="6883207" cy="5128887"/>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lnSpc>
                <a:spcPct val="95000"/>
              </a:lnSpc>
              <a:spcBef>
                <a:spcPct val="0"/>
              </a:spcBef>
              <a:spcAft>
                <a:spcPct val="0"/>
              </a:spcAft>
              <a:buClrTx/>
              <a:buSzTx/>
            </a:pPr>
            <a:r>
              <a:rPr lang="en-US" altLang="en-US" sz="2799" dirty="0">
                <a:solidFill>
                  <a:schemeClr val="bg1"/>
                </a:solidFill>
                <a:effectLst/>
              </a:rPr>
              <a:t>&lt;section id="news"&gt;</a:t>
            </a:r>
          </a:p>
          <a:p>
            <a:pPr eaLnBrk="0" fontAlgn="base" hangingPunct="0">
              <a:lnSpc>
                <a:spcPct val="95000"/>
              </a:lnSpc>
              <a:spcBef>
                <a:spcPct val="0"/>
              </a:spcBef>
              <a:spcAft>
                <a:spcPct val="0"/>
              </a:spcAft>
              <a:buClrTx/>
              <a:buSzTx/>
            </a:pPr>
            <a:r>
              <a:rPr lang="en-US" altLang="en-US" sz="2799" dirty="0">
                <a:solidFill>
                  <a:schemeClr val="bg1"/>
                </a:solidFill>
                <a:effectLst/>
              </a:rPr>
              <a:t>  &lt;h1&gt;</a:t>
            </a:r>
            <a:r>
              <a:rPr lang="en-US" altLang="en-US" sz="2799" dirty="0">
                <a:solidFill>
                  <a:schemeClr val="tx1"/>
                </a:solidFill>
                <a:effectLst/>
                <a:latin typeface="+mn-lt"/>
              </a:rPr>
              <a:t>Hot News</a:t>
            </a:r>
            <a:r>
              <a:rPr lang="en-US" altLang="en-US" sz="2799" dirty="0">
                <a:solidFill>
                  <a:schemeClr val="bg1"/>
                </a:solidFill>
                <a:effectLst/>
              </a:rPr>
              <a:t>&lt;/h1&gt;</a:t>
            </a:r>
          </a:p>
          <a:p>
            <a:pPr eaLnBrk="0" fontAlgn="base" hangingPunct="0">
              <a:lnSpc>
                <a:spcPct val="95000"/>
              </a:lnSpc>
              <a:spcBef>
                <a:spcPct val="0"/>
              </a:spcBef>
              <a:spcAft>
                <a:spcPct val="0"/>
              </a:spcAft>
              <a:buClrTx/>
              <a:buSzTx/>
            </a:pPr>
            <a:r>
              <a:rPr lang="en-US" altLang="en-US" sz="2799" dirty="0">
                <a:solidFill>
                  <a:schemeClr val="bg1"/>
                </a:solidFill>
                <a:effectLst/>
              </a:rPr>
              <a:t>  &lt;article&gt;</a:t>
            </a:r>
          </a:p>
          <a:p>
            <a:pPr eaLnBrk="0" fontAlgn="base" hangingPunct="0">
              <a:lnSpc>
                <a:spcPct val="95000"/>
              </a:lnSpc>
              <a:spcBef>
                <a:spcPct val="0"/>
              </a:spcBef>
              <a:spcAft>
                <a:spcPct val="0"/>
              </a:spcAft>
              <a:buClrTx/>
              <a:buSzTx/>
            </a:pPr>
            <a:r>
              <a:rPr lang="en-US" altLang="en-US" sz="2799" dirty="0">
                <a:solidFill>
                  <a:schemeClr val="bg1"/>
                </a:solidFill>
                <a:effectLst/>
              </a:rPr>
              <a:t>    &lt;h1&gt;</a:t>
            </a:r>
            <a:r>
              <a:rPr lang="en-US" altLang="en-US" sz="2799" dirty="0">
                <a:solidFill>
                  <a:schemeClr val="tx1"/>
                </a:solidFill>
                <a:effectLst/>
                <a:latin typeface="+mn-lt"/>
              </a:rPr>
              <a:t>New Release!</a:t>
            </a:r>
            <a:r>
              <a:rPr lang="en-US" altLang="en-US" sz="2799" dirty="0">
                <a:solidFill>
                  <a:schemeClr val="bg1"/>
                </a:solidFill>
                <a:effectLst/>
              </a:rPr>
              <a:t>&lt;/h1&gt;</a:t>
            </a:r>
          </a:p>
          <a:p>
            <a:pPr eaLnBrk="0" fontAlgn="base" hangingPunct="0">
              <a:lnSpc>
                <a:spcPct val="95000"/>
              </a:lnSpc>
              <a:spcBef>
                <a:spcPct val="0"/>
              </a:spcBef>
              <a:spcAft>
                <a:spcPct val="0"/>
              </a:spcAft>
              <a:buClrTx/>
              <a:buSzTx/>
            </a:pPr>
            <a:r>
              <a:rPr lang="en-US" altLang="en-US" sz="2799" dirty="0">
                <a:solidFill>
                  <a:schemeClr val="bg1"/>
                </a:solidFill>
                <a:effectLst/>
              </a:rPr>
              <a:t>    &lt;p&gt;</a:t>
            </a:r>
            <a:r>
              <a:rPr lang="en-US" altLang="en-US" sz="2799" dirty="0">
                <a:solidFill>
                  <a:schemeClr val="tx1"/>
                </a:solidFill>
                <a:effectLst/>
                <a:latin typeface="+mn-lt"/>
              </a:rPr>
              <a:t>Today we released</a:t>
            </a:r>
            <a:endParaRPr lang="en-US" altLang="en-US" sz="2799" dirty="0">
              <a:solidFill>
                <a:schemeClr val="bg1"/>
              </a:solidFill>
              <a:effectLst/>
            </a:endParaRPr>
          </a:p>
          <a:p>
            <a:pPr eaLnBrk="0" fontAlgn="base" hangingPunct="0">
              <a:lnSpc>
                <a:spcPct val="95000"/>
              </a:lnSpc>
              <a:spcBef>
                <a:spcPct val="0"/>
              </a:spcBef>
              <a:spcAft>
                <a:spcPct val="0"/>
              </a:spcAft>
              <a:buClrTx/>
              <a:buSzTx/>
            </a:pPr>
            <a:r>
              <a:rPr lang="en-US" altLang="en-US" sz="2799" dirty="0">
                <a:solidFill>
                  <a:schemeClr val="bg1"/>
                </a:solidFill>
                <a:effectLst/>
              </a:rPr>
              <a:t>      &lt;b class="red"&gt;</a:t>
            </a:r>
            <a:r>
              <a:rPr lang="en-US" altLang="en-US" sz="2799" dirty="0">
                <a:solidFill>
                  <a:schemeClr val="tx1"/>
                </a:solidFill>
                <a:effectLst/>
                <a:latin typeface="+mn-lt"/>
              </a:rPr>
              <a:t>ver. 7</a:t>
            </a:r>
            <a:r>
              <a:rPr lang="en-US" altLang="en-US" sz="2799" dirty="0">
                <a:solidFill>
                  <a:schemeClr val="bg1"/>
                </a:solidFill>
                <a:effectLst/>
              </a:rPr>
              <a:t>&lt;/b&gt;</a:t>
            </a:r>
          </a:p>
          <a:p>
            <a:pPr eaLnBrk="0" fontAlgn="base" hangingPunct="0">
              <a:lnSpc>
                <a:spcPct val="95000"/>
              </a:lnSpc>
              <a:spcBef>
                <a:spcPct val="0"/>
              </a:spcBef>
              <a:spcAft>
                <a:spcPct val="0"/>
              </a:spcAft>
              <a:buClrTx/>
              <a:buSzTx/>
            </a:pPr>
            <a:r>
              <a:rPr lang="en-US" altLang="en-US" sz="2799" dirty="0">
                <a:solidFill>
                  <a:schemeClr val="bg1"/>
                </a:solidFill>
                <a:effectLst/>
              </a:rPr>
              <a:t>      </a:t>
            </a:r>
            <a:r>
              <a:rPr lang="en-US" altLang="en-US" sz="2799" dirty="0">
                <a:solidFill>
                  <a:schemeClr val="tx1"/>
                </a:solidFill>
                <a:effectLst/>
                <a:latin typeface="+mn-lt"/>
              </a:rPr>
              <a:t>of our unique software …</a:t>
            </a:r>
            <a:endParaRPr lang="en-US" altLang="en-US" sz="2799" dirty="0">
              <a:solidFill>
                <a:schemeClr val="bg1"/>
              </a:solidFill>
              <a:effectLst/>
              <a:latin typeface="+mn-lt"/>
            </a:endParaRPr>
          </a:p>
          <a:p>
            <a:pPr eaLnBrk="0" fontAlgn="base" hangingPunct="0">
              <a:lnSpc>
                <a:spcPct val="95000"/>
              </a:lnSpc>
              <a:spcBef>
                <a:spcPct val="0"/>
              </a:spcBef>
              <a:spcAft>
                <a:spcPct val="0"/>
              </a:spcAft>
              <a:buClrTx/>
              <a:buSzTx/>
            </a:pPr>
            <a:r>
              <a:rPr lang="en-US" altLang="en-US" sz="2799" dirty="0">
                <a:solidFill>
                  <a:schemeClr val="bg1"/>
                </a:solidFill>
                <a:effectLst/>
              </a:rPr>
              <a:t>    &lt;/p&gt;</a:t>
            </a:r>
          </a:p>
          <a:p>
            <a:pPr eaLnBrk="0" fontAlgn="base" hangingPunct="0">
              <a:lnSpc>
                <a:spcPct val="95000"/>
              </a:lnSpc>
              <a:spcBef>
                <a:spcPct val="0"/>
              </a:spcBef>
              <a:spcAft>
                <a:spcPct val="0"/>
              </a:spcAft>
              <a:buClrTx/>
              <a:buSzTx/>
            </a:pPr>
            <a:r>
              <a:rPr lang="en-US" altLang="en-US" sz="2799" dirty="0">
                <a:solidFill>
                  <a:schemeClr val="bg1"/>
                </a:solidFill>
                <a:effectLst/>
              </a:rPr>
              <a:t>  &lt;/article&gt;</a:t>
            </a:r>
          </a:p>
          <a:p>
            <a:pPr eaLnBrk="0" fontAlgn="base" hangingPunct="0">
              <a:lnSpc>
                <a:spcPct val="95000"/>
              </a:lnSpc>
              <a:spcBef>
                <a:spcPct val="0"/>
              </a:spcBef>
              <a:spcAft>
                <a:spcPct val="0"/>
              </a:spcAft>
              <a:buClrTx/>
              <a:buSzTx/>
            </a:pPr>
            <a:r>
              <a:rPr lang="en-US" altLang="en-US" sz="2799" dirty="0">
                <a:solidFill>
                  <a:schemeClr val="bg1"/>
                </a:solidFill>
                <a:effectLst/>
              </a:rPr>
              <a:t>  &lt;p&gt;</a:t>
            </a:r>
            <a:r>
              <a:rPr lang="en-US" altLang="en-US" sz="2799" dirty="0">
                <a:solidFill>
                  <a:schemeClr val="tx1"/>
                </a:solidFill>
                <a:effectLst/>
                <a:latin typeface="+mn-lt"/>
              </a:rPr>
              <a:t>Published: </a:t>
            </a:r>
            <a:r>
              <a:rPr lang="en-US" altLang="en-US" sz="2799" dirty="0">
                <a:solidFill>
                  <a:schemeClr val="bg1"/>
                </a:solidFill>
                <a:effectLst/>
              </a:rPr>
              <a:t>&lt;span class="date"&gt;</a:t>
            </a:r>
            <a:r>
              <a:rPr lang="en-US" altLang="en-US" sz="2799" dirty="0">
                <a:solidFill>
                  <a:schemeClr val="tx1"/>
                </a:solidFill>
                <a:effectLst/>
                <a:latin typeface="+mn-lt"/>
              </a:rPr>
              <a:t>1/1/2021</a:t>
            </a:r>
            <a:r>
              <a:rPr lang="en-US" altLang="en-US" sz="2799" dirty="0">
                <a:solidFill>
                  <a:schemeClr val="bg1"/>
                </a:solidFill>
                <a:effectLst/>
              </a:rPr>
              <a:t>&lt;/span&gt;&lt;/p&gt;</a:t>
            </a:r>
          </a:p>
          <a:p>
            <a:pPr eaLnBrk="0" fontAlgn="base" hangingPunct="0">
              <a:lnSpc>
                <a:spcPct val="95000"/>
              </a:lnSpc>
              <a:spcBef>
                <a:spcPct val="0"/>
              </a:spcBef>
              <a:spcAft>
                <a:spcPct val="0"/>
              </a:spcAft>
              <a:buClrTx/>
              <a:buSzTx/>
            </a:pPr>
            <a:r>
              <a:rPr lang="en-US" altLang="en-US" sz="2799" dirty="0">
                <a:solidFill>
                  <a:schemeClr val="bg1"/>
                </a:solidFill>
                <a:effectLst/>
              </a:rPr>
              <a:t>&lt;/section&gt;</a:t>
            </a:r>
            <a:endParaRPr lang="en-US" altLang="en-US" sz="2799" dirty="0">
              <a:solidFill>
                <a:schemeClr val="tx1"/>
              </a:solidFill>
              <a:effectLst/>
            </a:endParaRPr>
          </a:p>
        </p:txBody>
      </p:sp>
      <p:sp>
        <p:nvSpPr>
          <p:cNvPr id="18" name="Text Placeholder 5">
            <a:extLst>
              <a:ext uri="{FF2B5EF4-FFF2-40B4-BE49-F238E27FC236}">
                <a16:creationId xmlns:a16="http://schemas.microsoft.com/office/drawing/2014/main" id="{2D6DB2C9-11F7-4EF5-B18D-7AAF5A87E725}"/>
              </a:ext>
            </a:extLst>
          </p:cNvPr>
          <p:cNvSpPr txBox="1">
            <a:spLocks/>
          </p:cNvSpPr>
          <p:nvPr/>
        </p:nvSpPr>
        <p:spPr>
          <a:xfrm>
            <a:off x="7580614" y="2316039"/>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#news article &gt; h1</a:t>
            </a:r>
          </a:p>
        </p:txBody>
      </p:sp>
      <p:sp>
        <p:nvSpPr>
          <p:cNvPr id="19" name="Text Placeholder 5">
            <a:extLst>
              <a:ext uri="{FF2B5EF4-FFF2-40B4-BE49-F238E27FC236}">
                <a16:creationId xmlns:a16="http://schemas.microsoft.com/office/drawing/2014/main" id="{3F3239A3-096F-4530-B8EA-BC9C59641FED}"/>
              </a:ext>
            </a:extLst>
          </p:cNvPr>
          <p:cNvSpPr txBox="1">
            <a:spLocks/>
          </p:cNvSpPr>
          <p:nvPr/>
        </p:nvSpPr>
        <p:spPr>
          <a:xfrm>
            <a:off x="7580614" y="3212051"/>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#news article p</a:t>
            </a:r>
          </a:p>
        </p:txBody>
      </p:sp>
      <p:sp>
        <p:nvSpPr>
          <p:cNvPr id="20" name="Text Placeholder 5">
            <a:extLst>
              <a:ext uri="{FF2B5EF4-FFF2-40B4-BE49-F238E27FC236}">
                <a16:creationId xmlns:a16="http://schemas.microsoft.com/office/drawing/2014/main" id="{011F63ED-46D7-4456-A4F6-7448E8A8E1EC}"/>
              </a:ext>
            </a:extLst>
          </p:cNvPr>
          <p:cNvSpPr txBox="1">
            <a:spLocks/>
          </p:cNvSpPr>
          <p:nvPr/>
        </p:nvSpPr>
        <p:spPr>
          <a:xfrm>
            <a:off x="7580614" y="4108063"/>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#news p &gt; b.red</a:t>
            </a:r>
          </a:p>
        </p:txBody>
      </p:sp>
      <p:sp>
        <p:nvSpPr>
          <p:cNvPr id="21" name="Text Placeholder 5">
            <a:extLst>
              <a:ext uri="{FF2B5EF4-FFF2-40B4-BE49-F238E27FC236}">
                <a16:creationId xmlns:a16="http://schemas.microsoft.com/office/drawing/2014/main" id="{B761CAC3-DB2D-4840-BDFD-9098ED84E92B}"/>
              </a:ext>
            </a:extLst>
          </p:cNvPr>
          <p:cNvSpPr txBox="1">
            <a:spLocks/>
          </p:cNvSpPr>
          <p:nvPr/>
        </p:nvSpPr>
        <p:spPr>
          <a:xfrm>
            <a:off x="7580614" y="5004074"/>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#news span.date</a:t>
            </a:r>
          </a:p>
        </p:txBody>
      </p:sp>
      <p:sp>
        <p:nvSpPr>
          <p:cNvPr id="11" name="Text Placeholder 5">
            <a:extLst>
              <a:ext uri="{FF2B5EF4-FFF2-40B4-BE49-F238E27FC236}">
                <a16:creationId xmlns:a16="http://schemas.microsoft.com/office/drawing/2014/main" id="{90D62154-42A7-4734-8B66-CA1CEAC33A56}"/>
              </a:ext>
            </a:extLst>
          </p:cNvPr>
          <p:cNvSpPr txBox="1">
            <a:spLocks/>
          </p:cNvSpPr>
          <p:nvPr/>
        </p:nvSpPr>
        <p:spPr>
          <a:xfrm>
            <a:off x="7580614" y="5900087"/>
            <a:ext cx="4228898" cy="648828"/>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3963" tIns="107972" rIns="143963" bIns="107972"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pPr eaLnBrk="0" fontAlgn="base" hangingPunct="0">
              <a:spcBef>
                <a:spcPct val="0"/>
              </a:spcBef>
              <a:spcAft>
                <a:spcPct val="0"/>
              </a:spcAft>
              <a:buClrTx/>
              <a:buSzTx/>
            </a:pPr>
            <a:r>
              <a:rPr lang="en-US" altLang="en-US" sz="2799" dirty="0">
                <a:solidFill>
                  <a:schemeClr val="tx1"/>
                </a:solidFill>
                <a:effectLst/>
              </a:rPr>
              <a:t>article&gt;p, section&gt;p</a:t>
            </a:r>
          </a:p>
        </p:txBody>
      </p:sp>
      <p:sp>
        <p:nvSpPr>
          <p:cNvPr id="13" name="Slide Number">
            <a:extLst>
              <a:ext uri="{FF2B5EF4-FFF2-40B4-BE49-F238E27FC236}">
                <a16:creationId xmlns:a16="http://schemas.microsoft.com/office/drawing/2014/main" id="{A72A1387-DFA2-476F-ADC0-575A60DC495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52</a:t>
            </a:fld>
            <a:endParaRPr lang="en-US" noProof="0" dirty="0"/>
          </a:p>
        </p:txBody>
      </p:sp>
    </p:spTree>
    <p:extLst>
      <p:ext uri="{BB962C8B-B14F-4D97-AF65-F5344CB8AC3E}">
        <p14:creationId xmlns:p14="http://schemas.microsoft.com/office/powerpoint/2010/main" val="9247898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animBg="1"/>
      <p:bldP spid="20" grpId="0" animBg="1"/>
      <p:bldP spid="21"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D4AE86A5-0DD2-60D0-AF98-DFFC9FFDA663}"/>
              </a:ext>
            </a:extLst>
          </p:cNvPr>
          <p:cNvSpPr>
            <a:spLocks noGrp="1"/>
          </p:cNvSpPr>
          <p:nvPr>
            <p:ph type="body" sz="quarter" idx="10"/>
          </p:nvPr>
        </p:nvSpPr>
        <p:spPr/>
        <p:txBody>
          <a:bodyPr/>
          <a:lstStyle/>
          <a:p>
            <a:pPr>
              <a:buClr>
                <a:schemeClr val="tx1"/>
              </a:buClr>
            </a:pPr>
            <a:r>
              <a:rPr lang="en-GB" sz="3000" b="1" dirty="0">
                <a:solidFill>
                  <a:schemeClr val="bg1"/>
                </a:solidFill>
              </a:rPr>
              <a:t>Descendant combinator</a:t>
            </a:r>
          </a:p>
          <a:p>
            <a:pPr lvl="1"/>
            <a:r>
              <a:rPr lang="en-US" sz="2800" b="0" dirty="0"/>
              <a:t>The descendant combinator — typically represented by a single space (" ") character — combines two selectors such that elements matched by the second selector are selected if they have an ancestor (parent, parent's parent, parent's </a:t>
            </a:r>
            <a:r>
              <a:rPr lang="en-US" sz="2800" b="0" dirty="0" err="1"/>
              <a:t>parent's</a:t>
            </a:r>
            <a:r>
              <a:rPr lang="en-US" sz="2800" b="0" dirty="0"/>
              <a:t> parent, etc.) element matching the first selector</a:t>
            </a:r>
          </a:p>
          <a:p>
            <a:pPr lvl="1"/>
            <a:r>
              <a:rPr lang="en-US" sz="2800" dirty="0">
                <a:hlinkClick r:id="rId2"/>
              </a:rPr>
              <a:t>Reference Documentation</a:t>
            </a:r>
            <a:endParaRPr lang="en-US" sz="28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Combinators</a:t>
            </a:r>
          </a:p>
        </p:txBody>
      </p:sp>
      <p:sp>
        <p:nvSpPr>
          <p:cNvPr id="5" name="Текстово поле 7">
            <a:extLst>
              <a:ext uri="{FF2B5EF4-FFF2-40B4-BE49-F238E27FC236}">
                <a16:creationId xmlns:a16="http://schemas.microsoft.com/office/drawing/2014/main" id="{3A2D1724-1A26-B2DE-C54C-F1161F195DA9}"/>
              </a:ext>
            </a:extLst>
          </p:cNvPr>
          <p:cNvSpPr txBox="1"/>
          <p:nvPr/>
        </p:nvSpPr>
        <p:spPr>
          <a:xfrm>
            <a:off x="1101000" y="4509000"/>
            <a:ext cx="4410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dirty="0">
                <a:solidFill>
                  <a:srgbClr val="C00000"/>
                </a:solidFill>
                <a:latin typeface="Consolas" panose="020B0609020204030204" pitchFamily="49" charset="0"/>
              </a:rPr>
              <a:t>header p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232877236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A62749A-7353-8207-BD72-29E7BC8E0116}"/>
              </a:ext>
            </a:extLst>
          </p:cNvPr>
          <p:cNvSpPr>
            <a:spLocks noGrp="1"/>
          </p:cNvSpPr>
          <p:nvPr>
            <p:ph type="body" sz="quarter" idx="10"/>
          </p:nvPr>
        </p:nvSpPr>
        <p:spPr/>
        <p:txBody>
          <a:bodyPr/>
          <a:lstStyle/>
          <a:p>
            <a:pPr>
              <a:buClr>
                <a:schemeClr val="tx1"/>
              </a:buClr>
            </a:pPr>
            <a:r>
              <a:rPr lang="en-GB" sz="3600" b="1" dirty="0">
                <a:solidFill>
                  <a:schemeClr val="bg1"/>
                </a:solidFill>
              </a:rPr>
              <a:t>Selector list</a:t>
            </a:r>
          </a:p>
          <a:p>
            <a:pPr lvl="1"/>
            <a:r>
              <a:rPr lang="en-US" sz="3400" b="0" dirty="0"/>
              <a:t>The CSS selector list (,) selects all the matching nodes. A selector list is a comma-separated list of selectors</a:t>
            </a:r>
          </a:p>
          <a:p>
            <a:pPr lvl="1"/>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Combinators</a:t>
            </a:r>
          </a:p>
        </p:txBody>
      </p:sp>
      <p:sp>
        <p:nvSpPr>
          <p:cNvPr id="2" name="Текстово поле 7">
            <a:extLst>
              <a:ext uri="{FF2B5EF4-FFF2-40B4-BE49-F238E27FC236}">
                <a16:creationId xmlns:a16="http://schemas.microsoft.com/office/drawing/2014/main" id="{6263536B-FC2E-45CC-6D68-5541C762EC55}"/>
              </a:ext>
            </a:extLst>
          </p:cNvPr>
          <p:cNvSpPr txBox="1"/>
          <p:nvPr/>
        </p:nvSpPr>
        <p:spPr>
          <a:xfrm>
            <a:off x="1146000" y="4104000"/>
            <a:ext cx="6030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dirty="0">
                <a:solidFill>
                  <a:srgbClr val="C00000"/>
                </a:solidFill>
                <a:latin typeface="Consolas" panose="020B0609020204030204" pitchFamily="49" charset="0"/>
              </a:rPr>
              <a:t>header, p, div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428836829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8A2DC83F-EB83-1DC0-A48E-715F1293BB24}"/>
              </a:ext>
            </a:extLst>
          </p:cNvPr>
          <p:cNvSpPr>
            <a:spLocks noGrp="1"/>
          </p:cNvSpPr>
          <p:nvPr>
            <p:ph type="body" sz="quarter" idx="10"/>
          </p:nvPr>
        </p:nvSpPr>
        <p:spPr/>
        <p:txBody>
          <a:bodyPr/>
          <a:lstStyle/>
          <a:p>
            <a:pPr>
              <a:buClr>
                <a:schemeClr val="tx1"/>
              </a:buClr>
            </a:pPr>
            <a:r>
              <a:rPr lang="en-GB" sz="3600" b="1" dirty="0">
                <a:solidFill>
                  <a:schemeClr val="bg1"/>
                </a:solidFill>
              </a:rPr>
              <a:t>Child combinator</a:t>
            </a:r>
          </a:p>
          <a:p>
            <a:pPr lvl="1"/>
            <a:r>
              <a:rPr lang="en-US" sz="3200" b="0" dirty="0"/>
              <a:t>The child combinator (&gt;) is placed between two CSS selectors. It matches only those elements matched by the second selector that are the direct children of elements matched by the first</a:t>
            </a:r>
          </a:p>
          <a:p>
            <a:pPr lvl="1"/>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Combinators</a:t>
            </a:r>
          </a:p>
        </p:txBody>
      </p:sp>
      <p:sp>
        <p:nvSpPr>
          <p:cNvPr id="2" name="Текстово поле 7">
            <a:extLst>
              <a:ext uri="{FF2B5EF4-FFF2-40B4-BE49-F238E27FC236}">
                <a16:creationId xmlns:a16="http://schemas.microsoft.com/office/drawing/2014/main" id="{E1845C09-1990-2180-6CCC-3C7FF23955EC}"/>
              </a:ext>
            </a:extLst>
          </p:cNvPr>
          <p:cNvSpPr txBox="1"/>
          <p:nvPr/>
        </p:nvSpPr>
        <p:spPr>
          <a:xfrm>
            <a:off x="1101000" y="4554000"/>
            <a:ext cx="6030000" cy="169501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dirty="0">
                <a:solidFill>
                  <a:srgbClr val="C00000"/>
                </a:solidFill>
                <a:latin typeface="Consolas" panose="020B0609020204030204" pitchFamily="49" charset="0"/>
              </a:rPr>
              <a:t>header &gt; p </a:t>
            </a:r>
            <a:r>
              <a:rPr lang="en-US" sz="2400" b="1" i="0" dirty="0">
                <a:effectLst/>
                <a:latin typeface="Consolas" panose="020B0609020204030204" pitchFamily="49" charset="0"/>
              </a:rPr>
              <a: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i="0" dirty="0">
                <a:effectLst/>
                <a:latin typeface="Consolas" panose="020B0609020204030204" pitchFamily="49" charset="0"/>
              </a:rPr>
              <a:t>color: red;</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font-weight: bold;</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a:t>
            </a:r>
          </a:p>
        </p:txBody>
      </p:sp>
    </p:spTree>
    <p:extLst>
      <p:ext uri="{BB962C8B-B14F-4D97-AF65-F5344CB8AC3E}">
        <p14:creationId xmlns:p14="http://schemas.microsoft.com/office/powerpoint/2010/main" val="39568882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8A2DC83F-EB83-1DC0-A48E-715F1293BB24}"/>
              </a:ext>
            </a:extLst>
          </p:cNvPr>
          <p:cNvSpPr>
            <a:spLocks noGrp="1"/>
          </p:cNvSpPr>
          <p:nvPr>
            <p:ph type="body" sz="quarter" idx="10"/>
          </p:nvPr>
        </p:nvSpPr>
        <p:spPr>
          <a:xfrm>
            <a:off x="190402" y="1196125"/>
            <a:ext cx="11818096" cy="4062334"/>
          </a:xfrm>
        </p:spPr>
        <p:txBody>
          <a:bodyPr>
            <a:normAutofit fontScale="92500" lnSpcReduction="10000"/>
          </a:bodyPr>
          <a:lstStyle/>
          <a:p>
            <a:pPr>
              <a:buClr>
                <a:schemeClr val="tx1"/>
              </a:buClr>
            </a:pPr>
            <a:r>
              <a:rPr lang="en-GB" sz="3700" b="1" dirty="0">
                <a:solidFill>
                  <a:schemeClr val="bg1"/>
                </a:solidFill>
              </a:rPr>
              <a:t>Why combine styles?</a:t>
            </a:r>
          </a:p>
          <a:p>
            <a:pPr lvl="1">
              <a:buClr>
                <a:schemeClr val="tx1"/>
              </a:buClr>
            </a:pPr>
            <a:r>
              <a:rPr lang="en-GB" sz="3500" dirty="0"/>
              <a:t>To keep CSS DRY (Don't Repeat Yourself)</a:t>
            </a:r>
          </a:p>
          <a:p>
            <a:pPr lvl="1">
              <a:buClr>
                <a:schemeClr val="tx1"/>
              </a:buClr>
            </a:pPr>
            <a:r>
              <a:rPr lang="en-GB" sz="3500" dirty="0"/>
              <a:t>When multiple sections share similar styling, reuse the same class for consistency</a:t>
            </a:r>
          </a:p>
          <a:p>
            <a:pPr lvl="1">
              <a:buClr>
                <a:schemeClr val="tx1"/>
              </a:buClr>
            </a:pPr>
            <a:r>
              <a:rPr lang="en-GB" sz="3500" dirty="0"/>
              <a:t>Easier to maintain and update one class instead of editing multiple rules</a:t>
            </a:r>
          </a:p>
          <a:p>
            <a:pPr lvl="1">
              <a:buClr>
                <a:schemeClr val="tx1"/>
              </a:buClr>
            </a:pPr>
            <a:r>
              <a:rPr lang="en-GB" sz="3500" dirty="0"/>
              <a:t>Improves readability and reduces code duplication</a:t>
            </a:r>
            <a:endParaRPr lang="bg-BG" sz="3500" dirty="0"/>
          </a:p>
          <a:p>
            <a:pPr marL="442912" lvl="1" indent="0">
              <a:buClr>
                <a:schemeClr val="tx1"/>
              </a:buClr>
              <a:buNone/>
            </a:pPr>
            <a:endParaRPr lang="bg-BG" sz="3600" b="1" dirty="0">
              <a:solidFill>
                <a:schemeClr val="bg1"/>
              </a:solidFill>
            </a:endParaRPr>
          </a:p>
          <a:p>
            <a:pPr marL="442912" lvl="1" indent="0">
              <a:buClr>
                <a:schemeClr val="tx1"/>
              </a:buClr>
              <a:buNone/>
            </a:pPr>
            <a:endParaRPr lang="en-GB" sz="3600" b="1" dirty="0">
              <a:solidFill>
                <a:schemeClr val="bg1"/>
              </a:solidFill>
            </a:endParaRP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Combining Styles</a:t>
            </a:r>
          </a:p>
        </p:txBody>
      </p:sp>
      <p:sp>
        <p:nvSpPr>
          <p:cNvPr id="2" name="Текстово поле 7">
            <a:extLst>
              <a:ext uri="{FF2B5EF4-FFF2-40B4-BE49-F238E27FC236}">
                <a16:creationId xmlns:a16="http://schemas.microsoft.com/office/drawing/2014/main" id="{E1845C09-1990-2180-6CCC-3C7FF23955EC}"/>
              </a:ext>
            </a:extLst>
          </p:cNvPr>
          <p:cNvSpPr txBox="1"/>
          <p:nvPr/>
        </p:nvSpPr>
        <p:spPr>
          <a:xfrm>
            <a:off x="4341000" y="5120287"/>
            <a:ext cx="7481696" cy="1599027"/>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b="1" dirty="0">
                <a:solidFill>
                  <a:srgbClr val="C00000"/>
                </a:solidFill>
                <a:latin typeface="Consolas" panose="020B0609020204030204" pitchFamily="49" charset="0"/>
              </a:rPr>
              <a:t>.text-red </a:t>
            </a:r>
            <a:r>
              <a:rPr lang="en-US" b="1" dirty="0">
                <a:latin typeface="Consolas" panose="020B0609020204030204" pitchFamily="49" charset="0"/>
              </a:rPr>
              <a:t>{</a:t>
            </a:r>
          </a:p>
          <a:p>
            <a:pPr eaLnBrk="0" hangingPunct="0">
              <a:lnSpc>
                <a:spcPct val="110000"/>
              </a:lnSpc>
              <a:buClr>
                <a:schemeClr val="accent5">
                  <a:lumMod val="40000"/>
                  <a:lumOff val="60000"/>
                </a:schemeClr>
              </a:buClr>
              <a:buSzPct val="70000"/>
            </a:pPr>
            <a:r>
              <a:rPr lang="en-US" b="1" dirty="0">
                <a:latin typeface="Consolas" panose="020B0609020204030204" pitchFamily="49" charset="0"/>
              </a:rPr>
              <a:t>  color: red;</a:t>
            </a:r>
          </a:p>
          <a:p>
            <a:pPr eaLnBrk="0" hangingPunct="0">
              <a:lnSpc>
                <a:spcPct val="110000"/>
              </a:lnSpc>
              <a:buClr>
                <a:schemeClr val="accent5">
                  <a:lumMod val="40000"/>
                  <a:lumOff val="60000"/>
                </a:schemeClr>
              </a:buClr>
              <a:buSzPct val="70000"/>
            </a:pPr>
            <a:r>
              <a:rPr lang="en-US" b="1" dirty="0">
                <a:latin typeface="Consolas" panose="020B0609020204030204" pitchFamily="49" charset="0"/>
              </a:rPr>
              <a:t>}</a:t>
            </a:r>
            <a:endParaRPr lang="bg-BG" b="1" dirty="0">
              <a:latin typeface="Consolas" panose="020B0609020204030204" pitchFamily="49" charset="0"/>
            </a:endParaRPr>
          </a:p>
          <a:p>
            <a:pPr eaLnBrk="0" hangingPunct="0">
              <a:lnSpc>
                <a:spcPct val="110000"/>
              </a:lnSpc>
              <a:buClr>
                <a:schemeClr val="accent5">
                  <a:lumMod val="40000"/>
                  <a:lumOff val="60000"/>
                </a:schemeClr>
              </a:buClr>
              <a:buSzPct val="70000"/>
            </a:pPr>
            <a:r>
              <a:rPr lang="en-GB" b="1" dirty="0">
                <a:latin typeface="Consolas" panose="020B0609020204030204" pitchFamily="49" charset="0"/>
              </a:rPr>
              <a:t>&lt;p class="</a:t>
            </a:r>
            <a:r>
              <a:rPr lang="en-GB" b="1" dirty="0">
                <a:solidFill>
                  <a:srgbClr val="C00000"/>
                </a:solidFill>
                <a:latin typeface="Consolas" panose="020B0609020204030204" pitchFamily="49" charset="0"/>
              </a:rPr>
              <a:t>text-red</a:t>
            </a:r>
            <a:r>
              <a:rPr lang="en-GB" b="1" dirty="0">
                <a:latin typeface="Consolas" panose="020B0609020204030204" pitchFamily="49" charset="0"/>
              </a:rPr>
              <a:t>"&gt;first paragraph.&lt;/p&gt;</a:t>
            </a:r>
          </a:p>
          <a:p>
            <a:pPr eaLnBrk="0" hangingPunct="0">
              <a:lnSpc>
                <a:spcPct val="110000"/>
              </a:lnSpc>
              <a:buClr>
                <a:schemeClr val="accent5">
                  <a:lumMod val="40000"/>
                  <a:lumOff val="60000"/>
                </a:schemeClr>
              </a:buClr>
              <a:buSzPct val="70000"/>
            </a:pPr>
            <a:r>
              <a:rPr lang="en-GB" b="1" dirty="0">
                <a:latin typeface="Consolas" panose="020B0609020204030204" pitchFamily="49" charset="0"/>
              </a:rPr>
              <a:t>&lt;p class="</a:t>
            </a:r>
            <a:r>
              <a:rPr lang="en-GB" b="1" dirty="0">
                <a:solidFill>
                  <a:srgbClr val="C00000"/>
                </a:solidFill>
                <a:latin typeface="Consolas" panose="020B0609020204030204" pitchFamily="49" charset="0"/>
              </a:rPr>
              <a:t>text-red</a:t>
            </a:r>
            <a:r>
              <a:rPr lang="en-GB" b="1" dirty="0">
                <a:latin typeface="Consolas" panose="020B0609020204030204" pitchFamily="49" charset="0"/>
              </a:rPr>
              <a:t>"&gt;</a:t>
            </a:r>
            <a:r>
              <a:rPr lang="bg-BG" b="1" dirty="0">
                <a:latin typeface="Consolas" panose="020B0609020204030204" pitchFamily="49" charset="0"/>
              </a:rPr>
              <a:t>А</a:t>
            </a:r>
            <a:r>
              <a:rPr lang="en-GB" b="1" dirty="0">
                <a:latin typeface="Consolas" panose="020B0609020204030204" pitchFamily="49" charset="0"/>
              </a:rPr>
              <a:t>nother paragraph with</a:t>
            </a:r>
            <a:r>
              <a:rPr lang="bg-BG" b="1" dirty="0">
                <a:latin typeface="Consolas" panose="020B0609020204030204" pitchFamily="49" charset="0"/>
              </a:rPr>
              <a:t> </a:t>
            </a:r>
            <a:r>
              <a:rPr lang="en-GB" b="1" dirty="0">
                <a:latin typeface="Consolas" panose="020B0609020204030204" pitchFamily="49" charset="0"/>
              </a:rPr>
              <a:t>same style.&lt;/p&gt;</a:t>
            </a:r>
            <a:endParaRPr lang="en-US" b="1" i="0" dirty="0">
              <a:effectLst/>
              <a:latin typeface="Consolas" panose="020B0609020204030204" pitchFamily="49" charset="0"/>
            </a:endParaRPr>
          </a:p>
        </p:txBody>
      </p:sp>
    </p:spTree>
    <p:extLst>
      <p:ext uri="{BB962C8B-B14F-4D97-AF65-F5344CB8AC3E}">
        <p14:creationId xmlns:p14="http://schemas.microsoft.com/office/powerpoint/2010/main" val="407752550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8A2DC83F-EB83-1DC0-A48E-715F1293BB24}"/>
              </a:ext>
            </a:extLst>
          </p:cNvPr>
          <p:cNvSpPr>
            <a:spLocks noGrp="1"/>
          </p:cNvSpPr>
          <p:nvPr>
            <p:ph type="body" sz="quarter" idx="10"/>
          </p:nvPr>
        </p:nvSpPr>
        <p:spPr>
          <a:xfrm>
            <a:off x="174377" y="1214178"/>
            <a:ext cx="6670598" cy="5528766"/>
          </a:xfrm>
        </p:spPr>
        <p:txBody>
          <a:bodyPr>
            <a:normAutofit fontScale="92500" lnSpcReduction="10000"/>
          </a:bodyPr>
          <a:lstStyle/>
          <a:p>
            <a:pPr>
              <a:defRPr sz="1600"/>
            </a:pPr>
            <a:r>
              <a:rPr lang="en-GB" sz="3200" dirty="0"/>
              <a:t>The cascade determines which style is applied when multiple CSS rules target the same element</a:t>
            </a:r>
            <a:endParaRPr lang="bg-BG" sz="3200" dirty="0"/>
          </a:p>
          <a:p>
            <a:pPr>
              <a:defRPr sz="1600"/>
            </a:pPr>
            <a:r>
              <a:rPr lang="en-GB" sz="3200" dirty="0"/>
              <a:t>Order of application:</a:t>
            </a:r>
          </a:p>
          <a:p>
            <a:pPr lvl="1">
              <a:defRPr sz="1600"/>
            </a:pPr>
            <a:r>
              <a:rPr lang="en-GB" sz="3000" dirty="0"/>
              <a:t>Browser (user agent) styles</a:t>
            </a:r>
            <a:endParaRPr lang="bg-BG" sz="3000" dirty="0"/>
          </a:p>
          <a:p>
            <a:pPr lvl="1">
              <a:defRPr sz="1600"/>
            </a:pPr>
            <a:r>
              <a:rPr lang="en-GB" sz="3200" dirty="0"/>
              <a:t>User styles</a:t>
            </a:r>
          </a:p>
          <a:p>
            <a:pPr lvl="1">
              <a:defRPr sz="1600"/>
            </a:pPr>
            <a:r>
              <a:rPr lang="en-GB" sz="3200" dirty="0"/>
              <a:t>Author styles (ours)</a:t>
            </a:r>
            <a:endParaRPr lang="bg-BG" sz="3200" dirty="0"/>
          </a:p>
          <a:p>
            <a:pPr lvl="1">
              <a:defRPr sz="1600"/>
            </a:pPr>
            <a:r>
              <a:rPr lang="en-GB" sz="3200" dirty="0"/>
              <a:t>If rules conflict, the last one in order wins if specificity is the same</a:t>
            </a:r>
            <a:endParaRPr lang="en-GB" sz="3000" b="1" dirty="0">
              <a:solidFill>
                <a:schemeClr val="bg1"/>
              </a:solidFill>
            </a:endParaRPr>
          </a:p>
          <a:p>
            <a:pPr lvl="1"/>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Cascade</a:t>
            </a:r>
          </a:p>
        </p:txBody>
      </p:sp>
      <p:sp>
        <p:nvSpPr>
          <p:cNvPr id="2" name="Текстово поле 7">
            <a:extLst>
              <a:ext uri="{FF2B5EF4-FFF2-40B4-BE49-F238E27FC236}">
                <a16:creationId xmlns:a16="http://schemas.microsoft.com/office/drawing/2014/main" id="{E1845C09-1990-2180-6CCC-3C7FF23955EC}"/>
              </a:ext>
            </a:extLst>
          </p:cNvPr>
          <p:cNvSpPr txBox="1"/>
          <p:nvPr/>
        </p:nvSpPr>
        <p:spPr>
          <a:xfrm>
            <a:off x="6951000" y="1714792"/>
            <a:ext cx="4860000" cy="3320076"/>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GB" sz="2400" b="1" dirty="0">
                <a:solidFill>
                  <a:srgbClr val="C00000"/>
                </a:solidFill>
                <a:latin typeface="Consolas" panose="020B0609020204030204" pitchFamily="49" charset="0"/>
              </a:rPr>
              <a:t>h1</a:t>
            </a:r>
            <a:r>
              <a:rPr lang="en-GB" sz="2400" b="1" dirty="0">
                <a:latin typeface="Consolas" panose="020B0609020204030204" pitchFamily="49" charset="0"/>
              </a:rPr>
              <a:t> {</a:t>
            </a:r>
            <a:br>
              <a:rPr lang="en-GB" sz="2400" b="1" dirty="0">
                <a:latin typeface="Consolas" panose="020B0609020204030204" pitchFamily="49" charset="0"/>
              </a:rPr>
            </a:br>
            <a:r>
              <a:rPr lang="en-GB" sz="2400" b="1" dirty="0">
                <a:latin typeface="Consolas" panose="020B0609020204030204" pitchFamily="49" charset="0"/>
              </a:rPr>
              <a:t>  color: blue; </a:t>
            </a:r>
            <a:r>
              <a:rPr lang="en-GB" sz="2400" b="1" i="1" dirty="0">
                <a:solidFill>
                  <a:srgbClr val="00B050"/>
                </a:solidFill>
                <a:latin typeface="Consolas" panose="020B0609020204030204" pitchFamily="49" charset="0"/>
              </a:rPr>
              <a:t>/* applied first */</a:t>
            </a:r>
            <a:br>
              <a:rPr lang="en-GB" sz="2400" b="1" dirty="0">
                <a:latin typeface="Consolas" panose="020B0609020204030204" pitchFamily="49" charset="0"/>
              </a:rPr>
            </a:br>
            <a:r>
              <a:rPr lang="en-GB" sz="2400" b="1" dirty="0">
                <a:latin typeface="Consolas" panose="020B0609020204030204" pitchFamily="49" charset="0"/>
              </a:rPr>
              <a:t>}</a:t>
            </a:r>
            <a:br>
              <a:rPr lang="en-GB" sz="2400" dirty="0"/>
            </a:br>
            <a:r>
              <a:rPr lang="en-GB" sz="2400" b="1" dirty="0">
                <a:solidFill>
                  <a:srgbClr val="C00000"/>
                </a:solidFill>
                <a:latin typeface="Consolas" panose="020B0609020204030204" pitchFamily="49" charset="0"/>
              </a:rPr>
              <a:t>h1 </a:t>
            </a:r>
            <a:r>
              <a:rPr lang="en-GB" sz="2400" b="1" dirty="0">
                <a:latin typeface="Consolas" panose="020B0609020204030204" pitchFamily="49" charset="0"/>
              </a:rPr>
              <a:t>{</a:t>
            </a:r>
            <a:br>
              <a:rPr lang="en-GB" sz="2400" b="1" dirty="0">
                <a:latin typeface="Consolas" panose="020B0609020204030204" pitchFamily="49" charset="0"/>
              </a:rPr>
            </a:br>
            <a:r>
              <a:rPr lang="en-GB" sz="2400" b="1" dirty="0">
                <a:latin typeface="Consolas" panose="020B0609020204030204" pitchFamily="49" charset="0"/>
              </a:rPr>
              <a:t>  color: red; </a:t>
            </a:r>
            <a:r>
              <a:rPr lang="en-GB" sz="2400" b="1" i="1" dirty="0">
                <a:solidFill>
                  <a:srgbClr val="00B050"/>
                </a:solidFill>
                <a:latin typeface="Consolas" panose="020B0609020204030204" pitchFamily="49" charset="0"/>
              </a:rPr>
              <a:t>/* overrides because it comes later */</a:t>
            </a:r>
            <a:br>
              <a:rPr lang="en-GB" sz="2400" b="1" dirty="0">
                <a:latin typeface="Consolas" panose="020B0609020204030204" pitchFamily="49" charset="0"/>
              </a:rPr>
            </a:br>
            <a:r>
              <a:rPr lang="en-GB" sz="2400" b="1" dirty="0">
                <a:latin typeface="Consolas" panose="020B0609020204030204" pitchFamily="49" charset="0"/>
              </a:rPr>
              <a:t>}</a:t>
            </a:r>
            <a:endParaRPr lang="en-US" sz="2400" b="1" dirty="0">
              <a:latin typeface="Consolas" panose="020B0609020204030204" pitchFamily="49" charset="0"/>
            </a:endParaRPr>
          </a:p>
        </p:txBody>
      </p:sp>
    </p:spTree>
    <p:extLst>
      <p:ext uri="{BB962C8B-B14F-4D97-AF65-F5344CB8AC3E}">
        <p14:creationId xmlns:p14="http://schemas.microsoft.com/office/powerpoint/2010/main" val="57675739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8A2DC83F-EB83-1DC0-A48E-715F1293BB24}"/>
              </a:ext>
            </a:extLst>
          </p:cNvPr>
          <p:cNvSpPr>
            <a:spLocks noGrp="1"/>
          </p:cNvSpPr>
          <p:nvPr>
            <p:ph type="body" sz="quarter" idx="10"/>
          </p:nvPr>
        </p:nvSpPr>
        <p:spPr/>
        <p:txBody>
          <a:bodyPr/>
          <a:lstStyle/>
          <a:p>
            <a:pPr>
              <a:buClr>
                <a:schemeClr val="tx1"/>
              </a:buClr>
            </a:pPr>
            <a:r>
              <a:rPr lang="en-GB" sz="3600" b="1" dirty="0">
                <a:solidFill>
                  <a:schemeClr val="bg1"/>
                </a:solidFill>
              </a:rPr>
              <a:t>Selector priority</a:t>
            </a:r>
            <a:endParaRPr lang="bg-BG" sz="3600" b="1" dirty="0">
              <a:solidFill>
                <a:schemeClr val="bg1"/>
              </a:solidFill>
            </a:endParaRPr>
          </a:p>
          <a:p>
            <a:pPr lvl="1">
              <a:buClr>
                <a:schemeClr val="tx1"/>
              </a:buClr>
            </a:pPr>
            <a:r>
              <a:rPr lang="en-GB" sz="3400" dirty="0"/>
              <a:t>Inline styles: </a:t>
            </a:r>
            <a:r>
              <a:rPr lang="en-GB" sz="3400" b="1" dirty="0">
                <a:solidFill>
                  <a:schemeClr val="bg1"/>
                </a:solidFill>
              </a:rPr>
              <a:t>highest</a:t>
            </a:r>
            <a:endParaRPr lang="bg-BG" sz="3400" b="1" dirty="0">
              <a:solidFill>
                <a:schemeClr val="bg1"/>
              </a:solidFill>
            </a:endParaRPr>
          </a:p>
          <a:p>
            <a:pPr lvl="1">
              <a:buClr>
                <a:schemeClr val="tx1"/>
              </a:buClr>
            </a:pPr>
            <a:r>
              <a:rPr lang="en-GB" sz="3400" dirty="0"/>
              <a:t>ID selectors: </a:t>
            </a:r>
            <a:r>
              <a:rPr lang="en-GB" sz="3400" b="1" dirty="0">
                <a:solidFill>
                  <a:schemeClr val="bg1"/>
                </a:solidFill>
              </a:rPr>
              <a:t>high weight</a:t>
            </a:r>
            <a:endParaRPr lang="bg-BG" sz="3400" b="1" dirty="0">
              <a:solidFill>
                <a:schemeClr val="bg1"/>
              </a:solidFill>
            </a:endParaRPr>
          </a:p>
          <a:p>
            <a:pPr lvl="1">
              <a:buClr>
                <a:schemeClr val="tx1"/>
              </a:buClr>
            </a:pPr>
            <a:r>
              <a:rPr lang="en-GB" sz="3400" dirty="0"/>
              <a:t>Classes, attributes, pseudo-classes: </a:t>
            </a:r>
            <a:r>
              <a:rPr lang="en-GB" sz="3400" b="1" dirty="0">
                <a:solidFill>
                  <a:schemeClr val="bg1"/>
                </a:solidFill>
              </a:rPr>
              <a:t>medium weight</a:t>
            </a:r>
            <a:endParaRPr lang="bg-BG" sz="3400" b="1" dirty="0">
              <a:solidFill>
                <a:schemeClr val="bg1"/>
              </a:solidFill>
            </a:endParaRPr>
          </a:p>
          <a:p>
            <a:pPr lvl="1">
              <a:buClr>
                <a:schemeClr val="tx1"/>
              </a:buClr>
            </a:pPr>
            <a:r>
              <a:rPr lang="en-GB" sz="3400" dirty="0"/>
              <a:t>Elements, pseudo-elements: </a:t>
            </a:r>
            <a:r>
              <a:rPr lang="en-GB" sz="3400" b="1" dirty="0">
                <a:solidFill>
                  <a:schemeClr val="bg1"/>
                </a:solidFill>
              </a:rPr>
              <a:t>lowest weight</a:t>
            </a:r>
            <a:endParaRPr lang="bg-BG" sz="3400" b="1" dirty="0">
              <a:solidFill>
                <a:schemeClr val="bg1"/>
              </a:solidFill>
            </a:endParaRPr>
          </a:p>
          <a:p>
            <a:pPr marL="442912" lvl="1" indent="0">
              <a:buClr>
                <a:schemeClr val="tx1"/>
              </a:buClr>
              <a:buNone/>
            </a:pPr>
            <a:endParaRPr lang="en-GB" sz="3400" dirty="0"/>
          </a:p>
          <a:p>
            <a:pPr lvl="1"/>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Specificity</a:t>
            </a:r>
          </a:p>
        </p:txBody>
      </p:sp>
      <p:sp>
        <p:nvSpPr>
          <p:cNvPr id="2" name="Текстово поле 7">
            <a:extLst>
              <a:ext uri="{FF2B5EF4-FFF2-40B4-BE49-F238E27FC236}">
                <a16:creationId xmlns:a16="http://schemas.microsoft.com/office/drawing/2014/main" id="{E1845C09-1990-2180-6CCC-3C7FF23955EC}"/>
              </a:ext>
            </a:extLst>
          </p:cNvPr>
          <p:cNvSpPr txBox="1"/>
          <p:nvPr/>
        </p:nvSpPr>
        <p:spPr>
          <a:xfrm>
            <a:off x="6096000" y="5589000"/>
            <a:ext cx="6030000" cy="412229"/>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GB" sz="2000" b="1" dirty="0">
                <a:solidFill>
                  <a:srgbClr val="C00000"/>
                </a:solidFill>
                <a:latin typeface="Consolas" panose="020B0609020204030204" pitchFamily="49" charset="0"/>
              </a:rPr>
              <a:t>#header h1.title {} &gt; .title {} &gt; h1 {}</a:t>
            </a:r>
            <a:endParaRPr lang="en-US" sz="2000" b="1" i="0" dirty="0">
              <a:effectLst/>
              <a:latin typeface="Consolas" panose="020B0609020204030204" pitchFamily="49" charset="0"/>
            </a:endParaRPr>
          </a:p>
        </p:txBody>
      </p:sp>
    </p:spTree>
    <p:extLst>
      <p:ext uri="{BB962C8B-B14F-4D97-AF65-F5344CB8AC3E}">
        <p14:creationId xmlns:p14="http://schemas.microsoft.com/office/powerpoint/2010/main" val="400199914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A62749A-7353-8207-BD72-29E7BC8E0116}"/>
              </a:ext>
            </a:extLst>
          </p:cNvPr>
          <p:cNvSpPr>
            <a:spLocks noGrp="1"/>
          </p:cNvSpPr>
          <p:nvPr>
            <p:ph type="body" sz="quarter" idx="10"/>
          </p:nvPr>
        </p:nvSpPr>
        <p:spPr/>
        <p:txBody>
          <a:bodyPr/>
          <a:lstStyle/>
          <a:p>
            <a:pPr>
              <a:buClr>
                <a:schemeClr val="tx1"/>
              </a:buClr>
            </a:pPr>
            <a:r>
              <a:rPr lang="en-GB" sz="3600" b="1" dirty="0">
                <a:solidFill>
                  <a:schemeClr val="bg1"/>
                </a:solidFill>
              </a:rPr>
              <a:t>!important</a:t>
            </a:r>
          </a:p>
          <a:p>
            <a:pPr lvl="1"/>
            <a:r>
              <a:rPr lang="en-GB" sz="3200" dirty="0"/>
              <a:t>Forces the property to override other rules</a:t>
            </a:r>
          </a:p>
          <a:p>
            <a:pPr lvl="1"/>
            <a:r>
              <a:rPr lang="en-GB" sz="3200" dirty="0"/>
              <a:t>Used only as a last resort (e.g., overriding a third-party library)</a:t>
            </a:r>
          </a:p>
          <a:p>
            <a:pPr lvl="1"/>
            <a:r>
              <a:rPr lang="en-GB" sz="3200" dirty="0"/>
              <a:t>Harder to maintain, breaks the natural cascade flow</a:t>
            </a:r>
          </a:p>
          <a:p>
            <a:pPr lvl="1"/>
            <a:r>
              <a:rPr lang="en-US" sz="3400" dirty="0">
                <a:hlinkClick r:id="rId2"/>
              </a:rPr>
              <a:t>Reference Documentation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!important</a:t>
            </a:r>
          </a:p>
        </p:txBody>
      </p:sp>
      <p:sp>
        <p:nvSpPr>
          <p:cNvPr id="2" name="Текстово поле 7">
            <a:extLst>
              <a:ext uri="{FF2B5EF4-FFF2-40B4-BE49-F238E27FC236}">
                <a16:creationId xmlns:a16="http://schemas.microsoft.com/office/drawing/2014/main" id="{6263536B-FC2E-45CC-6D68-5541C762EC55}"/>
              </a:ext>
            </a:extLst>
          </p:cNvPr>
          <p:cNvSpPr txBox="1"/>
          <p:nvPr/>
        </p:nvSpPr>
        <p:spPr>
          <a:xfrm>
            <a:off x="696000" y="4814367"/>
            <a:ext cx="10980000" cy="128875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GB" sz="2400" b="1" dirty="0">
                <a:solidFill>
                  <a:srgbClr val="C00000"/>
                </a:solidFill>
                <a:latin typeface="Consolas" panose="020B0609020204030204" pitchFamily="49" charset="0"/>
              </a:rPr>
              <a:t>.btn </a:t>
            </a:r>
            <a:r>
              <a:rPr lang="en-GB" sz="2400" b="1" dirty="0">
                <a:latin typeface="Consolas" panose="020B0609020204030204" pitchFamily="49" charset="0"/>
              </a:rPr>
              <a:t>{</a:t>
            </a:r>
            <a:br>
              <a:rPr lang="en-GB" sz="2400" b="1" dirty="0">
                <a:latin typeface="Consolas" panose="020B0609020204030204" pitchFamily="49" charset="0"/>
              </a:rPr>
            </a:br>
            <a:r>
              <a:rPr lang="en-GB" sz="2400" b="1" dirty="0">
                <a:latin typeface="Consolas" panose="020B0609020204030204" pitchFamily="49" charset="0"/>
              </a:rPr>
              <a:t>  color: white </a:t>
            </a:r>
            <a:r>
              <a:rPr lang="en-GB" sz="2400" b="1" dirty="0">
                <a:solidFill>
                  <a:schemeClr val="bg1"/>
                </a:solidFill>
                <a:latin typeface="Consolas" panose="020B0609020204030204" pitchFamily="49" charset="0"/>
              </a:rPr>
              <a:t>!important</a:t>
            </a:r>
            <a:r>
              <a:rPr lang="en-GB" sz="2400" b="1" dirty="0">
                <a:latin typeface="Consolas" panose="020B0609020204030204" pitchFamily="49" charset="0"/>
              </a:rPr>
              <a:t>; </a:t>
            </a:r>
            <a:r>
              <a:rPr lang="en-GB" sz="2400" b="1" i="1" dirty="0">
                <a:solidFill>
                  <a:srgbClr val="00B050"/>
                </a:solidFill>
                <a:latin typeface="Consolas" panose="020B0609020204030204" pitchFamily="49" charset="0"/>
              </a:rPr>
              <a:t>/* overrides all other color rules */</a:t>
            </a:r>
            <a:br>
              <a:rPr lang="en-GB" sz="2400" b="1" dirty="0">
                <a:latin typeface="Consolas" panose="020B0609020204030204" pitchFamily="49" charset="0"/>
              </a:rPr>
            </a:br>
            <a:r>
              <a:rPr lang="en-GB" sz="2400" b="1" dirty="0">
                <a:latin typeface="Consolas" panose="020B0609020204030204" pitchFamily="49" charset="0"/>
              </a:rPr>
              <a:t>}</a:t>
            </a:r>
            <a:endParaRPr lang="en-US" sz="2400" b="1" i="0" dirty="0">
              <a:effectLst/>
              <a:latin typeface="Consolas" panose="020B0609020204030204" pitchFamily="49" charset="0"/>
            </a:endParaRPr>
          </a:p>
        </p:txBody>
      </p:sp>
    </p:spTree>
    <p:extLst>
      <p:ext uri="{BB962C8B-B14F-4D97-AF65-F5344CB8AC3E}">
        <p14:creationId xmlns:p14="http://schemas.microsoft.com/office/powerpoint/2010/main" val="859203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7AF9-EEE3-F6F2-765F-2AD32AE33C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8EAEE0-344A-786D-9C79-A6C659ACA626}"/>
              </a:ext>
            </a:extLst>
          </p:cNvPr>
          <p:cNvSpPr>
            <a:spLocks noGrp="1"/>
          </p:cNvSpPr>
          <p:nvPr>
            <p:ph type="title" sz="quarter" idx="10"/>
          </p:nvPr>
        </p:nvSpPr>
        <p:spPr/>
        <p:txBody>
          <a:bodyPr/>
          <a:lstStyle/>
          <a:p>
            <a:r>
              <a:rPr lang="en-US" dirty="0"/>
              <a:t>Adding CSS to our HTML Document</a:t>
            </a:r>
          </a:p>
        </p:txBody>
      </p:sp>
      <p:sp>
        <p:nvSpPr>
          <p:cNvPr id="6" name="Slide Number">
            <a:extLst>
              <a:ext uri="{FF2B5EF4-FFF2-40B4-BE49-F238E27FC236}">
                <a16:creationId xmlns:a16="http://schemas.microsoft.com/office/drawing/2014/main" id="{B7F54E1D-1149-F76D-25EB-2D4ADE130A0F}"/>
              </a:ext>
            </a:extLst>
          </p:cNvPr>
          <p:cNvSpPr>
            <a:spLocks noGrp="1"/>
          </p:cNvSpPr>
          <p:nvPr>
            <p:ph type="sldNum" sz="quarter" idx="4294967295"/>
          </p:nvPr>
        </p:nvSpPr>
        <p:spPr>
          <a:xfrm>
            <a:off x="11823700" y="6507163"/>
            <a:ext cx="368300" cy="296862"/>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60</a:t>
            </a:fld>
            <a:endParaRPr lang="en-US" noProof="0" dirty="0"/>
          </a:p>
        </p:txBody>
      </p:sp>
      <p:pic>
        <p:nvPicPr>
          <p:cNvPr id="2" name="Picture 2">
            <a:extLst>
              <a:ext uri="{FF2B5EF4-FFF2-40B4-BE49-F238E27FC236}">
                <a16:creationId xmlns:a16="http://schemas.microsoft.com/office/drawing/2014/main" id="{87A17917-0880-3DA5-BC0A-A92B18D4CF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1158" y="1314000"/>
            <a:ext cx="2689683" cy="26896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3009418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D14BD4D2-4229-5F72-D3DC-20B915803992}"/>
              </a:ext>
            </a:extLst>
          </p:cNvPr>
          <p:cNvSpPr>
            <a:spLocks noGrp="1"/>
          </p:cNvSpPr>
          <p:nvPr>
            <p:ph type="body" sz="quarter" idx="10"/>
          </p:nvPr>
        </p:nvSpPr>
        <p:spPr/>
        <p:txBody>
          <a:bodyPr>
            <a:normAutofit/>
          </a:bodyPr>
          <a:lstStyle/>
          <a:p>
            <a:pPr>
              <a:lnSpc>
                <a:spcPct val="110000"/>
              </a:lnSpc>
            </a:pPr>
            <a:r>
              <a:rPr lang="en-US" sz="3400" b="0" dirty="0"/>
              <a:t>There are three ways of inserting a style sheet:</a:t>
            </a:r>
          </a:p>
          <a:p>
            <a:pPr lvl="1">
              <a:lnSpc>
                <a:spcPct val="110000"/>
              </a:lnSpc>
            </a:pPr>
            <a:r>
              <a:rPr lang="en-US" sz="3200" b="0" dirty="0"/>
              <a:t>External style sheet</a:t>
            </a:r>
          </a:p>
          <a:p>
            <a:pPr lvl="1">
              <a:lnSpc>
                <a:spcPct val="110000"/>
              </a:lnSpc>
            </a:pPr>
            <a:r>
              <a:rPr lang="en-US" sz="3200" b="0" dirty="0"/>
              <a:t>Internal style sheet</a:t>
            </a:r>
          </a:p>
          <a:p>
            <a:pPr lvl="1">
              <a:lnSpc>
                <a:spcPct val="110000"/>
              </a:lnSpc>
            </a:pPr>
            <a:r>
              <a:rPr lang="en-US" sz="3200" b="0" dirty="0"/>
              <a:t>Inline style</a:t>
            </a:r>
            <a:endParaRPr lang="en-US" sz="32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a:xfrm>
            <a:off x="190406" y="189000"/>
            <a:ext cx="9715594" cy="794404"/>
          </a:xfrm>
        </p:spPr>
        <p:txBody>
          <a:bodyPr anchor="t">
            <a:normAutofit/>
          </a:bodyPr>
          <a:lstStyle/>
          <a:p>
            <a:r>
              <a:rPr lang="en-GB" dirty="0"/>
              <a:t>Adding CSS to our HTML documents</a:t>
            </a:r>
          </a:p>
        </p:txBody>
      </p:sp>
      <p:pic>
        <p:nvPicPr>
          <p:cNvPr id="2" name="Picture 1">
            <a:extLst>
              <a:ext uri="{FF2B5EF4-FFF2-40B4-BE49-F238E27FC236}">
                <a16:creationId xmlns:a16="http://schemas.microsoft.com/office/drawing/2014/main" id="{3A825F23-F48A-4DF3-EE47-58C5AE1A0B37}"/>
              </a:ext>
            </a:extLst>
          </p:cNvPr>
          <p:cNvPicPr>
            <a:picLocks noChangeAspect="1"/>
          </p:cNvPicPr>
          <p:nvPr/>
        </p:nvPicPr>
        <p:blipFill>
          <a:blip r:embed="rId2"/>
          <a:stretch>
            <a:fillRect/>
          </a:stretch>
        </p:blipFill>
        <p:spPr>
          <a:xfrm>
            <a:off x="9291000" y="1140233"/>
            <a:ext cx="2481763" cy="55287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5366849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6433CAE0-7FA1-F490-93B3-7D3B070A6CDD}"/>
              </a:ext>
            </a:extLst>
          </p:cNvPr>
          <p:cNvSpPr>
            <a:spLocks noGrp="1"/>
          </p:cNvSpPr>
          <p:nvPr>
            <p:ph type="body" sz="quarter" idx="10"/>
          </p:nvPr>
        </p:nvSpPr>
        <p:spPr/>
        <p:txBody>
          <a:bodyPr/>
          <a:lstStyle/>
          <a:p>
            <a:pPr>
              <a:buClr>
                <a:schemeClr val="tx1"/>
              </a:buClr>
            </a:pPr>
            <a:r>
              <a:rPr lang="en-GB" sz="3600" b="1" dirty="0">
                <a:solidFill>
                  <a:schemeClr val="bg1"/>
                </a:solidFill>
              </a:rPr>
              <a:t>External Style Sheet</a:t>
            </a:r>
          </a:p>
          <a:p>
            <a:pPr lvl="1">
              <a:lnSpc>
                <a:spcPct val="110000"/>
              </a:lnSpc>
            </a:pPr>
            <a:r>
              <a:rPr lang="en-US" sz="3400" b="0" dirty="0"/>
              <a:t>An external style sheet is ideal when the style is applied to many pages. With an external style sheet, you can change the look of an entire Web site by changing one file. Each page must link to the style sheet using the tag</a:t>
            </a:r>
          </a:p>
          <a:p>
            <a:pPr lvl="1">
              <a:lnSpc>
                <a:spcPct val="110000"/>
              </a:lnSpc>
            </a:pPr>
            <a:r>
              <a:rPr lang="en-US" sz="3400" b="0" dirty="0"/>
              <a:t>The tag goes inside the head section:</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a:xfrm>
            <a:off x="172090" y="156490"/>
            <a:ext cx="9715594" cy="763250"/>
          </a:xfrm>
        </p:spPr>
        <p:txBody>
          <a:bodyPr anchor="t">
            <a:noAutofit/>
          </a:bodyPr>
          <a:lstStyle/>
          <a:p>
            <a:r>
              <a:rPr lang="en-GB" sz="4000" dirty="0"/>
              <a:t>Adding CSS to our HTML documents</a:t>
            </a:r>
          </a:p>
        </p:txBody>
      </p:sp>
      <p:sp>
        <p:nvSpPr>
          <p:cNvPr id="12" name="Текстово поле 11">
            <a:extLst>
              <a:ext uri="{FF2B5EF4-FFF2-40B4-BE49-F238E27FC236}">
                <a16:creationId xmlns:a16="http://schemas.microsoft.com/office/drawing/2014/main" id="{59BC04BD-E31D-A542-3916-6AC28E6BFA10}"/>
              </a:ext>
            </a:extLst>
          </p:cNvPr>
          <p:cNvSpPr txBox="1"/>
          <p:nvPr/>
        </p:nvSpPr>
        <p:spPr>
          <a:xfrm>
            <a:off x="648187" y="5274000"/>
            <a:ext cx="10895625" cy="128875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	</a:t>
            </a: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link</a:t>
            </a:r>
            <a:r>
              <a:rPr lang="en-US" sz="2400" b="1" i="0" dirty="0">
                <a:solidFill>
                  <a:srgbClr val="657B83"/>
                </a:solidFill>
                <a:effectLst/>
                <a:latin typeface="Consolas" panose="020B0609020204030204" pitchFamily="49" charset="0"/>
              </a:rPr>
              <a:t> </a:t>
            </a:r>
            <a:r>
              <a:rPr lang="en-US" sz="2400" b="1" i="0" dirty="0" err="1">
                <a:solidFill>
                  <a:srgbClr val="B58900"/>
                </a:solidFill>
                <a:effectLst/>
                <a:latin typeface="Consolas" panose="020B0609020204030204" pitchFamily="49" charset="0"/>
              </a:rPr>
              <a:t>rel</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"stylesheet"</a:t>
            </a: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type</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"text/</a:t>
            </a:r>
            <a:r>
              <a:rPr lang="en-US" sz="2400" b="1" i="0" dirty="0" err="1">
                <a:solidFill>
                  <a:srgbClr val="2AA198"/>
                </a:solidFill>
                <a:effectLst/>
                <a:latin typeface="Consolas" panose="020B0609020204030204" pitchFamily="49" charset="0"/>
              </a:rPr>
              <a:t>css</a:t>
            </a:r>
            <a:r>
              <a:rPr lang="en-US" sz="2400" b="1" i="0" dirty="0">
                <a:solidFill>
                  <a:srgbClr val="2AA198"/>
                </a:solidFill>
                <a:effectLst/>
                <a:latin typeface="Consolas" panose="020B0609020204030204" pitchFamily="49" charset="0"/>
              </a:rPr>
              <a:t>"</a:t>
            </a:r>
            <a:r>
              <a:rPr lang="en-US" sz="2400" b="1" i="0" dirty="0">
                <a:solidFill>
                  <a:srgbClr val="657B83"/>
                </a:solidFill>
                <a:effectLst/>
                <a:latin typeface="Consolas" panose="020B0609020204030204" pitchFamily="49" charset="0"/>
              </a:rPr>
              <a:t> </a:t>
            </a:r>
            <a:r>
              <a:rPr lang="en-US" sz="2400" b="1" i="0" dirty="0" err="1">
                <a:solidFill>
                  <a:srgbClr val="B58900"/>
                </a:solidFill>
                <a:effectLst/>
                <a:latin typeface="Consolas" panose="020B0609020204030204" pitchFamily="49" charset="0"/>
              </a:rPr>
              <a:t>href</a:t>
            </a:r>
            <a:r>
              <a:rPr lang="en-US" sz="2400" b="1" i="0" dirty="0">
                <a:effectLst/>
                <a:latin typeface="Consolas" panose="020B0609020204030204" pitchFamily="49" charset="0"/>
              </a:rPr>
              <a:t>=</a:t>
            </a:r>
            <a:r>
              <a:rPr lang="en-US" sz="2400" b="1" i="0" dirty="0">
                <a:solidFill>
                  <a:srgbClr val="2AA198"/>
                </a:solidFill>
                <a:effectLst/>
                <a:latin typeface="Consolas" panose="020B0609020204030204" pitchFamily="49" charset="0"/>
              </a:rPr>
              <a:t>"mystyle.css"</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rgbClr val="268BD2"/>
                </a:solidFill>
                <a:effectLst/>
                <a:latin typeface="Consolas" panose="020B0609020204030204" pitchFamily="49" charset="0"/>
              </a:rPr>
              <a:t>head</a:t>
            </a:r>
            <a:r>
              <a:rPr lang="en-US" sz="2400" b="1" i="0" dirty="0">
                <a:effectLst/>
                <a:latin typeface="Consolas" panose="020B0609020204030204" pitchFamily="49" charset="0"/>
              </a:rPr>
              <a:t>&gt;</a:t>
            </a:r>
          </a:p>
        </p:txBody>
      </p:sp>
    </p:spTree>
    <p:extLst>
      <p:ext uri="{BB962C8B-B14F-4D97-AF65-F5344CB8AC3E}">
        <p14:creationId xmlns:p14="http://schemas.microsoft.com/office/powerpoint/2010/main" val="72065933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A14F68AB-9192-DCCF-BB6B-DAD73FD25A6F}"/>
              </a:ext>
            </a:extLst>
          </p:cNvPr>
          <p:cNvSpPr>
            <a:spLocks noGrp="1"/>
          </p:cNvSpPr>
          <p:nvPr>
            <p:ph type="body" sz="quarter" idx="10"/>
          </p:nvPr>
        </p:nvSpPr>
        <p:spPr/>
        <p:txBody>
          <a:bodyPr/>
          <a:lstStyle/>
          <a:p>
            <a:pPr>
              <a:buClr>
                <a:schemeClr val="tx1"/>
              </a:buClr>
            </a:pPr>
            <a:r>
              <a:rPr lang="en-GB" sz="3600" b="1" dirty="0">
                <a:solidFill>
                  <a:schemeClr val="bg1"/>
                </a:solidFill>
              </a:rPr>
              <a:t>Internal Style Sheet</a:t>
            </a:r>
          </a:p>
          <a:p>
            <a:pPr lvl="1"/>
            <a:r>
              <a:rPr lang="en-US" sz="3400" b="0" dirty="0"/>
              <a:t>An internal style sheet should be used when a single document has a unique style. You define internal styles in the head section of an HTML page, by using the style tag</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a:xfrm>
            <a:off x="190406" y="133108"/>
            <a:ext cx="9715594" cy="850295"/>
          </a:xfrm>
        </p:spPr>
        <p:txBody>
          <a:bodyPr anchor="t">
            <a:normAutofit/>
          </a:bodyPr>
          <a:lstStyle/>
          <a:p>
            <a:r>
              <a:rPr lang="en-GB" sz="4000" dirty="0"/>
              <a:t>Adding CSS to our HTML documents</a:t>
            </a:r>
          </a:p>
        </p:txBody>
      </p:sp>
      <p:sp>
        <p:nvSpPr>
          <p:cNvPr id="9" name="Текстово поле 8">
            <a:extLst>
              <a:ext uri="{FF2B5EF4-FFF2-40B4-BE49-F238E27FC236}">
                <a16:creationId xmlns:a16="http://schemas.microsoft.com/office/drawing/2014/main" id="{09B124EA-24C7-6CAD-F0DA-3D28CFE866DE}"/>
              </a:ext>
            </a:extLst>
          </p:cNvPr>
          <p:cNvSpPr txBox="1"/>
          <p:nvPr/>
        </p:nvSpPr>
        <p:spPr>
          <a:xfrm>
            <a:off x="1101000" y="3744000"/>
            <a:ext cx="6099048" cy="291381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head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	&lt;</a:t>
            </a:r>
            <a:r>
              <a:rPr lang="en-US" sz="2400" b="1" i="0" dirty="0">
                <a:solidFill>
                  <a:schemeClr val="bg1"/>
                </a:solidFill>
                <a:effectLst/>
                <a:latin typeface="Consolas" panose="020B0609020204030204" pitchFamily="49" charset="0"/>
              </a:rPr>
              <a:t>style</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r>
              <a:rPr lang="en-US" sz="2400" b="1" dirty="0">
                <a:solidFill>
                  <a:schemeClr val="bg1"/>
                </a:solidFill>
                <a:latin typeface="Consolas" panose="020B0609020204030204" pitchFamily="49" charset="0"/>
              </a:rPr>
              <a:t>body</a:t>
            </a:r>
            <a:r>
              <a:rPr lang="en-US" sz="2400" b="1" dirty="0">
                <a:latin typeface="Consolas" panose="020B0609020204030204" pitchFamily="49" charset="0"/>
              </a:rPr>
              <a:t>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		}</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	&lt;/</a:t>
            </a:r>
            <a:r>
              <a:rPr lang="en-US" sz="2400" b="1" i="0" dirty="0">
                <a:solidFill>
                  <a:schemeClr val="bg1"/>
                </a:solidFill>
                <a:effectLst/>
                <a:latin typeface="Consolas" panose="020B0609020204030204" pitchFamily="49" charset="0"/>
              </a:rPr>
              <a:t>style</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head</a:t>
            </a:r>
            <a:r>
              <a:rPr lang="en-US" sz="2400" b="1" i="0" dirty="0">
                <a:effectLst/>
                <a:latin typeface="Consolas" panose="020B0609020204030204" pitchFamily="49" charset="0"/>
              </a:rPr>
              <a:t>&gt;</a:t>
            </a:r>
          </a:p>
        </p:txBody>
      </p:sp>
    </p:spTree>
    <p:extLst>
      <p:ext uri="{BB962C8B-B14F-4D97-AF65-F5344CB8AC3E}">
        <p14:creationId xmlns:p14="http://schemas.microsoft.com/office/powerpoint/2010/main" val="33756567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D924618-963E-0147-E933-17A027C11244}"/>
              </a:ext>
            </a:extLst>
          </p:cNvPr>
          <p:cNvSpPr>
            <a:spLocks noGrp="1"/>
          </p:cNvSpPr>
          <p:nvPr>
            <p:ph type="body" sz="quarter" idx="10"/>
          </p:nvPr>
        </p:nvSpPr>
        <p:spPr/>
        <p:txBody>
          <a:bodyPr/>
          <a:lstStyle/>
          <a:p>
            <a:pPr>
              <a:buClr>
                <a:schemeClr val="tx1"/>
              </a:buClr>
            </a:pPr>
            <a:r>
              <a:rPr lang="en-GB" sz="3600" b="1" dirty="0">
                <a:solidFill>
                  <a:schemeClr val="bg1"/>
                </a:solidFill>
              </a:rPr>
              <a:t>Inline Styles</a:t>
            </a:r>
          </a:p>
          <a:p>
            <a:pPr lvl="1">
              <a:lnSpc>
                <a:spcPct val="110000"/>
              </a:lnSpc>
            </a:pPr>
            <a:r>
              <a:rPr lang="en-US" sz="3400" b="0" dirty="0"/>
              <a:t>An inline style loses many of the advantages of style sheets by mixing content with presentation</a:t>
            </a:r>
          </a:p>
          <a:p>
            <a:pPr lvl="1">
              <a:lnSpc>
                <a:spcPct val="110000"/>
              </a:lnSpc>
            </a:pPr>
            <a:r>
              <a:rPr lang="en-US" sz="3400" b="0" dirty="0"/>
              <a:t>Do not use this method unless you have no other choice!</a:t>
            </a:r>
          </a:p>
          <a:p>
            <a:pPr lvl="1">
              <a:lnSpc>
                <a:spcPct val="110000"/>
              </a:lnSpc>
            </a:pPr>
            <a:r>
              <a:rPr lang="en-US" sz="3400" b="0" i="1" dirty="0"/>
              <a:t>To use inline styles, you use the style attribute in the relevant tag. The style attribute can contain any CSS property</a:t>
            </a:r>
            <a:endParaRPr lang="en-US" sz="34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a:xfrm>
            <a:off x="190402" y="165634"/>
            <a:ext cx="9715594" cy="808250"/>
          </a:xfrm>
        </p:spPr>
        <p:txBody>
          <a:bodyPr anchor="t">
            <a:normAutofit/>
          </a:bodyPr>
          <a:lstStyle/>
          <a:p>
            <a:r>
              <a:rPr lang="en-GB" sz="4000" dirty="0"/>
              <a:t>Adding CSS to our HTML documents</a:t>
            </a:r>
          </a:p>
        </p:txBody>
      </p:sp>
      <p:sp>
        <p:nvSpPr>
          <p:cNvPr id="5" name="Текстово поле 8">
            <a:extLst>
              <a:ext uri="{FF2B5EF4-FFF2-40B4-BE49-F238E27FC236}">
                <a16:creationId xmlns:a16="http://schemas.microsoft.com/office/drawing/2014/main" id="{CA44AABB-896D-1D02-CD99-2FCBC665CEDE}"/>
              </a:ext>
            </a:extLst>
          </p:cNvPr>
          <p:cNvSpPr txBox="1"/>
          <p:nvPr/>
        </p:nvSpPr>
        <p:spPr>
          <a:xfrm>
            <a:off x="1076952" y="5319000"/>
            <a:ext cx="6099048" cy="128875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div style=“color: red;”</a:t>
            </a:r>
            <a:r>
              <a:rPr lang="en-US" sz="2400" b="1" i="0" dirty="0">
                <a:effectLst/>
                <a:latin typeface="Consolas" panose="020B0609020204030204" pitchFamily="49" charset="0"/>
              </a:rPr>
              <a:t>&gt;</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a:t>
            </a:r>
            <a:endParaRPr lang="en-US" sz="2400" b="1" i="0" dirty="0">
              <a:effectLst/>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effectLst/>
                <a:latin typeface="Consolas" panose="020B0609020204030204" pitchFamily="49" charset="0"/>
              </a:rPr>
              <a:t>&lt;/</a:t>
            </a:r>
            <a:r>
              <a:rPr lang="en-US" sz="2400" b="1" i="0" dirty="0">
                <a:solidFill>
                  <a:schemeClr val="bg1"/>
                </a:solidFill>
                <a:effectLst/>
                <a:latin typeface="Consolas" panose="020B0609020204030204" pitchFamily="49" charset="0"/>
              </a:rPr>
              <a:t>div</a:t>
            </a:r>
            <a:r>
              <a:rPr lang="en-US" sz="2400" b="1" i="0" dirty="0">
                <a:effectLst/>
                <a:latin typeface="Consolas" panose="020B0609020204030204" pitchFamily="49" charset="0"/>
              </a:rPr>
              <a:t>&gt;</a:t>
            </a:r>
          </a:p>
        </p:txBody>
      </p:sp>
    </p:spTree>
    <p:extLst>
      <p:ext uri="{BB962C8B-B14F-4D97-AF65-F5344CB8AC3E}">
        <p14:creationId xmlns:p14="http://schemas.microsoft.com/office/powerpoint/2010/main" val="160644229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a:extLst>
              <a:ext uri="{FF2B5EF4-FFF2-40B4-BE49-F238E27FC236}">
                <a16:creationId xmlns:a16="http://schemas.microsoft.com/office/drawing/2014/main" id="{9C5876A4-46F7-4C67-9C5D-A15892B8CF14}"/>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65</a:t>
            </a:fld>
            <a:endParaRPr lang="en-US" noProof="0" dirty="0"/>
          </a:p>
        </p:txBody>
      </p:sp>
      <p:sp>
        <p:nvSpPr>
          <p:cNvPr id="3" name="Content Placeholder 2"/>
          <p:cNvSpPr>
            <a:spLocks noGrp="1"/>
          </p:cNvSpPr>
          <p:nvPr>
            <p:ph type="body" sz="quarter" idx="10"/>
          </p:nvPr>
        </p:nvSpPr>
        <p:spPr/>
        <p:txBody>
          <a:bodyPr/>
          <a:lstStyle/>
          <a:p>
            <a:r>
              <a:rPr lang="en-US" dirty="0"/>
              <a:t>The </a:t>
            </a:r>
            <a:r>
              <a:rPr lang="en-US" b="1" dirty="0">
                <a:solidFill>
                  <a:schemeClr val="bg1"/>
                </a:solidFill>
                <a:latin typeface="Consolas" panose="020B0609020204030204" pitchFamily="49" charset="0"/>
              </a:rPr>
              <a:t>style</a:t>
            </a:r>
            <a:r>
              <a:rPr lang="en-US" dirty="0"/>
              <a:t> attribute defines </a:t>
            </a:r>
            <a:r>
              <a:rPr lang="en-US" b="1" dirty="0">
                <a:solidFill>
                  <a:schemeClr val="bg1"/>
                </a:solidFill>
              </a:rPr>
              <a:t>inline CSS</a:t>
            </a:r>
          </a:p>
        </p:txBody>
      </p:sp>
      <p:sp>
        <p:nvSpPr>
          <p:cNvPr id="4" name="Title 3"/>
          <p:cNvSpPr>
            <a:spLocks noGrp="1"/>
          </p:cNvSpPr>
          <p:nvPr>
            <p:ph type="title"/>
          </p:nvPr>
        </p:nvSpPr>
        <p:spPr/>
        <p:txBody>
          <a:bodyPr/>
          <a:lstStyle/>
          <a:p>
            <a:r>
              <a:rPr lang="en-US" dirty="0"/>
              <a:t>Inline CSS Style</a:t>
            </a:r>
            <a:endParaRPr lang="en-GB" dirty="0"/>
          </a:p>
        </p:txBody>
      </p:sp>
      <p:sp>
        <p:nvSpPr>
          <p:cNvPr id="5" name="Rectangle 4"/>
          <p:cNvSpPr>
            <a:spLocks noChangeArrowheads="1"/>
          </p:cNvSpPr>
          <p:nvPr/>
        </p:nvSpPr>
        <p:spPr bwMode="auto">
          <a:xfrm>
            <a:off x="514753" y="2870456"/>
            <a:ext cx="7876247" cy="99693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5000"/>
              </a:lnSpc>
              <a:buClr>
                <a:schemeClr val="accent5">
                  <a:lumMod val="40000"/>
                  <a:lumOff val="60000"/>
                </a:schemeClr>
              </a:buClr>
              <a:buSzPct val="70000"/>
              <a:defRPr/>
            </a:pPr>
            <a:r>
              <a:rPr lang="en-US" sz="2799" b="1" noProof="1">
                <a:latin typeface="Consolas" pitchFamily="49" charset="0"/>
              </a:rPr>
              <a:t>&lt;h1 style="color:blue"&gt;</a:t>
            </a:r>
            <a:r>
              <a:rPr lang="en-US" sz="2799" b="1" noProof="1"/>
              <a:t>This is a blue …</a:t>
            </a:r>
            <a:r>
              <a:rPr lang="en-US" sz="2799" b="1" noProof="1">
                <a:latin typeface="Consolas" pitchFamily="49" charset="0"/>
              </a:rPr>
              <a:t> &lt;/h1&gt;</a:t>
            </a:r>
          </a:p>
        </p:txBody>
      </p:sp>
      <p:sp>
        <p:nvSpPr>
          <p:cNvPr id="6" name="Rectangle 5"/>
          <p:cNvSpPr>
            <a:spLocks noChangeArrowheads="1"/>
          </p:cNvSpPr>
          <p:nvPr/>
        </p:nvSpPr>
        <p:spPr bwMode="auto">
          <a:xfrm>
            <a:off x="514753" y="4859863"/>
            <a:ext cx="7876247" cy="144925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5000"/>
              </a:lnSpc>
              <a:buClr>
                <a:schemeClr val="accent5">
                  <a:lumMod val="40000"/>
                  <a:lumOff val="60000"/>
                </a:schemeClr>
              </a:buClr>
              <a:buSzPct val="70000"/>
            </a:pPr>
            <a:r>
              <a:rPr lang="en-US" sz="2799" b="1" noProof="1">
                <a:latin typeface="Consolas" pitchFamily="49" charset="0"/>
              </a:rPr>
              <a:t>&lt;h2 style="color:red; font-size:2.1em"&gt;</a:t>
            </a:r>
          </a:p>
          <a:p>
            <a:pPr eaLnBrk="0" hangingPunct="0">
              <a:lnSpc>
                <a:spcPct val="105000"/>
              </a:lnSpc>
              <a:buClr>
                <a:schemeClr val="accent5">
                  <a:lumMod val="40000"/>
                  <a:lumOff val="60000"/>
                </a:schemeClr>
              </a:buClr>
              <a:buSzPct val="70000"/>
            </a:pPr>
            <a:r>
              <a:rPr lang="en-US" sz="2799" b="1" noProof="1">
                <a:latin typeface="Consolas" pitchFamily="49" charset="0"/>
              </a:rPr>
              <a:t>  This is a red …</a:t>
            </a:r>
          </a:p>
          <a:p>
            <a:pPr eaLnBrk="0" hangingPunct="0">
              <a:lnSpc>
                <a:spcPct val="105000"/>
              </a:lnSpc>
              <a:buClr>
                <a:schemeClr val="accent5">
                  <a:lumMod val="40000"/>
                  <a:lumOff val="60000"/>
                </a:schemeClr>
              </a:buClr>
              <a:buSzPct val="70000"/>
            </a:pPr>
            <a:r>
              <a:rPr lang="en-US" sz="2799" b="1" noProof="1">
                <a:latin typeface="Consolas" pitchFamily="49" charset="0"/>
              </a:rPr>
              <a:t>&lt;/h2&gt;</a:t>
            </a:r>
          </a:p>
        </p:txBody>
      </p:sp>
      <p:sp>
        <p:nvSpPr>
          <p:cNvPr id="9" name="AutoShape 5"/>
          <p:cNvSpPr>
            <a:spLocks noChangeArrowheads="1"/>
          </p:cNvSpPr>
          <p:nvPr/>
        </p:nvSpPr>
        <p:spPr bwMode="auto">
          <a:xfrm>
            <a:off x="2046000" y="2188783"/>
            <a:ext cx="3123386" cy="610217"/>
          </a:xfrm>
          <a:prstGeom prst="wedgeRoundRectCallout">
            <a:avLst>
              <a:gd name="adj1" fmla="val -55687"/>
              <a:gd name="adj2" fmla="val 4106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Attribute "style"</a:t>
            </a:r>
            <a:endParaRPr lang="bg-BG" sz="2799" b="1" dirty="0">
              <a:solidFill>
                <a:srgbClr val="FFFFFF"/>
              </a:solidFill>
            </a:endParaRPr>
          </a:p>
        </p:txBody>
      </p:sp>
      <p:sp>
        <p:nvSpPr>
          <p:cNvPr id="11" name="AutoShape 5"/>
          <p:cNvSpPr>
            <a:spLocks noChangeArrowheads="1"/>
          </p:cNvSpPr>
          <p:nvPr/>
        </p:nvSpPr>
        <p:spPr bwMode="auto">
          <a:xfrm>
            <a:off x="1589262" y="3428580"/>
            <a:ext cx="1700960" cy="623365"/>
          </a:xfrm>
          <a:prstGeom prst="wedgeRoundRectCallout">
            <a:avLst>
              <a:gd name="adj1" fmla="val 60530"/>
              <a:gd name="adj2" fmla="val -4303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Property</a:t>
            </a:r>
            <a:endParaRPr lang="bg-BG" sz="2799" b="1" dirty="0">
              <a:solidFill>
                <a:srgbClr val="FFFFFF"/>
              </a:solidFill>
            </a:endParaRPr>
          </a:p>
        </p:txBody>
      </p:sp>
      <p:sp>
        <p:nvSpPr>
          <p:cNvPr id="12" name="AutoShape 5"/>
          <p:cNvSpPr>
            <a:spLocks noChangeArrowheads="1"/>
          </p:cNvSpPr>
          <p:nvPr/>
        </p:nvSpPr>
        <p:spPr bwMode="auto">
          <a:xfrm>
            <a:off x="4689081" y="3428580"/>
            <a:ext cx="1363252" cy="623365"/>
          </a:xfrm>
          <a:prstGeom prst="wedgeRoundRectCallout">
            <a:avLst>
              <a:gd name="adj1" fmla="val -60489"/>
              <a:gd name="adj2" fmla="val -4148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Value</a:t>
            </a:r>
            <a:endParaRPr lang="bg-BG" sz="2799" b="1" dirty="0">
              <a:solidFill>
                <a:srgbClr val="FFFFFF"/>
              </a:solidFill>
            </a:endParaRPr>
          </a:p>
        </p:txBody>
      </p:sp>
      <p:sp>
        <p:nvSpPr>
          <p:cNvPr id="13" name="AutoShape 5"/>
          <p:cNvSpPr>
            <a:spLocks noChangeArrowheads="1"/>
          </p:cNvSpPr>
          <p:nvPr/>
        </p:nvSpPr>
        <p:spPr bwMode="auto">
          <a:xfrm>
            <a:off x="4943958" y="5500561"/>
            <a:ext cx="2468237" cy="1038225"/>
          </a:xfrm>
          <a:prstGeom prst="wedgeRoundRectCallout">
            <a:avLst>
              <a:gd name="adj1" fmla="val -68712"/>
              <a:gd name="adj2" fmla="val -6106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2799" b="1" dirty="0">
                <a:solidFill>
                  <a:srgbClr val="FFFFFF"/>
                </a:solidFill>
              </a:rPr>
              <a:t>Multiple CSS declarations</a:t>
            </a:r>
            <a:endParaRPr lang="bg-BG" sz="2799" b="1" dirty="0">
              <a:solidFill>
                <a:srgbClr val="FFFFFF"/>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0859" y="3918557"/>
            <a:ext cx="3435141" cy="2409632"/>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0859" y="1224000"/>
            <a:ext cx="3435141" cy="2409631"/>
          </a:xfrm>
          <a:prstGeom prst="rect">
            <a:avLst/>
          </a:prstGeom>
        </p:spPr>
      </p:pic>
    </p:spTree>
    <p:extLst>
      <p:ext uri="{BB962C8B-B14F-4D97-AF65-F5344CB8AC3E}">
        <p14:creationId xmlns:p14="http://schemas.microsoft.com/office/powerpoint/2010/main" val="6041380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1" grpId="0" animBg="1"/>
      <p:bldP spid="12" grpId="0" animBg="1"/>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лавие 2">
            <a:extLst>
              <a:ext uri="{FF2B5EF4-FFF2-40B4-BE49-F238E27FC236}">
                <a16:creationId xmlns:a16="http://schemas.microsoft.com/office/drawing/2014/main" id="{1CB05A5F-A2E6-A403-2DB5-F33C5A64597D}"/>
              </a:ext>
            </a:extLst>
          </p:cNvPr>
          <p:cNvSpPr>
            <a:spLocks noGrp="1"/>
          </p:cNvSpPr>
          <p:nvPr>
            <p:ph type="title" sz="quarter" idx="10"/>
          </p:nvPr>
        </p:nvSpPr>
        <p:spPr/>
        <p:txBody>
          <a:bodyPr/>
          <a:lstStyle/>
          <a:p>
            <a:r>
              <a:rPr lang="en-US" dirty="0"/>
              <a:t>Basic CSS Selectors</a:t>
            </a:r>
          </a:p>
        </p:txBody>
      </p:sp>
      <p:pic>
        <p:nvPicPr>
          <p:cNvPr id="4" name="Picture 2">
            <a:extLst>
              <a:ext uri="{FF2B5EF4-FFF2-40B4-BE49-F238E27FC236}">
                <a16:creationId xmlns:a16="http://schemas.microsoft.com/office/drawing/2014/main" id="{4FED2052-11E0-544B-F539-B08A14DFBC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1158" y="1314000"/>
            <a:ext cx="2689683" cy="26896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38015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1" y="1196707"/>
            <a:ext cx="6938791" cy="5527326"/>
          </a:xfrm>
        </p:spPr>
        <p:txBody>
          <a:bodyPr>
            <a:normAutofit/>
          </a:bodyPr>
          <a:lstStyle/>
          <a:p>
            <a:pPr>
              <a:lnSpc>
                <a:spcPct val="100000"/>
              </a:lnSpc>
              <a:buClr>
                <a:schemeClr val="tx1"/>
              </a:buClr>
            </a:pPr>
            <a:r>
              <a:rPr lang="en-US" sz="3399" b="1" dirty="0">
                <a:solidFill>
                  <a:schemeClr val="bg1"/>
                </a:solidFill>
                <a:latin typeface="Consolas" panose="020B0609020204030204" pitchFamily="49" charset="0"/>
              </a:rPr>
              <a:t>font-size</a:t>
            </a:r>
            <a:r>
              <a:rPr lang="en-US" sz="3399" dirty="0"/>
              <a:t> – defines the text size</a:t>
            </a:r>
            <a:endParaRPr lang="bg-BG" sz="3399" dirty="0"/>
          </a:p>
          <a:p>
            <a:pPr lvl="1">
              <a:lnSpc>
                <a:spcPct val="100000"/>
              </a:lnSpc>
              <a:spcBef>
                <a:spcPts val="0"/>
              </a:spcBef>
              <a:buClr>
                <a:schemeClr val="tx1"/>
              </a:buClr>
            </a:pPr>
            <a:r>
              <a:rPr lang="en-US" sz="3199" b="1" noProof="1">
                <a:solidFill>
                  <a:schemeClr val="bg1"/>
                </a:solidFill>
                <a:latin typeface="Consolas" panose="020B0609020204030204" pitchFamily="49" charset="0"/>
              </a:rPr>
              <a:t>px</a:t>
            </a:r>
            <a:r>
              <a:rPr lang="en-US" sz="3199" dirty="0"/>
              <a:t> / </a:t>
            </a:r>
            <a:r>
              <a:rPr lang="en-US" sz="3199" b="1" noProof="1">
                <a:solidFill>
                  <a:schemeClr val="bg1"/>
                </a:solidFill>
                <a:latin typeface="Consolas" panose="020B0609020204030204" pitchFamily="49" charset="0"/>
              </a:rPr>
              <a:t>pt</a:t>
            </a:r>
            <a:r>
              <a:rPr lang="en-US" sz="3199" dirty="0"/>
              <a:t> values (e. g. </a:t>
            </a:r>
            <a:r>
              <a:rPr lang="en-US" sz="3199" b="1" dirty="0">
                <a:solidFill>
                  <a:schemeClr val="bg1"/>
                </a:solidFill>
              </a:rPr>
              <a:t>18px</a:t>
            </a:r>
            <a:r>
              <a:rPr lang="en-US" sz="3199" dirty="0"/>
              <a:t> / </a:t>
            </a:r>
            <a:r>
              <a:rPr lang="en-US" sz="3199" b="1" dirty="0">
                <a:solidFill>
                  <a:schemeClr val="bg1"/>
                </a:solidFill>
              </a:rPr>
              <a:t>24pt</a:t>
            </a:r>
            <a:r>
              <a:rPr lang="en-US" sz="3199" dirty="0"/>
              <a:t>)</a:t>
            </a:r>
          </a:p>
          <a:p>
            <a:pPr lvl="2">
              <a:lnSpc>
                <a:spcPct val="100000"/>
              </a:lnSpc>
              <a:buClr>
                <a:schemeClr val="tx1"/>
              </a:buClr>
            </a:pPr>
            <a:r>
              <a:rPr lang="en-US" sz="2999" dirty="0"/>
              <a:t>1px == 0.75pt == 1/96 inch</a:t>
            </a:r>
          </a:p>
          <a:p>
            <a:pPr lvl="1">
              <a:lnSpc>
                <a:spcPct val="100000"/>
              </a:lnSpc>
              <a:buClr>
                <a:schemeClr val="tx1"/>
              </a:buClr>
            </a:pPr>
            <a:r>
              <a:rPr lang="en-US" sz="3199" b="1" noProof="1">
                <a:solidFill>
                  <a:schemeClr val="bg1"/>
                </a:solidFill>
              </a:rPr>
              <a:t>em</a:t>
            </a:r>
            <a:r>
              <a:rPr lang="en-US" sz="3199" dirty="0"/>
              <a:t> values – relative to the original size, multiplied by a </a:t>
            </a:r>
            <a:r>
              <a:rPr lang="en-US" sz="3199" b="1" dirty="0">
                <a:solidFill>
                  <a:schemeClr val="bg1"/>
                </a:solidFill>
              </a:rPr>
              <a:t>scale</a:t>
            </a:r>
            <a:r>
              <a:rPr lang="en-US" sz="3199" dirty="0"/>
              <a:t> factor</a:t>
            </a:r>
          </a:p>
          <a:p>
            <a:pPr lvl="1">
              <a:lnSpc>
                <a:spcPct val="100000"/>
              </a:lnSpc>
              <a:buClr>
                <a:schemeClr val="tx1"/>
              </a:buClr>
            </a:pPr>
            <a:endParaRPr lang="en-US" sz="2999" dirty="0"/>
          </a:p>
          <a:p>
            <a:pPr lvl="1">
              <a:lnSpc>
                <a:spcPct val="100000"/>
              </a:lnSpc>
              <a:spcBef>
                <a:spcPts val="1200"/>
              </a:spcBef>
              <a:buClr>
                <a:schemeClr val="tx1"/>
              </a:buClr>
            </a:pPr>
            <a:r>
              <a:rPr lang="en-US" sz="3199" b="1" noProof="1">
                <a:solidFill>
                  <a:schemeClr val="bg1"/>
                </a:solidFill>
              </a:rPr>
              <a:t>rem</a:t>
            </a:r>
            <a:r>
              <a:rPr lang="en-US" sz="3199" dirty="0"/>
              <a:t> values – relative to the HTML root size (the </a:t>
            </a:r>
            <a:r>
              <a:rPr lang="en-US" sz="3199" b="1" dirty="0">
                <a:solidFill>
                  <a:schemeClr val="bg1"/>
                </a:solidFill>
                <a:latin typeface="Consolas" panose="020B0609020204030204" pitchFamily="49" charset="0"/>
              </a:rPr>
              <a:t>&lt;html&gt;</a:t>
            </a:r>
            <a:r>
              <a:rPr lang="en-US" sz="3199" dirty="0"/>
              <a:t> element)</a:t>
            </a:r>
            <a:endParaRPr lang="bg-BG" sz="3199" dirty="0"/>
          </a:p>
        </p:txBody>
      </p:sp>
      <p:sp>
        <p:nvSpPr>
          <p:cNvPr id="4" name="Title 3"/>
          <p:cNvSpPr>
            <a:spLocks noGrp="1"/>
          </p:cNvSpPr>
          <p:nvPr>
            <p:ph type="title"/>
          </p:nvPr>
        </p:nvSpPr>
        <p:spPr/>
        <p:txBody>
          <a:bodyPr/>
          <a:lstStyle/>
          <a:p>
            <a:r>
              <a:rPr lang="en-US" dirty="0"/>
              <a:t>Font Size</a:t>
            </a:r>
          </a:p>
        </p:txBody>
      </p:sp>
      <p:pic>
        <p:nvPicPr>
          <p:cNvPr id="12" name="Picture 11">
            <a:extLst>
              <a:ext uri="{FF2B5EF4-FFF2-40B4-BE49-F238E27FC236}">
                <a16:creationId xmlns:a16="http://schemas.microsoft.com/office/drawing/2014/main" id="{37052E25-F237-4DBC-AE12-D31114F21C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1000" y="1228302"/>
            <a:ext cx="3880983" cy="4316506"/>
          </a:xfrm>
          <a:prstGeom prst="rect">
            <a:avLst/>
          </a:prstGeom>
          <a:ln>
            <a:noFill/>
          </a:ln>
          <a:effectLst>
            <a:outerShdw blurRad="292100" dist="139700" dir="2700000" algn="tl" rotWithShape="0">
              <a:srgbClr val="333333">
                <a:alpha val="65000"/>
              </a:srgbClr>
            </a:outerShdw>
          </a:effectLst>
        </p:spPr>
      </p:pic>
      <p:sp>
        <p:nvSpPr>
          <p:cNvPr id="7" name="Текстово поле 10">
            <a:extLst>
              <a:ext uri="{FF2B5EF4-FFF2-40B4-BE49-F238E27FC236}">
                <a16:creationId xmlns:a16="http://schemas.microsoft.com/office/drawing/2014/main" id="{EECD41A9-F749-4FC7-B18B-8DC04E5EBB84}"/>
              </a:ext>
            </a:extLst>
          </p:cNvPr>
          <p:cNvSpPr txBox="1"/>
          <p:nvPr/>
        </p:nvSpPr>
        <p:spPr>
          <a:xfrm>
            <a:off x="1147290" y="5985222"/>
            <a:ext cx="5263629" cy="587288"/>
          </a:xfrm>
          <a:prstGeom prst="rect">
            <a:avLst/>
          </a:prstGeom>
          <a:solidFill>
            <a:schemeClr val="accent6">
              <a:lumMod val="75000"/>
              <a:alpha val="15000"/>
            </a:schemeClr>
          </a:solidFill>
          <a:ln w="12700">
            <a:solidFill>
              <a:schemeClr val="tx1">
                <a:lumMod val="75000"/>
              </a:schemeClr>
            </a:solidFill>
          </a:ln>
        </p:spPr>
        <p:txBody>
          <a:bodyPr wrap="square">
            <a:spAutoFit/>
          </a:bodyPr>
          <a:lstStyle>
            <a:defPPr>
              <a:defRPr lang="en-US"/>
            </a:defPPr>
            <a:lvl1pPr>
              <a:defRPr sz="2399" b="1">
                <a:solidFill>
                  <a:srgbClr val="FF0000"/>
                </a:solidFill>
                <a:latin typeface="Consolas" panose="020B0609020204030204" pitchFamily="49" charset="0"/>
              </a:defRPr>
            </a:lvl1pPr>
          </a:lstStyle>
          <a:p>
            <a:r>
              <a:rPr lang="en-GB" dirty="0"/>
              <a:t>font-size: </a:t>
            </a:r>
            <a:r>
              <a:rPr lang="en-GB" dirty="0">
                <a:solidFill>
                  <a:srgbClr val="098658"/>
                </a:solidFill>
              </a:rPr>
              <a:t>1.5rem</a:t>
            </a:r>
            <a:r>
              <a:rPr lang="en-GB" dirty="0">
                <a:solidFill>
                  <a:srgbClr val="000000"/>
                </a:solidFill>
              </a:rPr>
              <a:t>;</a:t>
            </a:r>
          </a:p>
        </p:txBody>
      </p:sp>
      <p:pic>
        <p:nvPicPr>
          <p:cNvPr id="6" name="Picture 5">
            <a:extLst>
              <a:ext uri="{FF2B5EF4-FFF2-40B4-BE49-F238E27FC236}">
                <a16:creationId xmlns:a16="http://schemas.microsoft.com/office/drawing/2014/main" id="{C712CC75-A47F-4F09-9F30-4BAC8B0F114B}"/>
              </a:ext>
            </a:extLst>
          </p:cNvPr>
          <p:cNvPicPr>
            <a:picLocks noChangeAspect="1"/>
          </p:cNvPicPr>
          <p:nvPr/>
        </p:nvPicPr>
        <p:blipFill>
          <a:blip r:embed="rId3"/>
          <a:stretch>
            <a:fillRect/>
          </a:stretch>
        </p:blipFill>
        <p:spPr>
          <a:xfrm>
            <a:off x="7581000" y="5742336"/>
            <a:ext cx="3880983" cy="830174"/>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3AC502CB-9715-4CEC-A383-CD66F134AD2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67</a:t>
            </a:fld>
            <a:endParaRPr lang="en-US" noProof="0" dirty="0"/>
          </a:p>
        </p:txBody>
      </p:sp>
      <p:sp>
        <p:nvSpPr>
          <p:cNvPr id="2" name="Текстово поле 1">
            <a:extLst>
              <a:ext uri="{FF2B5EF4-FFF2-40B4-BE49-F238E27FC236}">
                <a16:creationId xmlns:a16="http://schemas.microsoft.com/office/drawing/2014/main" id="{59DCA5B0-2174-0912-0FE8-031E4F7B0395}"/>
              </a:ext>
            </a:extLst>
          </p:cNvPr>
          <p:cNvSpPr txBox="1"/>
          <p:nvPr/>
        </p:nvSpPr>
        <p:spPr>
          <a:xfrm>
            <a:off x="1147290" y="4239000"/>
            <a:ext cx="5263629" cy="461537"/>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r>
              <a:rPr lang="en-GB" sz="2399" b="1" dirty="0">
                <a:solidFill>
                  <a:srgbClr val="FF0000"/>
                </a:solidFill>
                <a:latin typeface="Consolas" panose="020B0609020204030204" pitchFamily="49" charset="0"/>
              </a:rPr>
              <a:t>font-size</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1.2em</a:t>
            </a:r>
            <a:r>
              <a:rPr lang="en-GB" sz="2399"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99526005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normAutofit/>
          </a:bodyPr>
          <a:lstStyle/>
          <a:p>
            <a:pPr>
              <a:buClr>
                <a:schemeClr val="tx1"/>
              </a:buClr>
            </a:pPr>
            <a:r>
              <a:rPr lang="en-US" sz="3600" b="1" dirty="0">
                <a:solidFill>
                  <a:schemeClr val="bg1"/>
                </a:solidFill>
                <a:latin typeface="Consolas" panose="020B0609020204030204" pitchFamily="49" charset="0"/>
              </a:rPr>
              <a:t>font-weight</a:t>
            </a:r>
            <a:r>
              <a:rPr lang="en-US" sz="3600" dirty="0"/>
              <a:t> defines how weight is the font</a:t>
            </a:r>
          </a:p>
          <a:p>
            <a:pPr lvl="1">
              <a:buClr>
                <a:schemeClr val="tx1"/>
              </a:buClr>
            </a:pPr>
            <a:r>
              <a:rPr lang="en-US" sz="3400" dirty="0"/>
              <a:t>Thin, normal, </a:t>
            </a:r>
            <a:r>
              <a:rPr lang="en-US" sz="3400" b="1" dirty="0">
                <a:solidFill>
                  <a:schemeClr val="bg1"/>
                </a:solidFill>
              </a:rPr>
              <a:t>bold</a:t>
            </a:r>
            <a:r>
              <a:rPr lang="en-US" sz="3400" dirty="0"/>
              <a:t>, or value [100 … 900]</a:t>
            </a:r>
            <a:endParaRPr lang="bg-BG" sz="3400" dirty="0"/>
          </a:p>
        </p:txBody>
      </p:sp>
      <p:sp>
        <p:nvSpPr>
          <p:cNvPr id="4" name="Title 3"/>
          <p:cNvSpPr>
            <a:spLocks noGrp="1"/>
          </p:cNvSpPr>
          <p:nvPr>
            <p:ph type="title"/>
          </p:nvPr>
        </p:nvSpPr>
        <p:spPr/>
        <p:txBody>
          <a:bodyPr/>
          <a:lstStyle/>
          <a:p>
            <a:r>
              <a:rPr lang="en-US" dirty="0"/>
              <a:t>Font Weight: Thin / Normal / Bold</a:t>
            </a:r>
          </a:p>
        </p:txBody>
      </p:sp>
      <p:graphicFrame>
        <p:nvGraphicFramePr>
          <p:cNvPr id="6" name="Table 5"/>
          <p:cNvGraphicFramePr>
            <a:graphicFrameLocks noGrp="1"/>
          </p:cNvGraphicFramePr>
          <p:nvPr/>
        </p:nvGraphicFramePr>
        <p:xfrm>
          <a:off x="645966" y="2855725"/>
          <a:ext cx="2750739" cy="3454397"/>
        </p:xfrm>
        <a:graphic>
          <a:graphicData uri="http://schemas.openxmlformats.org/drawingml/2006/table">
            <a:tbl>
              <a:tblPr firstRow="1" bandRow="1">
                <a:tableStyleId>{22838BEF-8BB2-4498-84A7-C5851F593DF1}</a:tableStyleId>
              </a:tblPr>
              <a:tblGrid>
                <a:gridCol w="1214249">
                  <a:extLst>
                    <a:ext uri="{9D8B030D-6E8A-4147-A177-3AD203B41FA5}">
                      <a16:colId xmlns:a16="http://schemas.microsoft.com/office/drawing/2014/main" val="3393068974"/>
                    </a:ext>
                  </a:extLst>
                </a:gridCol>
                <a:gridCol w="1536490">
                  <a:extLst>
                    <a:ext uri="{9D8B030D-6E8A-4147-A177-3AD203B41FA5}">
                      <a16:colId xmlns:a16="http://schemas.microsoft.com/office/drawing/2014/main" val="625024257"/>
                    </a:ext>
                  </a:extLst>
                </a:gridCol>
              </a:tblGrid>
              <a:tr h="740061">
                <a:tc>
                  <a:txBody>
                    <a:bodyPr/>
                    <a:lstStyle/>
                    <a:p>
                      <a:pPr algn="l">
                        <a:lnSpc>
                          <a:spcPct val="100000"/>
                        </a:lnSpc>
                      </a:pPr>
                      <a:r>
                        <a:rPr lang="en-US" sz="3200" dirty="0"/>
                        <a:t>Value</a:t>
                      </a:r>
                      <a:endParaRPr lang="en-US" sz="2400" dirty="0">
                        <a:solidFill>
                          <a:schemeClr val="bg2"/>
                        </a:solidFill>
                      </a:endParaRPr>
                    </a:p>
                  </a:txBody>
                  <a:tcPr marL="91416" marR="91416" marT="45708" marB="45708" anchor="ctr"/>
                </a:tc>
                <a:tc>
                  <a:txBody>
                    <a:bodyPr/>
                    <a:lstStyle/>
                    <a:p>
                      <a:pPr algn="ctr">
                        <a:lnSpc>
                          <a:spcPct val="100000"/>
                        </a:lnSpc>
                      </a:pPr>
                      <a:r>
                        <a:rPr lang="en-US" sz="3200" dirty="0"/>
                        <a:t>Name</a:t>
                      </a:r>
                      <a:endParaRPr lang="en-US" sz="3200" dirty="0">
                        <a:solidFill>
                          <a:schemeClr val="bg2"/>
                        </a:solidFill>
                      </a:endParaRPr>
                    </a:p>
                  </a:txBody>
                  <a:tcPr marL="91416" marR="91416" marT="45708" marB="45708" anchor="ctr"/>
                </a:tc>
                <a:extLst>
                  <a:ext uri="{0D108BD9-81ED-4DB2-BD59-A6C34878D82A}">
                    <a16:rowId xmlns:a16="http://schemas.microsoft.com/office/drawing/2014/main" val="846196361"/>
                  </a:ext>
                </a:extLst>
              </a:tr>
              <a:tr h="678584">
                <a:tc>
                  <a:txBody>
                    <a:bodyPr/>
                    <a:lstStyle/>
                    <a:p>
                      <a:pPr>
                        <a:lnSpc>
                          <a:spcPct val="100000"/>
                        </a:lnSpc>
                        <a:spcBef>
                          <a:spcPts val="600"/>
                        </a:spcBef>
                        <a:spcAft>
                          <a:spcPts val="600"/>
                        </a:spcAft>
                      </a:pPr>
                      <a:r>
                        <a:rPr lang="en-US" sz="3200" dirty="0"/>
                        <a:t>100</a:t>
                      </a:r>
                      <a:endParaRPr lang="en-US" sz="2400" dirty="0"/>
                    </a:p>
                  </a:txBody>
                  <a:tcPr marL="91416" marR="91416" marT="45708" marB="45708" anchor="ctr"/>
                </a:tc>
                <a:tc>
                  <a:txBody>
                    <a:bodyPr/>
                    <a:lstStyle/>
                    <a:p>
                      <a:pPr>
                        <a:lnSpc>
                          <a:spcPct val="100000"/>
                        </a:lnSpc>
                        <a:spcBef>
                          <a:spcPts val="600"/>
                        </a:spcBef>
                        <a:spcAft>
                          <a:spcPts val="600"/>
                        </a:spcAft>
                      </a:pPr>
                      <a:r>
                        <a:rPr lang="en-US" sz="3200" kern="1200" dirty="0"/>
                        <a:t>thin</a:t>
                      </a:r>
                      <a:endParaRPr lang="en-US" sz="3200" kern="1200" dirty="0">
                        <a:solidFill>
                          <a:schemeClr val="dk1"/>
                        </a:solidFill>
                        <a:latin typeface="+mn-lt"/>
                        <a:ea typeface="+mn-ea"/>
                        <a:cs typeface="+mn-cs"/>
                      </a:endParaRPr>
                    </a:p>
                  </a:txBody>
                  <a:tcPr marL="91416" marR="91416" marT="45708" marB="45708" anchor="ctr"/>
                </a:tc>
                <a:extLst>
                  <a:ext uri="{0D108BD9-81ED-4DB2-BD59-A6C34878D82A}">
                    <a16:rowId xmlns:a16="http://schemas.microsoft.com/office/drawing/2014/main" val="174335780"/>
                  </a:ext>
                </a:extLst>
              </a:tr>
              <a:tr h="678584">
                <a:tc>
                  <a:txBody>
                    <a:bodyPr/>
                    <a:lstStyle/>
                    <a:p>
                      <a:pPr>
                        <a:lnSpc>
                          <a:spcPct val="100000"/>
                        </a:lnSpc>
                        <a:spcBef>
                          <a:spcPts val="600"/>
                        </a:spcBef>
                        <a:spcAft>
                          <a:spcPts val="600"/>
                        </a:spcAft>
                      </a:pPr>
                      <a:r>
                        <a:rPr lang="en-US" sz="3200" dirty="0"/>
                        <a:t>300</a:t>
                      </a:r>
                    </a:p>
                  </a:txBody>
                  <a:tcPr marL="91416" marR="91416" marT="45708" marB="45708" anchor="ctr"/>
                </a:tc>
                <a:tc>
                  <a:txBody>
                    <a:bodyPr/>
                    <a:lstStyle/>
                    <a:p>
                      <a:pPr>
                        <a:lnSpc>
                          <a:spcPct val="100000"/>
                        </a:lnSpc>
                        <a:spcBef>
                          <a:spcPts val="600"/>
                        </a:spcBef>
                        <a:spcAft>
                          <a:spcPts val="600"/>
                        </a:spcAft>
                      </a:pPr>
                      <a:r>
                        <a:rPr lang="en-US" sz="3200" kern="1200" noProof="1"/>
                        <a:t>light</a:t>
                      </a:r>
                      <a:endParaRPr lang="en-US" sz="3200" kern="1200" noProof="1">
                        <a:solidFill>
                          <a:schemeClr val="tx1"/>
                        </a:solidFill>
                        <a:latin typeface="+mn-lt"/>
                        <a:ea typeface="+mn-ea"/>
                        <a:cs typeface="+mn-cs"/>
                      </a:endParaRPr>
                    </a:p>
                  </a:txBody>
                  <a:tcPr marL="91416" marR="91416" marT="45708" marB="45708" anchor="ctr"/>
                </a:tc>
                <a:extLst>
                  <a:ext uri="{0D108BD9-81ED-4DB2-BD59-A6C34878D82A}">
                    <a16:rowId xmlns:a16="http://schemas.microsoft.com/office/drawing/2014/main" val="1843717763"/>
                  </a:ext>
                </a:extLst>
              </a:tr>
              <a:tr h="678584">
                <a:tc>
                  <a:txBody>
                    <a:bodyPr/>
                    <a:lstStyle/>
                    <a:p>
                      <a:pPr>
                        <a:lnSpc>
                          <a:spcPct val="100000"/>
                        </a:lnSpc>
                        <a:spcBef>
                          <a:spcPts val="600"/>
                        </a:spcBef>
                        <a:spcAft>
                          <a:spcPts val="600"/>
                        </a:spcAft>
                      </a:pPr>
                      <a:r>
                        <a:rPr lang="en-US" sz="3200" dirty="0"/>
                        <a:t>400</a:t>
                      </a:r>
                    </a:p>
                  </a:txBody>
                  <a:tcPr marL="91416" marR="91416" marT="45708" marB="45708" anchor="ctr"/>
                </a:tc>
                <a:tc>
                  <a:txBody>
                    <a:bodyPr/>
                    <a:lstStyle/>
                    <a:p>
                      <a:pPr>
                        <a:lnSpc>
                          <a:spcPct val="100000"/>
                        </a:lnSpc>
                        <a:spcBef>
                          <a:spcPts val="600"/>
                        </a:spcBef>
                        <a:spcAft>
                          <a:spcPts val="600"/>
                        </a:spcAft>
                      </a:pPr>
                      <a:r>
                        <a:rPr lang="en-US" sz="3200" kern="1200" dirty="0"/>
                        <a:t>normal</a:t>
                      </a:r>
                      <a:endParaRPr lang="en-US" sz="3200" kern="1200" dirty="0">
                        <a:solidFill>
                          <a:schemeClr val="tx1"/>
                        </a:solidFill>
                        <a:latin typeface="+mn-lt"/>
                        <a:ea typeface="+mn-ea"/>
                        <a:cs typeface="+mn-cs"/>
                      </a:endParaRPr>
                    </a:p>
                  </a:txBody>
                  <a:tcPr marL="91416" marR="91416" marT="45708" marB="45708" anchor="ctr"/>
                </a:tc>
                <a:extLst>
                  <a:ext uri="{0D108BD9-81ED-4DB2-BD59-A6C34878D82A}">
                    <a16:rowId xmlns:a16="http://schemas.microsoft.com/office/drawing/2014/main" val="414088222"/>
                  </a:ext>
                </a:extLst>
              </a:tr>
              <a:tr h="678584">
                <a:tc>
                  <a:txBody>
                    <a:bodyPr/>
                    <a:lstStyle/>
                    <a:p>
                      <a:pPr>
                        <a:lnSpc>
                          <a:spcPct val="100000"/>
                        </a:lnSpc>
                        <a:spcBef>
                          <a:spcPts val="600"/>
                        </a:spcBef>
                        <a:spcAft>
                          <a:spcPts val="600"/>
                        </a:spcAft>
                      </a:pPr>
                      <a:r>
                        <a:rPr lang="en-US" sz="3200" dirty="0"/>
                        <a:t>700</a:t>
                      </a:r>
                    </a:p>
                  </a:txBody>
                  <a:tcPr marL="91416" marR="91416" marT="45708" marB="45708" anchor="ctr"/>
                </a:tc>
                <a:tc>
                  <a:txBody>
                    <a:bodyPr/>
                    <a:lstStyle/>
                    <a:p>
                      <a:pPr>
                        <a:lnSpc>
                          <a:spcPct val="100000"/>
                        </a:lnSpc>
                        <a:spcBef>
                          <a:spcPts val="600"/>
                        </a:spcBef>
                        <a:spcAft>
                          <a:spcPts val="600"/>
                        </a:spcAft>
                      </a:pPr>
                      <a:r>
                        <a:rPr lang="en-US" sz="3200" kern="1200" dirty="0">
                          <a:effectLst/>
                        </a:rPr>
                        <a:t>bold</a:t>
                      </a:r>
                      <a:endParaRPr lang="en-US" sz="2400" dirty="0"/>
                    </a:p>
                  </a:txBody>
                  <a:tcPr marL="91416" marR="91416" marT="45708" marB="45708" anchor="ctr"/>
                </a:tc>
                <a:extLst>
                  <a:ext uri="{0D108BD9-81ED-4DB2-BD59-A6C34878D82A}">
                    <a16:rowId xmlns:a16="http://schemas.microsoft.com/office/drawing/2014/main" val="1366980024"/>
                  </a:ext>
                </a:extLst>
              </a:tr>
            </a:tbl>
          </a:graphicData>
        </a:graphic>
      </p:graphicFrame>
      <p:pic>
        <p:nvPicPr>
          <p:cNvPr id="8" name="Picture 7">
            <a:extLst>
              <a:ext uri="{FF2B5EF4-FFF2-40B4-BE49-F238E27FC236}">
                <a16:creationId xmlns:a16="http://schemas.microsoft.com/office/drawing/2014/main" id="{A5DD9737-FBA8-4CDF-9025-C93C9079B9CA}"/>
              </a:ext>
            </a:extLst>
          </p:cNvPr>
          <p:cNvPicPr>
            <a:picLocks noChangeAspect="1"/>
          </p:cNvPicPr>
          <p:nvPr/>
        </p:nvPicPr>
        <p:blipFill>
          <a:blip r:embed="rId2"/>
          <a:stretch>
            <a:fillRect/>
          </a:stretch>
        </p:blipFill>
        <p:spPr>
          <a:xfrm>
            <a:off x="8156676" y="2632827"/>
            <a:ext cx="1212110" cy="96968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F7CC3170-C938-47EB-8252-B920BBDE7D94}"/>
              </a:ext>
            </a:extLst>
          </p:cNvPr>
          <p:cNvPicPr>
            <a:picLocks noChangeAspect="1"/>
          </p:cNvPicPr>
          <p:nvPr/>
        </p:nvPicPr>
        <p:blipFill>
          <a:blip r:embed="rId3"/>
          <a:stretch>
            <a:fillRect/>
          </a:stretch>
        </p:blipFill>
        <p:spPr>
          <a:xfrm>
            <a:off x="10074303" y="2628121"/>
            <a:ext cx="1325790" cy="969688"/>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CABC4C20-E263-41A3-99FA-C0D1BE187BEA}"/>
              </a:ext>
            </a:extLst>
          </p:cNvPr>
          <p:cNvPicPr>
            <a:picLocks noChangeAspect="1"/>
          </p:cNvPicPr>
          <p:nvPr/>
        </p:nvPicPr>
        <p:blipFill>
          <a:blip r:embed="rId4"/>
          <a:stretch>
            <a:fillRect/>
          </a:stretch>
        </p:blipFill>
        <p:spPr>
          <a:xfrm>
            <a:off x="8156676" y="3833002"/>
            <a:ext cx="1680976" cy="816055"/>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F71C3112-9819-4470-A1A7-A1E5C115E378}"/>
              </a:ext>
            </a:extLst>
          </p:cNvPr>
          <p:cNvPicPr>
            <a:picLocks noChangeAspect="1"/>
          </p:cNvPicPr>
          <p:nvPr/>
        </p:nvPicPr>
        <p:blipFill>
          <a:blip r:embed="rId5"/>
          <a:stretch>
            <a:fillRect/>
          </a:stretch>
        </p:blipFill>
        <p:spPr>
          <a:xfrm>
            <a:off x="10074304" y="3833002"/>
            <a:ext cx="1857725" cy="816055"/>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F174010B-5630-49F0-ACD4-EC8AB61D70BA}"/>
              </a:ext>
            </a:extLst>
          </p:cNvPr>
          <p:cNvPicPr>
            <a:picLocks noChangeAspect="1"/>
          </p:cNvPicPr>
          <p:nvPr/>
        </p:nvPicPr>
        <p:blipFill>
          <a:blip r:embed="rId6"/>
          <a:stretch>
            <a:fillRect/>
          </a:stretch>
        </p:blipFill>
        <p:spPr>
          <a:xfrm>
            <a:off x="8156678" y="5056790"/>
            <a:ext cx="1342191" cy="940124"/>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B7564EF8-9FE8-45D9-8817-768C43C2A26A}"/>
              </a:ext>
            </a:extLst>
          </p:cNvPr>
          <p:cNvPicPr>
            <a:picLocks noChangeAspect="1"/>
          </p:cNvPicPr>
          <p:nvPr/>
        </p:nvPicPr>
        <p:blipFill>
          <a:blip r:embed="rId7"/>
          <a:stretch>
            <a:fillRect/>
          </a:stretch>
        </p:blipFill>
        <p:spPr>
          <a:xfrm>
            <a:off x="10074303" y="5056791"/>
            <a:ext cx="1643738" cy="940123"/>
          </a:xfrm>
          <a:prstGeom prst="rect">
            <a:avLst/>
          </a:prstGeom>
          <a:ln>
            <a:noFill/>
          </a:ln>
          <a:effectLst>
            <a:outerShdw blurRad="292100" dist="139700" dir="2700000" algn="tl" rotWithShape="0">
              <a:srgbClr val="333333">
                <a:alpha val="65000"/>
              </a:srgbClr>
            </a:outerShdw>
          </a:effectLst>
        </p:spPr>
      </p:pic>
      <p:pic>
        <p:nvPicPr>
          <p:cNvPr id="24" name="Picture 23">
            <a:extLst>
              <a:ext uri="{FF2B5EF4-FFF2-40B4-BE49-F238E27FC236}">
                <a16:creationId xmlns:a16="http://schemas.microsoft.com/office/drawing/2014/main" id="{B74B7065-8662-460E-B962-FBCE4AFD3B84}"/>
              </a:ext>
            </a:extLst>
          </p:cNvPr>
          <p:cNvPicPr>
            <a:picLocks noChangeAspect="1"/>
          </p:cNvPicPr>
          <p:nvPr/>
        </p:nvPicPr>
        <p:blipFill>
          <a:blip r:embed="rId8"/>
          <a:stretch>
            <a:fillRect/>
          </a:stretch>
        </p:blipFill>
        <p:spPr>
          <a:xfrm>
            <a:off x="9412884" y="1584480"/>
            <a:ext cx="2396628" cy="553068"/>
          </a:xfrm>
          <a:prstGeom prst="rect">
            <a:avLst/>
          </a:prstGeom>
          <a:ln>
            <a:noFill/>
          </a:ln>
          <a:effectLst>
            <a:outerShdw blurRad="292100" dist="139700" dir="2700000" algn="tl" rotWithShape="0">
              <a:srgbClr val="333333">
                <a:alpha val="65000"/>
              </a:srgbClr>
            </a:outerShdw>
          </a:effectLst>
        </p:spPr>
      </p:pic>
      <p:sp>
        <p:nvSpPr>
          <p:cNvPr id="23" name="Slide Number">
            <a:extLst>
              <a:ext uri="{FF2B5EF4-FFF2-40B4-BE49-F238E27FC236}">
                <a16:creationId xmlns:a16="http://schemas.microsoft.com/office/drawing/2014/main" id="{91B0DA75-B7D2-44F9-9BBD-03ADBA8D320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68</a:t>
            </a:fld>
            <a:endParaRPr lang="en-US" noProof="0" dirty="0"/>
          </a:p>
        </p:txBody>
      </p:sp>
      <p:sp>
        <p:nvSpPr>
          <p:cNvPr id="2" name="Текстово поле 10">
            <a:extLst>
              <a:ext uri="{FF2B5EF4-FFF2-40B4-BE49-F238E27FC236}">
                <a16:creationId xmlns:a16="http://schemas.microsoft.com/office/drawing/2014/main" id="{CF2CAFE9-63EA-AAF0-0134-44588D05F504}"/>
              </a:ext>
            </a:extLst>
          </p:cNvPr>
          <p:cNvSpPr txBox="1"/>
          <p:nvPr/>
        </p:nvSpPr>
        <p:spPr>
          <a:xfrm>
            <a:off x="3798940" y="3235445"/>
            <a:ext cx="3904447" cy="492443"/>
          </a:xfrm>
          <a:prstGeom prst="rect">
            <a:avLst/>
          </a:prstGeom>
          <a:solidFill>
            <a:schemeClr val="accent6">
              <a:lumMod val="75000"/>
              <a:alpha val="15000"/>
            </a:schemeClr>
          </a:solidFill>
          <a:ln w="12700">
            <a:solidFill>
              <a:schemeClr val="tx1">
                <a:lumMod val="75000"/>
              </a:schemeClr>
            </a:solidFill>
          </a:ln>
        </p:spPr>
        <p:txBody>
          <a:bodyPr wrap="square">
            <a:spAutoFit/>
          </a:bodyPr>
          <a:lstStyle>
            <a:defPPr>
              <a:defRPr lang="en-US"/>
            </a:defPPr>
            <a:lvl1pPr>
              <a:defRPr sz="2399" b="1">
                <a:solidFill>
                  <a:srgbClr val="FF0000"/>
                </a:solidFill>
                <a:latin typeface="Consolas" panose="020B0609020204030204" pitchFamily="49" charset="0"/>
              </a:defRPr>
            </a:lvl1pPr>
          </a:lstStyle>
          <a:p>
            <a:r>
              <a:rPr lang="en-GB" sz="2600" dirty="0"/>
              <a:t>font-weight</a:t>
            </a:r>
            <a:r>
              <a:rPr lang="en-GB" sz="2600" dirty="0">
                <a:solidFill>
                  <a:srgbClr val="000000"/>
                </a:solidFill>
              </a:rPr>
              <a:t>: </a:t>
            </a:r>
            <a:r>
              <a:rPr lang="en-GB" sz="2600" dirty="0">
                <a:solidFill>
                  <a:srgbClr val="0451A5"/>
                </a:solidFill>
              </a:rPr>
              <a:t>thin</a:t>
            </a:r>
            <a:r>
              <a:rPr lang="en-GB" sz="2600" dirty="0">
                <a:solidFill>
                  <a:srgbClr val="000000"/>
                </a:solidFill>
              </a:rPr>
              <a:t>;</a:t>
            </a:r>
          </a:p>
        </p:txBody>
      </p:sp>
      <p:sp>
        <p:nvSpPr>
          <p:cNvPr id="5" name="Текстово поле 10">
            <a:extLst>
              <a:ext uri="{FF2B5EF4-FFF2-40B4-BE49-F238E27FC236}">
                <a16:creationId xmlns:a16="http://schemas.microsoft.com/office/drawing/2014/main" id="{F1BE0F9A-E370-96A2-5167-25EE7D55E2D9}"/>
              </a:ext>
            </a:extLst>
          </p:cNvPr>
          <p:cNvSpPr txBox="1"/>
          <p:nvPr/>
        </p:nvSpPr>
        <p:spPr>
          <a:xfrm>
            <a:off x="3798940" y="3890485"/>
            <a:ext cx="3904447" cy="492443"/>
          </a:xfrm>
          <a:prstGeom prst="rect">
            <a:avLst/>
          </a:prstGeom>
          <a:solidFill>
            <a:schemeClr val="accent6">
              <a:lumMod val="75000"/>
              <a:alpha val="15000"/>
            </a:schemeClr>
          </a:solidFill>
          <a:ln w="12700">
            <a:solidFill>
              <a:schemeClr val="tx1">
                <a:lumMod val="75000"/>
              </a:schemeClr>
            </a:solidFill>
          </a:ln>
        </p:spPr>
        <p:txBody>
          <a:bodyPr wrap="square">
            <a:spAutoFit/>
          </a:bodyPr>
          <a:lstStyle>
            <a:defPPr>
              <a:defRPr lang="en-US"/>
            </a:defPPr>
            <a:lvl1pPr>
              <a:defRPr sz="2399" b="1">
                <a:solidFill>
                  <a:srgbClr val="FF0000"/>
                </a:solidFill>
                <a:latin typeface="Consolas" panose="020B0609020204030204" pitchFamily="49" charset="0"/>
              </a:defRPr>
            </a:lvl1pPr>
          </a:lstStyle>
          <a:p>
            <a:r>
              <a:rPr lang="en-GB" sz="2600" dirty="0"/>
              <a:t>font-weight</a:t>
            </a:r>
            <a:r>
              <a:rPr lang="en-GB" sz="2600" dirty="0">
                <a:solidFill>
                  <a:srgbClr val="000000"/>
                </a:solidFill>
              </a:rPr>
              <a:t>: </a:t>
            </a:r>
            <a:r>
              <a:rPr lang="en-GB" sz="2600" dirty="0">
                <a:solidFill>
                  <a:srgbClr val="0451A5"/>
                </a:solidFill>
              </a:rPr>
              <a:t>300</a:t>
            </a:r>
            <a:r>
              <a:rPr lang="en-GB" sz="2600" dirty="0">
                <a:solidFill>
                  <a:srgbClr val="000000"/>
                </a:solidFill>
              </a:rPr>
              <a:t>;</a:t>
            </a:r>
          </a:p>
        </p:txBody>
      </p:sp>
      <p:sp>
        <p:nvSpPr>
          <p:cNvPr id="7" name="Текстово поле 10">
            <a:extLst>
              <a:ext uri="{FF2B5EF4-FFF2-40B4-BE49-F238E27FC236}">
                <a16:creationId xmlns:a16="http://schemas.microsoft.com/office/drawing/2014/main" id="{983B81E3-297C-BBFA-BE6F-72BEDE097532}"/>
              </a:ext>
            </a:extLst>
          </p:cNvPr>
          <p:cNvSpPr txBox="1"/>
          <p:nvPr/>
        </p:nvSpPr>
        <p:spPr>
          <a:xfrm>
            <a:off x="3797368" y="4545525"/>
            <a:ext cx="3904447" cy="492443"/>
          </a:xfrm>
          <a:prstGeom prst="rect">
            <a:avLst/>
          </a:prstGeom>
          <a:solidFill>
            <a:schemeClr val="accent6">
              <a:lumMod val="75000"/>
              <a:alpha val="15000"/>
            </a:schemeClr>
          </a:solidFill>
          <a:ln w="12700">
            <a:solidFill>
              <a:schemeClr val="tx1">
                <a:lumMod val="75000"/>
              </a:schemeClr>
            </a:solidFill>
          </a:ln>
        </p:spPr>
        <p:txBody>
          <a:bodyPr wrap="square">
            <a:spAutoFit/>
          </a:bodyPr>
          <a:lstStyle>
            <a:defPPr>
              <a:defRPr lang="en-US"/>
            </a:defPPr>
            <a:lvl1pPr>
              <a:defRPr sz="2399" b="1">
                <a:solidFill>
                  <a:srgbClr val="FF0000"/>
                </a:solidFill>
                <a:latin typeface="Consolas" panose="020B0609020204030204" pitchFamily="49" charset="0"/>
              </a:defRPr>
            </a:lvl1pPr>
          </a:lstStyle>
          <a:p>
            <a:r>
              <a:rPr lang="en-GB" sz="2600" dirty="0"/>
              <a:t>font-weight</a:t>
            </a:r>
            <a:r>
              <a:rPr lang="en-GB" sz="2600" dirty="0">
                <a:solidFill>
                  <a:srgbClr val="000000"/>
                </a:solidFill>
              </a:rPr>
              <a:t>: </a:t>
            </a:r>
            <a:r>
              <a:rPr lang="en-GB" sz="2600" dirty="0">
                <a:solidFill>
                  <a:srgbClr val="0451A5"/>
                </a:solidFill>
              </a:rPr>
              <a:t>400</a:t>
            </a:r>
            <a:r>
              <a:rPr lang="en-GB" sz="2600" dirty="0">
                <a:solidFill>
                  <a:srgbClr val="000000"/>
                </a:solidFill>
              </a:rPr>
              <a:t>;</a:t>
            </a:r>
          </a:p>
        </p:txBody>
      </p:sp>
      <p:sp>
        <p:nvSpPr>
          <p:cNvPr id="9" name="Текстово поле 10">
            <a:extLst>
              <a:ext uri="{FF2B5EF4-FFF2-40B4-BE49-F238E27FC236}">
                <a16:creationId xmlns:a16="http://schemas.microsoft.com/office/drawing/2014/main" id="{F1D4673E-FEA0-C110-DA9C-3E331A4B93E4}"/>
              </a:ext>
            </a:extLst>
          </p:cNvPr>
          <p:cNvSpPr txBox="1"/>
          <p:nvPr/>
        </p:nvSpPr>
        <p:spPr>
          <a:xfrm>
            <a:off x="3797368" y="5160126"/>
            <a:ext cx="3904447" cy="492443"/>
          </a:xfrm>
          <a:prstGeom prst="rect">
            <a:avLst/>
          </a:prstGeom>
          <a:solidFill>
            <a:schemeClr val="accent6">
              <a:lumMod val="75000"/>
              <a:alpha val="15000"/>
            </a:schemeClr>
          </a:solidFill>
          <a:ln w="12700">
            <a:solidFill>
              <a:schemeClr val="tx1">
                <a:lumMod val="75000"/>
              </a:schemeClr>
            </a:solidFill>
          </a:ln>
        </p:spPr>
        <p:txBody>
          <a:bodyPr wrap="square">
            <a:spAutoFit/>
          </a:bodyPr>
          <a:lstStyle>
            <a:defPPr>
              <a:defRPr lang="en-US"/>
            </a:defPPr>
            <a:lvl1pPr>
              <a:defRPr sz="2399" b="1">
                <a:solidFill>
                  <a:srgbClr val="FF0000"/>
                </a:solidFill>
                <a:latin typeface="Consolas" panose="020B0609020204030204" pitchFamily="49" charset="0"/>
              </a:defRPr>
            </a:lvl1pPr>
          </a:lstStyle>
          <a:p>
            <a:r>
              <a:rPr lang="en-GB" sz="2600" dirty="0"/>
              <a:t>font-weight</a:t>
            </a:r>
            <a:r>
              <a:rPr lang="en-GB" sz="2600" dirty="0">
                <a:solidFill>
                  <a:srgbClr val="000000"/>
                </a:solidFill>
              </a:rPr>
              <a:t>: </a:t>
            </a:r>
            <a:r>
              <a:rPr lang="en-GB" sz="2600" dirty="0">
                <a:solidFill>
                  <a:srgbClr val="0451A5"/>
                </a:solidFill>
              </a:rPr>
              <a:t>bold</a:t>
            </a:r>
            <a:r>
              <a:rPr lang="en-GB" sz="2600" dirty="0">
                <a:solidFill>
                  <a:srgbClr val="000000"/>
                </a:solidFill>
              </a:rPr>
              <a:t>;</a:t>
            </a:r>
          </a:p>
        </p:txBody>
      </p:sp>
    </p:spTree>
    <p:extLst>
      <p:ext uri="{BB962C8B-B14F-4D97-AF65-F5344CB8AC3E}">
        <p14:creationId xmlns:p14="http://schemas.microsoft.com/office/powerpoint/2010/main" val="385169156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buClr>
                <a:schemeClr val="tx1"/>
              </a:buClr>
            </a:pPr>
            <a:r>
              <a:rPr lang="en-US" sz="3400" b="1" dirty="0">
                <a:solidFill>
                  <a:schemeClr val="bg1"/>
                </a:solidFill>
                <a:latin typeface="Consolas" panose="020B0609020204030204" pitchFamily="49" charset="0"/>
              </a:rPr>
              <a:t>font-style</a:t>
            </a:r>
            <a:r>
              <a:rPr lang="en-US" sz="3400" dirty="0"/>
              <a:t> – defines how much the text is </a:t>
            </a:r>
            <a:r>
              <a:rPr lang="en-US" sz="3400" b="1" i="1" dirty="0">
                <a:solidFill>
                  <a:schemeClr val="bg1"/>
                </a:solidFill>
              </a:rPr>
              <a:t>slanted</a:t>
            </a:r>
          </a:p>
          <a:p>
            <a:pPr lvl="1">
              <a:buClr>
                <a:schemeClr val="tx1"/>
              </a:buClr>
            </a:pPr>
            <a:r>
              <a:rPr lang="en-US" sz="3200" b="1" dirty="0">
                <a:solidFill>
                  <a:schemeClr val="bg1"/>
                </a:solidFill>
                <a:latin typeface="Consolas" panose="020B0609020204030204" pitchFamily="49" charset="0"/>
              </a:rPr>
              <a:t>normal</a:t>
            </a:r>
            <a:r>
              <a:rPr lang="en-US" sz="3200" b="1" dirty="0">
                <a:solidFill>
                  <a:schemeClr val="bg1"/>
                </a:solidFill>
                <a:latin typeface="+mj-lt"/>
              </a:rPr>
              <a:t> </a:t>
            </a:r>
            <a:r>
              <a:rPr lang="en-US" sz="3200" dirty="0"/>
              <a:t>– the text is not slanted</a:t>
            </a:r>
          </a:p>
          <a:p>
            <a:pPr marL="0" indent="0">
              <a:buClr>
                <a:schemeClr val="tx1"/>
              </a:buClr>
              <a:buNone/>
            </a:pPr>
            <a:endParaRPr lang="en-US" sz="3200" dirty="0"/>
          </a:p>
          <a:p>
            <a:pPr lvl="1">
              <a:buClr>
                <a:schemeClr val="tx1"/>
              </a:buClr>
            </a:pPr>
            <a:r>
              <a:rPr lang="en-US" sz="3200" b="1" dirty="0">
                <a:solidFill>
                  <a:schemeClr val="bg1"/>
                </a:solidFill>
                <a:latin typeface="Consolas" panose="020B0609020204030204" pitchFamily="49" charset="0"/>
              </a:rPr>
              <a:t>italic </a:t>
            </a:r>
            <a:r>
              <a:rPr lang="en-US" sz="3200" dirty="0"/>
              <a:t>– the letters are slightly slanted</a:t>
            </a:r>
          </a:p>
          <a:p>
            <a:pPr marL="442912" lvl="1" indent="0">
              <a:buClr>
                <a:schemeClr val="tx1"/>
              </a:buClr>
              <a:buNone/>
            </a:pPr>
            <a:endParaRPr lang="en-US" sz="3200" dirty="0"/>
          </a:p>
          <a:p>
            <a:pPr lvl="1">
              <a:buClr>
                <a:schemeClr val="tx1"/>
              </a:buClr>
            </a:pPr>
            <a:r>
              <a:rPr lang="bg-BG" sz="3200" b="1" noProof="1">
                <a:solidFill>
                  <a:schemeClr val="bg1"/>
                </a:solidFill>
                <a:latin typeface="Consolas" panose="020B0609020204030204" pitchFamily="49" charset="0"/>
              </a:rPr>
              <a:t>оblique</a:t>
            </a:r>
            <a:r>
              <a:rPr lang="bg-BG" sz="3200" b="1" noProof="1">
                <a:solidFill>
                  <a:schemeClr val="bg1"/>
                </a:solidFill>
                <a:latin typeface="+mj-lt"/>
              </a:rPr>
              <a:t> </a:t>
            </a:r>
            <a:r>
              <a:rPr lang="bg-BG" sz="3200" noProof="1"/>
              <a:t>– the letters are more slanted than italic</a:t>
            </a:r>
            <a:endParaRPr lang="bg-BG" sz="3200" dirty="0"/>
          </a:p>
        </p:txBody>
      </p:sp>
      <p:sp>
        <p:nvSpPr>
          <p:cNvPr id="4" name="Title 3"/>
          <p:cNvSpPr>
            <a:spLocks noGrp="1"/>
          </p:cNvSpPr>
          <p:nvPr>
            <p:ph type="title"/>
          </p:nvPr>
        </p:nvSpPr>
        <p:spPr/>
        <p:txBody>
          <a:bodyPr/>
          <a:lstStyle/>
          <a:p>
            <a:r>
              <a:rPr lang="en-US" dirty="0"/>
              <a:t>Font Style: Normal / Italic</a:t>
            </a:r>
          </a:p>
        </p:txBody>
      </p:sp>
      <p:sp>
        <p:nvSpPr>
          <p:cNvPr id="5" name="Текстово поле 10"/>
          <p:cNvSpPr txBox="1"/>
          <p:nvPr/>
        </p:nvSpPr>
        <p:spPr>
          <a:xfrm>
            <a:off x="1115734" y="2529000"/>
            <a:ext cx="3855558"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599" dirty="0">
                <a:solidFill>
                  <a:srgbClr val="FF0000"/>
                </a:solidFill>
              </a:rPr>
              <a:t>font-style</a:t>
            </a:r>
            <a:r>
              <a:rPr lang="en-GB" sz="2599" dirty="0">
                <a:solidFill>
                  <a:srgbClr val="000000"/>
                </a:solidFill>
              </a:rPr>
              <a:t>: </a:t>
            </a:r>
            <a:r>
              <a:rPr lang="en-GB" sz="2599" dirty="0">
                <a:solidFill>
                  <a:srgbClr val="0451A5"/>
                </a:solidFill>
              </a:rPr>
              <a:t>normal</a:t>
            </a:r>
            <a:r>
              <a:rPr lang="en-GB" sz="2599" dirty="0">
                <a:solidFill>
                  <a:srgbClr val="000000"/>
                </a:solidFill>
              </a:rPr>
              <a:t>;</a:t>
            </a:r>
          </a:p>
        </p:txBody>
      </p:sp>
      <p:sp>
        <p:nvSpPr>
          <p:cNvPr id="6" name="Текстово поле 10"/>
          <p:cNvSpPr txBox="1"/>
          <p:nvPr/>
        </p:nvSpPr>
        <p:spPr>
          <a:xfrm>
            <a:off x="1115735" y="3834000"/>
            <a:ext cx="3855558"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599" dirty="0">
                <a:solidFill>
                  <a:srgbClr val="FF0000"/>
                </a:solidFill>
              </a:rPr>
              <a:t>font-style</a:t>
            </a:r>
            <a:r>
              <a:rPr lang="en-GB" sz="2399" dirty="0">
                <a:solidFill>
                  <a:srgbClr val="000000"/>
                </a:solidFill>
              </a:rPr>
              <a:t>: </a:t>
            </a:r>
            <a:r>
              <a:rPr lang="en-GB" sz="2399" dirty="0">
                <a:solidFill>
                  <a:srgbClr val="0451A5"/>
                </a:solidFill>
              </a:rPr>
              <a:t>italic</a:t>
            </a:r>
            <a:r>
              <a:rPr lang="en-GB" sz="2399" dirty="0">
                <a:solidFill>
                  <a:srgbClr val="000000"/>
                </a:solidFill>
              </a:rPr>
              <a:t>;</a:t>
            </a:r>
          </a:p>
        </p:txBody>
      </p:sp>
      <p:sp>
        <p:nvSpPr>
          <p:cNvPr id="7" name="Текстово поле 10"/>
          <p:cNvSpPr txBox="1"/>
          <p:nvPr/>
        </p:nvSpPr>
        <p:spPr>
          <a:xfrm>
            <a:off x="1115733" y="5184000"/>
            <a:ext cx="3855560"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599" dirty="0">
                <a:solidFill>
                  <a:srgbClr val="FF0000"/>
                </a:solidFill>
              </a:rPr>
              <a:t>font-style</a:t>
            </a:r>
            <a:r>
              <a:rPr lang="en-GB" sz="2399" dirty="0">
                <a:solidFill>
                  <a:srgbClr val="000000"/>
                </a:solidFill>
              </a:rPr>
              <a:t>: </a:t>
            </a:r>
            <a:r>
              <a:rPr lang="en-GB" sz="2399" dirty="0">
                <a:solidFill>
                  <a:srgbClr val="0451A5"/>
                </a:solidFill>
              </a:rPr>
              <a:t>oblique</a:t>
            </a:r>
            <a:r>
              <a:rPr lang="en-GB" sz="2399" dirty="0">
                <a:solidFill>
                  <a:srgbClr val="000000"/>
                </a:solidFill>
              </a:rPr>
              <a:t>;</a:t>
            </a:r>
          </a:p>
        </p:txBody>
      </p:sp>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t="7114" b="64189"/>
          <a:stretch/>
        </p:blipFill>
        <p:spPr>
          <a:xfrm>
            <a:off x="5464206" y="2529001"/>
            <a:ext cx="3645581" cy="618057"/>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EEBDF5FE-CD7C-45D5-9BFE-CA2405CB65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503" t="33650" r="1503" b="37652"/>
          <a:stretch/>
        </p:blipFill>
        <p:spPr>
          <a:xfrm>
            <a:off x="5464207" y="3834002"/>
            <a:ext cx="3645591" cy="618057"/>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F75D6BF1-0AAA-4D2E-B656-6A61864F010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9902" b="11401"/>
          <a:stretch/>
        </p:blipFill>
        <p:spPr>
          <a:xfrm>
            <a:off x="5464207" y="5184001"/>
            <a:ext cx="3645583" cy="618057"/>
          </a:xfrm>
          <a:prstGeom prst="rect">
            <a:avLst/>
          </a:prstGeom>
          <a:ln>
            <a:noFill/>
          </a:ln>
          <a:effectLst>
            <a:outerShdw blurRad="292100" dist="139700" dir="2700000" algn="tl" rotWithShape="0">
              <a:srgbClr val="333333">
                <a:alpha val="65000"/>
              </a:srgbClr>
            </a:outerShdw>
          </a:effectLst>
        </p:spPr>
      </p:pic>
      <p:sp>
        <p:nvSpPr>
          <p:cNvPr id="12" name="Slide Number">
            <a:extLst>
              <a:ext uri="{FF2B5EF4-FFF2-40B4-BE49-F238E27FC236}">
                <a16:creationId xmlns:a16="http://schemas.microsoft.com/office/drawing/2014/main" id="{C8F9A4D5-20B3-41B2-8C75-F3FFCACD90C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69</a:t>
            </a:fld>
            <a:endParaRPr lang="en-US" noProof="0" dirty="0"/>
          </a:p>
        </p:txBody>
      </p:sp>
    </p:spTree>
    <p:extLst>
      <p:ext uri="{BB962C8B-B14F-4D97-AF65-F5344CB8AC3E}">
        <p14:creationId xmlns:p14="http://schemas.microsoft.com/office/powerpoint/2010/main" val="267479068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Align: Left / Right / Center / Justify</a:t>
            </a:r>
          </a:p>
        </p:txBody>
      </p:sp>
      <p:sp>
        <p:nvSpPr>
          <p:cNvPr id="3" name="Text Placeholder 2"/>
          <p:cNvSpPr>
            <a:spLocks noGrp="1"/>
          </p:cNvSpPr>
          <p:nvPr>
            <p:ph type="body" sz="quarter" idx="10"/>
          </p:nvPr>
        </p:nvSpPr>
        <p:spPr>
          <a:xfrm>
            <a:off x="191942" y="1196707"/>
            <a:ext cx="3204058" cy="5527326"/>
          </a:xfrm>
        </p:spPr>
        <p:txBody>
          <a:bodyPr>
            <a:normAutofit/>
          </a:bodyPr>
          <a:lstStyle/>
          <a:p>
            <a:pPr>
              <a:lnSpc>
                <a:spcPct val="100000"/>
              </a:lnSpc>
              <a:buClr>
                <a:schemeClr val="tx1"/>
              </a:buClr>
            </a:pPr>
            <a:r>
              <a:rPr lang="en-US" sz="3399" b="1" dirty="0">
                <a:solidFill>
                  <a:schemeClr val="bg1"/>
                </a:solidFill>
                <a:latin typeface="Consolas" panose="020B0609020204030204" pitchFamily="49" charset="0"/>
              </a:rPr>
              <a:t>text-align</a:t>
            </a:r>
          </a:p>
          <a:p>
            <a:pPr lvl="1">
              <a:lnSpc>
                <a:spcPct val="100000"/>
              </a:lnSpc>
              <a:buClr>
                <a:schemeClr val="tx1"/>
              </a:buClr>
            </a:pPr>
            <a:r>
              <a:rPr lang="en-US" sz="3199" dirty="0"/>
              <a:t>Defines the </a:t>
            </a:r>
            <a:r>
              <a:rPr lang="en-US" sz="3199" b="1" dirty="0">
                <a:solidFill>
                  <a:schemeClr val="bg1"/>
                </a:solidFill>
              </a:rPr>
              <a:t>horizontal</a:t>
            </a:r>
            <a:r>
              <a:rPr lang="en-US" sz="3199" b="1" dirty="0"/>
              <a:t> </a:t>
            </a:r>
            <a:r>
              <a:rPr lang="en-US" sz="3199" b="1" dirty="0">
                <a:solidFill>
                  <a:schemeClr val="bg1"/>
                </a:solidFill>
              </a:rPr>
              <a:t>alignment</a:t>
            </a:r>
          </a:p>
        </p:txBody>
      </p:sp>
      <p:sp>
        <p:nvSpPr>
          <p:cNvPr id="7" name="Текстово поле 10"/>
          <p:cNvSpPr txBox="1"/>
          <p:nvPr/>
        </p:nvSpPr>
        <p:spPr>
          <a:xfrm>
            <a:off x="3757089" y="1449471"/>
            <a:ext cx="3668286"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US" sz="2499" noProof="1">
                <a:solidFill>
                  <a:srgbClr val="FF0000"/>
                </a:solidFill>
              </a:rPr>
              <a:t>text-align</a:t>
            </a:r>
            <a:r>
              <a:rPr lang="en-US" sz="2499" noProof="1">
                <a:solidFill>
                  <a:srgbClr val="000000"/>
                </a:solidFill>
              </a:rPr>
              <a:t>: </a:t>
            </a:r>
            <a:r>
              <a:rPr lang="en-US" sz="2499" noProof="1">
                <a:solidFill>
                  <a:srgbClr val="0451A5"/>
                </a:solidFill>
              </a:rPr>
              <a:t>left</a:t>
            </a:r>
            <a:r>
              <a:rPr lang="en-US" sz="2499" noProof="1">
                <a:solidFill>
                  <a:srgbClr val="000000"/>
                </a:solidFill>
              </a:rPr>
              <a:t>;</a:t>
            </a:r>
          </a:p>
        </p:txBody>
      </p:sp>
      <p:pic>
        <p:nvPicPr>
          <p:cNvPr id="21" name="Picture 20"/>
          <p:cNvPicPr>
            <a:picLocks noChangeAspect="1"/>
          </p:cNvPicPr>
          <p:nvPr/>
        </p:nvPicPr>
        <p:blipFill>
          <a:blip r:embed="rId2">
            <a:clrChange>
              <a:clrFrom>
                <a:srgbClr val="FFFFFF"/>
              </a:clrFrom>
              <a:clrTo>
                <a:srgbClr val="FFFFFF">
                  <a:alpha val="0"/>
                </a:srgbClr>
              </a:clrTo>
            </a:clrChange>
          </a:blip>
          <a:stretch>
            <a:fillRect/>
          </a:stretch>
        </p:blipFill>
        <p:spPr>
          <a:xfrm>
            <a:off x="3757089" y="2221801"/>
            <a:ext cx="3668286" cy="1678707"/>
          </a:xfrm>
          <a:prstGeom prst="rect">
            <a:avLst/>
          </a:prstGeom>
          <a:ln>
            <a:noFill/>
          </a:ln>
          <a:effectLst>
            <a:outerShdw blurRad="292100" dist="139700" dir="2700000" algn="tl" rotWithShape="0">
              <a:srgbClr val="333333">
                <a:alpha val="65000"/>
              </a:srgbClr>
            </a:outerShdw>
          </a:effectLst>
        </p:spPr>
      </p:pic>
      <p:pic>
        <p:nvPicPr>
          <p:cNvPr id="22" name="Picture 21"/>
          <p:cNvPicPr>
            <a:picLocks noChangeAspect="1"/>
          </p:cNvPicPr>
          <p:nvPr/>
        </p:nvPicPr>
        <p:blipFill>
          <a:blip r:embed="rId3">
            <a:clrChange>
              <a:clrFrom>
                <a:srgbClr val="FFFFFF"/>
              </a:clrFrom>
              <a:clrTo>
                <a:srgbClr val="FFFFFF">
                  <a:alpha val="0"/>
                </a:srgbClr>
              </a:clrTo>
            </a:clrChange>
          </a:blip>
          <a:stretch>
            <a:fillRect/>
          </a:stretch>
        </p:blipFill>
        <p:spPr>
          <a:xfrm>
            <a:off x="7941000" y="2241548"/>
            <a:ext cx="3672864" cy="1646846"/>
          </a:xfrm>
          <a:prstGeom prst="rect">
            <a:avLst/>
          </a:prstGeom>
          <a:ln>
            <a:noFill/>
          </a:ln>
          <a:effectLst>
            <a:outerShdw blurRad="292100" dist="139700" dir="2700000" algn="tl" rotWithShape="0">
              <a:srgbClr val="333333">
                <a:alpha val="65000"/>
              </a:srgbClr>
            </a:outerShdw>
          </a:effectLst>
        </p:spPr>
      </p:pic>
      <p:pic>
        <p:nvPicPr>
          <p:cNvPr id="23" name="Picture 22"/>
          <p:cNvPicPr>
            <a:picLocks noChangeAspect="1"/>
          </p:cNvPicPr>
          <p:nvPr/>
        </p:nvPicPr>
        <p:blipFill>
          <a:blip r:embed="rId4">
            <a:clrChange>
              <a:clrFrom>
                <a:srgbClr val="FFFFFF"/>
              </a:clrFrom>
              <a:clrTo>
                <a:srgbClr val="FFFFFF">
                  <a:alpha val="0"/>
                </a:srgbClr>
              </a:clrTo>
            </a:clrChange>
          </a:blip>
          <a:stretch>
            <a:fillRect/>
          </a:stretch>
        </p:blipFill>
        <p:spPr>
          <a:xfrm>
            <a:off x="3757089" y="4947835"/>
            <a:ext cx="3668286" cy="1678707"/>
          </a:xfrm>
          <a:prstGeom prst="rect">
            <a:avLst/>
          </a:prstGeom>
          <a:ln>
            <a:noFill/>
          </a:ln>
          <a:effectLst>
            <a:outerShdw blurRad="292100" dist="139700" dir="2700000" algn="tl" rotWithShape="0">
              <a:srgbClr val="333333">
                <a:alpha val="65000"/>
              </a:srgbClr>
            </a:outerShdw>
          </a:effectLst>
        </p:spPr>
      </p:pic>
      <p:pic>
        <p:nvPicPr>
          <p:cNvPr id="24" name="Picture 23"/>
          <p:cNvPicPr>
            <a:picLocks noChangeAspect="1"/>
          </p:cNvPicPr>
          <p:nvPr/>
        </p:nvPicPr>
        <p:blipFill>
          <a:blip r:embed="rId5">
            <a:clrChange>
              <a:clrFrom>
                <a:srgbClr val="FFFFFF"/>
              </a:clrFrom>
              <a:clrTo>
                <a:srgbClr val="FFFFFF">
                  <a:alpha val="0"/>
                </a:srgbClr>
              </a:clrTo>
            </a:clrChange>
          </a:blip>
          <a:stretch>
            <a:fillRect/>
          </a:stretch>
        </p:blipFill>
        <p:spPr>
          <a:xfrm>
            <a:off x="7941000" y="4940558"/>
            <a:ext cx="3721620" cy="1690094"/>
          </a:xfrm>
          <a:prstGeom prst="rect">
            <a:avLst/>
          </a:prstGeom>
          <a:ln>
            <a:noFill/>
          </a:ln>
          <a:effectLst>
            <a:outerShdw blurRad="292100" dist="139700" dir="2700000" algn="tl" rotWithShape="0">
              <a:srgbClr val="333333">
                <a:alpha val="65000"/>
              </a:srgbClr>
            </a:outerShdw>
          </a:effectLst>
        </p:spPr>
      </p:pic>
      <p:sp>
        <p:nvSpPr>
          <p:cNvPr id="12" name="Текстово поле 10">
            <a:extLst>
              <a:ext uri="{FF2B5EF4-FFF2-40B4-BE49-F238E27FC236}">
                <a16:creationId xmlns:a16="http://schemas.microsoft.com/office/drawing/2014/main" id="{1B70E7FF-A6B3-472B-ADBD-7E8DC4FC43B5}"/>
              </a:ext>
            </a:extLst>
          </p:cNvPr>
          <p:cNvSpPr txBox="1"/>
          <p:nvPr/>
        </p:nvSpPr>
        <p:spPr>
          <a:xfrm>
            <a:off x="7941000" y="1449000"/>
            <a:ext cx="3668286"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US" sz="2499" noProof="1">
                <a:solidFill>
                  <a:srgbClr val="FF0000"/>
                </a:solidFill>
              </a:rPr>
              <a:t>text-align</a:t>
            </a:r>
            <a:r>
              <a:rPr lang="en-US" sz="2499" noProof="1">
                <a:solidFill>
                  <a:srgbClr val="000000"/>
                </a:solidFill>
              </a:rPr>
              <a:t>: </a:t>
            </a:r>
            <a:r>
              <a:rPr lang="en-US" sz="2499" noProof="1">
                <a:solidFill>
                  <a:srgbClr val="0451A5"/>
                </a:solidFill>
              </a:rPr>
              <a:t>right</a:t>
            </a:r>
            <a:r>
              <a:rPr lang="en-US" sz="2499" noProof="1">
                <a:solidFill>
                  <a:srgbClr val="000000"/>
                </a:solidFill>
              </a:rPr>
              <a:t>;</a:t>
            </a:r>
          </a:p>
        </p:txBody>
      </p:sp>
      <p:sp>
        <p:nvSpPr>
          <p:cNvPr id="13" name="Текстово поле 10">
            <a:extLst>
              <a:ext uri="{FF2B5EF4-FFF2-40B4-BE49-F238E27FC236}">
                <a16:creationId xmlns:a16="http://schemas.microsoft.com/office/drawing/2014/main" id="{52F13883-0007-4F55-8AC3-C74BE1B3963B}"/>
              </a:ext>
            </a:extLst>
          </p:cNvPr>
          <p:cNvSpPr txBox="1"/>
          <p:nvPr/>
        </p:nvSpPr>
        <p:spPr>
          <a:xfrm>
            <a:off x="3757089" y="4156297"/>
            <a:ext cx="3668286" cy="602673"/>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US" sz="2499" noProof="1">
                <a:solidFill>
                  <a:srgbClr val="FF0000"/>
                </a:solidFill>
              </a:rPr>
              <a:t>text-align</a:t>
            </a:r>
            <a:r>
              <a:rPr lang="en-US" sz="2499" noProof="1">
                <a:solidFill>
                  <a:srgbClr val="000000"/>
                </a:solidFill>
              </a:rPr>
              <a:t>: </a:t>
            </a:r>
            <a:r>
              <a:rPr lang="en-US" sz="2499" noProof="1">
                <a:solidFill>
                  <a:srgbClr val="0451A5"/>
                </a:solidFill>
              </a:rPr>
              <a:t>center</a:t>
            </a:r>
            <a:r>
              <a:rPr lang="en-US" sz="2499" noProof="1">
                <a:solidFill>
                  <a:srgbClr val="000000"/>
                </a:solidFill>
              </a:rPr>
              <a:t>;</a:t>
            </a:r>
          </a:p>
        </p:txBody>
      </p:sp>
      <p:sp>
        <p:nvSpPr>
          <p:cNvPr id="14" name="Текстово поле 10">
            <a:extLst>
              <a:ext uri="{FF2B5EF4-FFF2-40B4-BE49-F238E27FC236}">
                <a16:creationId xmlns:a16="http://schemas.microsoft.com/office/drawing/2014/main" id="{12B5F258-9B55-40BB-9FF7-F31E20C4F214}"/>
              </a:ext>
            </a:extLst>
          </p:cNvPr>
          <p:cNvSpPr txBox="1"/>
          <p:nvPr/>
        </p:nvSpPr>
        <p:spPr>
          <a:xfrm>
            <a:off x="7941000" y="4157691"/>
            <a:ext cx="3721620" cy="602673"/>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US" sz="2449" noProof="1">
                <a:solidFill>
                  <a:srgbClr val="FF0000"/>
                </a:solidFill>
              </a:rPr>
              <a:t>text-align</a:t>
            </a:r>
            <a:r>
              <a:rPr lang="en-US" sz="2449" noProof="1">
                <a:solidFill>
                  <a:srgbClr val="000000"/>
                </a:solidFill>
              </a:rPr>
              <a:t>:</a:t>
            </a:r>
            <a:r>
              <a:rPr lang="en-US" sz="2449" noProof="1">
                <a:solidFill>
                  <a:srgbClr val="000000"/>
                </a:solidFill>
                <a:latin typeface="+mn-lt"/>
              </a:rPr>
              <a:t> </a:t>
            </a:r>
            <a:r>
              <a:rPr lang="en-US" sz="2449" noProof="1">
                <a:solidFill>
                  <a:srgbClr val="0451A5"/>
                </a:solidFill>
              </a:rPr>
              <a:t>justify</a:t>
            </a:r>
            <a:r>
              <a:rPr lang="en-US" sz="2449" noProof="1">
                <a:solidFill>
                  <a:srgbClr val="000000"/>
                </a:solidFill>
              </a:rPr>
              <a:t>;</a:t>
            </a:r>
          </a:p>
        </p:txBody>
      </p:sp>
      <p:sp>
        <p:nvSpPr>
          <p:cNvPr id="16" name="Slide Number">
            <a:extLst>
              <a:ext uri="{FF2B5EF4-FFF2-40B4-BE49-F238E27FC236}">
                <a16:creationId xmlns:a16="http://schemas.microsoft.com/office/drawing/2014/main" id="{C36B251B-FF7E-4CC3-BB30-A624585D2673}"/>
              </a:ext>
            </a:extLst>
          </p:cNvPr>
          <p:cNvSpPr>
            <a:spLocks noGrp="1"/>
          </p:cNvSpPr>
          <p:nvPr>
            <p:ph type="sldNum" sz="quarter" idx="5"/>
          </p:nvPr>
        </p:nvSpPr>
        <p:spPr>
          <a:xfrm>
            <a:off x="11753030" y="6462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70</a:t>
            </a:fld>
            <a:endParaRPr lang="en-US" noProof="0" dirty="0"/>
          </a:p>
        </p:txBody>
      </p:sp>
    </p:spTree>
    <p:extLst>
      <p:ext uri="{BB962C8B-B14F-4D97-AF65-F5344CB8AC3E}">
        <p14:creationId xmlns:p14="http://schemas.microsoft.com/office/powerpoint/2010/main" val="3114255635"/>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0" y="1196707"/>
            <a:ext cx="11662560" cy="5527326"/>
          </a:xfrm>
        </p:spPr>
        <p:txBody>
          <a:bodyPr>
            <a:normAutofit/>
          </a:bodyPr>
          <a:lstStyle/>
          <a:p>
            <a:pPr>
              <a:buClr>
                <a:schemeClr val="tx1"/>
              </a:buClr>
            </a:pPr>
            <a:r>
              <a:rPr lang="en-US" sz="3400" b="1" dirty="0">
                <a:solidFill>
                  <a:schemeClr val="bg1"/>
                </a:solidFill>
                <a:latin typeface="Consolas" panose="020B0609020204030204" pitchFamily="49" charset="0"/>
              </a:rPr>
              <a:t>line-height</a:t>
            </a:r>
            <a:r>
              <a:rPr lang="en-US" sz="3400" b="1" dirty="0">
                <a:solidFill>
                  <a:schemeClr val="bg1"/>
                </a:solidFill>
              </a:rPr>
              <a:t> </a:t>
            </a:r>
            <a:r>
              <a:rPr lang="en-US" sz="3400" dirty="0"/>
              <a:t>–</a:t>
            </a:r>
            <a:r>
              <a:rPr lang="en-US" sz="3400" b="1" dirty="0">
                <a:solidFill>
                  <a:schemeClr val="bg1"/>
                </a:solidFill>
              </a:rPr>
              <a:t> </a:t>
            </a:r>
            <a:r>
              <a:rPr lang="en-US" sz="3400" dirty="0"/>
              <a:t>defines the </a:t>
            </a:r>
            <a:r>
              <a:rPr lang="en-US" sz="3400" b="1" dirty="0">
                <a:solidFill>
                  <a:schemeClr val="bg1"/>
                </a:solidFill>
              </a:rPr>
              <a:t>height</a:t>
            </a:r>
            <a:r>
              <a:rPr lang="en-US" sz="3400" dirty="0"/>
              <a:t> of a single line of text</a:t>
            </a:r>
          </a:p>
          <a:p>
            <a:pPr lvl="1">
              <a:buClr>
                <a:schemeClr val="tx1"/>
              </a:buClr>
            </a:pPr>
            <a:r>
              <a:rPr lang="en-US" dirty="0"/>
              <a:t>Measures: </a:t>
            </a:r>
            <a:r>
              <a:rPr lang="en-US" b="1" dirty="0">
                <a:solidFill>
                  <a:schemeClr val="bg1"/>
                </a:solidFill>
              </a:rPr>
              <a:t>unitless</a:t>
            </a:r>
            <a:r>
              <a:rPr lang="en-US" dirty="0"/>
              <a:t> / </a:t>
            </a:r>
            <a:r>
              <a:rPr lang="en-US" b="1" noProof="1">
                <a:solidFill>
                  <a:schemeClr val="bg1"/>
                </a:solidFill>
              </a:rPr>
              <a:t>pt</a:t>
            </a:r>
            <a:r>
              <a:rPr lang="en-US" dirty="0"/>
              <a:t> / </a:t>
            </a:r>
            <a:r>
              <a:rPr lang="en-US" b="1" dirty="0">
                <a:solidFill>
                  <a:schemeClr val="bg1"/>
                </a:solidFill>
              </a:rPr>
              <a:t>px</a:t>
            </a:r>
            <a:r>
              <a:rPr lang="en-US" dirty="0"/>
              <a:t> / </a:t>
            </a:r>
            <a:r>
              <a:rPr lang="en-US" b="1" noProof="1">
                <a:solidFill>
                  <a:schemeClr val="bg1"/>
                </a:solidFill>
              </a:rPr>
              <a:t>em</a:t>
            </a:r>
            <a:r>
              <a:rPr lang="en-US" dirty="0"/>
              <a:t> / </a:t>
            </a:r>
            <a:r>
              <a:rPr lang="en-US" b="1" dirty="0">
                <a:solidFill>
                  <a:schemeClr val="bg1"/>
                </a:solidFill>
              </a:rPr>
              <a:t>rem</a:t>
            </a:r>
            <a:endParaRPr lang="bg-BG" dirty="0"/>
          </a:p>
        </p:txBody>
      </p:sp>
      <p:pic>
        <p:nvPicPr>
          <p:cNvPr id="8" name="Picture 7">
            <a:extLst>
              <a:ext uri="{FF2B5EF4-FFF2-40B4-BE49-F238E27FC236}">
                <a16:creationId xmlns:a16="http://schemas.microsoft.com/office/drawing/2014/main" id="{69DF623C-B785-4316-A475-793A6EF2926B}"/>
              </a:ext>
            </a:extLst>
          </p:cNvPr>
          <p:cNvPicPr>
            <a:picLocks noChangeAspect="1"/>
          </p:cNvPicPr>
          <p:nvPr/>
        </p:nvPicPr>
        <p:blipFill>
          <a:blip r:embed="rId2"/>
          <a:stretch>
            <a:fillRect/>
          </a:stretch>
        </p:blipFill>
        <p:spPr>
          <a:xfrm>
            <a:off x="6880176" y="2611005"/>
            <a:ext cx="4780305" cy="2361585"/>
          </a:xfrm>
          <a:prstGeom prst="rect">
            <a:avLst/>
          </a:prstGeom>
          <a:ln>
            <a:noFill/>
          </a:ln>
          <a:effectLst>
            <a:outerShdw blurRad="292100" dist="139700" dir="2700000" algn="tl" rotWithShape="0">
              <a:srgbClr val="333333">
                <a:alpha val="65000"/>
              </a:srgbClr>
            </a:outerShdw>
          </a:effectLst>
        </p:spPr>
      </p:pic>
      <p:sp>
        <p:nvSpPr>
          <p:cNvPr id="4" name="Title 3"/>
          <p:cNvSpPr>
            <a:spLocks noGrp="1"/>
          </p:cNvSpPr>
          <p:nvPr>
            <p:ph type="title"/>
          </p:nvPr>
        </p:nvSpPr>
        <p:spPr/>
        <p:txBody>
          <a:bodyPr/>
          <a:lstStyle/>
          <a:p>
            <a:r>
              <a:rPr lang="en-US" dirty="0"/>
              <a:t>Line Height</a:t>
            </a:r>
          </a:p>
        </p:txBody>
      </p:sp>
      <p:sp>
        <p:nvSpPr>
          <p:cNvPr id="7" name="Текстово поле 10"/>
          <p:cNvSpPr txBox="1"/>
          <p:nvPr/>
        </p:nvSpPr>
        <p:spPr>
          <a:xfrm>
            <a:off x="926447" y="2611004"/>
            <a:ext cx="5574449" cy="3018090"/>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US" sz="2599" dirty="0">
                <a:solidFill>
                  <a:srgbClr val="C00000"/>
                </a:solidFill>
              </a:rPr>
              <a:t>&lt;article&gt;</a:t>
            </a:r>
          </a:p>
          <a:p>
            <a:r>
              <a:rPr lang="en-US" sz="2599" dirty="0">
                <a:solidFill>
                  <a:srgbClr val="C00000"/>
                </a:solidFill>
              </a:rPr>
              <a:t>  &lt;h1&gt;</a:t>
            </a:r>
            <a:r>
              <a:rPr lang="en-US" sz="2599" dirty="0">
                <a:solidFill>
                  <a:schemeClr val="accent6">
                    <a:lumMod val="10000"/>
                  </a:schemeClr>
                </a:solidFill>
              </a:rPr>
              <a:t>Lorem ipsum</a:t>
            </a:r>
            <a:r>
              <a:rPr lang="en-US" sz="2599" dirty="0">
                <a:solidFill>
                  <a:srgbClr val="C00000"/>
                </a:solidFill>
              </a:rPr>
              <a:t>&lt;/h1&gt;</a:t>
            </a:r>
          </a:p>
          <a:p>
            <a:r>
              <a:rPr lang="en-US" sz="2599" dirty="0">
                <a:solidFill>
                  <a:srgbClr val="FF0000"/>
                </a:solidFill>
              </a:rPr>
              <a:t>    </a:t>
            </a:r>
            <a:r>
              <a:rPr lang="en-US" sz="2599" dirty="0">
                <a:solidFill>
                  <a:srgbClr val="C00000"/>
                </a:solidFill>
              </a:rPr>
              <a:t>&lt;p&gt;</a:t>
            </a:r>
            <a:r>
              <a:rPr lang="en-US" sz="2599" dirty="0">
                <a:solidFill>
                  <a:schemeClr val="accent6">
                    <a:lumMod val="10000"/>
                  </a:schemeClr>
                </a:solidFill>
              </a:rPr>
              <a:t> Lorem ipsum is meaningless text used to demonstrate the graphic elements of a document.</a:t>
            </a:r>
            <a:r>
              <a:rPr lang="en-US" sz="2599" dirty="0">
                <a:solidFill>
                  <a:srgbClr val="C00000"/>
                </a:solidFill>
              </a:rPr>
              <a:t>&lt;/p&gt;</a:t>
            </a:r>
          </a:p>
          <a:p>
            <a:r>
              <a:rPr lang="en-US" sz="2599" dirty="0">
                <a:solidFill>
                  <a:srgbClr val="C00000"/>
                </a:solidFill>
              </a:rPr>
              <a:t>&lt;/article&gt;</a:t>
            </a:r>
            <a:endParaRPr lang="en-GB" sz="2599" dirty="0">
              <a:solidFill>
                <a:srgbClr val="C00000"/>
              </a:solidFill>
            </a:endParaRPr>
          </a:p>
        </p:txBody>
      </p:sp>
      <p:sp>
        <p:nvSpPr>
          <p:cNvPr id="13" name="Текстово поле 10"/>
          <p:cNvSpPr txBox="1"/>
          <p:nvPr/>
        </p:nvSpPr>
        <p:spPr>
          <a:xfrm>
            <a:off x="924098" y="5870146"/>
            <a:ext cx="5576797" cy="61805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599" dirty="0">
                <a:solidFill>
                  <a:srgbClr val="C00000"/>
                </a:solidFill>
              </a:rPr>
              <a:t>p { </a:t>
            </a:r>
            <a:r>
              <a:rPr lang="en-GB" sz="2599" dirty="0">
                <a:solidFill>
                  <a:srgbClr val="FF0000"/>
                </a:solidFill>
              </a:rPr>
              <a:t>line-height</a:t>
            </a:r>
            <a:r>
              <a:rPr lang="en-GB" sz="2599" dirty="0">
                <a:solidFill>
                  <a:schemeClr val="accent6">
                    <a:lumMod val="10000"/>
                  </a:schemeClr>
                </a:solidFill>
              </a:rPr>
              <a:t>:</a:t>
            </a:r>
            <a:r>
              <a:rPr lang="en-GB" sz="2599" dirty="0">
                <a:solidFill>
                  <a:srgbClr val="FF0000"/>
                </a:solidFill>
              </a:rPr>
              <a:t> </a:t>
            </a:r>
            <a:r>
              <a:rPr lang="en-GB" sz="2599" dirty="0">
                <a:solidFill>
                  <a:schemeClr val="accent2">
                    <a:lumMod val="75000"/>
                  </a:schemeClr>
                </a:solidFill>
              </a:rPr>
              <a:t>2.1</a:t>
            </a:r>
            <a:r>
              <a:rPr lang="en-GB" sz="2599" dirty="0">
                <a:solidFill>
                  <a:schemeClr val="accent6">
                    <a:lumMod val="10000"/>
                  </a:schemeClr>
                </a:solidFill>
              </a:rPr>
              <a:t>; </a:t>
            </a:r>
            <a:r>
              <a:rPr lang="en-GB" sz="2599" dirty="0">
                <a:solidFill>
                  <a:srgbClr val="C00000"/>
                </a:solidFill>
              </a:rPr>
              <a:t>}</a:t>
            </a:r>
          </a:p>
        </p:txBody>
      </p:sp>
      <p:grpSp>
        <p:nvGrpSpPr>
          <p:cNvPr id="21" name="Group 20">
            <a:extLst>
              <a:ext uri="{FF2B5EF4-FFF2-40B4-BE49-F238E27FC236}">
                <a16:creationId xmlns:a16="http://schemas.microsoft.com/office/drawing/2014/main" id="{287D5209-7B75-457E-AAD6-E031F376B884}"/>
              </a:ext>
            </a:extLst>
          </p:cNvPr>
          <p:cNvGrpSpPr/>
          <p:nvPr/>
        </p:nvGrpSpPr>
        <p:grpSpPr>
          <a:xfrm>
            <a:off x="6885947" y="2635380"/>
            <a:ext cx="4780304" cy="3313620"/>
            <a:chOff x="6880378" y="2610791"/>
            <a:chExt cx="4781549" cy="3314483"/>
          </a:xfrm>
        </p:grpSpPr>
        <p:grpSp>
          <p:nvGrpSpPr>
            <p:cNvPr id="2" name="Group 1">
              <a:extLst>
                <a:ext uri="{FF2B5EF4-FFF2-40B4-BE49-F238E27FC236}">
                  <a16:creationId xmlns:a16="http://schemas.microsoft.com/office/drawing/2014/main" id="{E63202D7-4A8A-4879-A4BD-3F9CF1619A1D}"/>
                </a:ext>
              </a:extLst>
            </p:cNvPr>
            <p:cNvGrpSpPr/>
            <p:nvPr/>
          </p:nvGrpSpPr>
          <p:grpSpPr>
            <a:xfrm>
              <a:off x="6880378" y="2610791"/>
              <a:ext cx="4781549" cy="3314483"/>
              <a:chOff x="6900000" y="2617091"/>
              <a:chExt cx="4416000" cy="3061091"/>
            </a:xfrm>
          </p:grpSpPr>
          <p:cxnSp>
            <p:nvCxnSpPr>
              <p:cNvPr id="18" name="Straight Arrow Connector 17"/>
              <p:cNvCxnSpPr/>
              <p:nvPr/>
            </p:nvCxnSpPr>
            <p:spPr>
              <a:xfrm>
                <a:off x="7311000" y="4149000"/>
                <a:ext cx="0" cy="630000"/>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pic>
            <p:nvPicPr>
              <p:cNvPr id="6" name="Picture 5"/>
              <p:cNvPicPr>
                <a:picLocks noChangeAspect="1"/>
              </p:cNvPicPr>
              <p:nvPr/>
            </p:nvPicPr>
            <p:blipFill>
              <a:blip r:embed="rId3"/>
              <a:stretch>
                <a:fillRect/>
              </a:stretch>
            </p:blipFill>
            <p:spPr>
              <a:xfrm>
                <a:off x="6900000" y="2617091"/>
                <a:ext cx="4416000" cy="3061091"/>
              </a:xfrm>
              <a:prstGeom prst="rect">
                <a:avLst/>
              </a:prstGeom>
              <a:ln>
                <a:noFill/>
              </a:ln>
              <a:effectLst>
                <a:outerShdw blurRad="292100" dist="139700" dir="2700000" algn="tl" rotWithShape="0">
                  <a:srgbClr val="333333">
                    <a:alpha val="65000"/>
                  </a:srgbClr>
                </a:outerShdw>
              </a:effectLst>
            </p:spPr>
          </p:pic>
        </p:grpSp>
        <p:cxnSp>
          <p:nvCxnSpPr>
            <p:cNvPr id="11" name="Straight Arrow Connector 10">
              <a:extLst>
                <a:ext uri="{FF2B5EF4-FFF2-40B4-BE49-F238E27FC236}">
                  <a16:creationId xmlns:a16="http://schemas.microsoft.com/office/drawing/2014/main" id="{EA615BC0-E8E6-4011-8F05-837CE00BBDA3}"/>
                </a:ext>
              </a:extLst>
            </p:cNvPr>
            <p:cNvCxnSpPr>
              <a:cxnSpLocks/>
            </p:cNvCxnSpPr>
            <p:nvPr/>
          </p:nvCxnSpPr>
          <p:spPr>
            <a:xfrm>
              <a:off x="11540013" y="4349030"/>
              <a:ext cx="0" cy="730007"/>
            </a:xfrm>
            <a:prstGeom prst="straightConnector1">
              <a:avLst/>
            </a:prstGeom>
            <a:ln w="76200">
              <a:solidFill>
                <a:schemeClr val="tx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CC4D20E-64AC-48E3-90E0-F4FD456610F5}"/>
                </a:ext>
              </a:extLst>
            </p:cNvPr>
            <p:cNvCxnSpPr>
              <a:cxnSpLocks/>
            </p:cNvCxnSpPr>
            <p:nvPr/>
          </p:nvCxnSpPr>
          <p:spPr>
            <a:xfrm>
              <a:off x="6880378" y="4349030"/>
              <a:ext cx="4781549" cy="0"/>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2DBF47-3715-4D58-BD50-105E90C3DA1D}"/>
                </a:ext>
              </a:extLst>
            </p:cNvPr>
            <p:cNvCxnSpPr>
              <a:cxnSpLocks/>
            </p:cNvCxnSpPr>
            <p:nvPr/>
          </p:nvCxnSpPr>
          <p:spPr>
            <a:xfrm>
              <a:off x="6880378" y="5075227"/>
              <a:ext cx="4781549" cy="0"/>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6" name="Slide Number">
            <a:extLst>
              <a:ext uri="{FF2B5EF4-FFF2-40B4-BE49-F238E27FC236}">
                <a16:creationId xmlns:a16="http://schemas.microsoft.com/office/drawing/2014/main" id="{1E669E5A-3264-49A2-A3F6-7B84EA5B849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71</a:t>
            </a:fld>
            <a:endParaRPr lang="en-US" noProof="0" dirty="0"/>
          </a:p>
        </p:txBody>
      </p:sp>
    </p:spTree>
    <p:extLst>
      <p:ext uri="{BB962C8B-B14F-4D97-AF65-F5344CB8AC3E}">
        <p14:creationId xmlns:p14="http://schemas.microsoft.com/office/powerpoint/2010/main" val="258840099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A202035B-A874-4E15-98C9-2D7BD310B1EC}"/>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72</a:t>
            </a:fld>
            <a:endParaRPr lang="en-US" noProof="0" dirty="0"/>
          </a:p>
        </p:txBody>
      </p:sp>
      <p:sp>
        <p:nvSpPr>
          <p:cNvPr id="3" name="Text Placeholder 2"/>
          <p:cNvSpPr>
            <a:spLocks noGrp="1"/>
          </p:cNvSpPr>
          <p:nvPr>
            <p:ph type="body" sz="quarter" idx="10"/>
          </p:nvPr>
        </p:nvSpPr>
        <p:spPr/>
        <p:txBody>
          <a:bodyPr>
            <a:normAutofit/>
          </a:bodyPr>
          <a:lstStyle/>
          <a:p>
            <a:pPr>
              <a:lnSpc>
                <a:spcPts val="4000"/>
              </a:lnSpc>
              <a:spcBef>
                <a:spcPts val="300"/>
              </a:spcBef>
              <a:spcAft>
                <a:spcPts val="300"/>
              </a:spcAft>
              <a:buClr>
                <a:schemeClr val="tx1"/>
              </a:buClr>
            </a:pPr>
            <a:r>
              <a:rPr lang="en-US" sz="3400" b="1" dirty="0">
                <a:solidFill>
                  <a:schemeClr val="bg1"/>
                </a:solidFill>
                <a:latin typeface="Consolas" panose="020B0609020204030204" pitchFamily="49" charset="0"/>
              </a:rPr>
              <a:t>letter-spacing</a:t>
            </a:r>
            <a:r>
              <a:rPr lang="en-US" sz="3400" b="1" dirty="0">
                <a:solidFill>
                  <a:schemeClr val="bg1"/>
                </a:solidFill>
              </a:rPr>
              <a:t> </a:t>
            </a:r>
            <a:r>
              <a:rPr lang="en-US" sz="3400" dirty="0"/>
              <a:t>-</a:t>
            </a:r>
            <a:r>
              <a:rPr lang="en-US" sz="3400" b="1" dirty="0">
                <a:solidFill>
                  <a:schemeClr val="bg1"/>
                </a:solidFill>
              </a:rPr>
              <a:t> </a:t>
            </a:r>
            <a:r>
              <a:rPr lang="en-US" sz="3400" dirty="0"/>
              <a:t>defines the spacing between the  characters of a block of text</a:t>
            </a:r>
            <a:endParaRPr lang="bg-BG" sz="3400" dirty="0"/>
          </a:p>
          <a:p>
            <a:pPr lvl="1">
              <a:lnSpc>
                <a:spcPts val="4000"/>
              </a:lnSpc>
              <a:spcBef>
                <a:spcPts val="300"/>
              </a:spcBef>
              <a:spcAft>
                <a:spcPts val="300"/>
              </a:spcAft>
              <a:buClr>
                <a:schemeClr val="tx1"/>
              </a:buClr>
            </a:pPr>
            <a:r>
              <a:rPr lang="en-US" sz="3200" b="1" dirty="0">
                <a:solidFill>
                  <a:schemeClr val="bg1"/>
                </a:solidFill>
                <a:latin typeface="Consolas" panose="020B0609020204030204" pitchFamily="49" charset="0"/>
              </a:rPr>
              <a:t>normal</a:t>
            </a:r>
            <a:r>
              <a:rPr lang="en-US" dirty="0"/>
              <a:t> - the spacing between the characters is normal</a:t>
            </a:r>
          </a:p>
          <a:p>
            <a:pPr lvl="1">
              <a:lnSpc>
                <a:spcPts val="3400"/>
              </a:lnSpc>
              <a:spcBef>
                <a:spcPts val="300"/>
              </a:spcBef>
              <a:spcAft>
                <a:spcPts val="300"/>
              </a:spcAft>
              <a:buClr>
                <a:schemeClr val="tx1"/>
              </a:buClr>
            </a:pPr>
            <a:endParaRPr lang="en-US" dirty="0"/>
          </a:p>
          <a:p>
            <a:pPr marL="442912" lvl="1" indent="0">
              <a:lnSpc>
                <a:spcPts val="3400"/>
              </a:lnSpc>
              <a:spcBef>
                <a:spcPts val="300"/>
              </a:spcBef>
              <a:spcAft>
                <a:spcPts val="300"/>
              </a:spcAft>
              <a:buClr>
                <a:schemeClr val="tx1"/>
              </a:buClr>
              <a:buNone/>
            </a:pPr>
            <a:endParaRPr lang="en-US" dirty="0"/>
          </a:p>
          <a:p>
            <a:pPr lvl="1">
              <a:lnSpc>
                <a:spcPts val="3400"/>
              </a:lnSpc>
              <a:spcBef>
                <a:spcPts val="300"/>
              </a:spcBef>
              <a:spcAft>
                <a:spcPts val="300"/>
              </a:spcAft>
              <a:buClr>
                <a:schemeClr val="tx1"/>
              </a:buClr>
            </a:pPr>
            <a:r>
              <a:rPr lang="en-US" dirty="0"/>
              <a:t>Using </a:t>
            </a:r>
            <a:r>
              <a:rPr lang="en-US" b="1" dirty="0">
                <a:solidFill>
                  <a:schemeClr val="bg1"/>
                </a:solidFill>
              </a:rPr>
              <a:t>pixels</a:t>
            </a:r>
            <a:endParaRPr lang="bg-BG" dirty="0"/>
          </a:p>
        </p:txBody>
      </p:sp>
      <p:sp>
        <p:nvSpPr>
          <p:cNvPr id="4" name="Title 3"/>
          <p:cNvSpPr>
            <a:spLocks noGrp="1"/>
          </p:cNvSpPr>
          <p:nvPr>
            <p:ph type="title"/>
          </p:nvPr>
        </p:nvSpPr>
        <p:spPr/>
        <p:txBody>
          <a:bodyPr/>
          <a:lstStyle/>
          <a:p>
            <a:r>
              <a:rPr lang="en-US" dirty="0"/>
              <a:t>Letter Spacing</a:t>
            </a:r>
          </a:p>
        </p:txBody>
      </p:sp>
      <p:sp>
        <p:nvSpPr>
          <p:cNvPr id="7" name="Текстово поле 10"/>
          <p:cNvSpPr txBox="1"/>
          <p:nvPr/>
        </p:nvSpPr>
        <p:spPr>
          <a:xfrm>
            <a:off x="1148192" y="2983469"/>
            <a:ext cx="5040000"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letter-spacing</a:t>
            </a:r>
            <a:r>
              <a:rPr lang="en-GB" sz="2800" dirty="0">
                <a:solidFill>
                  <a:srgbClr val="000000"/>
                </a:solidFill>
              </a:rPr>
              <a:t>: </a:t>
            </a:r>
            <a:r>
              <a:rPr lang="en-GB" sz="2800" dirty="0">
                <a:solidFill>
                  <a:srgbClr val="0451A5"/>
                </a:solidFill>
              </a:rPr>
              <a:t>normal</a:t>
            </a:r>
            <a:r>
              <a:rPr lang="en-GB" sz="2800" dirty="0">
                <a:solidFill>
                  <a:srgbClr val="000000"/>
                </a:solidFill>
              </a:rPr>
              <a:t>;</a:t>
            </a:r>
          </a:p>
        </p:txBody>
      </p:sp>
      <p:sp>
        <p:nvSpPr>
          <p:cNvPr id="8" name="Текстово поле 10"/>
          <p:cNvSpPr txBox="1"/>
          <p:nvPr/>
        </p:nvSpPr>
        <p:spPr>
          <a:xfrm>
            <a:off x="1150445" y="4517298"/>
            <a:ext cx="5044445"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letter-spacing</a:t>
            </a:r>
            <a:r>
              <a:rPr lang="en-GB" sz="2800" dirty="0">
                <a:solidFill>
                  <a:srgbClr val="000000"/>
                </a:solidFill>
              </a:rPr>
              <a:t>: </a:t>
            </a:r>
            <a:r>
              <a:rPr lang="en-GB" sz="2800" dirty="0">
                <a:solidFill>
                  <a:srgbClr val="0451A5"/>
                </a:solidFill>
              </a:rPr>
              <a:t>2px</a:t>
            </a:r>
            <a:r>
              <a:rPr lang="en-GB" sz="2800" dirty="0">
                <a:solidFill>
                  <a:srgbClr val="000000"/>
                </a:solidFill>
              </a:rPr>
              <a:t>;</a:t>
            </a:r>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40624" y="2835468"/>
            <a:ext cx="3009078" cy="945000"/>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0624" y="4404762"/>
            <a:ext cx="3009079" cy="8479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4739966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Decoration</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spcBef>
                <a:spcPts val="900"/>
              </a:spcBef>
              <a:spcAft>
                <a:spcPts val="900"/>
              </a:spcAft>
              <a:buClr>
                <a:schemeClr val="tx1"/>
              </a:buClr>
            </a:pPr>
            <a:r>
              <a:rPr lang="en-US" b="1" dirty="0">
                <a:solidFill>
                  <a:schemeClr val="bg1"/>
                </a:solidFill>
                <a:latin typeface="Consolas" panose="020B0609020204030204" pitchFamily="49" charset="0"/>
              </a:rPr>
              <a:t>text-decoration</a:t>
            </a:r>
            <a:r>
              <a:rPr lang="en-US" b="1" dirty="0">
                <a:solidFill>
                  <a:schemeClr val="bg1"/>
                </a:solidFill>
              </a:rPr>
              <a:t> </a:t>
            </a:r>
            <a:r>
              <a:rPr lang="en-US" dirty="0"/>
              <a:t>-</a:t>
            </a:r>
            <a:r>
              <a:rPr lang="en-US" b="1" dirty="0">
                <a:solidFill>
                  <a:schemeClr val="bg1"/>
                </a:solidFill>
              </a:rPr>
              <a:t> </a:t>
            </a:r>
            <a:r>
              <a:rPr lang="en-US" dirty="0"/>
              <a:t>defines how the text content of the element is decorated: </a:t>
            </a:r>
            <a:r>
              <a:rPr lang="en-US" b="1" dirty="0">
                <a:solidFill>
                  <a:schemeClr val="bg1"/>
                </a:solidFill>
                <a:latin typeface="Consolas" panose="020B0609020204030204" pitchFamily="49" charset="0"/>
              </a:rPr>
              <a:t>overline</a:t>
            </a:r>
            <a:r>
              <a:rPr lang="en-US" dirty="0"/>
              <a:t>, </a:t>
            </a:r>
            <a:r>
              <a:rPr lang="en-US" b="1" dirty="0">
                <a:solidFill>
                  <a:schemeClr val="bg1"/>
                </a:solidFill>
                <a:latin typeface="Consolas" panose="020B0609020204030204" pitchFamily="49" charset="0"/>
              </a:rPr>
              <a:t>underline</a:t>
            </a:r>
            <a:r>
              <a:rPr lang="en-US" dirty="0"/>
              <a:t>, </a:t>
            </a:r>
            <a:br>
              <a:rPr lang="bg-BG" dirty="0"/>
            </a:br>
            <a:r>
              <a:rPr lang="en-US" b="1" dirty="0">
                <a:solidFill>
                  <a:schemeClr val="bg1"/>
                </a:solidFill>
                <a:latin typeface="Consolas" panose="020B0609020204030204" pitchFamily="49" charset="0"/>
              </a:rPr>
              <a:t>line-through</a:t>
            </a:r>
          </a:p>
          <a:p>
            <a:pPr lvl="1">
              <a:lnSpc>
                <a:spcPct val="100000"/>
              </a:lnSpc>
              <a:spcBef>
                <a:spcPts val="900"/>
              </a:spcBef>
              <a:spcAft>
                <a:spcPts val="900"/>
              </a:spcAft>
              <a:buClr>
                <a:schemeClr val="tx1"/>
              </a:buClr>
            </a:pPr>
            <a:r>
              <a:rPr lang="en-US" sz="3200" b="1" dirty="0">
                <a:solidFill>
                  <a:schemeClr val="bg1"/>
                </a:solidFill>
                <a:latin typeface="Consolas" panose="020B0609020204030204" pitchFamily="49" charset="0"/>
              </a:rPr>
              <a:t>none</a:t>
            </a:r>
            <a:r>
              <a:rPr lang="en-US" dirty="0"/>
              <a:t> - removes any text decoration</a:t>
            </a:r>
          </a:p>
          <a:p>
            <a:pPr marL="442912" lvl="1" indent="0">
              <a:lnSpc>
                <a:spcPct val="100000"/>
              </a:lnSpc>
              <a:spcBef>
                <a:spcPts val="900"/>
              </a:spcBef>
              <a:spcAft>
                <a:spcPts val="900"/>
              </a:spcAft>
              <a:buClr>
                <a:schemeClr val="tx1"/>
              </a:buClr>
              <a:buNone/>
            </a:pPr>
            <a:endParaRPr lang="en-US" sz="3200" b="1" dirty="0">
              <a:solidFill>
                <a:schemeClr val="bg1"/>
              </a:solidFill>
              <a:latin typeface="Consolas" panose="020B0609020204030204" pitchFamily="49" charset="0"/>
            </a:endParaRPr>
          </a:p>
          <a:p>
            <a:pPr lvl="1">
              <a:lnSpc>
                <a:spcPct val="100000"/>
              </a:lnSpc>
              <a:spcBef>
                <a:spcPts val="900"/>
              </a:spcBef>
              <a:spcAft>
                <a:spcPts val="900"/>
              </a:spcAft>
              <a:buClr>
                <a:schemeClr val="tx1"/>
              </a:buClr>
            </a:pPr>
            <a:r>
              <a:rPr lang="en-US" sz="3200" b="1" dirty="0">
                <a:solidFill>
                  <a:schemeClr val="bg1"/>
                </a:solidFill>
                <a:latin typeface="Consolas" panose="020B0609020204030204" pitchFamily="49" charset="0"/>
              </a:rPr>
              <a:t>line-through</a:t>
            </a:r>
            <a:r>
              <a:rPr lang="en-US" dirty="0"/>
              <a:t> - draws a line across the text</a:t>
            </a:r>
            <a:endParaRPr lang="bg-BG" dirty="0"/>
          </a:p>
        </p:txBody>
      </p:sp>
      <p:sp>
        <p:nvSpPr>
          <p:cNvPr id="7" name="Текстово поле 10"/>
          <p:cNvSpPr txBox="1"/>
          <p:nvPr/>
        </p:nvSpPr>
        <p:spPr>
          <a:xfrm>
            <a:off x="1051555" y="3636009"/>
            <a:ext cx="6219727"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text-decoration</a:t>
            </a:r>
            <a:r>
              <a:rPr lang="en-GB" sz="2800" dirty="0">
                <a:solidFill>
                  <a:srgbClr val="000000"/>
                </a:solidFill>
              </a:rPr>
              <a:t>: </a:t>
            </a:r>
            <a:r>
              <a:rPr lang="en-GB" sz="2800" dirty="0">
                <a:solidFill>
                  <a:srgbClr val="0451A5"/>
                </a:solidFill>
              </a:rPr>
              <a:t>none</a:t>
            </a:r>
            <a:r>
              <a:rPr lang="en-GB" sz="2800" dirty="0">
                <a:solidFill>
                  <a:srgbClr val="000000"/>
                </a:solidFill>
              </a:rPr>
              <a:t>;</a:t>
            </a:r>
          </a:p>
        </p:txBody>
      </p:sp>
      <p:sp>
        <p:nvSpPr>
          <p:cNvPr id="8" name="Текстово поле 10"/>
          <p:cNvSpPr txBox="1"/>
          <p:nvPr/>
        </p:nvSpPr>
        <p:spPr>
          <a:xfrm>
            <a:off x="1051555" y="5075003"/>
            <a:ext cx="6225687"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text-decoration</a:t>
            </a:r>
            <a:r>
              <a:rPr lang="en-GB" sz="2800" dirty="0">
                <a:solidFill>
                  <a:srgbClr val="000000"/>
                </a:solidFill>
              </a:rPr>
              <a:t>: </a:t>
            </a:r>
            <a:r>
              <a:rPr lang="en-GB" sz="2800" dirty="0">
                <a:solidFill>
                  <a:srgbClr val="0451A5"/>
                </a:solidFill>
              </a:rPr>
              <a:t>line-through</a:t>
            </a:r>
            <a:r>
              <a:rPr lang="en-GB" sz="2800" dirty="0">
                <a:solidFill>
                  <a:srgbClr val="000000"/>
                </a:solidFill>
              </a:rPr>
              <a:t>;</a:t>
            </a:r>
          </a:p>
        </p:txBody>
      </p:sp>
      <p:pic>
        <p:nvPicPr>
          <p:cNvPr id="5" name="Picture 4">
            <a:extLst>
              <a:ext uri="{FF2B5EF4-FFF2-40B4-BE49-F238E27FC236}">
                <a16:creationId xmlns:a16="http://schemas.microsoft.com/office/drawing/2014/main" id="{22CE65D7-CB0A-446B-ADBA-E18EE876B79C}"/>
              </a:ext>
            </a:extLst>
          </p:cNvPr>
          <p:cNvPicPr>
            <a:picLocks noChangeAspect="1"/>
          </p:cNvPicPr>
          <p:nvPr/>
        </p:nvPicPr>
        <p:blipFill>
          <a:blip r:embed="rId3" cstate="print"/>
          <a:stretch>
            <a:fillRect/>
          </a:stretch>
        </p:blipFill>
        <p:spPr>
          <a:xfrm>
            <a:off x="7806000" y="5075003"/>
            <a:ext cx="1228725" cy="657225"/>
          </a:xfrm>
          <a:prstGeom prst="rect">
            <a:avLst/>
          </a:prstGeom>
          <a:ln>
            <a:noFill/>
          </a:ln>
          <a:effectLst>
            <a:outerShdw blurRad="292100" dist="139700" dir="2700000" algn="tl" rotWithShape="0">
              <a:srgbClr val="333333">
                <a:alpha val="65000"/>
              </a:srgbClr>
            </a:outerShdw>
          </a:effectLst>
        </p:spPr>
      </p:pic>
      <p:sp>
        <p:nvSpPr>
          <p:cNvPr id="9" name="Slide Number">
            <a:extLst>
              <a:ext uri="{FF2B5EF4-FFF2-40B4-BE49-F238E27FC236}">
                <a16:creationId xmlns:a16="http://schemas.microsoft.com/office/drawing/2014/main" id="{C1721781-D500-41E8-861E-843CCC222B7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73</a:t>
            </a:fld>
            <a:endParaRPr lang="en-US" noProof="0" dirty="0"/>
          </a:p>
        </p:txBody>
      </p:sp>
    </p:spTree>
    <p:extLst>
      <p:ext uri="{BB962C8B-B14F-4D97-AF65-F5344CB8AC3E}">
        <p14:creationId xmlns:p14="http://schemas.microsoft.com/office/powerpoint/2010/main" val="36021425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Indent</a:t>
            </a:r>
          </a:p>
        </p:txBody>
      </p:sp>
      <p:sp>
        <p:nvSpPr>
          <p:cNvPr id="3" name="Text Placeholder 2"/>
          <p:cNvSpPr>
            <a:spLocks noGrp="1"/>
          </p:cNvSpPr>
          <p:nvPr>
            <p:ph type="body" sz="quarter" idx="10"/>
          </p:nvPr>
        </p:nvSpPr>
        <p:spPr>
          <a:xfrm>
            <a:off x="190402" y="1196125"/>
            <a:ext cx="11890598" cy="5022875"/>
          </a:xfrm>
        </p:spPr>
        <p:txBody>
          <a:bodyPr>
            <a:normAutofit/>
          </a:bodyPr>
          <a:lstStyle/>
          <a:p>
            <a:pPr>
              <a:lnSpc>
                <a:spcPct val="100000"/>
              </a:lnSpc>
              <a:buClr>
                <a:schemeClr val="tx1"/>
              </a:buClr>
            </a:pPr>
            <a:r>
              <a:rPr lang="en-US" sz="3200" b="1" dirty="0">
                <a:solidFill>
                  <a:schemeClr val="bg1"/>
                </a:solidFill>
                <a:latin typeface="Consolas" panose="020B0609020204030204" pitchFamily="49" charset="0"/>
              </a:rPr>
              <a:t>text-indent</a:t>
            </a:r>
            <a:r>
              <a:rPr lang="en-US" b="1" dirty="0">
                <a:solidFill>
                  <a:schemeClr val="bg1"/>
                </a:solidFill>
              </a:rPr>
              <a:t> </a:t>
            </a:r>
            <a:r>
              <a:rPr lang="en-US" dirty="0"/>
              <a:t>-</a:t>
            </a:r>
            <a:r>
              <a:rPr lang="en-US" b="1" dirty="0">
                <a:solidFill>
                  <a:schemeClr val="bg1"/>
                </a:solidFill>
              </a:rPr>
              <a:t> </a:t>
            </a:r>
            <a:r>
              <a:rPr lang="en-US" dirty="0"/>
              <a:t>defines the indentation of the element's first line of text </a:t>
            </a:r>
          </a:p>
          <a:p>
            <a:pPr lvl="1">
              <a:lnSpc>
                <a:spcPct val="100000"/>
              </a:lnSpc>
              <a:buClr>
                <a:schemeClr val="tx1"/>
              </a:buClr>
            </a:pPr>
            <a:r>
              <a:rPr lang="en-US" dirty="0"/>
              <a:t>The text is not indented</a:t>
            </a:r>
          </a:p>
          <a:p>
            <a:pPr marL="442912" lvl="1" indent="0">
              <a:lnSpc>
                <a:spcPct val="100000"/>
              </a:lnSpc>
              <a:buClr>
                <a:schemeClr val="tx1"/>
              </a:buClr>
              <a:buNone/>
            </a:pPr>
            <a:endParaRPr lang="en-US" dirty="0"/>
          </a:p>
          <a:p>
            <a:pPr lvl="1">
              <a:lnSpc>
                <a:spcPct val="100000"/>
              </a:lnSpc>
              <a:buClr>
                <a:schemeClr val="tx1"/>
              </a:buClr>
            </a:pPr>
            <a:r>
              <a:rPr lang="en-US" dirty="0"/>
              <a:t>The text is indented</a:t>
            </a:r>
            <a:endParaRPr lang="bg-BG" dirty="0"/>
          </a:p>
        </p:txBody>
      </p:sp>
      <p:sp>
        <p:nvSpPr>
          <p:cNvPr id="7" name="Текстово поле 10"/>
          <p:cNvSpPr txBox="1"/>
          <p:nvPr/>
        </p:nvSpPr>
        <p:spPr>
          <a:xfrm>
            <a:off x="1101000" y="2960003"/>
            <a:ext cx="4413482"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text-indent</a:t>
            </a:r>
            <a:r>
              <a:rPr lang="en-GB" sz="2800" dirty="0">
                <a:solidFill>
                  <a:srgbClr val="000000"/>
                </a:solidFill>
              </a:rPr>
              <a:t>: </a:t>
            </a:r>
            <a:r>
              <a:rPr lang="en-GB" sz="2800" dirty="0">
                <a:solidFill>
                  <a:srgbClr val="098658"/>
                </a:solidFill>
              </a:rPr>
              <a:t>0</a:t>
            </a:r>
            <a:r>
              <a:rPr lang="en-GB" sz="2800" dirty="0">
                <a:solidFill>
                  <a:srgbClr val="000000"/>
                </a:solidFill>
              </a:rPr>
              <a:t>;</a:t>
            </a:r>
          </a:p>
        </p:txBody>
      </p:sp>
      <p:sp>
        <p:nvSpPr>
          <p:cNvPr id="8" name="Текстово поле 10"/>
          <p:cNvSpPr txBox="1"/>
          <p:nvPr/>
        </p:nvSpPr>
        <p:spPr>
          <a:xfrm>
            <a:off x="1101000" y="4284000"/>
            <a:ext cx="4413482"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text-indent</a:t>
            </a:r>
            <a:r>
              <a:rPr lang="en-GB" sz="2800" dirty="0">
                <a:solidFill>
                  <a:srgbClr val="000000"/>
                </a:solidFill>
              </a:rPr>
              <a:t>: </a:t>
            </a:r>
            <a:r>
              <a:rPr lang="en-GB" sz="2800" dirty="0">
                <a:solidFill>
                  <a:srgbClr val="098658"/>
                </a:solidFill>
              </a:rPr>
              <a:t>40px</a:t>
            </a:r>
            <a:r>
              <a:rPr lang="en-GB" sz="2800" dirty="0">
                <a:solidFill>
                  <a:srgbClr val="000000"/>
                </a:solidFill>
              </a:rPr>
              <a: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61000" y="2083703"/>
            <a:ext cx="4080920" cy="1752600"/>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1000" y="4280439"/>
            <a:ext cx="4101648" cy="1762125"/>
          </a:xfrm>
          <a:prstGeom prst="rect">
            <a:avLst/>
          </a:prstGeom>
          <a:ln>
            <a:noFill/>
          </a:ln>
          <a:effectLst>
            <a:outerShdw blurRad="292100" dist="139700" dir="2700000" algn="tl" rotWithShape="0">
              <a:srgbClr val="333333">
                <a:alpha val="65000"/>
              </a:srgbClr>
            </a:outerShdw>
          </a:effectLst>
        </p:spPr>
      </p:pic>
      <p:sp>
        <p:nvSpPr>
          <p:cNvPr id="9" name="Slide Number">
            <a:extLst>
              <a:ext uri="{FF2B5EF4-FFF2-40B4-BE49-F238E27FC236}">
                <a16:creationId xmlns:a16="http://schemas.microsoft.com/office/drawing/2014/main" id="{5B551CF0-1EFF-4909-990F-963E9274C8A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74</a:t>
            </a:fld>
            <a:endParaRPr lang="en-US" noProof="0" dirty="0"/>
          </a:p>
        </p:txBody>
      </p:sp>
    </p:spTree>
    <p:extLst>
      <p:ext uri="{BB962C8B-B14F-4D97-AF65-F5344CB8AC3E}">
        <p14:creationId xmlns:p14="http://schemas.microsoft.com/office/powerpoint/2010/main" val="180235189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Overflow</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sz="3400" b="1" dirty="0">
                <a:solidFill>
                  <a:schemeClr val="bg1"/>
                </a:solidFill>
                <a:latin typeface="Consolas" panose="020B0609020204030204" pitchFamily="49" charset="0"/>
              </a:rPr>
              <a:t>text-overflow</a:t>
            </a:r>
            <a:r>
              <a:rPr lang="en-US" sz="3400" b="1" dirty="0">
                <a:solidFill>
                  <a:schemeClr val="bg1"/>
                </a:solidFill>
              </a:rPr>
              <a:t> </a:t>
            </a:r>
            <a:r>
              <a:rPr lang="en-US" sz="3400" dirty="0"/>
              <a:t>-</a:t>
            </a:r>
            <a:r>
              <a:rPr lang="en-US" sz="3400" b="1" dirty="0">
                <a:solidFill>
                  <a:schemeClr val="bg1"/>
                </a:solidFill>
              </a:rPr>
              <a:t> </a:t>
            </a:r>
            <a:r>
              <a:rPr lang="en-US" sz="3400" dirty="0"/>
              <a:t>defines how the hidden text content behaves if it's overflowing</a:t>
            </a:r>
          </a:p>
          <a:p>
            <a:pPr lvl="1">
              <a:lnSpc>
                <a:spcPct val="100000"/>
              </a:lnSpc>
              <a:buClr>
                <a:schemeClr val="tx1"/>
              </a:buClr>
            </a:pPr>
            <a:r>
              <a:rPr lang="en-US" sz="3200" b="1" dirty="0">
                <a:solidFill>
                  <a:schemeClr val="bg1"/>
                </a:solidFill>
                <a:latin typeface="Consolas" panose="020B0609020204030204" pitchFamily="49" charset="0"/>
              </a:rPr>
              <a:t>ellipsis</a:t>
            </a:r>
            <a:r>
              <a:rPr lang="en-US" sz="3200" dirty="0"/>
              <a:t> - the overflowing content is replaced by </a:t>
            </a:r>
            <a:r>
              <a:rPr lang="en-US" sz="3200" b="1" dirty="0">
                <a:solidFill>
                  <a:schemeClr val="bg1"/>
                </a:solidFill>
                <a:latin typeface="Consolas" panose="020B0609020204030204" pitchFamily="49" charset="0"/>
              </a:rPr>
              <a:t>. . .</a:t>
            </a:r>
            <a:endParaRPr lang="bg-BG" sz="3200" dirty="0"/>
          </a:p>
        </p:txBody>
      </p:sp>
      <p:sp>
        <p:nvSpPr>
          <p:cNvPr id="7" name="Текстово поле 10"/>
          <p:cNvSpPr txBox="1"/>
          <p:nvPr/>
        </p:nvSpPr>
        <p:spPr>
          <a:xfrm>
            <a:off x="1146000" y="3104501"/>
            <a:ext cx="5288521"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text-overflow</a:t>
            </a:r>
            <a:r>
              <a:rPr lang="en-GB" sz="2800" dirty="0">
                <a:solidFill>
                  <a:srgbClr val="000000"/>
                </a:solidFill>
              </a:rPr>
              <a:t>: </a:t>
            </a:r>
            <a:r>
              <a:rPr lang="en-GB" sz="2800" dirty="0">
                <a:solidFill>
                  <a:srgbClr val="0451A5"/>
                </a:solidFill>
              </a:rPr>
              <a:t>clip</a:t>
            </a:r>
            <a:r>
              <a:rPr lang="en-GB" sz="2800" dirty="0">
                <a:solidFill>
                  <a:srgbClr val="000000"/>
                </a:solidFill>
              </a:rPr>
              <a:t>;</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r="67256"/>
          <a:stretch/>
        </p:blipFill>
        <p:spPr>
          <a:xfrm>
            <a:off x="1146000" y="4107368"/>
            <a:ext cx="2880000" cy="2242457"/>
          </a:xfrm>
          <a:prstGeom prst="rect">
            <a:avLst/>
          </a:prstGeom>
          <a:ln>
            <a:noFill/>
          </a:ln>
          <a:effectLst>
            <a:outerShdw blurRad="292100" dist="139700" dir="2700000" algn="tl" rotWithShape="0">
              <a:srgbClr val="333333">
                <a:alpha val="65000"/>
              </a:srgbClr>
            </a:outerShdw>
          </a:effectLst>
        </p:spPr>
      </p:pic>
      <p:sp>
        <p:nvSpPr>
          <p:cNvPr id="8" name="Slide Number">
            <a:extLst>
              <a:ext uri="{FF2B5EF4-FFF2-40B4-BE49-F238E27FC236}">
                <a16:creationId xmlns:a16="http://schemas.microsoft.com/office/drawing/2014/main" id="{0E901A4C-12DD-4536-A56E-1331778188E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75</a:t>
            </a:fld>
            <a:endParaRPr lang="en-US" noProof="0" dirty="0"/>
          </a:p>
        </p:txBody>
      </p:sp>
    </p:spTree>
    <p:extLst>
      <p:ext uri="{BB962C8B-B14F-4D97-AF65-F5344CB8AC3E}">
        <p14:creationId xmlns:p14="http://schemas.microsoft.com/office/powerpoint/2010/main" val="3970093094"/>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Transform</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spcBef>
                <a:spcPts val="900"/>
              </a:spcBef>
              <a:spcAft>
                <a:spcPts val="900"/>
              </a:spcAft>
              <a:buClr>
                <a:schemeClr val="tx1"/>
              </a:buClr>
            </a:pPr>
            <a:r>
              <a:rPr lang="en-US" sz="3400" b="1" dirty="0">
                <a:solidFill>
                  <a:schemeClr val="bg1"/>
                </a:solidFill>
                <a:latin typeface="Consolas" panose="020B0609020204030204" pitchFamily="49" charset="0"/>
              </a:rPr>
              <a:t>text-transform</a:t>
            </a:r>
            <a:r>
              <a:rPr lang="en-US" sz="3400" b="1" dirty="0">
                <a:solidFill>
                  <a:schemeClr val="bg1"/>
                </a:solidFill>
              </a:rPr>
              <a:t> </a:t>
            </a:r>
            <a:r>
              <a:rPr lang="en-US" sz="3400" dirty="0"/>
              <a:t>-</a:t>
            </a:r>
            <a:r>
              <a:rPr lang="en-US" sz="3400" b="1" dirty="0">
                <a:solidFill>
                  <a:schemeClr val="bg1"/>
                </a:solidFill>
              </a:rPr>
              <a:t> </a:t>
            </a:r>
            <a:r>
              <a:rPr lang="en-US" sz="3400" dirty="0"/>
              <a:t>specifies how to capitalize text</a:t>
            </a:r>
          </a:p>
          <a:p>
            <a:pPr lvl="1">
              <a:lnSpc>
                <a:spcPct val="100000"/>
              </a:lnSpc>
              <a:spcBef>
                <a:spcPts val="900"/>
              </a:spcBef>
              <a:spcAft>
                <a:spcPts val="900"/>
              </a:spcAft>
              <a:buClr>
                <a:schemeClr val="tx1"/>
              </a:buClr>
            </a:pPr>
            <a:r>
              <a:rPr lang="en-US" sz="3200" b="1" dirty="0">
                <a:solidFill>
                  <a:schemeClr val="bg1"/>
                </a:solidFill>
                <a:latin typeface="Consolas" panose="020B0609020204030204" pitchFamily="49" charset="0"/>
              </a:rPr>
              <a:t>capitalize</a:t>
            </a:r>
            <a:r>
              <a:rPr lang="en-US" sz="3200" dirty="0"/>
              <a:t> - turns the </a:t>
            </a:r>
            <a:r>
              <a:rPr lang="en-US" sz="3200" b="1" dirty="0">
                <a:solidFill>
                  <a:schemeClr val="bg1"/>
                </a:solidFill>
              </a:rPr>
              <a:t>first letter </a:t>
            </a:r>
            <a:r>
              <a:rPr lang="en-US" sz="3200" dirty="0"/>
              <a:t>of each word into </a:t>
            </a:r>
            <a:br>
              <a:rPr lang="bg-BG" sz="3200" dirty="0"/>
            </a:br>
            <a:r>
              <a:rPr lang="en-US" sz="3200" dirty="0"/>
              <a:t>a capital letter</a:t>
            </a:r>
            <a:endParaRPr lang="en-US" sz="3200" b="1" dirty="0">
              <a:solidFill>
                <a:schemeClr val="bg1"/>
              </a:solidFill>
            </a:endParaRPr>
          </a:p>
          <a:p>
            <a:pPr>
              <a:lnSpc>
                <a:spcPct val="100000"/>
              </a:lnSpc>
              <a:spcBef>
                <a:spcPts val="900"/>
              </a:spcBef>
              <a:spcAft>
                <a:spcPts val="900"/>
              </a:spcAft>
              <a:buClr>
                <a:schemeClr val="tx1"/>
              </a:buClr>
            </a:pPr>
            <a:endParaRPr lang="en-US" sz="3200" dirty="0"/>
          </a:p>
          <a:p>
            <a:pPr lvl="1">
              <a:lnSpc>
                <a:spcPct val="100000"/>
              </a:lnSpc>
              <a:spcBef>
                <a:spcPts val="900"/>
              </a:spcBef>
              <a:spcAft>
                <a:spcPts val="900"/>
              </a:spcAft>
              <a:buClr>
                <a:schemeClr val="tx1"/>
              </a:buClr>
            </a:pPr>
            <a:r>
              <a:rPr lang="en-US" sz="3200" b="1" dirty="0">
                <a:solidFill>
                  <a:schemeClr val="bg1"/>
                </a:solidFill>
                <a:latin typeface="Consolas" panose="020B0609020204030204" pitchFamily="49" charset="0"/>
              </a:rPr>
              <a:t>uppercase</a:t>
            </a:r>
            <a:r>
              <a:rPr lang="en-US" sz="3200" dirty="0"/>
              <a:t> - turns all characters to uppercase</a:t>
            </a:r>
          </a:p>
          <a:p>
            <a:pPr lvl="1">
              <a:lnSpc>
                <a:spcPct val="100000"/>
              </a:lnSpc>
              <a:spcBef>
                <a:spcPts val="900"/>
              </a:spcBef>
              <a:spcAft>
                <a:spcPts val="900"/>
              </a:spcAft>
              <a:buClr>
                <a:schemeClr val="tx1"/>
              </a:buClr>
            </a:pPr>
            <a:endParaRPr lang="en-US" sz="3200" dirty="0"/>
          </a:p>
          <a:p>
            <a:pPr lvl="1">
              <a:lnSpc>
                <a:spcPct val="100000"/>
              </a:lnSpc>
              <a:spcBef>
                <a:spcPts val="900"/>
              </a:spcBef>
              <a:spcAft>
                <a:spcPts val="900"/>
              </a:spcAft>
              <a:buClr>
                <a:schemeClr val="tx1"/>
              </a:buClr>
            </a:pPr>
            <a:r>
              <a:rPr lang="en-US" sz="3200" b="1" dirty="0">
                <a:solidFill>
                  <a:schemeClr val="bg1"/>
                </a:solidFill>
                <a:latin typeface="Consolas" panose="020B0609020204030204" pitchFamily="49" charset="0"/>
              </a:rPr>
              <a:t>lowercase</a:t>
            </a:r>
            <a:r>
              <a:rPr lang="en-US" sz="3200" dirty="0"/>
              <a:t> - turns all characters to lowercase</a:t>
            </a:r>
            <a:endParaRPr lang="bg-BG" sz="3200" dirty="0"/>
          </a:p>
        </p:txBody>
      </p:sp>
      <p:sp>
        <p:nvSpPr>
          <p:cNvPr id="8" name="Текстово поле 10"/>
          <p:cNvSpPr txBox="1"/>
          <p:nvPr/>
        </p:nvSpPr>
        <p:spPr>
          <a:xfrm>
            <a:off x="1094226" y="3148951"/>
            <a:ext cx="6055924"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text-transform</a:t>
            </a:r>
            <a:r>
              <a:rPr lang="en-GB" sz="2800" dirty="0">
                <a:solidFill>
                  <a:srgbClr val="000000"/>
                </a:solidFill>
              </a:rPr>
              <a:t>: </a:t>
            </a:r>
            <a:r>
              <a:rPr lang="en-GB" sz="2800" dirty="0">
                <a:solidFill>
                  <a:srgbClr val="0451A5"/>
                </a:solidFill>
              </a:rPr>
              <a:t>capitalize</a:t>
            </a:r>
            <a:r>
              <a:rPr lang="en-GB" sz="2800" dirty="0">
                <a:solidFill>
                  <a:srgbClr val="000000"/>
                </a:solidFill>
              </a:rPr>
              <a:t>;</a:t>
            </a:r>
          </a:p>
        </p:txBody>
      </p:sp>
      <p:pic>
        <p:nvPicPr>
          <p:cNvPr id="9" name="Picture 8">
            <a:extLst>
              <a:ext uri="{FF2B5EF4-FFF2-40B4-BE49-F238E27FC236}">
                <a16:creationId xmlns:a16="http://schemas.microsoft.com/office/drawing/2014/main" id="{5349535A-361F-468C-A123-EFD8F4B5F304}"/>
              </a:ext>
            </a:extLst>
          </p:cNvPr>
          <p:cNvPicPr>
            <a:picLocks noChangeAspect="1"/>
          </p:cNvPicPr>
          <p:nvPr/>
        </p:nvPicPr>
        <p:blipFill>
          <a:blip r:embed="rId2" cstate="print"/>
          <a:stretch>
            <a:fillRect/>
          </a:stretch>
        </p:blipFill>
        <p:spPr>
          <a:xfrm>
            <a:off x="7854171" y="2824312"/>
            <a:ext cx="3121516" cy="909761"/>
          </a:xfrm>
          <a:prstGeom prst="rect">
            <a:avLst/>
          </a:prstGeom>
          <a:ln>
            <a:noFill/>
          </a:ln>
          <a:effectLst>
            <a:outerShdw blurRad="292100" dist="139700" dir="2700000" algn="tl" rotWithShape="0">
              <a:srgbClr val="333333">
                <a:alpha val="65000"/>
              </a:srgbClr>
            </a:outerShdw>
          </a:effectLst>
        </p:spPr>
      </p:pic>
      <p:sp>
        <p:nvSpPr>
          <p:cNvPr id="11" name="Текстово поле 10">
            <a:extLst>
              <a:ext uri="{FF2B5EF4-FFF2-40B4-BE49-F238E27FC236}">
                <a16:creationId xmlns:a16="http://schemas.microsoft.com/office/drawing/2014/main" id="{5624A430-4285-44AC-B476-9CA819F56A5E}"/>
              </a:ext>
            </a:extLst>
          </p:cNvPr>
          <p:cNvSpPr txBox="1"/>
          <p:nvPr/>
        </p:nvSpPr>
        <p:spPr>
          <a:xfrm>
            <a:off x="1094226" y="4535003"/>
            <a:ext cx="6055924"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text-transform</a:t>
            </a:r>
            <a:r>
              <a:rPr lang="en-GB" sz="2800" dirty="0">
                <a:solidFill>
                  <a:srgbClr val="000000"/>
                </a:solidFill>
              </a:rPr>
              <a:t>: </a:t>
            </a:r>
            <a:r>
              <a:rPr lang="en-US" sz="2800" dirty="0">
                <a:solidFill>
                  <a:srgbClr val="0451A5"/>
                </a:solidFill>
              </a:rPr>
              <a:t>uppercase</a:t>
            </a:r>
            <a:r>
              <a:rPr lang="en-GB" sz="2800" dirty="0">
                <a:solidFill>
                  <a:srgbClr val="000000"/>
                </a:solidFill>
              </a:rPr>
              <a:t>;</a:t>
            </a:r>
          </a:p>
        </p:txBody>
      </p:sp>
      <p:pic>
        <p:nvPicPr>
          <p:cNvPr id="12" name="Picture 11">
            <a:extLst>
              <a:ext uri="{FF2B5EF4-FFF2-40B4-BE49-F238E27FC236}">
                <a16:creationId xmlns:a16="http://schemas.microsoft.com/office/drawing/2014/main" id="{FE6B4FCA-44D6-4180-8F71-22659021281E}"/>
              </a:ext>
            </a:extLst>
          </p:cNvPr>
          <p:cNvPicPr>
            <a:picLocks noChangeAspect="1"/>
          </p:cNvPicPr>
          <p:nvPr/>
        </p:nvPicPr>
        <p:blipFill>
          <a:blip r:embed="rId3" cstate="print"/>
          <a:stretch>
            <a:fillRect/>
          </a:stretch>
        </p:blipFill>
        <p:spPr>
          <a:xfrm>
            <a:off x="8345755" y="4397410"/>
            <a:ext cx="2138348" cy="918727"/>
          </a:xfrm>
          <a:prstGeom prst="rect">
            <a:avLst/>
          </a:prstGeom>
          <a:ln>
            <a:noFill/>
          </a:ln>
          <a:effectLst>
            <a:outerShdw blurRad="292100" dist="139700" dir="2700000" algn="tl" rotWithShape="0">
              <a:srgbClr val="333333">
                <a:alpha val="65000"/>
              </a:srgbClr>
            </a:outerShdw>
          </a:effectLst>
        </p:spPr>
      </p:pic>
      <p:sp>
        <p:nvSpPr>
          <p:cNvPr id="13" name="Текстово поле 10">
            <a:extLst>
              <a:ext uri="{FF2B5EF4-FFF2-40B4-BE49-F238E27FC236}">
                <a16:creationId xmlns:a16="http://schemas.microsoft.com/office/drawing/2014/main" id="{A4B745AB-AD5F-4BF0-9D53-80411D3AAA63}"/>
              </a:ext>
            </a:extLst>
          </p:cNvPr>
          <p:cNvSpPr txBox="1"/>
          <p:nvPr/>
        </p:nvSpPr>
        <p:spPr>
          <a:xfrm>
            <a:off x="1094226" y="5951175"/>
            <a:ext cx="6055924"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text-transform</a:t>
            </a:r>
            <a:r>
              <a:rPr lang="en-GB" sz="2800" dirty="0">
                <a:solidFill>
                  <a:srgbClr val="000000"/>
                </a:solidFill>
              </a:rPr>
              <a:t>: </a:t>
            </a:r>
            <a:r>
              <a:rPr lang="en-US" sz="2800" dirty="0">
                <a:solidFill>
                  <a:srgbClr val="0451A5"/>
                </a:solidFill>
              </a:rPr>
              <a:t>lowercase</a:t>
            </a:r>
            <a:r>
              <a:rPr lang="en-GB" sz="2800" dirty="0">
                <a:solidFill>
                  <a:srgbClr val="000000"/>
                </a:solidFill>
              </a:rPr>
              <a:t>;</a:t>
            </a:r>
          </a:p>
        </p:txBody>
      </p:sp>
      <p:pic>
        <p:nvPicPr>
          <p:cNvPr id="14" name="Picture 13">
            <a:extLst>
              <a:ext uri="{FF2B5EF4-FFF2-40B4-BE49-F238E27FC236}">
                <a16:creationId xmlns:a16="http://schemas.microsoft.com/office/drawing/2014/main" id="{68698FD9-7137-4C4A-ACDA-4F6CCA7F42B8}"/>
              </a:ext>
            </a:extLst>
          </p:cNvPr>
          <p:cNvPicPr>
            <a:picLocks noChangeAspect="1"/>
          </p:cNvPicPr>
          <p:nvPr/>
        </p:nvPicPr>
        <p:blipFill>
          <a:blip r:embed="rId4" cstate="print"/>
          <a:stretch>
            <a:fillRect/>
          </a:stretch>
        </p:blipFill>
        <p:spPr>
          <a:xfrm>
            <a:off x="7762585" y="5979475"/>
            <a:ext cx="3304687" cy="592396"/>
          </a:xfrm>
          <a:prstGeom prst="rect">
            <a:avLst/>
          </a:prstGeom>
          <a:ln>
            <a:noFill/>
          </a:ln>
          <a:effectLst>
            <a:outerShdw blurRad="292100" dist="139700" dir="2700000" algn="tl" rotWithShape="0">
              <a:srgbClr val="333333">
                <a:alpha val="65000"/>
              </a:srgbClr>
            </a:outerShdw>
          </a:effectLst>
        </p:spPr>
      </p:pic>
      <p:sp>
        <p:nvSpPr>
          <p:cNvPr id="15" name="Slide Number">
            <a:extLst>
              <a:ext uri="{FF2B5EF4-FFF2-40B4-BE49-F238E27FC236}">
                <a16:creationId xmlns:a16="http://schemas.microsoft.com/office/drawing/2014/main" id="{AC4BD9A9-60DE-4E01-9A61-9859DC628C3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76</a:t>
            </a:fld>
            <a:endParaRPr lang="en-US" noProof="0" dirty="0"/>
          </a:p>
        </p:txBody>
      </p:sp>
    </p:spTree>
    <p:extLst>
      <p:ext uri="{BB962C8B-B14F-4D97-AF65-F5344CB8AC3E}">
        <p14:creationId xmlns:p14="http://schemas.microsoft.com/office/powerpoint/2010/main" val="84377075"/>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Word Break</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sz="3400" b="1" dirty="0">
                <a:solidFill>
                  <a:schemeClr val="bg1"/>
                </a:solidFill>
                <a:latin typeface="Consolas" panose="020B0609020204030204" pitchFamily="49" charset="0"/>
              </a:rPr>
              <a:t>word-break</a:t>
            </a:r>
            <a:r>
              <a:rPr lang="en-US" sz="3400" b="1" dirty="0">
                <a:solidFill>
                  <a:schemeClr val="bg1"/>
                </a:solidFill>
              </a:rPr>
              <a:t> </a:t>
            </a:r>
            <a:r>
              <a:rPr lang="en-US" sz="3400" dirty="0"/>
              <a:t>-</a:t>
            </a:r>
            <a:r>
              <a:rPr lang="en-US" sz="3400" b="1" dirty="0">
                <a:solidFill>
                  <a:schemeClr val="bg1"/>
                </a:solidFill>
              </a:rPr>
              <a:t> </a:t>
            </a:r>
            <a:r>
              <a:rPr lang="en-US" sz="3400" dirty="0"/>
              <a:t>defines how words should break when reaching the end of line</a:t>
            </a:r>
          </a:p>
          <a:p>
            <a:pPr lvl="1">
              <a:lnSpc>
                <a:spcPct val="100000"/>
              </a:lnSpc>
              <a:buClr>
                <a:schemeClr val="tx1"/>
              </a:buClr>
            </a:pPr>
            <a:r>
              <a:rPr lang="en-US" sz="3200" b="1" dirty="0">
                <a:solidFill>
                  <a:schemeClr val="bg1"/>
                </a:solidFill>
                <a:latin typeface="Consolas" panose="020B0609020204030204" pitchFamily="49" charset="0"/>
              </a:rPr>
              <a:t>normal</a:t>
            </a:r>
            <a:r>
              <a:rPr lang="en-US" sz="3200" dirty="0"/>
              <a:t> - words with no space will </a:t>
            </a:r>
            <a:r>
              <a:rPr lang="en-US" sz="3200" b="1" dirty="0">
                <a:solidFill>
                  <a:schemeClr val="bg1"/>
                </a:solidFill>
              </a:rPr>
              <a:t>NOT</a:t>
            </a:r>
            <a:r>
              <a:rPr lang="en-US" sz="3200" dirty="0">
                <a:solidFill>
                  <a:schemeClr val="bg1"/>
                </a:solidFill>
              </a:rPr>
              <a:t> </a:t>
            </a:r>
            <a:r>
              <a:rPr lang="en-US" sz="3200" dirty="0"/>
              <a:t>break</a:t>
            </a:r>
          </a:p>
          <a:p>
            <a:pPr marL="442912" lvl="1" indent="0">
              <a:lnSpc>
                <a:spcPct val="100000"/>
              </a:lnSpc>
              <a:buClr>
                <a:schemeClr val="tx1"/>
              </a:buClr>
              <a:buNone/>
            </a:pPr>
            <a:endParaRPr lang="en-US" sz="3200" dirty="0"/>
          </a:p>
          <a:p>
            <a:pPr lvl="1">
              <a:lnSpc>
                <a:spcPct val="100000"/>
              </a:lnSpc>
              <a:buClr>
                <a:schemeClr val="tx1"/>
              </a:buClr>
            </a:pPr>
            <a:r>
              <a:rPr lang="en-US" sz="3200" b="1" dirty="0">
                <a:solidFill>
                  <a:schemeClr val="bg1"/>
                </a:solidFill>
                <a:latin typeface="Consolas" panose="020B0609020204030204" pitchFamily="49" charset="0"/>
              </a:rPr>
              <a:t>break-all</a:t>
            </a:r>
            <a:r>
              <a:rPr lang="en-US" sz="3200" dirty="0"/>
              <a:t> - words with no space will </a:t>
            </a:r>
            <a:r>
              <a:rPr lang="en-US" sz="3200" b="1" dirty="0">
                <a:solidFill>
                  <a:schemeClr val="bg1"/>
                </a:solidFill>
              </a:rPr>
              <a:t>break</a:t>
            </a:r>
            <a:r>
              <a:rPr lang="en-US" sz="3200" dirty="0">
                <a:solidFill>
                  <a:schemeClr val="bg1"/>
                </a:solidFill>
              </a:rPr>
              <a:t> </a:t>
            </a:r>
            <a:r>
              <a:rPr lang="en-US" sz="3200" dirty="0"/>
              <a:t>as soon as they reach the end of a line</a:t>
            </a:r>
            <a:endParaRPr lang="bg-BG" sz="3200" dirty="0"/>
          </a:p>
        </p:txBody>
      </p:sp>
      <p:sp>
        <p:nvSpPr>
          <p:cNvPr id="7" name="Текстово поле 10"/>
          <p:cNvSpPr txBox="1"/>
          <p:nvPr/>
        </p:nvSpPr>
        <p:spPr>
          <a:xfrm>
            <a:off x="1146000" y="2979000"/>
            <a:ext cx="4905000"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word-break</a:t>
            </a:r>
            <a:r>
              <a:rPr lang="en-GB" sz="2800" dirty="0">
                <a:solidFill>
                  <a:srgbClr val="000000"/>
                </a:solidFill>
              </a:rPr>
              <a:t>: </a:t>
            </a:r>
            <a:r>
              <a:rPr lang="en-GB" sz="2800" dirty="0">
                <a:solidFill>
                  <a:srgbClr val="0451A5"/>
                </a:solidFill>
              </a:rPr>
              <a:t>normal</a:t>
            </a:r>
            <a:r>
              <a:rPr lang="en-GB" sz="2800" dirty="0">
                <a:solidFill>
                  <a:srgbClr val="000000"/>
                </a:solidFill>
              </a:rPr>
              <a:t>;</a:t>
            </a:r>
          </a:p>
        </p:txBody>
      </p:sp>
      <p:sp>
        <p:nvSpPr>
          <p:cNvPr id="8" name="Текстово поле 10"/>
          <p:cNvSpPr txBox="1"/>
          <p:nvPr/>
        </p:nvSpPr>
        <p:spPr>
          <a:xfrm>
            <a:off x="1183485" y="4757009"/>
            <a:ext cx="4910461" cy="648997"/>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800" dirty="0">
                <a:solidFill>
                  <a:srgbClr val="FF0000"/>
                </a:solidFill>
              </a:rPr>
              <a:t>word-break</a:t>
            </a:r>
            <a:r>
              <a:rPr lang="en-GB" sz="2800" dirty="0">
                <a:solidFill>
                  <a:srgbClr val="000000"/>
                </a:solidFill>
              </a:rPr>
              <a:t>: </a:t>
            </a:r>
            <a:r>
              <a:rPr lang="en-GB" sz="2800" dirty="0">
                <a:solidFill>
                  <a:srgbClr val="0451A5"/>
                </a:solidFill>
              </a:rPr>
              <a:t>break-all</a:t>
            </a:r>
            <a:r>
              <a:rPr lang="en-GB" sz="2800" dirty="0">
                <a:solidFill>
                  <a:srgbClr val="000000"/>
                </a:solidFill>
              </a:rPr>
              <a: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55" y="2894570"/>
            <a:ext cx="3838575" cy="733425"/>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55" y="4510656"/>
            <a:ext cx="3838575" cy="895350"/>
          </a:xfrm>
          <a:prstGeom prst="rect">
            <a:avLst/>
          </a:prstGeom>
          <a:ln>
            <a:noFill/>
          </a:ln>
          <a:effectLst>
            <a:outerShdw blurRad="292100" dist="139700" dir="2700000" algn="tl" rotWithShape="0">
              <a:srgbClr val="333333">
                <a:alpha val="65000"/>
              </a:srgbClr>
            </a:outerShdw>
          </a:effectLst>
        </p:spPr>
      </p:pic>
      <p:sp>
        <p:nvSpPr>
          <p:cNvPr id="9" name="Slide Number">
            <a:extLst>
              <a:ext uri="{FF2B5EF4-FFF2-40B4-BE49-F238E27FC236}">
                <a16:creationId xmlns:a16="http://schemas.microsoft.com/office/drawing/2014/main" id="{145E2197-26A8-42BE-9FDE-0EA6B7D89AC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77</a:t>
            </a:fld>
            <a:endParaRPr lang="en-US" noProof="0" dirty="0"/>
          </a:p>
        </p:txBody>
      </p:sp>
    </p:spTree>
    <p:extLst>
      <p:ext uri="{BB962C8B-B14F-4D97-AF65-F5344CB8AC3E}">
        <p14:creationId xmlns:p14="http://schemas.microsoft.com/office/powerpoint/2010/main" val="382823526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Text Shadow</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b="1" dirty="0">
                <a:solidFill>
                  <a:schemeClr val="bg1"/>
                </a:solidFill>
                <a:latin typeface="Consolas" panose="020B0609020204030204" pitchFamily="49" charset="0"/>
              </a:rPr>
              <a:t>Text-shadow</a:t>
            </a:r>
            <a:r>
              <a:rPr lang="en-US" b="1" dirty="0">
                <a:solidFill>
                  <a:schemeClr val="bg1"/>
                </a:solidFill>
              </a:rPr>
              <a:t> </a:t>
            </a:r>
            <a:r>
              <a:rPr lang="en-US" dirty="0"/>
              <a:t>- defines the shadow of the text content</a:t>
            </a:r>
          </a:p>
          <a:p>
            <a:pPr lvl="1">
              <a:lnSpc>
                <a:spcPct val="100000"/>
              </a:lnSpc>
              <a:buClr>
                <a:schemeClr val="tx1"/>
              </a:buClr>
            </a:pPr>
            <a:r>
              <a:rPr lang="en-US" sz="3200" dirty="0"/>
              <a:t>None - the text content has </a:t>
            </a:r>
            <a:r>
              <a:rPr lang="en-US" sz="3200" b="1" dirty="0">
                <a:solidFill>
                  <a:schemeClr val="bg1"/>
                </a:solidFill>
              </a:rPr>
              <a:t>no shadow</a:t>
            </a:r>
          </a:p>
          <a:p>
            <a:pPr lvl="1">
              <a:lnSpc>
                <a:spcPct val="100000"/>
              </a:lnSpc>
              <a:buClr>
                <a:schemeClr val="tx1"/>
              </a:buClr>
            </a:pPr>
            <a:endParaRPr lang="en-US" sz="3200" b="1" dirty="0">
              <a:solidFill>
                <a:schemeClr val="bg1"/>
              </a:solidFill>
            </a:endParaRPr>
          </a:p>
          <a:p>
            <a:pPr>
              <a:lnSpc>
                <a:spcPct val="100000"/>
              </a:lnSpc>
              <a:buClr>
                <a:schemeClr val="tx1"/>
              </a:buClr>
            </a:pPr>
            <a:endParaRPr lang="en-US" sz="3200" dirty="0"/>
          </a:p>
          <a:p>
            <a:pPr marL="442912" lvl="1" indent="0">
              <a:lnSpc>
                <a:spcPct val="100000"/>
              </a:lnSpc>
              <a:buClr>
                <a:schemeClr val="tx1"/>
              </a:buClr>
              <a:buNone/>
            </a:pPr>
            <a:endParaRPr lang="en-US" sz="3200" dirty="0"/>
          </a:p>
          <a:p>
            <a:pPr lvl="1">
              <a:lnSpc>
                <a:spcPct val="100000"/>
              </a:lnSpc>
              <a:buClr>
                <a:schemeClr val="tx1"/>
              </a:buClr>
            </a:pPr>
            <a:r>
              <a:rPr lang="en-US" sz="3200" dirty="0"/>
              <a:t>Text-shadow: </a:t>
            </a:r>
            <a:r>
              <a:rPr lang="en-US" sz="3200" b="1" dirty="0">
                <a:solidFill>
                  <a:schemeClr val="bg1"/>
                </a:solidFill>
                <a:latin typeface="Consolas" panose="020B0609020204030204" pitchFamily="49" charset="0"/>
              </a:rPr>
              <a:t>&lt;horizontal&gt;</a:t>
            </a:r>
            <a:r>
              <a:rPr lang="en-US" sz="3200" b="1" dirty="0">
                <a:solidFill>
                  <a:schemeClr val="bg1"/>
                </a:solidFill>
              </a:rPr>
              <a:t> </a:t>
            </a:r>
            <a:r>
              <a:rPr lang="en-US" sz="3200" b="1" dirty="0">
                <a:solidFill>
                  <a:schemeClr val="bg1"/>
                </a:solidFill>
                <a:latin typeface="Consolas" panose="020B0609020204030204" pitchFamily="49" charset="0"/>
              </a:rPr>
              <a:t>&lt;vertical&gt;</a:t>
            </a:r>
            <a:r>
              <a:rPr lang="en-US" sz="3200" b="1" dirty="0">
                <a:solidFill>
                  <a:schemeClr val="bg1"/>
                </a:solidFill>
              </a:rPr>
              <a:t> </a:t>
            </a:r>
            <a:r>
              <a:rPr lang="en-US" sz="3200" b="1" dirty="0">
                <a:solidFill>
                  <a:schemeClr val="bg1"/>
                </a:solidFill>
                <a:latin typeface="Consolas" panose="020B0609020204030204" pitchFamily="49" charset="0"/>
              </a:rPr>
              <a:t>&lt;blur&gt;</a:t>
            </a:r>
            <a:r>
              <a:rPr lang="en-US" sz="3200" b="1" dirty="0">
                <a:solidFill>
                  <a:schemeClr val="bg1"/>
                </a:solidFill>
              </a:rPr>
              <a:t> </a:t>
            </a:r>
            <a:r>
              <a:rPr lang="en-US" sz="3200" b="1" dirty="0">
                <a:solidFill>
                  <a:schemeClr val="bg1"/>
                </a:solidFill>
                <a:latin typeface="Consolas" panose="020B0609020204030204" pitchFamily="49" charset="0"/>
              </a:rPr>
              <a:t>&lt;color&gt;</a:t>
            </a:r>
            <a:endParaRPr lang="en-US" dirty="0"/>
          </a:p>
        </p:txBody>
      </p:sp>
      <p:sp>
        <p:nvSpPr>
          <p:cNvPr id="7" name="Текстово поле 10"/>
          <p:cNvSpPr txBox="1"/>
          <p:nvPr/>
        </p:nvSpPr>
        <p:spPr>
          <a:xfrm>
            <a:off x="1101000" y="2765947"/>
            <a:ext cx="6075000" cy="1326105"/>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p</a:t>
            </a:r>
            <a:r>
              <a:rPr lang="en-GB" sz="2400" b="1" dirty="0">
                <a:solidFill>
                  <a:srgbClr val="000000"/>
                </a:solidFill>
                <a:latin typeface="Consolas" panose="020B0609020204030204" pitchFamily="49" charset="0"/>
              </a:rPr>
              <a:t> {</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text-shadow</a:t>
            </a:r>
            <a:r>
              <a:rPr lang="en-GB" sz="2400" b="1" dirty="0">
                <a:solidFill>
                  <a:srgbClr val="000000"/>
                </a:solidFill>
                <a:latin typeface="Consolas" panose="020B0609020204030204" pitchFamily="49" charset="0"/>
              </a:rPr>
              <a:t>: </a:t>
            </a:r>
            <a:r>
              <a:rPr lang="en-GB" sz="2400" b="1" dirty="0">
                <a:solidFill>
                  <a:srgbClr val="0451A5"/>
                </a:solidFill>
                <a:latin typeface="Consolas" panose="020B0609020204030204" pitchFamily="49" charset="0"/>
              </a:rPr>
              <a:t>none</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a:t>
            </a:r>
          </a:p>
        </p:txBody>
      </p:sp>
      <p:sp>
        <p:nvSpPr>
          <p:cNvPr id="8" name="Текстово поле 10"/>
          <p:cNvSpPr txBox="1"/>
          <p:nvPr/>
        </p:nvSpPr>
        <p:spPr>
          <a:xfrm>
            <a:off x="1098903" y="5180895"/>
            <a:ext cx="6075000" cy="1326105"/>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p</a:t>
            </a:r>
            <a:r>
              <a:rPr lang="en-GB" sz="2400" b="1" dirty="0">
                <a:solidFill>
                  <a:srgbClr val="000000"/>
                </a:solidFill>
                <a:latin typeface="Consolas" panose="020B0609020204030204" pitchFamily="49" charset="0"/>
              </a:rPr>
              <a:t> {</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text-shadow</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2px</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4px</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10px</a:t>
            </a:r>
            <a:r>
              <a:rPr lang="en-GB" sz="2400" b="1" dirty="0">
                <a:solidFill>
                  <a:srgbClr val="000000"/>
                </a:solidFill>
                <a:latin typeface="Consolas" panose="020B0609020204030204" pitchFamily="49" charset="0"/>
              </a:rPr>
              <a:t> </a:t>
            </a:r>
            <a:r>
              <a:rPr lang="en-GB" sz="2400" b="1" dirty="0">
                <a:solidFill>
                  <a:srgbClr val="0451A5"/>
                </a:solidFill>
                <a:latin typeface="Consolas" panose="020B0609020204030204" pitchFamily="49" charset="0"/>
              </a:rPr>
              <a:t>red</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569" y="2801230"/>
            <a:ext cx="3075569" cy="1244425"/>
          </a:xfrm>
          <a:prstGeom prst="rect">
            <a:avLst/>
          </a:prstGeom>
          <a:ln>
            <a:noFill/>
          </a:ln>
          <a:effectLst>
            <a:outerShdw blurRad="292100" dist="139700" dir="2700000" algn="tl" rotWithShape="0">
              <a:srgbClr val="333333">
                <a:alpha val="65000"/>
              </a:srgbClr>
            </a:outerShdw>
          </a:effectLst>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569" y="5234351"/>
            <a:ext cx="3075569" cy="1272649"/>
          </a:xfrm>
          <a:prstGeom prst="rect">
            <a:avLst/>
          </a:prstGeom>
          <a:ln>
            <a:noFill/>
          </a:ln>
          <a:effectLst>
            <a:outerShdw blurRad="292100" dist="139700" dir="2700000" algn="tl" rotWithShape="0">
              <a:srgbClr val="333333">
                <a:alpha val="65000"/>
              </a:srgbClr>
            </a:outerShdw>
          </a:effectLst>
        </p:spPr>
      </p:pic>
      <p:sp>
        <p:nvSpPr>
          <p:cNvPr id="12" name="Slide Number">
            <a:extLst>
              <a:ext uri="{FF2B5EF4-FFF2-40B4-BE49-F238E27FC236}">
                <a16:creationId xmlns:a16="http://schemas.microsoft.com/office/drawing/2014/main" id="{1754F14B-8D25-43B1-AB9A-9CB07955802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78</a:t>
            </a:fld>
            <a:endParaRPr lang="en-US" noProof="0" dirty="0"/>
          </a:p>
        </p:txBody>
      </p:sp>
    </p:spTree>
    <p:extLst>
      <p:ext uri="{BB962C8B-B14F-4D97-AF65-F5344CB8AC3E}">
        <p14:creationId xmlns:p14="http://schemas.microsoft.com/office/powerpoint/2010/main" val="250548521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0" y="1196707"/>
            <a:ext cx="11662560" cy="5527326"/>
          </a:xfrm>
        </p:spPr>
        <p:txBody>
          <a:bodyPr>
            <a:normAutofit/>
          </a:bodyPr>
          <a:lstStyle/>
          <a:p>
            <a:pPr>
              <a:lnSpc>
                <a:spcPct val="100000"/>
              </a:lnSpc>
              <a:buClr>
                <a:schemeClr val="tx1"/>
              </a:buClr>
            </a:pPr>
            <a:r>
              <a:rPr lang="en-US" sz="3400" dirty="0"/>
              <a:t>140+ </a:t>
            </a:r>
            <a:r>
              <a:rPr lang="en-US" sz="3400" b="1" dirty="0">
                <a:solidFill>
                  <a:schemeClr val="bg1"/>
                </a:solidFill>
              </a:rPr>
              <a:t>predefined color names</a:t>
            </a:r>
            <a:r>
              <a:rPr lang="bg-BG" sz="3400" b="1" dirty="0">
                <a:solidFill>
                  <a:schemeClr val="bg1"/>
                </a:solidFill>
              </a:rPr>
              <a:t> </a:t>
            </a:r>
            <a:r>
              <a:rPr lang="bg-BG" sz="3400" dirty="0"/>
              <a:t>(</a:t>
            </a:r>
            <a:r>
              <a:rPr lang="en-US" sz="3400" dirty="0"/>
              <a:t>e. g. </a:t>
            </a:r>
            <a:r>
              <a:rPr lang="en-US" sz="3400" b="1" dirty="0">
                <a:solidFill>
                  <a:schemeClr val="accent2">
                    <a:lumMod val="75000"/>
                  </a:schemeClr>
                </a:solidFill>
              </a:rPr>
              <a:t>green</a:t>
            </a:r>
            <a:r>
              <a:rPr lang="en-US" sz="3400" dirty="0"/>
              <a:t>, </a:t>
            </a:r>
            <a:r>
              <a:rPr lang="en-US" sz="3400" b="1" dirty="0">
                <a:solidFill>
                  <a:srgbClr val="E81818"/>
                </a:solidFill>
              </a:rPr>
              <a:t>red</a:t>
            </a:r>
            <a:r>
              <a:rPr lang="en-US" sz="3400" dirty="0"/>
              <a:t>, </a:t>
            </a:r>
            <a:r>
              <a:rPr lang="en-US" sz="3400" b="1" dirty="0">
                <a:solidFill>
                  <a:schemeClr val="accent3">
                    <a:lumMod val="75000"/>
                  </a:schemeClr>
                </a:solidFill>
              </a:rPr>
              <a:t>blue</a:t>
            </a:r>
            <a:r>
              <a:rPr lang="en-US" sz="3400" dirty="0"/>
              <a:t>, </a:t>
            </a:r>
            <a:r>
              <a:rPr lang="en-US" sz="3400" b="1" dirty="0">
                <a:solidFill>
                  <a:srgbClr val="FF7F50"/>
                </a:solidFill>
              </a:rPr>
              <a:t>coral</a:t>
            </a:r>
            <a:r>
              <a:rPr lang="en-US" sz="3400" dirty="0"/>
              <a:t>, …)</a:t>
            </a:r>
          </a:p>
          <a:p>
            <a:pPr>
              <a:lnSpc>
                <a:spcPct val="100000"/>
              </a:lnSpc>
              <a:buClr>
                <a:schemeClr val="tx1"/>
              </a:buClr>
            </a:pPr>
            <a:endParaRPr lang="en-US" sz="3400" dirty="0"/>
          </a:p>
          <a:p>
            <a:pPr>
              <a:lnSpc>
                <a:spcPct val="100000"/>
              </a:lnSpc>
              <a:buClr>
                <a:schemeClr val="tx1"/>
              </a:buClr>
            </a:pPr>
            <a:r>
              <a:rPr lang="en-US" sz="3400" b="1" dirty="0">
                <a:solidFill>
                  <a:schemeClr val="bg1"/>
                </a:solidFill>
              </a:rPr>
              <a:t>Hexadecimal</a:t>
            </a:r>
            <a:r>
              <a:rPr lang="en-US" sz="3400" dirty="0">
                <a:solidFill>
                  <a:schemeClr val="bg1"/>
                </a:solidFill>
              </a:rPr>
              <a:t> </a:t>
            </a:r>
            <a:r>
              <a:rPr lang="en-US" sz="3400" dirty="0"/>
              <a:t>color code</a:t>
            </a:r>
            <a:r>
              <a:rPr lang="bg-BG" sz="3400" dirty="0"/>
              <a:t> </a:t>
            </a:r>
            <a:r>
              <a:rPr lang="en-US" sz="3400" dirty="0"/>
              <a:t>in format </a:t>
            </a:r>
            <a:r>
              <a:rPr lang="en-US" sz="3400" b="1" dirty="0">
                <a:latin typeface="Consolas" panose="020B0609020204030204" pitchFamily="49" charset="0"/>
              </a:rPr>
              <a:t>#RGB</a:t>
            </a:r>
            <a:r>
              <a:rPr lang="en-US" sz="3400" dirty="0"/>
              <a:t> or </a:t>
            </a:r>
            <a:r>
              <a:rPr lang="en-US" sz="3400" b="1" dirty="0">
                <a:latin typeface="Consolas" panose="020B0609020204030204" pitchFamily="49" charset="0"/>
              </a:rPr>
              <a:t>#RRGGBB</a:t>
            </a:r>
            <a:r>
              <a:rPr lang="en-US" sz="3400" dirty="0"/>
              <a:t>:</a:t>
            </a:r>
            <a:endParaRPr lang="bg-BG" sz="3400" b="1" dirty="0">
              <a:latin typeface="Consolas" panose="020B0609020204030204" pitchFamily="49" charset="0"/>
            </a:endParaRPr>
          </a:p>
          <a:p>
            <a:pPr>
              <a:lnSpc>
                <a:spcPct val="100000"/>
              </a:lnSpc>
              <a:buClr>
                <a:schemeClr val="tx1"/>
              </a:buClr>
            </a:pPr>
            <a:endParaRPr lang="bg-BG" sz="3400" dirty="0"/>
          </a:p>
          <a:p>
            <a:pPr>
              <a:lnSpc>
                <a:spcPct val="100000"/>
              </a:lnSpc>
              <a:buClr>
                <a:schemeClr val="tx1"/>
              </a:buClr>
            </a:pPr>
            <a:r>
              <a:rPr lang="en-US" sz="3400" dirty="0"/>
              <a:t>Decimal </a:t>
            </a:r>
            <a:r>
              <a:rPr lang="bg-BG" sz="3400" b="1" noProof="1">
                <a:solidFill>
                  <a:schemeClr val="bg1"/>
                </a:solidFill>
                <a:latin typeface="Consolas" panose="020B0609020204030204" pitchFamily="49" charset="0"/>
              </a:rPr>
              <a:t>rgb</a:t>
            </a:r>
            <a:r>
              <a:rPr lang="en-US" sz="3400" b="1" dirty="0">
                <a:solidFill>
                  <a:schemeClr val="bg1"/>
                </a:solidFill>
                <a:latin typeface="Consolas" panose="020B0609020204030204" pitchFamily="49" charset="0"/>
              </a:rPr>
              <a:t>()</a:t>
            </a:r>
            <a:r>
              <a:rPr lang="en-US" sz="3400" b="1" dirty="0">
                <a:solidFill>
                  <a:schemeClr val="bg1"/>
                </a:solidFill>
              </a:rPr>
              <a:t> </a:t>
            </a:r>
            <a:r>
              <a:rPr lang="en-US" sz="3400" dirty="0"/>
              <a:t>color codes (red, green, blue values):</a:t>
            </a:r>
          </a:p>
          <a:p>
            <a:pPr>
              <a:lnSpc>
                <a:spcPct val="100000"/>
              </a:lnSpc>
              <a:buClr>
                <a:schemeClr val="tx1"/>
              </a:buClr>
            </a:pPr>
            <a:endParaRPr lang="en-US" sz="3400" b="1" dirty="0">
              <a:solidFill>
                <a:schemeClr val="bg1"/>
              </a:solidFill>
            </a:endParaRPr>
          </a:p>
          <a:p>
            <a:pPr>
              <a:lnSpc>
                <a:spcPct val="100000"/>
              </a:lnSpc>
              <a:buClr>
                <a:schemeClr val="tx1"/>
              </a:buClr>
            </a:pPr>
            <a:r>
              <a:rPr lang="en-US" sz="3400" dirty="0"/>
              <a:t>Decimal </a:t>
            </a:r>
            <a:r>
              <a:rPr lang="bg-BG" sz="3400" b="1" noProof="1">
                <a:solidFill>
                  <a:schemeClr val="bg1"/>
                </a:solidFill>
                <a:latin typeface="Consolas" panose="020B0609020204030204" pitchFamily="49" charset="0"/>
              </a:rPr>
              <a:t>rgba</a:t>
            </a:r>
            <a:r>
              <a:rPr lang="en-US" sz="3400" b="1" dirty="0">
                <a:solidFill>
                  <a:schemeClr val="bg1"/>
                </a:solidFill>
                <a:latin typeface="Consolas" panose="020B0609020204030204" pitchFamily="49" charset="0"/>
              </a:rPr>
              <a:t>()</a:t>
            </a:r>
            <a:r>
              <a:rPr lang="en-US" sz="3400" dirty="0"/>
              <a:t> color codes (red, green, blue</a:t>
            </a:r>
            <a:r>
              <a:rPr lang="bg-BG" sz="3400" dirty="0"/>
              <a:t>,</a:t>
            </a:r>
            <a:r>
              <a:rPr lang="en-US" sz="3400" dirty="0"/>
              <a:t> alpha opacity):</a:t>
            </a:r>
            <a:endParaRPr lang="bg-BG" sz="3400" dirty="0"/>
          </a:p>
        </p:txBody>
      </p:sp>
      <p:sp>
        <p:nvSpPr>
          <p:cNvPr id="4" name="Title 3"/>
          <p:cNvSpPr>
            <a:spLocks noGrp="1"/>
          </p:cNvSpPr>
          <p:nvPr>
            <p:ph type="title"/>
          </p:nvPr>
        </p:nvSpPr>
        <p:spPr/>
        <p:txBody>
          <a:bodyPr/>
          <a:lstStyle/>
          <a:p>
            <a:r>
              <a:rPr lang="en-US" dirty="0"/>
              <a:t>Text Color</a:t>
            </a:r>
          </a:p>
        </p:txBody>
      </p:sp>
      <p:sp>
        <p:nvSpPr>
          <p:cNvPr id="8" name="Текстово поле 10"/>
          <p:cNvSpPr txBox="1"/>
          <p:nvPr/>
        </p:nvSpPr>
        <p:spPr>
          <a:xfrm>
            <a:off x="697407" y="1896959"/>
            <a:ext cx="5171975" cy="58728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399" dirty="0">
                <a:solidFill>
                  <a:srgbClr val="FF0000"/>
                </a:solidFill>
              </a:rPr>
              <a:t>color</a:t>
            </a:r>
            <a:r>
              <a:rPr lang="en-GB" sz="2399" dirty="0">
                <a:solidFill>
                  <a:srgbClr val="000000"/>
                </a:solidFill>
              </a:rPr>
              <a:t>: </a:t>
            </a:r>
            <a:r>
              <a:rPr lang="en-GB" sz="2399" dirty="0">
                <a:solidFill>
                  <a:srgbClr val="0451A5"/>
                </a:solidFill>
              </a:rPr>
              <a:t>red</a:t>
            </a:r>
            <a:r>
              <a:rPr lang="en-GB" sz="2399" dirty="0">
                <a:solidFill>
                  <a:srgbClr val="000000"/>
                </a:solidFill>
              </a:rPr>
              <a:t>;</a:t>
            </a:r>
          </a:p>
        </p:txBody>
      </p:sp>
      <p:sp>
        <p:nvSpPr>
          <p:cNvPr id="9" name="Текстово поле 10">
            <a:extLst>
              <a:ext uri="{FF2B5EF4-FFF2-40B4-BE49-F238E27FC236}">
                <a16:creationId xmlns:a16="http://schemas.microsoft.com/office/drawing/2014/main" id="{7C2C164A-C2BF-48EC-A5DB-FB2D470E6152}"/>
              </a:ext>
            </a:extLst>
          </p:cNvPr>
          <p:cNvSpPr txBox="1"/>
          <p:nvPr/>
        </p:nvSpPr>
        <p:spPr>
          <a:xfrm>
            <a:off x="697407" y="3235616"/>
            <a:ext cx="5171975" cy="58728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399" dirty="0">
                <a:solidFill>
                  <a:srgbClr val="FF0000"/>
                </a:solidFill>
              </a:rPr>
              <a:t>color</a:t>
            </a:r>
            <a:r>
              <a:rPr lang="en-GB" sz="2399" dirty="0">
                <a:solidFill>
                  <a:srgbClr val="000000"/>
                </a:solidFill>
              </a:rPr>
              <a:t>: </a:t>
            </a:r>
            <a:r>
              <a:rPr lang="en-GB" sz="2399" dirty="0">
                <a:solidFill>
                  <a:srgbClr val="0451A5"/>
                </a:solidFill>
              </a:rPr>
              <a:t>#05ffb0</a:t>
            </a:r>
            <a:r>
              <a:rPr lang="en-GB" sz="2399" dirty="0">
                <a:solidFill>
                  <a:srgbClr val="000000"/>
                </a:solidFill>
              </a:rPr>
              <a:t>;</a:t>
            </a:r>
          </a:p>
        </p:txBody>
      </p:sp>
      <p:sp>
        <p:nvSpPr>
          <p:cNvPr id="12" name="Текстово поле 10">
            <a:extLst>
              <a:ext uri="{FF2B5EF4-FFF2-40B4-BE49-F238E27FC236}">
                <a16:creationId xmlns:a16="http://schemas.microsoft.com/office/drawing/2014/main" id="{32DBC164-C39F-4D9E-BC6C-32C7375A49D5}"/>
              </a:ext>
            </a:extLst>
          </p:cNvPr>
          <p:cNvSpPr txBox="1"/>
          <p:nvPr/>
        </p:nvSpPr>
        <p:spPr>
          <a:xfrm>
            <a:off x="697407" y="4567953"/>
            <a:ext cx="5171975" cy="58728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399" dirty="0">
                <a:solidFill>
                  <a:srgbClr val="FF0000"/>
                </a:solidFill>
              </a:rPr>
              <a:t>color</a:t>
            </a:r>
            <a:r>
              <a:rPr lang="en-GB" sz="2399" dirty="0">
                <a:solidFill>
                  <a:srgbClr val="000000"/>
                </a:solidFill>
              </a:rPr>
              <a:t>: </a:t>
            </a:r>
            <a:r>
              <a:rPr lang="bg-BG" sz="2399" noProof="1">
                <a:solidFill>
                  <a:srgbClr val="000000"/>
                </a:solidFill>
              </a:rPr>
              <a:t>rgb(</a:t>
            </a:r>
            <a:r>
              <a:rPr lang="bg-BG" sz="2399" noProof="1">
                <a:solidFill>
                  <a:srgbClr val="098658"/>
                </a:solidFill>
              </a:rPr>
              <a:t>125</a:t>
            </a:r>
            <a:r>
              <a:rPr lang="en-GB" sz="2399" dirty="0">
                <a:solidFill>
                  <a:srgbClr val="000000"/>
                </a:solidFill>
              </a:rPr>
              <a:t>, </a:t>
            </a:r>
            <a:r>
              <a:rPr lang="en-GB" sz="2399" dirty="0">
                <a:solidFill>
                  <a:srgbClr val="098658"/>
                </a:solidFill>
              </a:rPr>
              <a:t>125</a:t>
            </a:r>
            <a:r>
              <a:rPr lang="en-GB" sz="2399" dirty="0">
                <a:solidFill>
                  <a:srgbClr val="000000"/>
                </a:solidFill>
              </a:rPr>
              <a:t>, </a:t>
            </a:r>
            <a:r>
              <a:rPr lang="en-GB" sz="2399" dirty="0">
                <a:solidFill>
                  <a:srgbClr val="098658"/>
                </a:solidFill>
              </a:rPr>
              <a:t>255</a:t>
            </a:r>
            <a:r>
              <a:rPr lang="en-GB" sz="2399" dirty="0">
                <a:solidFill>
                  <a:srgbClr val="000000"/>
                </a:solidFill>
              </a:rPr>
              <a:t>);</a:t>
            </a:r>
          </a:p>
        </p:txBody>
      </p:sp>
      <p:sp>
        <p:nvSpPr>
          <p:cNvPr id="13" name="Текстово поле 10">
            <a:extLst>
              <a:ext uri="{FF2B5EF4-FFF2-40B4-BE49-F238E27FC236}">
                <a16:creationId xmlns:a16="http://schemas.microsoft.com/office/drawing/2014/main" id="{08A7B366-1CD8-4D15-9AF7-D5C7DC8CC8B6}"/>
              </a:ext>
            </a:extLst>
          </p:cNvPr>
          <p:cNvSpPr txBox="1"/>
          <p:nvPr/>
        </p:nvSpPr>
        <p:spPr>
          <a:xfrm>
            <a:off x="699085" y="5923515"/>
            <a:ext cx="5171975" cy="587288"/>
          </a:xfrm>
          <a:prstGeom prst="rect">
            <a:avLst/>
          </a:prstGeom>
          <a:solidFill>
            <a:schemeClr val="tx1">
              <a:lumMod val="20000"/>
              <a:lumOff val="80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defRPr sz="2200" b="1">
                <a:latin typeface="Consolas" panose="020B0609020204030204" pitchFamily="49" charset="0"/>
              </a:defRPr>
            </a:lvl1pPr>
          </a:lstStyle>
          <a:p>
            <a:r>
              <a:rPr lang="en-GB" sz="2399" dirty="0">
                <a:solidFill>
                  <a:srgbClr val="FF0000"/>
                </a:solidFill>
              </a:rPr>
              <a:t>color</a:t>
            </a:r>
            <a:r>
              <a:rPr lang="en-GB" sz="2399" dirty="0">
                <a:solidFill>
                  <a:srgbClr val="000000"/>
                </a:solidFill>
              </a:rPr>
              <a:t>: </a:t>
            </a:r>
            <a:r>
              <a:rPr lang="bg-BG" sz="2399" noProof="1">
                <a:solidFill>
                  <a:srgbClr val="000000"/>
                </a:solidFill>
              </a:rPr>
              <a:t>rgba(</a:t>
            </a:r>
            <a:r>
              <a:rPr lang="bg-BG" sz="2399" noProof="1">
                <a:solidFill>
                  <a:srgbClr val="098658"/>
                </a:solidFill>
              </a:rPr>
              <a:t>255</a:t>
            </a:r>
            <a:r>
              <a:rPr lang="en-GB" sz="2399" dirty="0">
                <a:solidFill>
                  <a:srgbClr val="000000"/>
                </a:solidFill>
              </a:rPr>
              <a:t>, </a:t>
            </a:r>
            <a:r>
              <a:rPr lang="en-GB" sz="2399" dirty="0">
                <a:solidFill>
                  <a:srgbClr val="098658"/>
                </a:solidFill>
              </a:rPr>
              <a:t>0</a:t>
            </a:r>
            <a:r>
              <a:rPr lang="en-GB" sz="2399" dirty="0">
                <a:solidFill>
                  <a:srgbClr val="000000"/>
                </a:solidFill>
              </a:rPr>
              <a:t>, </a:t>
            </a:r>
            <a:r>
              <a:rPr lang="en-GB" sz="2399" dirty="0">
                <a:solidFill>
                  <a:srgbClr val="098658"/>
                </a:solidFill>
              </a:rPr>
              <a:t>0</a:t>
            </a:r>
            <a:r>
              <a:rPr lang="en-GB" sz="2399" dirty="0">
                <a:solidFill>
                  <a:srgbClr val="000000"/>
                </a:solidFill>
              </a:rPr>
              <a:t>, </a:t>
            </a:r>
            <a:r>
              <a:rPr lang="en-GB" sz="2399" dirty="0">
                <a:solidFill>
                  <a:srgbClr val="098658"/>
                </a:solidFill>
              </a:rPr>
              <a:t>0.5</a:t>
            </a:r>
            <a:r>
              <a:rPr lang="en-GB" sz="2399" dirty="0">
                <a:solidFill>
                  <a:srgbClr val="000000"/>
                </a:solidFill>
              </a:rPr>
              <a:t>);</a:t>
            </a:r>
          </a:p>
        </p:txBody>
      </p:sp>
      <p:pic>
        <p:nvPicPr>
          <p:cNvPr id="5" name="Picture 4"/>
          <p:cNvPicPr>
            <a:picLocks noChangeAspect="1"/>
          </p:cNvPicPr>
          <p:nvPr/>
        </p:nvPicPr>
        <p:blipFill>
          <a:blip r:embed="rId2"/>
          <a:stretch>
            <a:fillRect/>
          </a:stretch>
        </p:blipFill>
        <p:spPr>
          <a:xfrm>
            <a:off x="6320944" y="1896959"/>
            <a:ext cx="2604795" cy="587288"/>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rotWithShape="1">
          <a:blip r:embed="rId3"/>
          <a:srcRect l="100" t="9174" r="2338" b="8262"/>
          <a:stretch/>
        </p:blipFill>
        <p:spPr>
          <a:xfrm>
            <a:off x="6320942" y="3235616"/>
            <a:ext cx="2607514" cy="587288"/>
          </a:xfrm>
          <a:prstGeom prst="rect">
            <a:avLst/>
          </a:prstGeom>
          <a:ln>
            <a:noFill/>
          </a:ln>
          <a:effectLst>
            <a:outerShdw blurRad="292100" dist="139700" dir="2700000" algn="tl" rotWithShape="0">
              <a:srgbClr val="333333">
                <a:alpha val="65000"/>
              </a:srgbClr>
            </a:outerShdw>
          </a:effectLst>
        </p:spPr>
      </p:pic>
      <p:pic>
        <p:nvPicPr>
          <p:cNvPr id="16" name="Picture 15"/>
          <p:cNvPicPr>
            <a:picLocks noChangeAspect="1"/>
          </p:cNvPicPr>
          <p:nvPr/>
        </p:nvPicPr>
        <p:blipFill rotWithShape="1">
          <a:blip r:embed="rId4"/>
          <a:srcRect t="3631" r="2873"/>
          <a:stretch/>
        </p:blipFill>
        <p:spPr>
          <a:xfrm>
            <a:off x="6320941" y="5924456"/>
            <a:ext cx="2612320" cy="586347"/>
          </a:xfrm>
          <a:prstGeom prst="rect">
            <a:avLst/>
          </a:prstGeom>
          <a:ln>
            <a:noFill/>
          </a:ln>
          <a:effectLst>
            <a:outerShdw blurRad="292100" dist="139700" dir="2700000" algn="tl" rotWithShape="0">
              <a:srgbClr val="333333">
                <a:alpha val="65000"/>
              </a:srgbClr>
            </a:outerShdw>
          </a:effectLst>
        </p:spPr>
      </p:pic>
      <p:pic>
        <p:nvPicPr>
          <p:cNvPr id="17" name="Picture 16"/>
          <p:cNvPicPr>
            <a:picLocks noChangeAspect="1"/>
          </p:cNvPicPr>
          <p:nvPr/>
        </p:nvPicPr>
        <p:blipFill rotWithShape="1">
          <a:blip r:embed="rId5"/>
          <a:srcRect t="12360" r="1930" b="8900"/>
          <a:stretch/>
        </p:blipFill>
        <p:spPr>
          <a:xfrm>
            <a:off x="6323399" y="4567953"/>
            <a:ext cx="2607520" cy="587289"/>
          </a:xfrm>
          <a:prstGeom prst="rect">
            <a:avLst/>
          </a:prstGeom>
          <a:ln>
            <a:noFill/>
          </a:ln>
          <a:effectLst>
            <a:outerShdw blurRad="292100" dist="139700" dir="2700000" algn="tl" rotWithShape="0">
              <a:srgbClr val="333333">
                <a:alpha val="65000"/>
              </a:srgbClr>
            </a:outerShdw>
          </a:effectLst>
        </p:spPr>
      </p:pic>
      <p:sp>
        <p:nvSpPr>
          <p:cNvPr id="14" name="Slide Number">
            <a:extLst>
              <a:ext uri="{FF2B5EF4-FFF2-40B4-BE49-F238E27FC236}">
                <a16:creationId xmlns:a16="http://schemas.microsoft.com/office/drawing/2014/main" id="{2D22F52B-7AEE-4521-8365-C82940AD22D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79</a:t>
            </a:fld>
            <a:endParaRPr lang="en-US" noProof="0" dirty="0"/>
          </a:p>
        </p:txBody>
      </p:sp>
    </p:spTree>
    <p:extLst>
      <p:ext uri="{BB962C8B-B14F-4D97-AF65-F5344CB8AC3E}">
        <p14:creationId xmlns:p14="http://schemas.microsoft.com/office/powerpoint/2010/main" val="173851734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Background Color</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sz="3200" b="1" dirty="0">
                <a:solidFill>
                  <a:schemeClr val="bg1"/>
                </a:solidFill>
                <a:latin typeface="Consolas" panose="020B0609020204030204" pitchFamily="49" charset="0"/>
              </a:rPr>
              <a:t>background-color</a:t>
            </a:r>
            <a:r>
              <a:rPr lang="en-US" sz="3200" b="1" dirty="0">
                <a:solidFill>
                  <a:schemeClr val="bg1"/>
                </a:solidFill>
              </a:rPr>
              <a:t> </a:t>
            </a:r>
            <a:r>
              <a:rPr lang="en-US" sz="3200" dirty="0"/>
              <a:t>-</a:t>
            </a:r>
            <a:r>
              <a:rPr lang="en-US" sz="3200" b="1" dirty="0">
                <a:solidFill>
                  <a:schemeClr val="bg1"/>
                </a:solidFill>
              </a:rPr>
              <a:t> </a:t>
            </a:r>
            <a:r>
              <a:rPr lang="en-US" sz="3200" dirty="0"/>
              <a:t>defines the color of the background</a:t>
            </a:r>
          </a:p>
          <a:p>
            <a:pPr lvl="1">
              <a:lnSpc>
                <a:spcPct val="100000"/>
              </a:lnSpc>
              <a:buClr>
                <a:schemeClr val="tx1"/>
              </a:buClr>
            </a:pPr>
            <a:r>
              <a:rPr lang="en-US" sz="3000" b="1" dirty="0">
                <a:solidFill>
                  <a:schemeClr val="bg1"/>
                </a:solidFill>
                <a:latin typeface="Consolas" panose="020B0609020204030204" pitchFamily="49" charset="0"/>
              </a:rPr>
              <a:t>transparent</a:t>
            </a:r>
          </a:p>
          <a:p>
            <a:pPr marL="442912" lvl="1" indent="0">
              <a:lnSpc>
                <a:spcPct val="100000"/>
              </a:lnSpc>
              <a:buClr>
                <a:schemeClr val="tx1"/>
              </a:buClr>
              <a:buNone/>
            </a:pPr>
            <a:endParaRPr lang="en-US" sz="3000" dirty="0"/>
          </a:p>
          <a:p>
            <a:pPr lvl="1">
              <a:lnSpc>
                <a:spcPts val="3400"/>
              </a:lnSpc>
              <a:buClr>
                <a:schemeClr val="tx1"/>
              </a:buClr>
            </a:pPr>
            <a:r>
              <a:rPr lang="en-US" sz="3000" dirty="0"/>
              <a:t>Specify the background color with:</a:t>
            </a:r>
          </a:p>
          <a:p>
            <a:pPr lvl="2">
              <a:lnSpc>
                <a:spcPts val="3400"/>
              </a:lnSpc>
              <a:buClr>
                <a:schemeClr val="tx1"/>
              </a:buClr>
            </a:pPr>
            <a:r>
              <a:rPr lang="en-US" sz="2800" dirty="0"/>
              <a:t>HEX</a:t>
            </a:r>
          </a:p>
          <a:p>
            <a:pPr lvl="2">
              <a:lnSpc>
                <a:spcPts val="3400"/>
              </a:lnSpc>
              <a:buClr>
                <a:schemeClr val="tx1"/>
              </a:buClr>
            </a:pPr>
            <a:r>
              <a:rPr lang="en-US" sz="2800" dirty="0"/>
              <a:t>RGB/RGBA</a:t>
            </a:r>
          </a:p>
          <a:p>
            <a:pPr lvl="2">
              <a:lnSpc>
                <a:spcPts val="3400"/>
              </a:lnSpc>
              <a:buClr>
                <a:schemeClr val="tx1"/>
              </a:buClr>
            </a:pPr>
            <a:r>
              <a:rPr lang="en-US" sz="2800" dirty="0"/>
              <a:t>Named color</a:t>
            </a:r>
            <a:endParaRPr lang="bg-BG" sz="2800" dirty="0"/>
          </a:p>
        </p:txBody>
      </p:sp>
      <p:sp>
        <p:nvSpPr>
          <p:cNvPr id="7" name="Текстово поле 10"/>
          <p:cNvSpPr txBox="1"/>
          <p:nvPr/>
        </p:nvSpPr>
        <p:spPr>
          <a:xfrm>
            <a:off x="1101000" y="2394000"/>
            <a:ext cx="5355000" cy="587441"/>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400" dirty="0">
                <a:solidFill>
                  <a:srgbClr val="FF0000"/>
                </a:solidFill>
              </a:rPr>
              <a:t>background-color</a:t>
            </a:r>
            <a:r>
              <a:rPr lang="en-GB" sz="2400" dirty="0">
                <a:solidFill>
                  <a:srgbClr val="000000"/>
                </a:solidFill>
              </a:rPr>
              <a:t>: </a:t>
            </a:r>
            <a:r>
              <a:rPr lang="en-GB" sz="2400" dirty="0">
                <a:solidFill>
                  <a:srgbClr val="0451A5"/>
                </a:solidFill>
              </a:rPr>
              <a:t>transparent</a:t>
            </a:r>
            <a:r>
              <a:rPr lang="en-GB" sz="2400" dirty="0">
                <a:solidFill>
                  <a:srgbClr val="000000"/>
                </a:solidFill>
              </a:rPr>
              <a:t>;</a:t>
            </a:r>
          </a:p>
        </p:txBody>
      </p:sp>
      <p:sp>
        <p:nvSpPr>
          <p:cNvPr id="11" name="Текстово поле 10">
            <a:extLst>
              <a:ext uri="{FF2B5EF4-FFF2-40B4-BE49-F238E27FC236}">
                <a16:creationId xmlns:a16="http://schemas.microsoft.com/office/drawing/2014/main" id="{4EE0807C-B0A5-4C2B-B8AC-61C34FC39FBA}"/>
              </a:ext>
            </a:extLst>
          </p:cNvPr>
          <p:cNvSpPr txBox="1"/>
          <p:nvPr/>
        </p:nvSpPr>
        <p:spPr>
          <a:xfrm>
            <a:off x="1101000" y="5368154"/>
            <a:ext cx="5355001" cy="587441"/>
          </a:xfrm>
          <a:prstGeom prst="rect">
            <a:avLst/>
          </a:prstGeom>
          <a:solidFill>
            <a:schemeClr val="tx1">
              <a:lumMod val="20000"/>
              <a:lumOff val="80000"/>
              <a:alpha val="15000"/>
            </a:schemeClr>
          </a:solidFill>
          <a:ln w="12700">
            <a:solidFill>
              <a:schemeClr val="tx1">
                <a:lumMod val="75000"/>
              </a:schemeClr>
            </a:solidFill>
          </a:ln>
        </p:spPr>
        <p:txBody>
          <a:bodyPr vert="horz" wrap="square" lIns="144000" tIns="108000" rIns="144000" bIns="108000" rtlCol="0">
            <a:spAutoFit/>
          </a:bodyPr>
          <a:lstStyle>
            <a:defPPr>
              <a:defRPr lang="en-US"/>
            </a:defPPr>
            <a:lvl1pPr>
              <a:defRPr sz="2200" b="1">
                <a:latin typeface="Consolas" panose="020B0609020204030204" pitchFamily="49" charset="0"/>
              </a:defRPr>
            </a:lvl1pPr>
          </a:lstStyle>
          <a:p>
            <a:r>
              <a:rPr lang="en-GB" sz="2400" dirty="0">
                <a:solidFill>
                  <a:srgbClr val="FF0000"/>
                </a:solidFill>
              </a:rPr>
              <a:t>background-color</a:t>
            </a:r>
            <a:r>
              <a:rPr lang="en-GB" sz="2400" dirty="0">
                <a:solidFill>
                  <a:srgbClr val="000000"/>
                </a:solidFill>
              </a:rPr>
              <a:t>: </a:t>
            </a:r>
            <a:r>
              <a:rPr lang="en-GB" sz="2400" dirty="0">
                <a:solidFill>
                  <a:srgbClr val="0451A5"/>
                </a:solidFill>
              </a:rPr>
              <a:t>navy</a:t>
            </a:r>
            <a:r>
              <a:rPr lang="en-GB" sz="2400" dirty="0">
                <a:solidFill>
                  <a:srgbClr val="000000"/>
                </a:solidFill>
              </a:rPr>
              <a:t>;</a:t>
            </a:r>
          </a:p>
        </p:txBody>
      </p:sp>
      <p:sp>
        <p:nvSpPr>
          <p:cNvPr id="8" name="Slide Number">
            <a:extLst>
              <a:ext uri="{FF2B5EF4-FFF2-40B4-BE49-F238E27FC236}">
                <a16:creationId xmlns:a16="http://schemas.microsoft.com/office/drawing/2014/main" id="{6E96A906-6826-43AC-9916-4E8CFCE89ED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80</a:t>
            </a:fld>
            <a:endParaRPr lang="en-US" noProof="0" dirty="0"/>
          </a:p>
        </p:txBody>
      </p:sp>
    </p:spTree>
    <p:extLst>
      <p:ext uri="{BB962C8B-B14F-4D97-AF65-F5344CB8AC3E}">
        <p14:creationId xmlns:p14="http://schemas.microsoft.com/office/powerpoint/2010/main" val="1814537755"/>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Mouse Cursor</a:t>
            </a:r>
          </a:p>
        </p:txBody>
      </p:sp>
      <p:sp>
        <p:nvSpPr>
          <p:cNvPr id="3" name="Text Placeholder 2"/>
          <p:cNvSpPr>
            <a:spLocks noGrp="1"/>
          </p:cNvSpPr>
          <p:nvPr>
            <p:ph type="body" sz="quarter" idx="10"/>
          </p:nvPr>
        </p:nvSpPr>
        <p:spPr>
          <a:xfrm>
            <a:off x="191940" y="1196707"/>
            <a:ext cx="11662560" cy="5527326"/>
          </a:xfrm>
        </p:spPr>
        <p:txBody>
          <a:bodyPr>
            <a:normAutofit/>
          </a:bodyPr>
          <a:lstStyle/>
          <a:p>
            <a:pPr>
              <a:lnSpc>
                <a:spcPct val="100000"/>
              </a:lnSpc>
              <a:buClr>
                <a:schemeClr val="tx1"/>
              </a:buClr>
            </a:pPr>
            <a:r>
              <a:rPr lang="en-US" dirty="0"/>
              <a:t>Sets the </a:t>
            </a:r>
            <a:r>
              <a:rPr lang="en-US" b="1" dirty="0">
                <a:solidFill>
                  <a:schemeClr val="bg1"/>
                </a:solidFill>
              </a:rPr>
              <a:t>mouse</a:t>
            </a:r>
            <a:r>
              <a:rPr lang="en-US" b="1" dirty="0"/>
              <a:t> </a:t>
            </a:r>
            <a:r>
              <a:rPr lang="en-US" b="1" dirty="0">
                <a:solidFill>
                  <a:schemeClr val="bg1"/>
                </a:solidFill>
              </a:rPr>
              <a:t>cursor</a:t>
            </a:r>
            <a:r>
              <a:rPr lang="en-US" b="1" dirty="0"/>
              <a:t> </a:t>
            </a:r>
            <a:r>
              <a:rPr lang="en-US" dirty="0"/>
              <a:t>when hovering the element:</a:t>
            </a:r>
            <a:endParaRPr lang="bg-BG" dirty="0"/>
          </a:p>
        </p:txBody>
      </p:sp>
      <p:sp>
        <p:nvSpPr>
          <p:cNvPr id="7" name="Текстово поле 10"/>
          <p:cNvSpPr txBox="1"/>
          <p:nvPr/>
        </p:nvSpPr>
        <p:spPr>
          <a:xfrm>
            <a:off x="697407" y="1998306"/>
            <a:ext cx="5848477"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dirty="0">
                <a:solidFill>
                  <a:srgbClr val="FF0000"/>
                </a:solidFill>
                <a:latin typeface="Consolas" panose="020B0609020204030204" pitchFamily="49" charset="0"/>
              </a:rPr>
              <a:t>cursor</a:t>
            </a:r>
            <a:r>
              <a:rPr lang="en-GB" sz="2799" b="1" dirty="0">
                <a:solidFill>
                  <a:srgbClr val="000000"/>
                </a:solidFill>
                <a:latin typeface="Consolas" panose="020B0609020204030204" pitchFamily="49" charset="0"/>
              </a:rPr>
              <a:t>: </a:t>
            </a:r>
            <a:r>
              <a:rPr lang="en-GB" sz="2799" b="1" dirty="0">
                <a:solidFill>
                  <a:srgbClr val="0451A5"/>
                </a:solidFill>
                <a:latin typeface="Consolas" panose="020B0609020204030204" pitchFamily="49" charset="0"/>
              </a:rPr>
              <a:t>pointer;</a:t>
            </a:r>
            <a:endParaRPr lang="en-GB" sz="2799" b="1" dirty="0">
              <a:solidFill>
                <a:srgbClr val="000000"/>
              </a:solidFill>
              <a:latin typeface="Consolas" panose="020B0609020204030204" pitchFamily="49" charset="0"/>
            </a:endParaRPr>
          </a:p>
        </p:txBody>
      </p:sp>
      <p:pic>
        <p:nvPicPr>
          <p:cNvPr id="12" name="Picture 11">
            <a:extLst>
              <a:ext uri="{FF2B5EF4-FFF2-40B4-BE49-F238E27FC236}">
                <a16:creationId xmlns:a16="http://schemas.microsoft.com/office/drawing/2014/main" id="{8A6ED0F3-9B3A-4948-9C59-5CE64F29923D}"/>
              </a:ext>
            </a:extLst>
          </p:cNvPr>
          <p:cNvPicPr>
            <a:picLocks noChangeAspect="1"/>
          </p:cNvPicPr>
          <p:nvPr/>
        </p:nvPicPr>
        <p:blipFill>
          <a:blip r:embed="rId2"/>
          <a:stretch>
            <a:fillRect/>
          </a:stretch>
        </p:blipFill>
        <p:spPr>
          <a:xfrm>
            <a:off x="6880315" y="1998306"/>
            <a:ext cx="2139924" cy="643146"/>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7895532" y="2433213"/>
            <a:ext cx="501571" cy="590892"/>
          </a:xfrm>
          <a:prstGeom prst="rect">
            <a:avLst/>
          </a:prstGeom>
        </p:spPr>
      </p:pic>
      <p:sp>
        <p:nvSpPr>
          <p:cNvPr id="13" name="Текстово поле 10">
            <a:extLst>
              <a:ext uri="{FF2B5EF4-FFF2-40B4-BE49-F238E27FC236}">
                <a16:creationId xmlns:a16="http://schemas.microsoft.com/office/drawing/2014/main" id="{562503BC-CA5F-4670-9A45-6893FFA58830}"/>
              </a:ext>
            </a:extLst>
          </p:cNvPr>
          <p:cNvSpPr txBox="1"/>
          <p:nvPr/>
        </p:nvSpPr>
        <p:spPr>
          <a:xfrm>
            <a:off x="697407" y="3144919"/>
            <a:ext cx="5848477"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dirty="0">
                <a:solidFill>
                  <a:srgbClr val="FF0000"/>
                </a:solidFill>
                <a:latin typeface="Consolas" panose="020B0609020204030204" pitchFamily="49" charset="0"/>
              </a:rPr>
              <a:t>cursor</a:t>
            </a:r>
            <a:r>
              <a:rPr lang="en-GB" sz="2799" b="1" dirty="0">
                <a:solidFill>
                  <a:srgbClr val="000000"/>
                </a:solidFill>
                <a:latin typeface="Consolas" panose="020B0609020204030204" pitchFamily="49" charset="0"/>
              </a:rPr>
              <a:t>: </a:t>
            </a:r>
            <a:r>
              <a:rPr lang="en-GB" sz="2799" b="1" dirty="0">
                <a:solidFill>
                  <a:srgbClr val="0451A5"/>
                </a:solidFill>
                <a:latin typeface="Consolas" panose="020B0609020204030204" pitchFamily="49" charset="0"/>
              </a:rPr>
              <a:t>move;</a:t>
            </a:r>
            <a:endParaRPr lang="en-GB" sz="2799" b="1" dirty="0">
              <a:solidFill>
                <a:srgbClr val="000000"/>
              </a:solidFill>
              <a:latin typeface="Consolas" panose="020B0609020204030204" pitchFamily="49" charset="0"/>
            </a:endParaRPr>
          </a:p>
        </p:txBody>
      </p:sp>
      <p:pic>
        <p:nvPicPr>
          <p:cNvPr id="19" name="Picture 18">
            <a:extLst>
              <a:ext uri="{FF2B5EF4-FFF2-40B4-BE49-F238E27FC236}">
                <a16:creationId xmlns:a16="http://schemas.microsoft.com/office/drawing/2014/main" id="{A470716D-96BA-41B8-8037-37310AA9FA88}"/>
              </a:ext>
            </a:extLst>
          </p:cNvPr>
          <p:cNvPicPr>
            <a:picLocks noChangeAspect="1"/>
          </p:cNvPicPr>
          <p:nvPr/>
        </p:nvPicPr>
        <p:blipFill>
          <a:blip r:embed="rId4"/>
          <a:stretch>
            <a:fillRect/>
          </a:stretch>
        </p:blipFill>
        <p:spPr>
          <a:xfrm>
            <a:off x="6880315" y="3114082"/>
            <a:ext cx="2109964" cy="703322"/>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97102" y="3465742"/>
            <a:ext cx="500880" cy="500880"/>
          </a:xfrm>
          <a:prstGeom prst="rect">
            <a:avLst/>
          </a:prstGeom>
        </p:spPr>
      </p:pic>
      <p:sp>
        <p:nvSpPr>
          <p:cNvPr id="20" name="Текстово поле 10">
            <a:extLst>
              <a:ext uri="{FF2B5EF4-FFF2-40B4-BE49-F238E27FC236}">
                <a16:creationId xmlns:a16="http://schemas.microsoft.com/office/drawing/2014/main" id="{C8A2CEEB-E234-4577-AD9D-C6FA7F270645}"/>
              </a:ext>
            </a:extLst>
          </p:cNvPr>
          <p:cNvSpPr txBox="1"/>
          <p:nvPr/>
        </p:nvSpPr>
        <p:spPr>
          <a:xfrm>
            <a:off x="697407" y="4327915"/>
            <a:ext cx="5848477"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dirty="0">
                <a:solidFill>
                  <a:srgbClr val="FF0000"/>
                </a:solidFill>
                <a:latin typeface="Consolas" panose="020B0609020204030204" pitchFamily="49" charset="0"/>
              </a:rPr>
              <a:t>cursor</a:t>
            </a:r>
            <a:r>
              <a:rPr lang="en-GB" sz="2799" b="1" dirty="0">
                <a:solidFill>
                  <a:srgbClr val="000000"/>
                </a:solidFill>
                <a:latin typeface="Consolas" panose="020B0609020204030204" pitchFamily="49" charset="0"/>
              </a:rPr>
              <a:t>: </a:t>
            </a:r>
            <a:r>
              <a:rPr lang="en-US" sz="2799" b="1" dirty="0">
                <a:solidFill>
                  <a:srgbClr val="0451A5"/>
                </a:solidFill>
                <a:latin typeface="Consolas" panose="020B0609020204030204" pitchFamily="49" charset="0"/>
              </a:rPr>
              <a:t>none</a:t>
            </a:r>
            <a:r>
              <a:rPr lang="en-GB" sz="2799" b="1" dirty="0">
                <a:solidFill>
                  <a:srgbClr val="0451A5"/>
                </a:solidFill>
                <a:latin typeface="Consolas" panose="020B0609020204030204" pitchFamily="49" charset="0"/>
              </a:rPr>
              <a:t>;</a:t>
            </a:r>
            <a:endParaRPr lang="en-GB" sz="2799" b="1" dirty="0">
              <a:solidFill>
                <a:srgbClr val="000000"/>
              </a:solidFill>
              <a:latin typeface="Consolas" panose="020B0609020204030204" pitchFamily="49" charset="0"/>
            </a:endParaRPr>
          </a:p>
        </p:txBody>
      </p:sp>
      <p:sp>
        <p:nvSpPr>
          <p:cNvPr id="23" name="Текстово поле 10">
            <a:extLst>
              <a:ext uri="{FF2B5EF4-FFF2-40B4-BE49-F238E27FC236}">
                <a16:creationId xmlns:a16="http://schemas.microsoft.com/office/drawing/2014/main" id="{94CDB531-DB4A-4DA2-AA61-E1ACAF1F6FB8}"/>
              </a:ext>
            </a:extLst>
          </p:cNvPr>
          <p:cNvSpPr txBox="1"/>
          <p:nvPr/>
        </p:nvSpPr>
        <p:spPr>
          <a:xfrm>
            <a:off x="697407" y="5507697"/>
            <a:ext cx="5848477"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dirty="0">
                <a:solidFill>
                  <a:srgbClr val="FF0000"/>
                </a:solidFill>
                <a:latin typeface="Consolas" panose="020B0609020204030204" pitchFamily="49" charset="0"/>
              </a:rPr>
              <a:t>cursor</a:t>
            </a:r>
            <a:r>
              <a:rPr lang="en-GB" sz="2799" b="1" dirty="0">
                <a:solidFill>
                  <a:srgbClr val="000000"/>
                </a:solidFill>
                <a:latin typeface="Consolas" panose="020B0609020204030204" pitchFamily="49" charset="0"/>
              </a:rPr>
              <a:t>: </a:t>
            </a:r>
            <a:r>
              <a:rPr lang="en-US" sz="2799" b="1" dirty="0">
                <a:solidFill>
                  <a:srgbClr val="0451A5"/>
                </a:solidFill>
                <a:latin typeface="Consolas" panose="020B0609020204030204" pitchFamily="49" charset="0"/>
              </a:rPr>
              <a:t>col-resize</a:t>
            </a:r>
            <a:r>
              <a:rPr lang="en-GB" sz="2799" b="1" dirty="0">
                <a:solidFill>
                  <a:srgbClr val="0451A5"/>
                </a:solidFill>
                <a:latin typeface="Consolas" panose="020B0609020204030204" pitchFamily="49" charset="0"/>
              </a:rPr>
              <a:t>;</a:t>
            </a:r>
            <a:endParaRPr lang="en-GB" sz="2799" b="1" dirty="0">
              <a:solidFill>
                <a:srgbClr val="000000"/>
              </a:solidFill>
              <a:latin typeface="Consolas" panose="020B0609020204030204" pitchFamily="49" charset="0"/>
            </a:endParaRPr>
          </a:p>
        </p:txBody>
      </p:sp>
      <p:pic>
        <p:nvPicPr>
          <p:cNvPr id="25" name="Picture 24">
            <a:extLst>
              <a:ext uri="{FF2B5EF4-FFF2-40B4-BE49-F238E27FC236}">
                <a16:creationId xmlns:a16="http://schemas.microsoft.com/office/drawing/2014/main" id="{662E0DF7-22C1-42CF-B243-FDCAB196854B}"/>
              </a:ext>
            </a:extLst>
          </p:cNvPr>
          <p:cNvPicPr>
            <a:picLocks noChangeAspect="1"/>
          </p:cNvPicPr>
          <p:nvPr/>
        </p:nvPicPr>
        <p:blipFill>
          <a:blip r:embed="rId6"/>
          <a:stretch>
            <a:fillRect/>
          </a:stretch>
        </p:blipFill>
        <p:spPr>
          <a:xfrm>
            <a:off x="6880315" y="5298849"/>
            <a:ext cx="3742350" cy="1066522"/>
          </a:xfrm>
          <a:prstGeom prst="rect">
            <a:avLst/>
          </a:prstGeom>
          <a:ln>
            <a:noFill/>
          </a:ln>
          <a:effectLst>
            <a:outerShdw blurRad="292100" dist="139700" dir="2700000" algn="tl" rotWithShape="0">
              <a:srgbClr val="333333">
                <a:alpha val="65000"/>
              </a:srgbClr>
            </a:outerShdw>
          </a:effectLst>
        </p:spPr>
      </p:pic>
      <p:pic>
        <p:nvPicPr>
          <p:cNvPr id="1026" name="Picture 2" descr="Interactions - Vector stencils library">
            <a:extLst>
              <a:ext uri="{FF2B5EF4-FFF2-40B4-BE49-F238E27FC236}">
                <a16:creationId xmlns:a16="http://schemas.microsoft.com/office/drawing/2014/main" id="{FA276EDD-B872-4C74-922B-67936AE459A3}"/>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95881" y="5957580"/>
            <a:ext cx="648828" cy="64882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701E54CE-6975-4E52-AC8D-27699C909A77}"/>
              </a:ext>
            </a:extLst>
          </p:cNvPr>
          <p:cNvPicPr>
            <a:picLocks noChangeAspect="1"/>
          </p:cNvPicPr>
          <p:nvPr/>
        </p:nvPicPr>
        <p:blipFill>
          <a:blip r:embed="rId8"/>
          <a:stretch>
            <a:fillRect/>
          </a:stretch>
        </p:blipFill>
        <p:spPr>
          <a:xfrm>
            <a:off x="6880315" y="4278107"/>
            <a:ext cx="2166506" cy="875294"/>
          </a:xfrm>
          <a:prstGeom prst="rect">
            <a:avLst/>
          </a:prstGeom>
          <a:ln>
            <a:noFill/>
          </a:ln>
          <a:effectLst>
            <a:outerShdw blurRad="292100" dist="139700" dir="2700000" algn="tl" rotWithShape="0">
              <a:srgbClr val="333333">
                <a:alpha val="65000"/>
              </a:srgbClr>
            </a:outerShdw>
          </a:effectLst>
        </p:spPr>
      </p:pic>
      <p:sp>
        <p:nvSpPr>
          <p:cNvPr id="17" name="Slide Number">
            <a:extLst>
              <a:ext uri="{FF2B5EF4-FFF2-40B4-BE49-F238E27FC236}">
                <a16:creationId xmlns:a16="http://schemas.microsoft.com/office/drawing/2014/main" id="{6DB9AFE3-211D-4AFE-9B45-DD23E99F856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81</a:t>
            </a:fld>
            <a:endParaRPr lang="en-US" noProof="0" dirty="0"/>
          </a:p>
        </p:txBody>
      </p:sp>
    </p:spTree>
    <p:extLst>
      <p:ext uri="{BB962C8B-B14F-4D97-AF65-F5344CB8AC3E}">
        <p14:creationId xmlns:p14="http://schemas.microsoft.com/office/powerpoint/2010/main" val="287055171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P spid="2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Outline</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dirty="0"/>
              <a:t>Outline-width - defines the </a:t>
            </a:r>
            <a:r>
              <a:rPr lang="en-US" b="1" dirty="0">
                <a:solidFill>
                  <a:schemeClr val="bg1"/>
                </a:solidFill>
              </a:rPr>
              <a:t>width</a:t>
            </a:r>
            <a:r>
              <a:rPr lang="en-US" dirty="0">
                <a:solidFill>
                  <a:schemeClr val="bg1"/>
                </a:solidFill>
              </a:rPr>
              <a:t> </a:t>
            </a:r>
            <a:r>
              <a:rPr lang="en-US" dirty="0"/>
              <a:t>of the element's outlines</a:t>
            </a:r>
          </a:p>
          <a:p>
            <a:pPr>
              <a:lnSpc>
                <a:spcPct val="100000"/>
              </a:lnSpc>
              <a:buClr>
                <a:schemeClr val="tx1"/>
              </a:buClr>
            </a:pPr>
            <a:r>
              <a:rPr lang="en-US" dirty="0"/>
              <a:t>Outline-style - defines the </a:t>
            </a:r>
            <a:r>
              <a:rPr lang="en-US" b="1" dirty="0">
                <a:solidFill>
                  <a:schemeClr val="bg1"/>
                </a:solidFill>
              </a:rPr>
              <a:t>style</a:t>
            </a:r>
            <a:r>
              <a:rPr lang="en-US" dirty="0"/>
              <a:t> of the element's outlines</a:t>
            </a:r>
            <a:endParaRPr lang="en-US" b="1" dirty="0">
              <a:solidFill>
                <a:schemeClr val="bg1"/>
              </a:solidFill>
            </a:endParaRPr>
          </a:p>
          <a:p>
            <a:pPr>
              <a:lnSpc>
                <a:spcPct val="100000"/>
              </a:lnSpc>
              <a:buClr>
                <a:schemeClr val="tx1"/>
              </a:buClr>
            </a:pPr>
            <a:r>
              <a:rPr lang="en-US" dirty="0"/>
              <a:t>Outline-color - defines the </a:t>
            </a:r>
            <a:r>
              <a:rPr lang="en-US" b="1" dirty="0">
                <a:solidFill>
                  <a:schemeClr val="bg1"/>
                </a:solidFill>
              </a:rPr>
              <a:t>color</a:t>
            </a:r>
            <a:r>
              <a:rPr lang="en-US" dirty="0">
                <a:solidFill>
                  <a:schemeClr val="bg1"/>
                </a:solidFill>
              </a:rPr>
              <a:t> </a:t>
            </a:r>
            <a:r>
              <a:rPr lang="en-US" dirty="0"/>
              <a:t>of the element's outlines</a:t>
            </a:r>
            <a:endParaRPr lang="bg-BG" dirty="0"/>
          </a:p>
        </p:txBody>
      </p:sp>
      <p:sp>
        <p:nvSpPr>
          <p:cNvPr id="8" name="Текстово поле 10"/>
          <p:cNvSpPr txBox="1"/>
          <p:nvPr/>
        </p:nvSpPr>
        <p:spPr>
          <a:xfrm>
            <a:off x="831000" y="3975798"/>
            <a:ext cx="6075000" cy="1510771"/>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800" b="1" dirty="0">
                <a:solidFill>
                  <a:srgbClr val="800000"/>
                </a:solidFill>
                <a:latin typeface="Consolas" panose="020B0609020204030204" pitchFamily="49" charset="0"/>
              </a:rPr>
              <a:t>p</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outline</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4px</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dotted</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red</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7650" y="4359708"/>
            <a:ext cx="3943350" cy="742950"/>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3945AAAD-BE87-4056-80C9-0278FD7771B0}"/>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82</a:t>
            </a:fld>
            <a:endParaRPr lang="en-US" noProof="0" dirty="0"/>
          </a:p>
        </p:txBody>
      </p:sp>
    </p:spTree>
    <p:extLst>
      <p:ext uri="{BB962C8B-B14F-4D97-AF65-F5344CB8AC3E}">
        <p14:creationId xmlns:p14="http://schemas.microsoft.com/office/powerpoint/2010/main" val="93197998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48B47410-C52D-5F40-F872-DB65A7C0152D}"/>
              </a:ext>
            </a:extLst>
          </p:cNvPr>
          <p:cNvSpPr>
            <a:spLocks noGrp="1"/>
          </p:cNvSpPr>
          <p:nvPr>
            <p:ph type="body" sz="quarter" idx="10"/>
          </p:nvPr>
        </p:nvSpPr>
        <p:spPr/>
        <p:txBody>
          <a:bodyPr>
            <a:normAutofit/>
          </a:bodyPr>
          <a:lstStyle/>
          <a:p>
            <a:pPr>
              <a:lnSpc>
                <a:spcPct val="150000"/>
              </a:lnSpc>
            </a:pPr>
            <a:r>
              <a:rPr lang="en-US" sz="2200" b="1" dirty="0">
                <a:hlinkClick r:id="rId2"/>
              </a:rPr>
              <a:t>https://en.wikipedia.org/wiki/Markup_language</a:t>
            </a:r>
            <a:endParaRPr lang="en-US" sz="2200" b="1" dirty="0"/>
          </a:p>
          <a:p>
            <a:pPr>
              <a:lnSpc>
                <a:spcPct val="150000"/>
              </a:lnSpc>
            </a:pPr>
            <a:r>
              <a:rPr lang="en-US" sz="2200" b="1" dirty="0">
                <a:hlinkClick r:id="rId3"/>
              </a:rPr>
              <a:t>https://developer.mozilla.org/en-US/docs/Learn/Getting_started_with_the_web/How_the_Web_works</a:t>
            </a:r>
            <a:endParaRPr lang="en-US" sz="2200" b="1" dirty="0"/>
          </a:p>
          <a:p>
            <a:pPr>
              <a:lnSpc>
                <a:spcPct val="150000"/>
              </a:lnSpc>
            </a:pPr>
            <a:r>
              <a:rPr lang="en-US" sz="2200" b="1" dirty="0">
                <a:hlinkClick r:id="rId4"/>
              </a:rPr>
              <a:t>https://developer.mozilla.org/en-US/docs/Web/HTML</a:t>
            </a:r>
            <a:endParaRPr lang="en-US" sz="2200" b="1" dirty="0"/>
          </a:p>
          <a:p>
            <a:pPr marL="357188" indent="-342900">
              <a:lnSpc>
                <a:spcPct val="150000"/>
              </a:lnSpc>
            </a:pPr>
            <a:r>
              <a:rPr lang="en-US" sz="2200" b="1" dirty="0">
                <a:hlinkClick r:id="rId5"/>
              </a:rPr>
              <a:t>https://developer.mozilla.org/en-US/docs/Learn/Getting_started_with_the_web/HTML_basics</a:t>
            </a:r>
            <a:endParaRPr lang="en-US" sz="2200" b="1" dirty="0"/>
          </a:p>
          <a:p>
            <a:pPr>
              <a:lnSpc>
                <a:spcPct val="150000"/>
              </a:lnSpc>
            </a:pPr>
            <a:r>
              <a:rPr lang="en-US" sz="2200" b="1" dirty="0">
                <a:hlinkClick r:id="rId6"/>
              </a:rPr>
              <a:t>https://developer.mozilla.org/en-US/docs/Web/CSS</a:t>
            </a:r>
            <a:endParaRPr lang="en-US" sz="2200" b="1" dirty="0"/>
          </a:p>
          <a:p>
            <a:pPr marL="357188" indent="-342900">
              <a:lnSpc>
                <a:spcPct val="150000"/>
              </a:lnSpc>
            </a:pPr>
            <a:r>
              <a:rPr lang="en-US" sz="2200" b="1" dirty="0">
                <a:hlinkClick r:id="rId7"/>
              </a:rPr>
              <a:t>https://developer.mozilla.org/en-US/docs/Learn/Getting_started_with_the_web/CSS_basics</a:t>
            </a:r>
            <a:endParaRPr lang="en-US" sz="2200" b="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Resources</a:t>
            </a:r>
          </a:p>
        </p:txBody>
      </p:sp>
    </p:spTree>
    <p:extLst>
      <p:ext uri="{BB962C8B-B14F-4D97-AF65-F5344CB8AC3E}">
        <p14:creationId xmlns:p14="http://schemas.microsoft.com/office/powerpoint/2010/main" val="905811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0E49D336-45B6-44D3-97C4-E28F8DEA2022}"/>
              </a:ext>
            </a:extLst>
          </p:cNvPr>
          <p:cNvSpPr>
            <a:spLocks noGrp="1"/>
          </p:cNvSpPr>
          <p:nvPr>
            <p:ph type="body" sz="quarter" idx="10"/>
          </p:nvPr>
        </p:nvSpPr>
        <p:spPr>
          <a:xfrm>
            <a:off x="871086" y="1656688"/>
            <a:ext cx="7579238" cy="4771126"/>
          </a:xfrm>
        </p:spPr>
        <p:txBody>
          <a:bodyPr/>
          <a:lstStyle>
            <a:lvl1pPr marL="514350" indent="-514350">
              <a:buFont typeface="Wingdings" panose="05000000000000000000" pitchFamily="2" charset="2"/>
              <a:buChar char="§"/>
              <a:defRPr>
                <a:solidFill>
                  <a:schemeClr val="bg2"/>
                </a:solidFill>
              </a:defRPr>
            </a:lvl1pPr>
            <a:lvl2pPr marL="1123935" indent="-514350">
              <a:buFont typeface="Wingdings" panose="05000000000000000000" pitchFamily="2" charset="2"/>
              <a:buChar char="§"/>
              <a:defRPr>
                <a:solidFill>
                  <a:schemeClr val="tx1"/>
                </a:solidFill>
              </a:defRPr>
            </a:lvl2pPr>
            <a:lvl3pPr marL="1733520" indent="-514350">
              <a:buFont typeface="Wingdings" panose="05000000000000000000" pitchFamily="2" charset="2"/>
              <a:buChar char="§"/>
              <a:defRPr>
                <a:solidFill>
                  <a:schemeClr val="tx1"/>
                </a:solidFill>
              </a:defRPr>
            </a:lvl3pPr>
            <a:lvl4pPr marL="2343105" indent="-514350">
              <a:buFont typeface="Wingdings" panose="05000000000000000000" pitchFamily="2" charset="2"/>
              <a:buChar char="§"/>
              <a:defRPr>
                <a:solidFill>
                  <a:schemeClr val="tx1"/>
                </a:solidFill>
              </a:defRPr>
            </a:lvl4pPr>
            <a:lvl5pPr marL="2952689" indent="-514350">
              <a:buFont typeface="Wingdings" panose="05000000000000000000" pitchFamily="2" charset="2"/>
              <a:buChar char="§"/>
              <a:defRPr>
                <a:solidFill>
                  <a:schemeClr val="tx1"/>
                </a:solidFill>
              </a:defRPr>
            </a:lvl5pPr>
          </a:lstStyle>
          <a:p>
            <a:pPr lvl="0"/>
            <a:r>
              <a:rPr lang="en-US" dirty="0"/>
              <a:t>…</a:t>
            </a:r>
          </a:p>
          <a:p>
            <a:pPr lvl="0"/>
            <a:r>
              <a:rPr lang="en-GB" dirty="0"/>
              <a:t>…</a:t>
            </a:r>
            <a:endParaRPr lang="en-US" dirty="0"/>
          </a:p>
          <a:p>
            <a:pPr lvl="0"/>
            <a:r>
              <a:rPr lang="en-GB" dirty="0"/>
              <a:t>…</a:t>
            </a:r>
            <a:endParaRPr lang="en-US" dirty="0"/>
          </a:p>
          <a:p>
            <a:pPr lvl="0"/>
            <a:endParaRPr lang="en-US" dirty="0"/>
          </a:p>
        </p:txBody>
      </p:sp>
      <p:sp>
        <p:nvSpPr>
          <p:cNvPr id="4" name="Title 3"/>
          <p:cNvSpPr>
            <a:spLocks noGrp="1"/>
          </p:cNvSpPr>
          <p:nvPr>
            <p:ph type="title"/>
          </p:nvPr>
        </p:nvSpPr>
        <p:spPr/>
        <p:txBody>
          <a:bodyPr>
            <a:normAutofit/>
          </a:bodyPr>
          <a:lstStyle/>
          <a:p>
            <a:r>
              <a:rPr lang="en-US" dirty="0"/>
              <a:t>Summary</a:t>
            </a:r>
          </a:p>
        </p:txBody>
      </p:sp>
      <p:grpSp>
        <p:nvGrpSpPr>
          <p:cNvPr id="9" name="Group 8">
            <a:extLst>
              <a:ext uri="{FF2B5EF4-FFF2-40B4-BE49-F238E27FC236}">
                <a16:creationId xmlns:a16="http://schemas.microsoft.com/office/drawing/2014/main" id="{EBAFE522-EB7D-4931-A015-9A7E8A98517D}"/>
              </a:ext>
            </a:extLst>
          </p:cNvPr>
          <p:cNvGrpSpPr/>
          <p:nvPr/>
        </p:nvGrpSpPr>
        <p:grpSpPr>
          <a:xfrm>
            <a:off x="193480" y="1224575"/>
            <a:ext cx="11735168" cy="5494658"/>
            <a:chOff x="472011" y="1508786"/>
            <a:chExt cx="3799787" cy="4865561"/>
          </a:xfrm>
        </p:grpSpPr>
        <p:sp>
          <p:nvSpPr>
            <p:cNvPr id="10" name="Rounded Rectangle 10">
              <a:extLst>
                <a:ext uri="{FF2B5EF4-FFF2-40B4-BE49-F238E27FC236}">
                  <a16:creationId xmlns:a16="http://schemas.microsoft.com/office/drawing/2014/main" id="{18F78F23-3D09-4B63-8DF9-D49CFBB145EE}"/>
                </a:ext>
              </a:extLst>
            </p:cNvPr>
            <p:cNvSpPr/>
            <p:nvPr userDrawn="1"/>
          </p:nvSpPr>
          <p:spPr>
            <a:xfrm>
              <a:off x="472011" y="1508786"/>
              <a:ext cx="3799787" cy="4865561"/>
            </a:xfrm>
            <a:prstGeom prst="roundRect">
              <a:avLst>
                <a:gd name="adj" fmla="val 396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dirty="0"/>
            </a:p>
          </p:txBody>
        </p:sp>
        <p:sp>
          <p:nvSpPr>
            <p:cNvPr id="11" name="Rounded Rectangle 16">
              <a:extLst>
                <a:ext uri="{FF2B5EF4-FFF2-40B4-BE49-F238E27FC236}">
                  <a16:creationId xmlns:a16="http://schemas.microsoft.com/office/drawing/2014/main" id="{F12C06CE-2BBE-46C2-B718-813794C58DF9}"/>
                </a:ext>
              </a:extLst>
            </p:cNvPr>
            <p:cNvSpPr/>
            <p:nvPr userDrawn="1"/>
          </p:nvSpPr>
          <p:spPr>
            <a:xfrm>
              <a:off x="540767" y="1781251"/>
              <a:ext cx="85794" cy="4320631"/>
            </a:xfrm>
            <a:prstGeom prst="roundRect">
              <a:avLst>
                <a:gd name="adj" fmla="val 50000"/>
              </a:avLst>
            </a:prstGeom>
            <a:solidFill>
              <a:schemeClr val="bg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a:solidFill>
                  <a:schemeClr val="bg1"/>
                </a:solidFill>
              </a:endParaRPr>
            </a:p>
          </p:txBody>
        </p:sp>
        <p:sp>
          <p:nvSpPr>
            <p:cNvPr id="12" name="Half Frame 11">
              <a:extLst>
                <a:ext uri="{FF2B5EF4-FFF2-40B4-BE49-F238E27FC236}">
                  <a16:creationId xmlns:a16="http://schemas.microsoft.com/office/drawing/2014/main" id="{66CDBB1E-AF3C-43FC-9F34-2DD691F81726}"/>
                </a:ext>
              </a:extLst>
            </p:cNvPr>
            <p:cNvSpPr/>
            <p:nvPr userDrawn="1"/>
          </p:nvSpPr>
          <p:spPr>
            <a:xfrm rot="5400000">
              <a:off x="3735515" y="1912372"/>
              <a:ext cx="669775" cy="238503"/>
            </a:xfrm>
            <a:prstGeom prst="halfFrame">
              <a:avLst>
                <a:gd name="adj1" fmla="val 23728"/>
                <a:gd name="adj2" fmla="val 24642"/>
              </a:avLst>
            </a:prstGeom>
            <a:solidFill>
              <a:schemeClr val="bg2">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a:solidFill>
                  <a:schemeClr val="tx1"/>
                </a:solidFill>
              </a:endParaRPr>
            </a:p>
          </p:txBody>
        </p:sp>
      </p:grpSp>
      <p:sp>
        <p:nvSpPr>
          <p:cNvPr id="15" name="Content Placeholder 4">
            <a:extLst>
              <a:ext uri="{FF2B5EF4-FFF2-40B4-BE49-F238E27FC236}">
                <a16:creationId xmlns:a16="http://schemas.microsoft.com/office/drawing/2014/main" id="{B96A0DF8-27E7-4DC8-BBE3-7238AAAEB845}"/>
              </a:ext>
            </a:extLst>
          </p:cNvPr>
          <p:cNvSpPr txBox="1">
            <a:spLocks/>
          </p:cNvSpPr>
          <p:nvPr/>
        </p:nvSpPr>
        <p:spPr>
          <a:xfrm>
            <a:off x="651456" y="1412776"/>
            <a:ext cx="10764221" cy="5025894"/>
          </a:xfrm>
          <a:prstGeom prst="rect">
            <a:avLst/>
          </a:prstGeom>
        </p:spPr>
        <p:txBody>
          <a:bodyPr vert="horz" lIns="107972" tIns="35991" rIns="107972" bIns="35991" rtlCol="0">
            <a:normAutofit/>
          </a:bodyPr>
          <a:lstStyle>
            <a:lvl1pPr marL="456915" indent="-456915"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989981" indent="-380762"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523048" indent="-304610"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2132267" indent="-304610"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741485" indent="-30461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9pPr>
          </a:lstStyle>
          <a:p>
            <a:pPr>
              <a:lnSpc>
                <a:spcPct val="100000"/>
              </a:lnSpc>
              <a:buClr>
                <a:schemeClr val="bg2"/>
              </a:buClr>
            </a:pPr>
            <a:r>
              <a:rPr lang="en-US" sz="3199" b="1" dirty="0">
                <a:solidFill>
                  <a:schemeClr val="bg2"/>
                </a:solidFill>
              </a:rPr>
              <a:t>What is HTML?</a:t>
            </a:r>
          </a:p>
          <a:p>
            <a:pPr marL="0" indent="0">
              <a:lnSpc>
                <a:spcPct val="100000"/>
              </a:lnSpc>
              <a:buClr>
                <a:schemeClr val="bg2"/>
              </a:buClr>
              <a:buNone/>
            </a:pPr>
            <a:endParaRPr lang="en-US" sz="2799" b="1" dirty="0">
              <a:solidFill>
                <a:schemeClr val="bg2"/>
              </a:solidFill>
            </a:endParaRPr>
          </a:p>
          <a:p>
            <a:pPr marL="0" indent="0">
              <a:lnSpc>
                <a:spcPct val="100000"/>
              </a:lnSpc>
              <a:buClr>
                <a:schemeClr val="bg2"/>
              </a:buClr>
              <a:buNone/>
            </a:pPr>
            <a:endParaRPr lang="en-US" sz="3199" b="1" dirty="0">
              <a:solidFill>
                <a:schemeClr val="bg2"/>
              </a:solidFill>
            </a:endParaRPr>
          </a:p>
          <a:p>
            <a:pPr marL="0" indent="0">
              <a:lnSpc>
                <a:spcPct val="100000"/>
              </a:lnSpc>
              <a:buClr>
                <a:schemeClr val="bg2"/>
              </a:buClr>
              <a:buNone/>
            </a:pPr>
            <a:endParaRPr lang="en-US" sz="3999" b="1" dirty="0">
              <a:solidFill>
                <a:schemeClr val="bg2"/>
              </a:solidFill>
            </a:endParaRPr>
          </a:p>
          <a:p>
            <a:pPr marL="0" indent="0">
              <a:lnSpc>
                <a:spcPct val="100000"/>
              </a:lnSpc>
              <a:buClr>
                <a:schemeClr val="bg2"/>
              </a:buClr>
              <a:buNone/>
            </a:pPr>
            <a:endParaRPr lang="en-US" sz="3599" b="1" dirty="0">
              <a:solidFill>
                <a:schemeClr val="bg2"/>
              </a:solidFill>
            </a:endParaRPr>
          </a:p>
          <a:p>
            <a:pPr marL="0" indent="0">
              <a:lnSpc>
                <a:spcPct val="100000"/>
              </a:lnSpc>
              <a:buClr>
                <a:schemeClr val="bg2"/>
              </a:buClr>
              <a:buNone/>
            </a:pPr>
            <a:endParaRPr lang="en-US" sz="3599" b="1" dirty="0">
              <a:solidFill>
                <a:schemeClr val="bg2"/>
              </a:solidFill>
            </a:endParaRPr>
          </a:p>
          <a:p>
            <a:pPr>
              <a:lnSpc>
                <a:spcPct val="100000"/>
              </a:lnSpc>
              <a:buClr>
                <a:schemeClr val="bg2"/>
              </a:buClr>
            </a:pPr>
            <a:r>
              <a:rPr lang="en-US" sz="3199" b="1" dirty="0">
                <a:solidFill>
                  <a:schemeClr val="bg2"/>
                </a:solidFill>
              </a:rPr>
              <a:t>CSS styles may be: </a:t>
            </a:r>
            <a:r>
              <a:rPr lang="bg-BG" sz="3199" b="1" dirty="0">
                <a:solidFill>
                  <a:srgbClr val="F2A40D"/>
                </a:solidFill>
              </a:rPr>
              <a:t>е</a:t>
            </a:r>
            <a:r>
              <a:rPr lang="en-US" sz="3199" b="1" noProof="1">
                <a:solidFill>
                  <a:srgbClr val="F2A40D"/>
                </a:solidFill>
              </a:rPr>
              <a:t>xternal</a:t>
            </a:r>
            <a:r>
              <a:rPr lang="en-US" sz="3199" b="1" dirty="0">
                <a:solidFill>
                  <a:schemeClr val="bg2"/>
                </a:solidFill>
              </a:rPr>
              <a:t>,</a:t>
            </a:r>
            <a:r>
              <a:rPr lang="en-US" sz="3199" b="1" dirty="0">
                <a:solidFill>
                  <a:schemeClr val="bg1"/>
                </a:solidFill>
              </a:rPr>
              <a:t> </a:t>
            </a:r>
            <a:r>
              <a:rPr lang="en-US" sz="3199" b="1" dirty="0">
                <a:solidFill>
                  <a:srgbClr val="F2A40D"/>
                </a:solidFill>
              </a:rPr>
              <a:t>inline</a:t>
            </a:r>
            <a:r>
              <a:rPr lang="en-US" sz="3199" b="1" dirty="0">
                <a:solidFill>
                  <a:schemeClr val="bg2"/>
                </a:solidFill>
              </a:rPr>
              <a:t>,</a:t>
            </a:r>
            <a:r>
              <a:rPr lang="en-US" sz="3199" b="1" dirty="0">
                <a:solidFill>
                  <a:schemeClr val="bg1"/>
                </a:solidFill>
              </a:rPr>
              <a:t> </a:t>
            </a:r>
            <a:r>
              <a:rPr lang="en-US" sz="3199" b="1" dirty="0">
                <a:solidFill>
                  <a:srgbClr val="F2A40D"/>
                </a:solidFill>
              </a:rPr>
              <a:t>embedded</a:t>
            </a:r>
          </a:p>
          <a:p>
            <a:pPr marL="0" indent="0">
              <a:lnSpc>
                <a:spcPct val="100000"/>
              </a:lnSpc>
              <a:buClr>
                <a:schemeClr val="bg2"/>
              </a:buClr>
              <a:buNone/>
            </a:pPr>
            <a:endParaRPr lang="en-US" sz="3599" b="1" dirty="0">
              <a:solidFill>
                <a:schemeClr val="bg1">
                  <a:lumMod val="60000"/>
                  <a:lumOff val="40000"/>
                </a:schemeClr>
              </a:solidFill>
            </a:endParaRPr>
          </a:p>
        </p:txBody>
      </p:sp>
      <p:sp>
        <p:nvSpPr>
          <p:cNvPr id="17" name="Rectangle 16"/>
          <p:cNvSpPr>
            <a:spLocks noChangeArrowheads="1"/>
          </p:cNvSpPr>
          <p:nvPr/>
        </p:nvSpPr>
        <p:spPr bwMode="auto">
          <a:xfrm>
            <a:off x="1128764" y="6032430"/>
            <a:ext cx="10242217" cy="438986"/>
          </a:xfrm>
          <a:prstGeom prst="rect">
            <a:avLst/>
          </a:prstGeom>
          <a:noFill/>
          <a:ln w="12700">
            <a:noFill/>
          </a:ln>
        </p:spPr>
        <p:txBody>
          <a:bodyPr wrap="square">
            <a:noAutofit/>
          </a:bodyPr>
          <a:lstStyle/>
          <a:p>
            <a:pPr eaLnBrk="0" hangingPunct="0">
              <a:lnSpc>
                <a:spcPct val="105000"/>
              </a:lnSpc>
              <a:spcBef>
                <a:spcPts val="1200"/>
              </a:spcBef>
              <a:buClr>
                <a:schemeClr val="accent5">
                  <a:lumMod val="40000"/>
                  <a:lumOff val="60000"/>
                </a:schemeClr>
              </a:buClr>
              <a:buSzPct val="70000"/>
            </a:pPr>
            <a:r>
              <a:rPr lang="en-US" sz="1899" b="1" noProof="1">
                <a:solidFill>
                  <a:srgbClr val="F2A40D"/>
                </a:solidFill>
                <a:latin typeface="Consolas" pitchFamily="49" charset="0"/>
                <a:cs typeface="Consolas" pitchFamily="49" charset="0"/>
              </a:rPr>
              <a:t>.my-list p { </a:t>
            </a:r>
            <a:r>
              <a:rPr lang="en-US" sz="1899" b="1" noProof="1">
                <a:solidFill>
                  <a:schemeClr val="bg2"/>
                </a:solidFill>
                <a:latin typeface="Consolas" pitchFamily="49" charset="0"/>
                <a:cs typeface="Consolas" pitchFamily="49" charset="0"/>
              </a:rPr>
              <a:t>text-align: center; </a:t>
            </a:r>
            <a:r>
              <a:rPr lang="en-US" sz="1899" b="1" noProof="1">
                <a:solidFill>
                  <a:srgbClr val="F2A40D"/>
                </a:solidFill>
                <a:latin typeface="Consolas" pitchFamily="49" charset="0"/>
                <a:cs typeface="Consolas" pitchFamily="49" charset="0"/>
              </a:rPr>
              <a:t>}</a:t>
            </a:r>
          </a:p>
        </p:txBody>
      </p:sp>
      <p:sp>
        <p:nvSpPr>
          <p:cNvPr id="18" name="Text Placeholder 6"/>
          <p:cNvSpPr txBox="1">
            <a:spLocks/>
          </p:cNvSpPr>
          <p:nvPr/>
        </p:nvSpPr>
        <p:spPr>
          <a:xfrm>
            <a:off x="1068271" y="1981037"/>
            <a:ext cx="10251062" cy="3492730"/>
          </a:xfrm>
          <a:prstGeom prst="rect">
            <a:avLst/>
          </a:prstGeom>
          <a:noFill/>
          <a:ln w="12700">
            <a:noFill/>
          </a:ln>
        </p:spPr>
        <p:txBody>
          <a:bodyPr vert="horz" wrap="square" lIns="107972" tIns="35991" rIns="107972" bIns="35991" rtlCol="0">
            <a:spAutoFit/>
          </a:bodyPr>
          <a:lstStyle>
            <a:lvl1pPr marL="0" indent="0" algn="l" defTabSz="1218987" rtl="0" eaLnBrk="0" fontAlgn="base" latinLnBrk="0" hangingPunct="0">
              <a:lnSpc>
                <a:spcPct val="105000"/>
              </a:lnSpc>
              <a:spcBef>
                <a:spcPts val="0"/>
              </a:spcBef>
              <a:spcAft>
                <a:spcPct val="0"/>
              </a:spcAft>
              <a:buClr>
                <a:schemeClr val="accent5">
                  <a:lumMod val="40000"/>
                  <a:lumOff val="60000"/>
                </a:schemeClr>
              </a:buClr>
              <a:buSzPct val="70000"/>
              <a:buFont typeface="Wingdings 2" pitchFamily="18" charset="2"/>
              <a:buNone/>
              <a:defRPr lang="en-US" sz="2000" b="1" kern="1200" smtClean="0">
                <a:solidFill>
                  <a:srgbClr val="8CF4F2"/>
                </a:solidFill>
                <a:effectLst>
                  <a:outerShdw blurRad="38100" dist="38100" dir="2700000" algn="tl">
                    <a:srgbClr val="000000">
                      <a:alpha val="43137"/>
                    </a:srgbClr>
                  </a:outerShdw>
                </a:effectLst>
                <a:latin typeface="Consolas" pitchFamily="49" charset="0"/>
                <a:ea typeface="+mn-ea"/>
                <a:cs typeface="Consolas" pitchFamily="49" charset="0"/>
              </a:defRPr>
            </a:lvl1pPr>
            <a:lvl2pPr marL="630238" indent="-273050" algn="l" defTabSz="1218987" rtl="0" eaLnBrk="0" fontAlgn="base" latinLnBrk="0" hangingPunct="0">
              <a:lnSpc>
                <a:spcPct val="105000"/>
              </a:lnSpc>
              <a:spcBef>
                <a:spcPct val="20000"/>
              </a:spcBef>
              <a:spcAft>
                <a:spcPct val="0"/>
              </a:spcAft>
              <a:buClr>
                <a:schemeClr val="accent2">
                  <a:lumMod val="60000"/>
                  <a:lumOff val="40000"/>
                </a:schemeClr>
              </a:buClr>
              <a:buSzPct val="80000"/>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defTabSz="1218987" rtl="0" eaLnBrk="0" fontAlgn="base" latinLnBrk="0" hangingPunct="0">
              <a:lnSpc>
                <a:spcPct val="105000"/>
              </a:lnSpc>
              <a:spcBef>
                <a:spcPct val="20000"/>
              </a:spcBef>
              <a:spcAft>
                <a:spcPct val="0"/>
              </a:spcAft>
              <a:buClr>
                <a:schemeClr val="tx1">
                  <a:lumMod val="50000"/>
                </a:schemeClr>
              </a:buClr>
              <a:buSzPct val="80000"/>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defTabSz="1218987" rtl="0" eaLnBrk="0" fontAlgn="base" latinLnBrk="0" hangingPunct="0">
              <a:lnSpc>
                <a:spcPct val="105000"/>
              </a:lnSpc>
              <a:spcBef>
                <a:spcPct val="20000"/>
              </a:spcBef>
              <a:spcAft>
                <a:spcPct val="0"/>
              </a:spcAft>
              <a:buClr>
                <a:srgbClr val="F8BD52"/>
              </a:buClr>
              <a:buSzPct val="80000"/>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defTabSz="1218987" rtl="0" eaLnBrk="0" fontAlgn="base" latinLnBrk="0" hangingPunct="0">
              <a:lnSpc>
                <a:spcPct val="105000"/>
              </a:lnSpc>
              <a:spcBef>
                <a:spcPct val="20000"/>
              </a:spcBef>
              <a:spcAft>
                <a:spcPct val="0"/>
              </a:spcAft>
              <a:buClr>
                <a:srgbClr val="46A6BD"/>
              </a:buClr>
              <a:buSzPct val="80000"/>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defTabSz="1218987" rtl="0" eaLnBrk="1" latinLnBrk="0" hangingPunct="1">
              <a:lnSpc>
                <a:spcPct val="90000"/>
              </a:lnSpc>
              <a:spcBef>
                <a:spcPct val="20000"/>
              </a:spcBef>
              <a:buClr>
                <a:schemeClr val="accent6"/>
              </a:buClr>
              <a:buSzPct val="80000"/>
              <a:buFont typeface="Wingdings 2"/>
              <a:buChar char=""/>
              <a:defRPr sz="1800" kern="1200">
                <a:solidFill>
                  <a:schemeClr val="tx1"/>
                </a:solidFill>
                <a:latin typeface="+mn-lt"/>
                <a:ea typeface="+mn-ea"/>
                <a:cs typeface="+mn-cs"/>
              </a:defRPr>
            </a:lvl6pPr>
            <a:lvl7pPr marL="1911096" indent="-228600" algn="l" defTabSz="1218987" rtl="0" eaLnBrk="1" latinLnBrk="0" hangingPunct="1">
              <a:lnSpc>
                <a:spcPct val="90000"/>
              </a:lnSpc>
              <a:spcBef>
                <a:spcPct val="20000"/>
              </a:spcBef>
              <a:buClr>
                <a:schemeClr val="tx2"/>
              </a:buClr>
              <a:buSzPct val="80000"/>
              <a:buFont typeface="Wingdings 2"/>
              <a:buChar char=""/>
              <a:defRPr sz="1600" kern="1200">
                <a:solidFill>
                  <a:schemeClr val="tx1"/>
                </a:solidFill>
                <a:latin typeface="+mn-lt"/>
                <a:ea typeface="+mn-ea"/>
                <a:cs typeface="+mn-cs"/>
              </a:defRPr>
            </a:lvl7pPr>
            <a:lvl8pPr marL="2121408" indent="-182880" algn="l" defTabSz="1218987" rtl="0" eaLnBrk="1" latinLnBrk="0" hangingPunct="1">
              <a:lnSpc>
                <a:spcPct val="90000"/>
              </a:lnSpc>
              <a:spcBef>
                <a:spcPct val="20000"/>
              </a:spcBef>
              <a:buClr>
                <a:schemeClr val="tx2"/>
              </a:buClr>
              <a:buSzPct val="80000"/>
              <a:buFont typeface="Wingdings 2"/>
              <a:buChar char=""/>
              <a:defRPr sz="1400" kern="1200" baseline="0">
                <a:solidFill>
                  <a:schemeClr val="tx1"/>
                </a:solidFill>
                <a:latin typeface="+mn-lt"/>
                <a:ea typeface="+mn-ea"/>
                <a:cs typeface="+mn-cs"/>
              </a:defRPr>
            </a:lvl8pPr>
            <a:lvl9pPr marL="2322576" indent="-182880" algn="l" defTabSz="1218987" rtl="0" eaLnBrk="1" latinLnBrk="0" hangingPunct="1">
              <a:lnSpc>
                <a:spcPct val="90000"/>
              </a:lnSpc>
              <a:spcBef>
                <a:spcPct val="20000"/>
              </a:spcBef>
              <a:buClr>
                <a:schemeClr val="tx2"/>
              </a:buClr>
              <a:buSzPct val="80000"/>
              <a:buFont typeface="Wingdings 2"/>
              <a:buChar char=""/>
              <a:defRPr sz="1400" kern="1200" baseline="0">
                <a:solidFill>
                  <a:schemeClr val="tx1"/>
                </a:solidFill>
                <a:latin typeface="+mn-lt"/>
                <a:ea typeface="+mn-ea"/>
                <a:cs typeface="+mn-cs"/>
              </a:defRPr>
            </a:lvl9pPr>
          </a:lstStyle>
          <a:p>
            <a:pPr marL="0" lvl="1" indent="0">
              <a:lnSpc>
                <a:spcPct val="90000"/>
              </a:lnSpc>
              <a:spcBef>
                <a:spcPts val="0"/>
              </a:spcBef>
              <a:spcAft>
                <a:spcPts val="0"/>
              </a:spcAft>
              <a:buClr>
                <a:srgbClr val="F2B254"/>
              </a:buClr>
              <a:buSzPct val="100000"/>
              <a:buNone/>
            </a:pP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DOCTYPE</a:t>
            </a: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html&gt;</a:t>
            </a:r>
          </a:p>
          <a:p>
            <a:pPr marL="0" lvl="1" indent="0">
              <a:lnSpc>
                <a:spcPct val="90000"/>
              </a:lnSpc>
              <a:spcBef>
                <a:spcPts val="0"/>
              </a:spcBef>
              <a:spcAft>
                <a:spcPts val="0"/>
              </a:spcAft>
              <a:buClr>
                <a:srgbClr val="F2B254"/>
              </a:buClr>
              <a:buSzPct val="100000"/>
              <a:buNone/>
            </a:pP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html</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head</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meta</a:t>
            </a: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charset=</a:t>
            </a:r>
            <a:r>
              <a:rPr lang="en-US" altLang="en-US" sz="1899" dirty="0">
                <a:solidFill>
                  <a:schemeClr val="bg2"/>
                </a:solidFill>
                <a:effectLst/>
                <a:latin typeface="Consolas" pitchFamily="49" charset="0"/>
                <a:cs typeface="Consolas" pitchFamily="49" charset="0"/>
              </a:rPr>
              <a:t>"UTF-8"</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title</a:t>
            </a:r>
            <a:r>
              <a:rPr lang="en-US" sz="1899" noProof="1">
                <a:solidFill>
                  <a:schemeClr val="bg2"/>
                </a:solidFill>
                <a:effectLst/>
                <a:latin typeface="Consolas" pitchFamily="49" charset="0"/>
                <a:cs typeface="Consolas" pitchFamily="49" charset="0"/>
              </a:rPr>
              <a:t>&gt;HTML</a:t>
            </a: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Example&lt;</a:t>
            </a:r>
            <a:r>
              <a:rPr lang="en-US" sz="1899" noProof="1">
                <a:solidFill>
                  <a:srgbClr val="F2A40D"/>
                </a:solidFill>
                <a:effectLst/>
                <a:latin typeface="Consolas" pitchFamily="49" charset="0"/>
                <a:cs typeface="Consolas" pitchFamily="49" charset="0"/>
              </a:rPr>
              <a:t>/title</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/head</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body</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h1</a:t>
            </a:r>
            <a:r>
              <a:rPr lang="en-US" sz="1899" noProof="1">
                <a:solidFill>
                  <a:schemeClr val="bg2"/>
                </a:solidFill>
                <a:effectLst/>
                <a:latin typeface="Consolas" pitchFamily="49" charset="0"/>
                <a:cs typeface="Consolas" pitchFamily="49" charset="0"/>
              </a:rPr>
              <a:t>&gt;Hello HTML!&lt;</a:t>
            </a:r>
            <a:r>
              <a:rPr lang="en-US" sz="1899" noProof="1">
                <a:solidFill>
                  <a:srgbClr val="F2A40D"/>
                </a:solidFill>
                <a:effectLst/>
                <a:latin typeface="Consolas" pitchFamily="49" charset="0"/>
                <a:cs typeface="Consolas" pitchFamily="49" charset="0"/>
              </a:rPr>
              <a:t>/h1</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p</a:t>
            </a:r>
            <a:r>
              <a:rPr lang="en-US" sz="1899" noProof="1">
                <a:solidFill>
                  <a:schemeClr val="bg2"/>
                </a:solidFill>
                <a:effectLst/>
                <a:latin typeface="Consolas" pitchFamily="49" charset="0"/>
                <a:cs typeface="Consolas" pitchFamily="49" charset="0"/>
              </a:rPr>
              <a:t>&gt;HTML describes formatted text using &lt;</a:t>
            </a:r>
            <a:r>
              <a:rPr lang="en-US" sz="1899" noProof="1">
                <a:solidFill>
                  <a:srgbClr val="F2A40D"/>
                </a:solidFill>
                <a:effectLst/>
                <a:latin typeface="Consolas" pitchFamily="49" charset="0"/>
                <a:cs typeface="Consolas" pitchFamily="49" charset="0"/>
              </a:rPr>
              <a:t>strong</a:t>
            </a:r>
            <a:r>
              <a:rPr lang="en-US" sz="1899" noProof="1">
                <a:solidFill>
                  <a:schemeClr val="bg2"/>
                </a:solidFill>
                <a:effectLst/>
                <a:latin typeface="Consolas" pitchFamily="49" charset="0"/>
                <a:cs typeface="Consolas" pitchFamily="49" charset="0"/>
              </a:rPr>
              <a:t>&gt;tags&lt;</a:t>
            </a:r>
            <a:r>
              <a:rPr lang="en-US" sz="1899" noProof="1">
                <a:solidFill>
                  <a:srgbClr val="F2A40D"/>
                </a:solidFill>
                <a:effectLst/>
                <a:latin typeface="Consolas" pitchFamily="49" charset="0"/>
                <a:cs typeface="Consolas" pitchFamily="49" charset="0"/>
              </a:rPr>
              <a:t>/strong</a:t>
            </a:r>
            <a:r>
              <a:rPr lang="en-US" sz="1899" noProof="1">
                <a:solidFill>
                  <a:schemeClr val="bg2"/>
                </a:solidFill>
                <a:effectLst/>
                <a:latin typeface="Consolas" pitchFamily="49" charset="0"/>
                <a:cs typeface="Consolas" pitchFamily="49" charset="0"/>
              </a:rPr>
              <a:t>&gt;. Visit the   </a:t>
            </a:r>
          </a:p>
          <a:p>
            <a:pPr marL="0" lvl="1" indent="0">
              <a:lnSpc>
                <a:spcPct val="90000"/>
              </a:lnSpc>
              <a:spcBef>
                <a:spcPts val="0"/>
              </a:spcBef>
              <a:spcAft>
                <a:spcPts val="0"/>
              </a:spcAft>
              <a:buClr>
                <a:srgbClr val="F2B254"/>
              </a:buClr>
              <a:buSzPct val="100000"/>
              <a:buNone/>
            </a:pPr>
            <a:r>
              <a:rPr lang="en-US" sz="1899" noProof="1">
                <a:solidFill>
                  <a:schemeClr val="bg2"/>
                </a:solidFill>
                <a:effectLst/>
                <a:latin typeface="Consolas" pitchFamily="49" charset="0"/>
                <a:cs typeface="Consolas" pitchFamily="49" charset="0"/>
              </a:rPr>
              <a:t>      &lt;</a:t>
            </a:r>
            <a:r>
              <a:rPr lang="en-US" sz="1899" noProof="1">
                <a:solidFill>
                  <a:srgbClr val="F2A40D"/>
                </a:solidFill>
                <a:effectLst/>
                <a:latin typeface="Consolas" pitchFamily="49" charset="0"/>
                <a:cs typeface="Consolas" pitchFamily="49" charset="0"/>
              </a:rPr>
              <a:t>a</a:t>
            </a:r>
            <a:r>
              <a:rPr lang="en-US"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href="https://softuni.bg/trainings/courses"&gt;SoftUni HTML course to   </a:t>
            </a:r>
          </a:p>
          <a:p>
            <a:pPr marL="0" lvl="1" indent="0">
              <a:lnSpc>
                <a:spcPct val="90000"/>
              </a:lnSpc>
              <a:spcBef>
                <a:spcPts val="0"/>
              </a:spcBef>
              <a:spcAft>
                <a:spcPts val="0"/>
              </a:spcAft>
              <a:buClr>
                <a:srgbClr val="F2B254"/>
              </a:buClr>
              <a:buSzPct val="100000"/>
              <a:buNone/>
            </a:pPr>
            <a:r>
              <a:rPr lang="en-US" sz="1899" noProof="1">
                <a:solidFill>
                  <a:schemeClr val="bg2"/>
                </a:solidFill>
                <a:effectLst/>
                <a:latin typeface="Consolas" pitchFamily="49" charset="0"/>
                <a:cs typeface="Consolas" pitchFamily="49" charset="0"/>
              </a:rPr>
              <a:t>    learn</a:t>
            </a:r>
            <a:r>
              <a:rPr lang="bg-BG" sz="1899" noProof="1">
                <a:solidFill>
                  <a:schemeClr val="bg2"/>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more.&lt;</a:t>
            </a:r>
            <a:r>
              <a:rPr lang="en-US" sz="1899" noProof="1">
                <a:solidFill>
                  <a:srgbClr val="F2A40D"/>
                </a:solidFill>
                <a:effectLst/>
                <a:latin typeface="Consolas" pitchFamily="49" charset="0"/>
                <a:cs typeface="Consolas" pitchFamily="49" charset="0"/>
              </a:rPr>
              <a:t>/a</a:t>
            </a:r>
            <a:r>
              <a:rPr lang="en-US" sz="1899" noProof="1">
                <a:solidFill>
                  <a:schemeClr val="bg2"/>
                </a:solidFill>
                <a:effectLst/>
                <a:latin typeface="Consolas" pitchFamily="49" charset="0"/>
                <a:cs typeface="Consolas" pitchFamily="49" charset="0"/>
              </a:rPr>
              <a:t>&gt;&lt;</a:t>
            </a:r>
            <a:r>
              <a:rPr lang="en-US" sz="1899" noProof="1">
                <a:solidFill>
                  <a:srgbClr val="F2A40D"/>
                </a:solidFill>
                <a:effectLst/>
                <a:latin typeface="Consolas" pitchFamily="49" charset="0"/>
                <a:cs typeface="Consolas" pitchFamily="49" charset="0"/>
              </a:rPr>
              <a:t>/p</a:t>
            </a:r>
            <a:r>
              <a:rPr lang="en-US" sz="1899" noProof="1">
                <a:solidFill>
                  <a:schemeClr val="bg2"/>
                </a:solidFill>
                <a:effectLst/>
                <a:latin typeface="Consolas" pitchFamily="49" charset="0"/>
                <a:cs typeface="Consolas" pitchFamily="49" charset="0"/>
              </a:rPr>
              <a:t>&gt;</a:t>
            </a:r>
          </a:p>
          <a:p>
            <a:pPr marL="0" lvl="1" indent="0">
              <a:lnSpc>
                <a:spcPct val="90000"/>
              </a:lnSpc>
              <a:spcBef>
                <a:spcPts val="0"/>
              </a:spcBef>
              <a:spcAft>
                <a:spcPts val="0"/>
              </a:spcAft>
              <a:buClr>
                <a:srgbClr val="F2B254"/>
              </a:buClr>
              <a:buSzPct val="100000"/>
              <a:buNone/>
            </a:pPr>
            <a:r>
              <a:rPr lang="bg-BG" sz="1899" noProof="1">
                <a:solidFill>
                  <a:schemeClr val="tx1"/>
                </a:solidFill>
                <a:effectLst/>
                <a:latin typeface="Consolas" pitchFamily="49" charset="0"/>
                <a:cs typeface="Consolas" pitchFamily="49" charset="0"/>
              </a:rPr>
              <a:t>  </a:t>
            </a: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/body</a:t>
            </a:r>
            <a:r>
              <a:rPr lang="en-US" sz="1899" noProof="1">
                <a:solidFill>
                  <a:schemeClr val="bg2"/>
                </a:solidFill>
                <a:effectLst/>
                <a:latin typeface="Consolas" pitchFamily="49" charset="0"/>
                <a:cs typeface="Consolas" pitchFamily="49" charset="0"/>
              </a:rPr>
              <a:t>&gt;</a:t>
            </a:r>
            <a:endParaRPr lang="en-US" sz="1899" noProof="1">
              <a:solidFill>
                <a:srgbClr val="F2A40D"/>
              </a:solidFill>
              <a:effectLst/>
              <a:latin typeface="Consolas" pitchFamily="49" charset="0"/>
              <a:cs typeface="Consolas" pitchFamily="49" charset="0"/>
            </a:endParaRPr>
          </a:p>
          <a:p>
            <a:pPr marL="0" lvl="1" indent="0">
              <a:lnSpc>
                <a:spcPct val="90000"/>
              </a:lnSpc>
              <a:spcBef>
                <a:spcPts val="0"/>
              </a:spcBef>
              <a:spcAft>
                <a:spcPts val="0"/>
              </a:spcAft>
              <a:buClr>
                <a:srgbClr val="F2B254"/>
              </a:buClr>
              <a:buSzPct val="100000"/>
              <a:buNone/>
            </a:pPr>
            <a:r>
              <a:rPr lang="en-US" sz="1899" noProof="1">
                <a:solidFill>
                  <a:schemeClr val="bg2"/>
                </a:solidFill>
                <a:effectLst/>
                <a:latin typeface="Consolas" pitchFamily="49" charset="0"/>
                <a:cs typeface="Consolas" pitchFamily="49" charset="0"/>
              </a:rPr>
              <a:t>&lt;</a:t>
            </a:r>
            <a:r>
              <a:rPr lang="en-US" sz="1899" noProof="1">
                <a:solidFill>
                  <a:srgbClr val="F2A40D"/>
                </a:solidFill>
                <a:effectLst/>
                <a:latin typeface="Consolas" pitchFamily="49" charset="0"/>
                <a:cs typeface="Consolas" pitchFamily="49" charset="0"/>
              </a:rPr>
              <a:t>/html</a:t>
            </a:r>
            <a:r>
              <a:rPr lang="en-US" sz="1899" noProof="1">
                <a:solidFill>
                  <a:schemeClr val="bg2"/>
                </a:solidFill>
                <a:effectLst/>
                <a:latin typeface="Consolas" pitchFamily="49" charset="0"/>
                <a:cs typeface="Consolas" pitchFamily="49" charset="0"/>
              </a:rPr>
              <a:t>&gt;</a:t>
            </a:r>
          </a:p>
        </p:txBody>
      </p:sp>
      <p:sp>
        <p:nvSpPr>
          <p:cNvPr id="13" name="Slide Number">
            <a:extLst>
              <a:ext uri="{FF2B5EF4-FFF2-40B4-BE49-F238E27FC236}">
                <a16:creationId xmlns:a16="http://schemas.microsoft.com/office/drawing/2014/main" id="{65ED4EFF-85A3-4FB0-BCDF-137D07A81F9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84</a:t>
            </a:fld>
            <a:endParaRPr lang="en-US" noProof="0" dirty="0"/>
          </a:p>
        </p:txBody>
      </p:sp>
    </p:spTree>
    <p:extLst>
      <p:ext uri="{BB962C8B-B14F-4D97-AF65-F5344CB8AC3E}">
        <p14:creationId xmlns:p14="http://schemas.microsoft.com/office/powerpoint/2010/main" val="161178592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Body"/>
          <p:cNvSpPr>
            <a:spLocks noGrp="1"/>
          </p:cNvSpPr>
          <p:nvPr>
            <p:ph idx="4294967295"/>
          </p:nvPr>
        </p:nvSpPr>
        <p:spPr>
          <a:xfrm>
            <a:off x="190404" y="1179000"/>
            <a:ext cx="8695596" cy="5490000"/>
          </a:xfrm>
        </p:spPr>
        <p:txBody>
          <a:bodyPr>
            <a:normAutofit/>
          </a:bodyPr>
          <a:lstStyle/>
          <a:p>
            <a:pPr>
              <a:lnSpc>
                <a:spcPct val="100000"/>
              </a:lnSpc>
            </a:pPr>
            <a:r>
              <a:rPr lang="en-US" sz="3200" dirty="0"/>
              <a:t>Software University – High-Quality Education, Profession and Job for Software Developers</a:t>
            </a:r>
          </a:p>
          <a:p>
            <a:pPr lvl="1"/>
            <a:r>
              <a:rPr lang="en-US" sz="3000" noProof="1">
                <a:hlinkClick r:id="rId3"/>
              </a:rPr>
              <a:t>softuni.bg</a:t>
            </a:r>
            <a:r>
              <a:rPr lang="en-US" sz="3000" noProof="1"/>
              <a:t>, </a:t>
            </a:r>
            <a:r>
              <a:rPr lang="en-US" sz="3000" noProof="1">
                <a:hlinkClick r:id="rId4"/>
              </a:rPr>
              <a:t>about.softuni.bg</a:t>
            </a:r>
            <a:r>
              <a:rPr lang="en-US" sz="3000" noProof="1"/>
              <a:t> </a:t>
            </a:r>
          </a:p>
          <a:p>
            <a:pPr>
              <a:lnSpc>
                <a:spcPct val="100000"/>
              </a:lnSpc>
            </a:pPr>
            <a:r>
              <a:rPr lang="en-US" sz="3200" dirty="0"/>
              <a:t>Software University Foundation</a:t>
            </a:r>
            <a:endParaRPr lang="bg-BG" sz="3200" dirty="0"/>
          </a:p>
          <a:p>
            <a:pPr lvl="1"/>
            <a:r>
              <a:rPr lang="en-US" sz="3000" noProof="1">
                <a:hlinkClick r:id="rId5"/>
              </a:rPr>
              <a:t>softuni.foundation</a:t>
            </a:r>
            <a:endParaRPr lang="en-US" sz="3000" noProof="1"/>
          </a:p>
          <a:p>
            <a:pPr>
              <a:lnSpc>
                <a:spcPct val="100000"/>
              </a:lnSpc>
            </a:pPr>
            <a:r>
              <a:rPr lang="en-US" sz="3200" dirty="0"/>
              <a:t>Software University @ Facebook</a:t>
            </a:r>
          </a:p>
          <a:p>
            <a:pPr lvl="1"/>
            <a:r>
              <a:rPr lang="en-US" sz="3000" noProof="1">
                <a:hlinkClick r:id="rId6"/>
              </a:rPr>
              <a:t>facebook.com/SoftwareUniversity</a:t>
            </a:r>
            <a:endParaRPr lang="en-US" sz="3000" noProof="1"/>
          </a:p>
        </p:txBody>
      </p:sp>
      <p:sp>
        <p:nvSpPr>
          <p:cNvPr id="3" name="Slide Title"/>
          <p:cNvSpPr>
            <a:spLocks noGrp="1"/>
          </p:cNvSpPr>
          <p:nvPr>
            <p:ph type="title"/>
          </p:nvPr>
        </p:nvSpPr>
        <p:spPr/>
        <p:txBody>
          <a:bodyPr/>
          <a:lstStyle/>
          <a:p>
            <a:r>
              <a:rPr lang="en-US" dirty="0"/>
              <a:t>Trainings @ Software University</a:t>
            </a:r>
            <a:r>
              <a:rPr lang="bg-BG" dirty="0"/>
              <a:t> (</a:t>
            </a:r>
            <a:r>
              <a:rPr lang="en-US" dirty="0"/>
              <a:t>SoftUni)</a:t>
            </a:r>
          </a:p>
        </p:txBody>
      </p:sp>
      <p:sp>
        <p:nvSpPr>
          <p:cNvPr id="5" name="Slide Number">
            <a:extLst>
              <a:ext uri="{FF2B5EF4-FFF2-40B4-BE49-F238E27FC236}">
                <a16:creationId xmlns:a16="http://schemas.microsoft.com/office/drawing/2014/main" id="{DD2EA64D-70B4-41B4-A07A-3B1B9FFE5325}"/>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85</a:t>
            </a:fld>
            <a:endParaRPr lang="en-US" dirty="0"/>
          </a:p>
        </p:txBody>
      </p:sp>
    </p:spTree>
    <p:extLst>
      <p:ext uri="{BB962C8B-B14F-4D97-AF65-F5344CB8AC3E}">
        <p14:creationId xmlns:p14="http://schemas.microsoft.com/office/powerpoint/2010/main" val="10045468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Body">
            <a:extLst>
              <a:ext uri="{FF2B5EF4-FFF2-40B4-BE49-F238E27FC236}">
                <a16:creationId xmlns:a16="http://schemas.microsoft.com/office/drawing/2014/main" id="{980F49B1-E4BE-4389-A747-7AB9B71AD920}"/>
              </a:ext>
            </a:extLst>
          </p:cNvPr>
          <p:cNvSpPr>
            <a:spLocks noGrp="1"/>
          </p:cNvSpPr>
          <p:nvPr>
            <p:ph type="body" sz="quarter" idx="10"/>
          </p:nvPr>
        </p:nvSpPr>
        <p:spPr>
          <a:xfrm>
            <a:off x="190402" y="1269001"/>
            <a:ext cx="11818096" cy="5455890"/>
          </a:xfrm>
        </p:spPr>
        <p:txBody>
          <a:bodyPr/>
          <a:lstStyle/>
          <a:p>
            <a:pPr>
              <a:lnSpc>
                <a:spcPct val="120000"/>
              </a:lnSpc>
            </a:pPr>
            <a:r>
              <a:rPr lang="en-US" dirty="0"/>
              <a:t>This course (slides, examples, demos, exercises, homework, documents, videos and other assets) is </a:t>
            </a:r>
            <a:r>
              <a:rPr lang="en-US" b="1" dirty="0"/>
              <a:t>copyrighted content</a:t>
            </a:r>
            <a:endParaRPr lang="en-US" dirty="0"/>
          </a:p>
          <a:p>
            <a:pPr>
              <a:lnSpc>
                <a:spcPct val="120000"/>
              </a:lnSpc>
            </a:pPr>
            <a:r>
              <a:rPr lang="en-US" dirty="0"/>
              <a:t>Unauthorized copy, reproduction or use is illegal</a:t>
            </a:r>
          </a:p>
          <a:p>
            <a:pPr>
              <a:lnSpc>
                <a:spcPct val="120000"/>
              </a:lnSpc>
            </a:pPr>
            <a:r>
              <a:rPr lang="en-US" dirty="0"/>
              <a:t>© SoftUni – </a:t>
            </a:r>
            <a:r>
              <a:rPr lang="en-US" dirty="0">
                <a:hlinkClick r:id="rId3"/>
              </a:rPr>
              <a:t>https://about.softuni.bg/</a:t>
            </a:r>
            <a:endParaRPr lang="en-US" dirty="0"/>
          </a:p>
          <a:p>
            <a:pPr>
              <a:lnSpc>
                <a:spcPct val="120000"/>
              </a:lnSpc>
            </a:pPr>
            <a:r>
              <a:rPr lang="en-US" dirty="0"/>
              <a:t>© Software University – </a:t>
            </a:r>
            <a:r>
              <a:rPr lang="en-US" dirty="0">
                <a:hlinkClick r:id="rId4"/>
              </a:rPr>
              <a:t>https://softuni.bg</a:t>
            </a:r>
            <a:endParaRPr lang="bg-BG" dirty="0"/>
          </a:p>
        </p:txBody>
      </p:sp>
      <p:pic>
        <p:nvPicPr>
          <p:cNvPr id="6" name="Picture License" descr="License">
            <a:extLst>
              <a:ext uri="{FF2B5EF4-FFF2-40B4-BE49-F238E27FC236}">
                <a16:creationId xmlns:a16="http://schemas.microsoft.com/office/drawing/2014/main" id="{A10A2585-858C-4B1E-8846-27CF1C15729E}"/>
              </a:ext>
            </a:extLst>
          </p:cNvPr>
          <p:cNvPicPr>
            <a:picLocks noChangeAspect="1"/>
          </p:cNvPicPr>
          <p:nvPr/>
        </p:nvPicPr>
        <p:blipFill>
          <a:blip r:embed="rId5" cstate="print">
            <a:clrChange>
              <a:clrFrom>
                <a:srgbClr val="FFFFFF"/>
              </a:clrFrom>
              <a:clrTo>
                <a:srgbClr val="FFFFFF">
                  <a:alpha val="0"/>
                </a:srgbClr>
              </a:clrTo>
            </a:clrChange>
          </a:blip>
          <a:stretch>
            <a:fillRect/>
          </a:stretch>
        </p:blipFill>
        <p:spPr>
          <a:xfrm>
            <a:off x="9745023" y="4445455"/>
            <a:ext cx="1930977" cy="2043545"/>
          </a:xfrm>
          <a:prstGeom prst="rect">
            <a:avLst/>
          </a:prstGeom>
        </p:spPr>
      </p:pic>
      <p:sp>
        <p:nvSpPr>
          <p:cNvPr id="3" name="Slide Title">
            <a:extLst>
              <a:ext uri="{FF2B5EF4-FFF2-40B4-BE49-F238E27FC236}">
                <a16:creationId xmlns:a16="http://schemas.microsoft.com/office/drawing/2014/main" id="{E5F1FB41-80C3-4816-BC47-CCC50632E6E8}"/>
              </a:ext>
            </a:extLst>
          </p:cNvPr>
          <p:cNvSpPr>
            <a:spLocks noGrp="1"/>
          </p:cNvSpPr>
          <p:nvPr>
            <p:ph type="title"/>
          </p:nvPr>
        </p:nvSpPr>
        <p:spPr/>
        <p:txBody>
          <a:bodyPr/>
          <a:lstStyle/>
          <a:p>
            <a:r>
              <a:rPr lang="en-US" dirty="0"/>
              <a:t>License</a:t>
            </a:r>
            <a:endParaRPr lang="bg-BG" dirty="0"/>
          </a:p>
        </p:txBody>
      </p:sp>
      <p:sp>
        <p:nvSpPr>
          <p:cNvPr id="7" name="Slide Number">
            <a:extLst>
              <a:ext uri="{FF2B5EF4-FFF2-40B4-BE49-F238E27FC236}">
                <a16:creationId xmlns:a16="http://schemas.microsoft.com/office/drawing/2014/main" id="{B7A5D82D-D249-445C-8E67-9EA189AA347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86</a:t>
            </a:fld>
            <a:endParaRPr lang="en-US" noProof="0" dirty="0"/>
          </a:p>
        </p:txBody>
      </p:sp>
    </p:spTree>
    <p:extLst>
      <p:ext uri="{BB962C8B-B14F-4D97-AF65-F5344CB8AC3E}">
        <p14:creationId xmlns:p14="http://schemas.microsoft.com/office/powerpoint/2010/main" val="196664148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theme/theme1.xml><?xml version="1.0" encoding="utf-8"?>
<a:theme xmlns:a="http://schemas.openxmlformats.org/drawingml/2006/main" name="SoftUni">
  <a:themeElements>
    <a:clrScheme name="SoftUni">
      <a:dk1>
        <a:srgbClr val="234465"/>
      </a:dk1>
      <a:lt1>
        <a:srgbClr val="FFA000"/>
      </a:lt1>
      <a:dk2>
        <a:srgbClr val="234465"/>
      </a:dk2>
      <a:lt2>
        <a:srgbClr val="FFFFFF"/>
      </a:lt2>
      <a:accent1>
        <a:srgbClr val="FFA000"/>
      </a:accent1>
      <a:accent2>
        <a:srgbClr val="00B050"/>
      </a:accent2>
      <a:accent3>
        <a:srgbClr val="44A9F8"/>
      </a:accent3>
      <a:accent4>
        <a:srgbClr val="7030A0"/>
      </a:accent4>
      <a:accent5>
        <a:srgbClr val="67748E"/>
      </a:accent5>
      <a:accent6>
        <a:srgbClr val="F4F5F7"/>
      </a:accent6>
      <a:hlink>
        <a:srgbClr val="F2AC44"/>
      </a:hlink>
      <a:folHlink>
        <a:srgbClr val="F6C781"/>
      </a:folHlink>
    </a:clrScheme>
    <a:fontScheme name="SoftUn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dk2">
            <a:alpha val="80000"/>
          </a:schemeClr>
        </a:solidFill>
        <a:ln w="19050">
          <a:solidFill>
            <a:schemeClr val="tx1">
              <a:lumMod val="75000"/>
              <a:alpha val="80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b="1" dirty="0">
            <a:solidFill>
              <a:srgbClr val="FFFFFF"/>
            </a:solidFill>
            <a:effectLst>
              <a:outerShdw blurRad="38100" dist="38100" dir="2700000" algn="tl">
                <a:srgbClr val="000000">
                  <a:alpha val="43137"/>
                </a:srgbClr>
              </a:outerShdw>
            </a:effectLst>
          </a:defRPr>
        </a:defPPr>
      </a:lstStyle>
      <a:style>
        <a:lnRef idx="2">
          <a:schemeClr val="accent1">
            <a:shade val="50000"/>
          </a:schemeClr>
        </a:lnRef>
        <a:fillRef idx="1001">
          <a:schemeClr val="dk2"/>
        </a:fillRef>
        <a:effectRef idx="0">
          <a:schemeClr val="accent1"/>
        </a:effectRef>
        <a:fontRef idx="minor">
          <a:schemeClr val="lt1"/>
        </a:fontRef>
      </a:style>
    </a:spDef>
    <a:txDef>
      <a:spPr>
        <a:solidFill>
          <a:schemeClr val="accent6">
            <a:lumMod val="75000"/>
            <a:alpha val="15000"/>
          </a:schemeClr>
        </a:solidFill>
        <a:ln w="12700">
          <a:solidFill>
            <a:schemeClr val="tx1">
              <a:lumMod val="75000"/>
            </a:schemeClr>
          </a:solidFill>
        </a:ln>
      </a:spPr>
      <a:bodyPr vert="horz" wrap="square" lIns="144000" tIns="108000" rIns="144000" bIns="108000" rtlCol="0">
        <a:spAutoFit/>
      </a:bodyPr>
      <a:lstStyle>
        <a:defPPr algn="l" eaLnBrk="0" hangingPunct="0">
          <a:lnSpc>
            <a:spcPct val="110000"/>
          </a:lnSpc>
          <a:buClr>
            <a:schemeClr val="accent5">
              <a:lumMod val="40000"/>
              <a:lumOff val="60000"/>
            </a:schemeClr>
          </a:buClr>
          <a:buSzPct val="70000"/>
          <a:defRPr sz="2400" dirty="0"/>
        </a:defPPr>
      </a:lstStyle>
    </a:txDef>
  </a:objectDefaults>
  <a:extraClrSchemeLst/>
  <a:extLst>
    <a:ext uri="{05A4C25C-085E-4340-85A3-A5531E510DB2}">
      <thm15:themeFamily xmlns:thm15="http://schemas.microsoft.com/office/thememl/2012/main" name="SoftUni" id="{D61FAD9B-6E74-4E03-BFE4-B363D484F1DA}" vid="{7089C1A3-635B-4B03-A017-DAF10A3A39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4217</TotalTime>
  <Words>4682</Words>
  <Application>Microsoft Office PowerPoint</Application>
  <PresentationFormat>Widescreen</PresentationFormat>
  <Paragraphs>807</Paragraphs>
  <Slides>86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Consolas</vt:lpstr>
      <vt:lpstr>Wingdings</vt:lpstr>
      <vt:lpstr>Wingdings 2</vt:lpstr>
      <vt:lpstr>SoftUni</vt:lpstr>
      <vt:lpstr>Introduction to HTML and CSS</vt:lpstr>
      <vt:lpstr>Table of Contents</vt:lpstr>
      <vt:lpstr>What is HTML?</vt:lpstr>
      <vt:lpstr>What is HTML?</vt:lpstr>
      <vt:lpstr>What is HTML?</vt:lpstr>
      <vt:lpstr>What is HTML?</vt:lpstr>
      <vt:lpstr>HTML Tags</vt:lpstr>
      <vt:lpstr>HTML Tag Pairs</vt:lpstr>
      <vt:lpstr>HTML Tag Pairs - Example</vt:lpstr>
      <vt:lpstr>&lt;header&gt;&lt;/header&gt;</vt:lpstr>
      <vt:lpstr>&lt;nav&gt;&lt;/nav&gt;</vt:lpstr>
      <vt:lpstr>&lt;main&gt;&lt;/main&gt;</vt:lpstr>
      <vt:lpstr>&lt;aside&gt;&lt;/aside&gt;</vt:lpstr>
      <vt:lpstr>&lt;footer&gt;&lt;/footer&gt;</vt:lpstr>
      <vt:lpstr>&lt;section&gt;&lt;/section&gt;</vt:lpstr>
      <vt:lpstr>&lt;article&gt;&lt;/article&gt;</vt:lpstr>
      <vt:lpstr>Sections and Articles – Example</vt:lpstr>
      <vt:lpstr>&lt;figure&gt;&lt;/figure&gt;</vt:lpstr>
      <vt:lpstr>&lt;details&gt; + &lt;summary&gt;</vt:lpstr>
      <vt:lpstr>&lt;time&gt; + &lt;address&gt;</vt:lpstr>
      <vt:lpstr>Your First HTML Document</vt:lpstr>
      <vt:lpstr>HTML Versions</vt:lpstr>
      <vt:lpstr>THE &lt;!DOCTYPE&gt; DECLARATION</vt:lpstr>
      <vt:lpstr>Common HTML Tags</vt:lpstr>
      <vt:lpstr>Headings and Paragraphs</vt:lpstr>
      <vt:lpstr>Hyperlinks</vt:lpstr>
      <vt:lpstr>Images</vt:lpstr>
      <vt:lpstr>Ordered Lists: &lt;ol&gt; Tag</vt:lpstr>
      <vt:lpstr>Unordered Lists: &lt;ul&gt; Tag</vt:lpstr>
      <vt:lpstr>Definition Lists: &lt;dl&gt; Tag</vt:lpstr>
      <vt:lpstr>Common HTML Attributes</vt:lpstr>
      <vt:lpstr>HTML Tag Attributes</vt:lpstr>
      <vt:lpstr>HTML Tag Attributes</vt:lpstr>
      <vt:lpstr>HTML Tag Attributes</vt:lpstr>
      <vt:lpstr>HTML Tag Attributes</vt:lpstr>
      <vt:lpstr>HTML Metadata Section</vt:lpstr>
      <vt:lpstr>Metadata Section</vt:lpstr>
      <vt:lpstr>Metadata Section</vt:lpstr>
      <vt:lpstr>Indentation &amp; Code formatting</vt:lpstr>
      <vt:lpstr>What is CSS?</vt:lpstr>
      <vt:lpstr>What is CSS?</vt:lpstr>
      <vt:lpstr>What is CSS?</vt:lpstr>
      <vt:lpstr>Combining HTML and CSS Files (External Style)</vt:lpstr>
      <vt:lpstr>CSS Syntax – Selectors and Rules</vt:lpstr>
      <vt:lpstr>CSS Selectors</vt:lpstr>
      <vt:lpstr>CSS Selectors</vt:lpstr>
      <vt:lpstr>CSS Selectors</vt:lpstr>
      <vt:lpstr>CSS Selectors</vt:lpstr>
      <vt:lpstr>CSS Selectors</vt:lpstr>
      <vt:lpstr>CSS Selectors</vt:lpstr>
      <vt:lpstr>CSS Selectors</vt:lpstr>
      <vt:lpstr>Combined CSS Selectors</vt:lpstr>
      <vt:lpstr>CSS Combinators</vt:lpstr>
      <vt:lpstr>CSS Combinators</vt:lpstr>
      <vt:lpstr>CSS Combinators</vt:lpstr>
      <vt:lpstr>Combining Styles</vt:lpstr>
      <vt:lpstr>CSS Cascade</vt:lpstr>
      <vt:lpstr>CSS Specificity</vt:lpstr>
      <vt:lpstr>CSS !important</vt:lpstr>
      <vt:lpstr>Adding CSS to our HTML Document</vt:lpstr>
      <vt:lpstr>Adding CSS to our HTML documents</vt:lpstr>
      <vt:lpstr>Adding CSS to our HTML documents</vt:lpstr>
      <vt:lpstr>Adding CSS to our HTML documents</vt:lpstr>
      <vt:lpstr>Adding CSS to our HTML documents</vt:lpstr>
      <vt:lpstr>Inline CSS Style</vt:lpstr>
      <vt:lpstr>Basic CSS Selectors</vt:lpstr>
      <vt:lpstr>Font Size</vt:lpstr>
      <vt:lpstr>Font Weight: Thin / Normal / Bold</vt:lpstr>
      <vt:lpstr>Font Style: Normal / Italic</vt:lpstr>
      <vt:lpstr>Text Align: Left / Right / Center / Justify</vt:lpstr>
      <vt:lpstr>Line Height</vt:lpstr>
      <vt:lpstr>Letter Spacing</vt:lpstr>
      <vt:lpstr>Text Decoration</vt:lpstr>
      <vt:lpstr>Text Indent</vt:lpstr>
      <vt:lpstr>Text Overflow</vt:lpstr>
      <vt:lpstr>Text Transform</vt:lpstr>
      <vt:lpstr>Word Break</vt:lpstr>
      <vt:lpstr>Text Shadow</vt:lpstr>
      <vt:lpstr>Text Color</vt:lpstr>
      <vt:lpstr>Background Color</vt:lpstr>
      <vt:lpstr>Mouse Cursor</vt:lpstr>
      <vt:lpstr>Outline</vt:lpstr>
      <vt:lpstr>Resources</vt:lpstr>
      <vt:lpstr>Summary</vt:lpstr>
      <vt:lpstr>Trainings @ Software University (SoftUni)</vt:lpstr>
      <vt:lpstr>License</vt:lpstr>
    </vt:vector>
  </TitlesOfParts>
  <Company>SoftUni – https://about.softuni.bg/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HTML and CSS</dc:title>
  <dc:subject>Software Development</dc:subject>
  <dc:creator>Software University</dc:creator>
  <cp:keywords>JS Fundamentals; Software University; SoftUni; programming; coding; software development; education; training; course</cp:keywords>
  <dc:description>© SoftUni – https://about.softuni.bg/
© Software University – https://softuni.bg
Copyrighted document. Unauthorized copy, reproduction or use is not permitted.</dc:description>
  <cp:lastModifiedBy>Daniel Dimitrov</cp:lastModifiedBy>
  <cp:revision>141</cp:revision>
  <dcterms:created xsi:type="dcterms:W3CDTF">2018-05-23T13:08:44Z</dcterms:created>
  <dcterms:modified xsi:type="dcterms:W3CDTF">2025-08-27T07:58:46Z</dcterms:modified>
  <cp:category>programming;computer programming;software development;web development</cp:category>
</cp:coreProperties>
</file>