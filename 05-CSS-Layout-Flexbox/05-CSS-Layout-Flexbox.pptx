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5" r:id="rId1"/>
  </p:sldMasterIdLst>
  <p:notesMasterIdLst>
    <p:notesMasterId r:id="rId47"/>
  </p:notesMasterIdLst>
  <p:handoutMasterIdLst>
    <p:handoutMasterId r:id="rId48"/>
  </p:handoutMasterIdLst>
  <p:sldIdLst>
    <p:sldId id="503" r:id="rId2"/>
    <p:sldId id="276" r:id="rId3"/>
    <p:sldId id="387" r:id="rId4"/>
    <p:sldId id="549" r:id="rId5"/>
    <p:sldId id="698" r:id="rId6"/>
    <p:sldId id="700" r:id="rId7"/>
    <p:sldId id="728" r:id="rId8"/>
    <p:sldId id="721" r:id="rId9"/>
    <p:sldId id="305" r:id="rId10"/>
    <p:sldId id="508" r:id="rId11"/>
    <p:sldId id="443" r:id="rId12"/>
    <p:sldId id="444" r:id="rId13"/>
    <p:sldId id="445" r:id="rId14"/>
    <p:sldId id="446" r:id="rId15"/>
    <p:sldId id="448" r:id="rId16"/>
    <p:sldId id="449" r:id="rId17"/>
    <p:sldId id="450" r:id="rId18"/>
    <p:sldId id="451" r:id="rId19"/>
    <p:sldId id="452" r:id="rId20"/>
    <p:sldId id="453" r:id="rId21"/>
    <p:sldId id="730" r:id="rId22"/>
    <p:sldId id="454" r:id="rId23"/>
    <p:sldId id="455" r:id="rId24"/>
    <p:sldId id="456" r:id="rId25"/>
    <p:sldId id="457" r:id="rId26"/>
    <p:sldId id="458" r:id="rId27"/>
    <p:sldId id="459" r:id="rId28"/>
    <p:sldId id="476" r:id="rId29"/>
    <p:sldId id="460" r:id="rId30"/>
    <p:sldId id="477" r:id="rId31"/>
    <p:sldId id="461" r:id="rId32"/>
    <p:sldId id="462" r:id="rId33"/>
    <p:sldId id="463" r:id="rId34"/>
    <p:sldId id="464" r:id="rId35"/>
    <p:sldId id="465" r:id="rId36"/>
    <p:sldId id="466" r:id="rId37"/>
    <p:sldId id="467" r:id="rId38"/>
    <p:sldId id="468" r:id="rId39"/>
    <p:sldId id="469" r:id="rId40"/>
    <p:sldId id="470" r:id="rId41"/>
    <p:sldId id="471" r:id="rId42"/>
    <p:sldId id="684" r:id="rId43"/>
    <p:sldId id="349" r:id="rId44"/>
    <p:sldId id="729" r:id="rId45"/>
    <p:sldId id="493" r:id="rId4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786C247E-DD2A-4015-9929-CAB369BB8B36}">
          <p14:sldIdLst>
            <p14:sldId id="503"/>
            <p14:sldId id="276"/>
          </p14:sldIdLst>
        </p14:section>
        <p14:section name="Flexbox" id="{DBEE7932-88C7-4A1D-B8A3-B00D4555448B}">
          <p14:sldIdLst>
            <p14:sldId id="387"/>
            <p14:sldId id="549"/>
            <p14:sldId id="698"/>
            <p14:sldId id="700"/>
            <p14:sldId id="728"/>
            <p14:sldId id="721"/>
          </p14:sldIdLst>
        </p14:section>
        <p14:section name="Properties for the Parent" id="{D3B8784C-72FE-4499-ADE6-736EFB7425A5}">
          <p14:sldIdLst>
            <p14:sldId id="305"/>
            <p14:sldId id="508"/>
            <p14:sldId id="443"/>
            <p14:sldId id="444"/>
            <p14:sldId id="445"/>
            <p14:sldId id="446"/>
            <p14:sldId id="448"/>
            <p14:sldId id="449"/>
            <p14:sldId id="450"/>
            <p14:sldId id="451"/>
            <p14:sldId id="452"/>
            <p14:sldId id="453"/>
            <p14:sldId id="730"/>
            <p14:sldId id="454"/>
            <p14:sldId id="455"/>
            <p14:sldId id="456"/>
            <p14:sldId id="457"/>
            <p14:sldId id="458"/>
            <p14:sldId id="459"/>
            <p14:sldId id="476"/>
            <p14:sldId id="460"/>
            <p14:sldId id="477"/>
            <p14:sldId id="461"/>
          </p14:sldIdLst>
        </p14:section>
        <p14:section name="Properties for the Children" id="{E3EC4501-0036-4EBF-8FFE-81355D130A41}">
          <p14:sldIdLst>
            <p14:sldId id="462"/>
            <p14:sldId id="463"/>
            <p14:sldId id="464"/>
            <p14:sldId id="465"/>
            <p14:sldId id="466"/>
            <p14:sldId id="467"/>
            <p14:sldId id="468"/>
            <p14:sldId id="469"/>
            <p14:sldId id="470"/>
            <p14:sldId id="471"/>
            <p14:sldId id="684"/>
          </p14:sldIdLst>
        </p14:section>
        <p14:section name="Summary" id="{021111E9-2552-4966-8F4F-CAAE7AFA84AA}">
          <p14:sldIdLst>
            <p14:sldId id="349"/>
            <p14:sldId id="729"/>
            <p14:sldId id="49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8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64646"/>
    <a:srgbClr val="F2A40D"/>
    <a:srgbClr val="DBBD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CC232DE-2511-49A3-B33B-FD78A94CD8E3}" v="22" dt="2019-12-04T16:40:36.347"/>
  </p1510:revLst>
</p1510:revInfo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405" autoAdjust="0"/>
    <p:restoredTop sz="95214" autoAdjust="0"/>
  </p:normalViewPr>
  <p:slideViewPr>
    <p:cSldViewPr showGuides="1">
      <p:cViewPr varScale="1">
        <p:scale>
          <a:sx n="105" d="100"/>
          <a:sy n="105" d="100"/>
        </p:scale>
        <p:origin x="750" y="78"/>
      </p:cViewPr>
      <p:guideLst>
        <p:guide orient="horz" pos="2184"/>
        <p:guide pos="3840"/>
      </p:guideLst>
    </p:cSldViewPr>
  </p:slideViewPr>
  <p:outlineViewPr>
    <p:cViewPr>
      <p:scale>
        <a:sx n="33" d="100"/>
        <a:sy n="33" d="100"/>
      </p:scale>
      <p:origin x="0" y="-9989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6566"/>
    </p:cViewPr>
  </p:sorterViewPr>
  <p:notesViewPr>
    <p:cSldViewPr>
      <p:cViewPr varScale="1">
        <p:scale>
          <a:sx n="62" d="100"/>
          <a:sy n="62" d="100"/>
        </p:scale>
        <p:origin x="3154" y="72"/>
      </p:cViewPr>
      <p:guideLst/>
    </p:cSldViewPr>
  </p:notesViewPr>
  <p:gridSpacing cx="45000" cy="450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hyperlink" Target="https://softuni.org/" TargetMode="External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6F20103-83CC-4A54-8FDE-9D37FC2629C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A53962-26EF-44E4-9E69-61B1727AB1C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087215-0C8F-4762-A664-737A353EC9A4}" type="datetimeFigureOut">
              <a:rPr lang="bg-BG" smtClean="0"/>
              <a:t>22.5.2026 г.</a:t>
            </a:fld>
            <a:endParaRPr lang="bg-B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A6967E-448F-4887-8FCB-34482EFBCC7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-1" y="8847000"/>
            <a:ext cx="6443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sz="1100" dirty="0"/>
              <a:t>© SoftUni – </a:t>
            </a:r>
            <a:r>
              <a:rPr lang="en-US" sz="1100" u="sng" dirty="0">
                <a:hlinkClick r:id="rId2"/>
              </a:rPr>
              <a:t>https://softuni.org</a:t>
            </a:r>
            <a:r>
              <a:rPr lang="en-US" sz="1100" dirty="0"/>
              <a:t>. Copyrighted document. Unauthorized copy or reproduction is not permitted.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6554C2-DDBA-40E2-9536-53A07EC5027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6443999" y="8847000"/>
            <a:ext cx="412413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C318AE-53F9-47EA-B5FE-E9473933AF11}" type="slidenum">
              <a:rPr lang="bg-BG" smtClean="0"/>
              <a:t>‹#›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4150602968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hyperlink" Target="https://softuni.org/" TargetMode="External"/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D84649-876A-46C9-8472-14CB09C070D8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F067CD-8E6B-4360-9AA8-C5DF2A48A6D1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C3A49B-3196-44DF-AC28-085C72EFBFF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2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1530847692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8" name="Slide Image Placeholder 7">
            <a:extLst>
              <a:ext uri="{FF2B5EF4-FFF2-40B4-BE49-F238E27FC236}">
                <a16:creationId xmlns:a16="http://schemas.microsoft.com/office/drawing/2014/main" id="{78811095-27E9-49AB-972B-D4E20B3963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9" name="Notes Placeholder 8">
            <a:extLst>
              <a:ext uri="{FF2B5EF4-FFF2-40B4-BE49-F238E27FC236}">
                <a16:creationId xmlns:a16="http://schemas.microsoft.com/office/drawing/2014/main" id="{E923224B-0CC3-475A-8628-8A90751AE6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97289964-B3A7-4EFD-AB0C-504E1732121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32051460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Image Placeholder 13">
            <a:extLst>
              <a:ext uri="{FF2B5EF4-FFF2-40B4-BE49-F238E27FC236}">
                <a16:creationId xmlns:a16="http://schemas.microsoft.com/office/drawing/2014/main" id="{A1F0B3C6-2E53-4CA3-86D1-53D46EC352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5" name="Notes Placeholder 14">
            <a:extLst>
              <a:ext uri="{FF2B5EF4-FFF2-40B4-BE49-F238E27FC236}">
                <a16:creationId xmlns:a16="http://schemas.microsoft.com/office/drawing/2014/main" id="{149CC699-A079-49A5-A4D6-73B7F849A7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121F4233-7E9A-40D2-9066-2DB14E2FA5AD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7" name="Footer Placeholder 7">
            <a:extLst>
              <a:ext uri="{FF2B5EF4-FFF2-40B4-BE49-F238E27FC236}">
                <a16:creationId xmlns:a16="http://schemas.microsoft.com/office/drawing/2014/main" id="{3AD3768D-7262-4A95-AF4A-FE34F480089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42934864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49974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65F1CA9-65DC-416B-8882-B3A5E415CE67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43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E4AA848-873C-4236-AE59-9DEE91A2092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8993359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D1C0779-821B-433B-AB3A-0953EE966C7E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44</a:t>
            </a:fld>
            <a:endParaRPr lang="en-US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0CBA6FCE-6B4E-4B7E-8DA4-A04563E6F38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27502498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27548A-4D3C-449B-81A5-FA4BE4628490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45</a:t>
            </a:fld>
            <a:endParaRPr lang="en-US" dirty="0"/>
          </a:p>
        </p:txBody>
      </p:sp>
      <p:sp>
        <p:nvSpPr>
          <p:cNvPr id="7" name="Footer Placeholder 7">
            <a:extLst>
              <a:ext uri="{FF2B5EF4-FFF2-40B4-BE49-F238E27FC236}">
                <a16:creationId xmlns:a16="http://schemas.microsoft.com/office/drawing/2014/main" id="{BAAD903E-2495-4A4C-86A6-F5F65F50FB2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23176619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hyperlink" Target="https://softuni.org/" TargetMode="Externa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hyperlink" Target="https://about.softuni.bg/" TargetMode="External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png"/><Relationship Id="rId11" Type="http://schemas.openxmlformats.org/officeDocument/2006/relationships/image" Target="../media/image4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hyperlink" Target="https://softuni.foundation/" TargetMode="External"/><Relationship Id="rId3" Type="http://schemas.openxmlformats.org/officeDocument/2006/relationships/image" Target="../media/image16.png"/><Relationship Id="rId7" Type="http://schemas.openxmlformats.org/officeDocument/2006/relationships/image" Target="../media/image18.png"/><Relationship Id="rId2" Type="http://schemas.openxmlformats.org/officeDocument/2006/relationships/hyperlink" Target="https://www.facebook.com/SoftwareUniversity" TargetMode="External"/><Relationship Id="rId1" Type="http://schemas.openxmlformats.org/officeDocument/2006/relationships/slideMaster" Target="../slideMasters/slideMaster1.xml"/><Relationship Id="rId6" Type="http://schemas.openxmlformats.org/officeDocument/2006/relationships/hyperlink" Target="https://softuni.bg/" TargetMode="External"/><Relationship Id="rId5" Type="http://schemas.openxmlformats.org/officeDocument/2006/relationships/image" Target="../media/image17.png"/><Relationship Id="rId10" Type="http://schemas.openxmlformats.org/officeDocument/2006/relationships/image" Target="../media/image5.png"/><Relationship Id="rId4" Type="http://schemas.openxmlformats.org/officeDocument/2006/relationships/hyperlink" Target="https://softuni.org/" TargetMode="External"/><Relationship Id="rId9" Type="http://schemas.openxmlformats.org/officeDocument/2006/relationships/hyperlink" Target="https://forum.softuni.bg/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esenta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Bottom">
            <a:extLst>
              <a:ext uri="{FF2B5EF4-FFF2-40B4-BE49-F238E27FC236}">
                <a16:creationId xmlns:a16="http://schemas.microsoft.com/office/drawing/2014/main" id="{6854D183-0374-4B3E-B2CE-32F308A81591}"/>
              </a:ext>
            </a:extLst>
          </p:cNvPr>
          <p:cNvSpPr/>
          <p:nvPr/>
        </p:nvSpPr>
        <p:spPr>
          <a:xfrm>
            <a:off x="0" y="6702676"/>
            <a:ext cx="12195176" cy="15532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4" name="Picture Logo SoftUni" descr="SoftUni logo">
            <a:extLst>
              <a:ext uri="{FF2B5EF4-FFF2-40B4-BE49-F238E27FC236}">
                <a16:creationId xmlns:a16="http://schemas.microsoft.com/office/drawing/2014/main" id="{C4D6B2A2-DFF0-4712-BFEC-6676BEC99FE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4460" y="5184000"/>
            <a:ext cx="3751540" cy="1297655"/>
          </a:xfrm>
          <a:prstGeom prst="rect">
            <a:avLst/>
          </a:prstGeom>
        </p:spPr>
      </p:pic>
      <p:sp>
        <p:nvSpPr>
          <p:cNvPr id="31" name="Text Placeholder Company Site">
            <a:extLst>
              <a:ext uri="{FF2B5EF4-FFF2-40B4-BE49-F238E27FC236}">
                <a16:creationId xmlns:a16="http://schemas.microsoft.com/office/drawing/2014/main" id="{3E6B87B7-9D33-4EBB-BD4F-C0436BA3FD7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auto">
          <a:xfrm>
            <a:off x="8708505" y="6130863"/>
            <a:ext cx="2951518" cy="341556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noAutofit/>
          </a:bodyPr>
          <a:lstStyle>
            <a:lvl1pPr marL="0" indent="0" algn="r" rtl="0" fontAlgn="base" latinLnBrk="0">
              <a:spcBef>
                <a:spcPct val="0"/>
              </a:spcBef>
              <a:spcAft>
                <a:spcPct val="0"/>
              </a:spcAft>
              <a:buNone/>
              <a:defRPr lang="en-US" sz="1798" b="1" kern="1200" dirty="0" smtClean="0">
                <a:solidFill>
                  <a:schemeClr val="tx1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Company Web Site</a:t>
            </a:r>
          </a:p>
        </p:txBody>
      </p:sp>
      <p:sp>
        <p:nvSpPr>
          <p:cNvPr id="30" name="Text Placeholder Company Name">
            <a:extLst>
              <a:ext uri="{FF2B5EF4-FFF2-40B4-BE49-F238E27FC236}">
                <a16:creationId xmlns:a16="http://schemas.microsoft.com/office/drawing/2014/main" id="{2EA92DCA-4DB5-4D03-ACD3-A6A296592D0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auto">
          <a:xfrm>
            <a:off x="8708505" y="5756628"/>
            <a:ext cx="2951518" cy="367080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noAutofit/>
          </a:bodyPr>
          <a:lstStyle>
            <a:lvl1pPr marL="0" indent="0" algn="r" rtl="0" fontAlgn="base" latinLnBrk="0">
              <a:spcBef>
                <a:spcPct val="0"/>
              </a:spcBef>
              <a:spcAft>
                <a:spcPct val="0"/>
              </a:spcAft>
              <a:buNone/>
              <a:defRPr lang="en-US" sz="1998" b="1" kern="1200" dirty="0" smtClean="0">
                <a:solidFill>
                  <a:schemeClr val="tx1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Company Name</a:t>
            </a:r>
          </a:p>
        </p:txBody>
      </p:sp>
      <p:pic>
        <p:nvPicPr>
          <p:cNvPr id="35" name="Picture SoftUni Mascot" descr="SoftUni mascot">
            <a:extLst>
              <a:ext uri="{FF2B5EF4-FFF2-40B4-BE49-F238E27FC236}">
                <a16:creationId xmlns:a16="http://schemas.microsoft.com/office/drawing/2014/main" id="{951E7DA9-C5F0-43D9-B013-3BDF9EEF029D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8848924" y="2609644"/>
            <a:ext cx="2788893" cy="3018284"/>
          </a:xfrm>
          <a:prstGeom prst="rect">
            <a:avLst/>
          </a:prstGeom>
        </p:spPr>
      </p:pic>
      <p:pic>
        <p:nvPicPr>
          <p:cNvPr id="22" name="Picture Logo Software University" descr="Software University logo">
            <a:hlinkClick r:id="rId4"/>
            <a:extLst>
              <a:ext uri="{FF2B5EF4-FFF2-40B4-BE49-F238E27FC236}">
                <a16:creationId xmlns:a16="http://schemas.microsoft.com/office/drawing/2014/main" id="{F2315EB3-3FE4-4D3B-921E-5F209CEC13CB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944" y="5918567"/>
            <a:ext cx="1830305" cy="628159"/>
          </a:xfrm>
          <a:prstGeom prst="rect">
            <a:avLst/>
          </a:prstGeom>
        </p:spPr>
      </p:pic>
      <p:sp>
        <p:nvSpPr>
          <p:cNvPr id="40" name="Text Placeholder Author Position">
            <a:extLst>
              <a:ext uri="{FF2B5EF4-FFF2-40B4-BE49-F238E27FC236}">
                <a16:creationId xmlns:a16="http://schemas.microsoft.com/office/drawing/2014/main" id="{CD940256-851E-46C8-8BFB-A5ECA6C7DA0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 bwMode="auto">
          <a:xfrm>
            <a:off x="553082" y="5344180"/>
            <a:ext cx="2980696" cy="444793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spAutoFit/>
          </a:bodyPr>
          <a:lstStyle>
            <a:lvl1pPr marL="0" indent="0" algn="l" rtl="0" fontAlgn="base" latinLnBrk="0">
              <a:spcBef>
                <a:spcPct val="0"/>
              </a:spcBef>
              <a:spcAft>
                <a:spcPct val="0"/>
              </a:spcAft>
              <a:buNone/>
              <a:defRPr lang="en-US" sz="2398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Position</a:t>
            </a:r>
          </a:p>
        </p:txBody>
      </p:sp>
      <p:sp>
        <p:nvSpPr>
          <p:cNvPr id="36" name="Text Placeholder Author Name">
            <a:extLst>
              <a:ext uri="{FF2B5EF4-FFF2-40B4-BE49-F238E27FC236}">
                <a16:creationId xmlns:a16="http://schemas.microsoft.com/office/drawing/2014/main" id="{3B21F47B-DE1F-442D-A2B7-6866F87867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auto">
          <a:xfrm>
            <a:off x="553082" y="4851838"/>
            <a:ext cx="2980696" cy="454398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noAutofit/>
          </a:bodyPr>
          <a:lstStyle>
            <a:lvl1pPr marL="0" indent="0" algn="l" rtl="0" fontAlgn="base" latinLnBrk="0">
              <a:spcBef>
                <a:spcPct val="0"/>
              </a:spcBef>
              <a:spcAft>
                <a:spcPct val="0"/>
              </a:spcAft>
              <a:buNone/>
              <a:defRPr lang="en-US" sz="2798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Author Name</a:t>
            </a:r>
          </a:p>
        </p:txBody>
      </p:sp>
      <p:sp>
        <p:nvSpPr>
          <p:cNvPr id="33" name="Picture Placeholder Title Image">
            <a:extLst>
              <a:ext uri="{FF2B5EF4-FFF2-40B4-BE49-F238E27FC236}">
                <a16:creationId xmlns:a16="http://schemas.microsoft.com/office/drawing/2014/main" id="{A04D819A-89E2-4714-8C56-1838BF467EF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53082" y="2740913"/>
            <a:ext cx="4642919" cy="1936503"/>
          </a:xfrm>
        </p:spPr>
        <p:txBody>
          <a:bodyPr/>
          <a:lstStyle>
            <a:lvl1pPr marL="0" indent="0" algn="ctr" latinLnBrk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Click icon to add picture</a:t>
            </a:r>
          </a:p>
        </p:txBody>
      </p:sp>
      <p:sp>
        <p:nvSpPr>
          <p:cNvPr id="43" name="Presentation Subtitle">
            <a:extLst>
              <a:ext uri="{FF2B5EF4-FFF2-40B4-BE49-F238E27FC236}">
                <a16:creationId xmlns:a16="http://schemas.microsoft.com/office/drawing/2014/main" id="{37BDB812-1395-4B02-ABCF-6A331EEE23E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54182" y="1258272"/>
            <a:ext cx="11083636" cy="1315728"/>
          </a:xfrm>
        </p:spPr>
        <p:txBody>
          <a:bodyPr anchor="t" anchorCtr="0">
            <a:normAutofit/>
          </a:bodyPr>
          <a:lstStyle>
            <a:lvl1pPr marL="0" indent="0" algn="ctr" latinLnBrk="0">
              <a:buNone/>
              <a:defRPr sz="3598"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Presentation Subtitle</a:t>
            </a:r>
          </a:p>
        </p:txBody>
      </p:sp>
      <p:sp>
        <p:nvSpPr>
          <p:cNvPr id="2" name="Presentation Title">
            <a:extLst>
              <a:ext uri="{FF2B5EF4-FFF2-40B4-BE49-F238E27FC236}">
                <a16:creationId xmlns:a16="http://schemas.microsoft.com/office/drawing/2014/main" id="{A4DF3AB8-E6E3-4FCE-8A4A-ECD147720A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182" y="321502"/>
            <a:ext cx="11083636" cy="882654"/>
          </a:xfrm>
        </p:spPr>
        <p:txBody>
          <a:bodyPr/>
          <a:lstStyle>
            <a:lvl1pPr algn="ctr" latinLnBrk="0">
              <a:defRPr sz="4798"/>
            </a:lvl1pPr>
          </a:lstStyle>
          <a:p>
            <a:r>
              <a:rPr lang="en-US" noProof="0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9701792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Center Icon"/>
          <p:cNvSpPr>
            <a:spLocks noChangeAspect="1"/>
          </p:cNvSpPr>
          <p:nvPr/>
        </p:nvSpPr>
        <p:spPr>
          <a:xfrm>
            <a:off x="4319736" y="867751"/>
            <a:ext cx="3552529" cy="3552529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Slide Subtitle"/>
          <p:cNvSpPr>
            <a:spLocks noGrp="1"/>
          </p:cNvSpPr>
          <p:nvPr>
            <p:ph type="subTitle" sz="quarter" idx="11" hasCustomPrompt="1"/>
          </p:nvPr>
        </p:nvSpPr>
        <p:spPr>
          <a:xfrm>
            <a:off x="615109" y="5585916"/>
            <a:ext cx="10961783" cy="76808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latinLnBrk="0">
              <a:buNone/>
              <a:defRPr sz="3998" b="0" baseline="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Click to Edit Section Subtitle</a:t>
            </a:r>
          </a:p>
        </p:txBody>
      </p:sp>
      <p:sp>
        <p:nvSpPr>
          <p:cNvPr id="10" name="Slide Title"/>
          <p:cNvSpPr>
            <a:spLocks noGrp="1"/>
          </p:cNvSpPr>
          <p:nvPr>
            <p:ph type="title" sz="quarter" idx="10" hasCustomPrompt="1"/>
          </p:nvPr>
        </p:nvSpPr>
        <p:spPr>
          <a:xfrm>
            <a:off x="615109" y="4704825"/>
            <a:ext cx="10961783" cy="76808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latinLnBrk="0">
              <a:buNone/>
              <a:defRPr sz="5396" b="1" baseline="0">
                <a:solidFill>
                  <a:schemeClr val="tx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Click to Edit Section Title</a:t>
            </a:r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35292164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">
            <a:extLst>
              <a:ext uri="{FF2B5EF4-FFF2-40B4-BE49-F238E27FC236}">
                <a16:creationId xmlns:a16="http://schemas.microsoft.com/office/drawing/2014/main" id="{C1780DB1-0AF0-4108-AFE1-9DA99F0DBC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3" name="Slide Body Text">
            <a:extLst>
              <a:ext uri="{FF2B5EF4-FFF2-40B4-BE49-F238E27FC236}">
                <a16:creationId xmlns:a16="http://schemas.microsoft.com/office/drawing/2014/main" id="{5A9D2960-6D42-439F-82E8-812822013A1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0402" y="1196125"/>
            <a:ext cx="11818096" cy="5528766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Rectangle Top">
            <a:extLst>
              <a:ext uri="{FF2B5EF4-FFF2-40B4-BE49-F238E27FC236}">
                <a16:creationId xmlns:a16="http://schemas.microsoft.com/office/drawing/2014/main" id="{391AFA4E-7870-4561-A1B8-AC956B0C8931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2" name="Logo Software University" descr="Software University logo">
            <a:extLst>
              <a:ext uri="{FF2B5EF4-FFF2-40B4-BE49-F238E27FC236}">
                <a16:creationId xmlns:a16="http://schemas.microsoft.com/office/drawing/2014/main" id="{B1D3B425-B9BF-43ED-9DEC-C05002FBA22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7957" y="253936"/>
            <a:ext cx="1915704" cy="559235"/>
          </a:xfrm>
          <a:prstGeom prst="rect">
            <a:avLst/>
          </a:prstGeom>
        </p:spPr>
      </p:pic>
      <p:sp>
        <p:nvSpPr>
          <p:cNvPr id="6" name="Slide Title">
            <a:extLst>
              <a:ext uri="{FF2B5EF4-FFF2-40B4-BE49-F238E27FC236}">
                <a16:creationId xmlns:a16="http://schemas.microsoft.com/office/drawing/2014/main" id="{19B5B676-7892-440F-8191-7109B2C598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9715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11029707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portant Conce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0020EB61-2079-41A3-B356-B1D8D48D78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6" name="Rectangle Left"/>
          <p:cNvSpPr/>
          <p:nvPr/>
        </p:nvSpPr>
        <p:spPr>
          <a:xfrm>
            <a:off x="0" y="0"/>
            <a:ext cx="115383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" name="Slide Body Text">
            <a:extLst>
              <a:ext uri="{FF2B5EF4-FFF2-40B4-BE49-F238E27FC236}">
                <a16:creationId xmlns:a16="http://schemas.microsoft.com/office/drawing/2014/main" id="{CB4CB13C-66A1-466B-A6C1-B0BABF5CFEC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66000" y="1121143"/>
            <a:ext cx="10129234" cy="5546589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pic>
        <p:nvPicPr>
          <p:cNvPr id="3" name="Logo Software University" descr="Software University logo">
            <a:extLst>
              <a:ext uri="{FF2B5EF4-FFF2-40B4-BE49-F238E27FC236}">
                <a16:creationId xmlns:a16="http://schemas.microsoft.com/office/drawing/2014/main" id="{5573C101-930B-47AC-967A-A64513DFFDE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8761" y="190267"/>
            <a:ext cx="2013336" cy="690975"/>
          </a:xfrm>
          <a:prstGeom prst="rect">
            <a:avLst/>
          </a:prstGeom>
        </p:spPr>
      </p:pic>
      <p:sp>
        <p:nvSpPr>
          <p:cNvPr id="8" name="Slide Title">
            <a:extLst>
              <a:ext uri="{FF2B5EF4-FFF2-40B4-BE49-F238E27FC236}">
                <a16:creationId xmlns:a16="http://schemas.microsoft.com/office/drawing/2014/main" id="{E2DA9691-CDF5-499C-94BB-AAA61DAC1BF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6957" y="100750"/>
            <a:ext cx="8625520" cy="882654"/>
          </a:xfrm>
        </p:spPr>
        <p:txBody>
          <a:bodyPr/>
          <a:lstStyle>
            <a:lvl1pPr latinLnBrk="0">
              <a:defRPr/>
            </a:lvl1pPr>
          </a:lstStyle>
          <a:p>
            <a:r>
              <a:rPr lang="en-US" noProof="0" dirty="0"/>
              <a:t>Slide Title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43CDBCC2-1C96-44BC-B992-7B0C49C34904}"/>
              </a:ext>
            </a:extLst>
          </p:cNvPr>
          <p:cNvGrpSpPr/>
          <p:nvPr userDrawn="1"/>
        </p:nvGrpSpPr>
        <p:grpSpPr>
          <a:xfrm>
            <a:off x="185076" y="1868177"/>
            <a:ext cx="1937508" cy="3070349"/>
            <a:chOff x="3928039" y="1792355"/>
            <a:chExt cx="1830304" cy="2900460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7D71B3A8-4D39-42CF-9255-81EA3A622DD6}"/>
                </a:ext>
              </a:extLst>
            </p:cNvPr>
            <p:cNvGrpSpPr/>
            <p:nvPr/>
          </p:nvGrpSpPr>
          <p:grpSpPr>
            <a:xfrm>
              <a:off x="3928039" y="1792355"/>
              <a:ext cx="1830304" cy="2206534"/>
              <a:chOff x="3216839" y="2404072"/>
              <a:chExt cx="1830304" cy="2206534"/>
            </a:xfrm>
          </p:grpSpPr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B98059F9-1874-426D-8AF7-A12C21F37DD9}"/>
                  </a:ext>
                </a:extLst>
              </p:cNvPr>
              <p:cNvSpPr/>
              <p:nvPr/>
            </p:nvSpPr>
            <p:spPr>
              <a:xfrm>
                <a:off x="3216839" y="2404072"/>
                <a:ext cx="1830304" cy="1830304"/>
              </a:xfrm>
              <a:prstGeom prst="ellipse">
                <a:avLst/>
              </a:pr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/>
              </a:p>
            </p:txBody>
          </p:sp>
          <p:sp>
            <p:nvSpPr>
              <p:cNvPr id="26" name="Rectangle 5">
                <a:extLst>
                  <a:ext uri="{FF2B5EF4-FFF2-40B4-BE49-F238E27FC236}">
                    <a16:creationId xmlns:a16="http://schemas.microsoft.com/office/drawing/2014/main" id="{A3A1E077-DBDF-48F0-A924-604984B940A2}"/>
                  </a:ext>
                </a:extLst>
              </p:cNvPr>
              <p:cNvSpPr/>
              <p:nvPr/>
            </p:nvSpPr>
            <p:spPr>
              <a:xfrm>
                <a:off x="3699615" y="3807346"/>
                <a:ext cx="1143001" cy="803260"/>
              </a:xfrm>
              <a:custGeom>
                <a:avLst/>
                <a:gdLst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1130300"/>
                  <a:gd name="connsiteY0" fmla="*/ 0 h 787400"/>
                  <a:gd name="connsiteX1" fmla="*/ 1130300 w 1130300"/>
                  <a:gd name="connsiteY1" fmla="*/ 50800 h 787400"/>
                  <a:gd name="connsiteX2" fmla="*/ 876300 w 1130300"/>
                  <a:gd name="connsiteY2" fmla="*/ 787400 h 787400"/>
                  <a:gd name="connsiteX3" fmla="*/ 0 w 1130300"/>
                  <a:gd name="connsiteY3" fmla="*/ 787400 h 787400"/>
                  <a:gd name="connsiteX4" fmla="*/ 0 w 1130300"/>
                  <a:gd name="connsiteY4" fmla="*/ 0 h 787400"/>
                  <a:gd name="connsiteX0" fmla="*/ 0 w 1136650"/>
                  <a:gd name="connsiteY0" fmla="*/ 0 h 787400"/>
                  <a:gd name="connsiteX1" fmla="*/ 1136650 w 1136650"/>
                  <a:gd name="connsiteY1" fmla="*/ 38100 h 787400"/>
                  <a:gd name="connsiteX2" fmla="*/ 876300 w 1136650"/>
                  <a:gd name="connsiteY2" fmla="*/ 787400 h 787400"/>
                  <a:gd name="connsiteX3" fmla="*/ 0 w 1136650"/>
                  <a:gd name="connsiteY3" fmla="*/ 787400 h 787400"/>
                  <a:gd name="connsiteX4" fmla="*/ 0 w 1136650"/>
                  <a:gd name="connsiteY4" fmla="*/ 0 h 787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36650" h="787400">
                    <a:moveTo>
                      <a:pt x="0" y="0"/>
                    </a:moveTo>
                    <a:lnTo>
                      <a:pt x="1136650" y="38100"/>
                    </a:lnTo>
                    <a:cubicBezTo>
                      <a:pt x="920750" y="376767"/>
                      <a:pt x="876300" y="524933"/>
                      <a:pt x="876300" y="787400"/>
                    </a:cubicBezTo>
                    <a:lnTo>
                      <a:pt x="0" y="787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 dirty="0"/>
              </a:p>
            </p:txBody>
          </p:sp>
          <p:sp>
            <p:nvSpPr>
              <p:cNvPr id="27" name="Rectangle 5">
                <a:extLst>
                  <a:ext uri="{FF2B5EF4-FFF2-40B4-BE49-F238E27FC236}">
                    <a16:creationId xmlns:a16="http://schemas.microsoft.com/office/drawing/2014/main" id="{798B1F51-1FA4-4199-81C7-62356C936CC9}"/>
                  </a:ext>
                </a:extLst>
              </p:cNvPr>
              <p:cNvSpPr/>
              <p:nvPr/>
            </p:nvSpPr>
            <p:spPr>
              <a:xfrm flipH="1">
                <a:off x="3426570" y="3807347"/>
                <a:ext cx="1143000" cy="803259"/>
              </a:xfrm>
              <a:custGeom>
                <a:avLst/>
                <a:gdLst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1130300"/>
                  <a:gd name="connsiteY0" fmla="*/ 0 h 787400"/>
                  <a:gd name="connsiteX1" fmla="*/ 1130300 w 1130300"/>
                  <a:gd name="connsiteY1" fmla="*/ 50800 h 787400"/>
                  <a:gd name="connsiteX2" fmla="*/ 876300 w 1130300"/>
                  <a:gd name="connsiteY2" fmla="*/ 787400 h 787400"/>
                  <a:gd name="connsiteX3" fmla="*/ 0 w 1130300"/>
                  <a:gd name="connsiteY3" fmla="*/ 787400 h 787400"/>
                  <a:gd name="connsiteX4" fmla="*/ 0 w 1130300"/>
                  <a:gd name="connsiteY4" fmla="*/ 0 h 787400"/>
                  <a:gd name="connsiteX0" fmla="*/ 0 w 1136650"/>
                  <a:gd name="connsiteY0" fmla="*/ 0 h 787400"/>
                  <a:gd name="connsiteX1" fmla="*/ 1136650 w 1136650"/>
                  <a:gd name="connsiteY1" fmla="*/ 38100 h 787400"/>
                  <a:gd name="connsiteX2" fmla="*/ 876300 w 1136650"/>
                  <a:gd name="connsiteY2" fmla="*/ 787400 h 787400"/>
                  <a:gd name="connsiteX3" fmla="*/ 0 w 1136650"/>
                  <a:gd name="connsiteY3" fmla="*/ 787400 h 787400"/>
                  <a:gd name="connsiteX4" fmla="*/ 0 w 1136650"/>
                  <a:gd name="connsiteY4" fmla="*/ 0 h 787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36650" h="787400">
                    <a:moveTo>
                      <a:pt x="0" y="0"/>
                    </a:moveTo>
                    <a:lnTo>
                      <a:pt x="1136650" y="38100"/>
                    </a:lnTo>
                    <a:cubicBezTo>
                      <a:pt x="920750" y="376767"/>
                      <a:pt x="876300" y="524933"/>
                      <a:pt x="876300" y="787400"/>
                    </a:cubicBezTo>
                    <a:lnTo>
                      <a:pt x="0" y="787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 dirty="0"/>
              </a:p>
            </p:txBody>
          </p:sp>
          <p:sp>
            <p:nvSpPr>
              <p:cNvPr id="28" name="Arc 27">
                <a:extLst>
                  <a:ext uri="{FF2B5EF4-FFF2-40B4-BE49-F238E27FC236}">
                    <a16:creationId xmlns:a16="http://schemas.microsoft.com/office/drawing/2014/main" id="{40A224C8-1233-40F7-96AB-BFF79AF6CDCB}"/>
                  </a:ext>
                </a:extLst>
              </p:cNvPr>
              <p:cNvSpPr/>
              <p:nvPr/>
            </p:nvSpPr>
            <p:spPr>
              <a:xfrm>
                <a:off x="3454111" y="2482850"/>
                <a:ext cx="1504950" cy="1504950"/>
              </a:xfrm>
              <a:prstGeom prst="arc">
                <a:avLst>
                  <a:gd name="adj1" fmla="val 18068338"/>
                  <a:gd name="adj2" fmla="val 0"/>
                </a:avLst>
              </a:prstGeom>
              <a:ln w="38100" cap="rnd">
                <a:solidFill>
                  <a:schemeClr val="bg2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bg-BG">
                  <a:ln w="57150"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29" name="Arc 28">
                <a:extLst>
                  <a:ext uri="{FF2B5EF4-FFF2-40B4-BE49-F238E27FC236}">
                    <a16:creationId xmlns:a16="http://schemas.microsoft.com/office/drawing/2014/main" id="{B57C7CCC-E218-4321-8C7B-3F0C5753C7A1}"/>
                  </a:ext>
                </a:extLst>
              </p:cNvPr>
              <p:cNvSpPr/>
              <p:nvPr/>
            </p:nvSpPr>
            <p:spPr>
              <a:xfrm>
                <a:off x="3454111" y="2482849"/>
                <a:ext cx="1504950" cy="1504950"/>
              </a:xfrm>
              <a:prstGeom prst="arc">
                <a:avLst>
                  <a:gd name="adj1" fmla="val 17518504"/>
                  <a:gd name="adj2" fmla="val 17709817"/>
                </a:avLst>
              </a:prstGeom>
              <a:ln w="38100" cap="rnd">
                <a:solidFill>
                  <a:schemeClr val="bg2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bg-BG">
                  <a:ln w="57150">
                    <a:solidFill>
                      <a:schemeClr val="tx1"/>
                    </a:solidFill>
                  </a:ln>
                </a:endParaRPr>
              </a:p>
            </p:txBody>
          </p:sp>
        </p:grp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6AF309CA-A56C-4ABC-B293-420F4EB1A9B4}"/>
                </a:ext>
              </a:extLst>
            </p:cNvPr>
            <p:cNvSpPr/>
            <p:nvPr/>
          </p:nvSpPr>
          <p:spPr>
            <a:xfrm>
              <a:off x="4400007" y="4324162"/>
              <a:ext cx="886369" cy="150698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07955808-2AC7-44EB-8B6D-82B974E53A3C}"/>
                </a:ext>
              </a:extLst>
            </p:cNvPr>
            <p:cNvSpPr/>
            <p:nvPr/>
          </p:nvSpPr>
          <p:spPr>
            <a:xfrm>
              <a:off x="4533357" y="4542116"/>
              <a:ext cx="619670" cy="150699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  <a:effectLst>
              <a:outerShdw blurRad="152400" dist="381000" dir="5400000" sx="70000" sy="70000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AC6420D7-AEAB-45EF-8D46-11EB06E4AFE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72677" y="2844800"/>
              <a:ext cx="161562" cy="1164292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76C7FABC-6773-44F6-990B-3EB082BE9B3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78548" y="3618567"/>
              <a:ext cx="528128" cy="0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1FAD48E1-DC45-4B3D-9CE5-613250708496}"/>
                </a:ext>
              </a:extLst>
            </p:cNvPr>
            <p:cNvGrpSpPr/>
            <p:nvPr/>
          </p:nvGrpSpPr>
          <p:grpSpPr>
            <a:xfrm>
              <a:off x="4203288" y="2479090"/>
              <a:ext cx="436874" cy="448528"/>
              <a:chOff x="2320288" y="2903541"/>
              <a:chExt cx="332555" cy="302680"/>
            </a:xfrm>
            <a:solidFill>
              <a:srgbClr val="464646"/>
            </a:solidFill>
          </p:grpSpPr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B01FD1D1-046F-457B-AB63-2702CE3E906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321560" y="305488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895660C3-C72C-43EE-9C4A-170F85E5BE0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320288" y="290354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A74EE503-8FC0-42A6-8860-CA4EE42272E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48904" y="2844800"/>
              <a:ext cx="142425" cy="1164292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F4189FDA-9FE8-490B-8A70-2E941811021F}"/>
                </a:ext>
              </a:extLst>
            </p:cNvPr>
            <p:cNvSpPr/>
            <p:nvPr/>
          </p:nvSpPr>
          <p:spPr>
            <a:xfrm>
              <a:off x="4355556" y="4106208"/>
              <a:ext cx="975271" cy="150698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FDA3EFCD-0DF8-419D-8533-D781521E597E}"/>
                </a:ext>
              </a:extLst>
            </p:cNvPr>
            <p:cNvGrpSpPr/>
            <p:nvPr/>
          </p:nvGrpSpPr>
          <p:grpSpPr>
            <a:xfrm flipH="1">
              <a:off x="5035162" y="2479090"/>
              <a:ext cx="436872" cy="448528"/>
              <a:chOff x="2320288" y="2903541"/>
              <a:chExt cx="332555" cy="302680"/>
            </a:xfrm>
            <a:solidFill>
              <a:srgbClr val="464646"/>
            </a:solidFill>
          </p:grpSpPr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C3CC6A5A-182E-4A09-9C04-EB191881D78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321560" y="305488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440C8953-0555-48CC-8255-78F17E053EE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320288" y="290354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29B538CA-8CCB-43FB-B5E5-5FC04EBC1F54}"/>
              </a:ext>
            </a:extLst>
          </p:cNvPr>
          <p:cNvCxnSpPr>
            <a:cxnSpLocks/>
            <a:stCxn id="26" idx="2"/>
          </p:cNvCxnSpPr>
          <p:nvPr userDrawn="1"/>
        </p:nvCxnSpPr>
        <p:spPr>
          <a:xfrm flipH="1">
            <a:off x="673735" y="4203953"/>
            <a:ext cx="955204" cy="0"/>
          </a:xfrm>
          <a:prstGeom prst="line">
            <a:avLst/>
          </a:prstGeom>
          <a:solidFill>
            <a:srgbClr val="464646"/>
          </a:solidFill>
          <a:ln w="38100">
            <a:solidFill>
              <a:srgbClr val="464646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35453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portant Ex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1865BF6B-7F07-4E9C-879F-80E36EEB34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2" name="Rectangle Left">
            <a:extLst>
              <a:ext uri="{FF2B5EF4-FFF2-40B4-BE49-F238E27FC236}">
                <a16:creationId xmlns:a16="http://schemas.microsoft.com/office/drawing/2014/main" id="{345FB1C8-7F66-4D5C-ACCE-AE919936BCFD}"/>
              </a:ext>
            </a:extLst>
          </p:cNvPr>
          <p:cNvSpPr/>
          <p:nvPr/>
        </p:nvSpPr>
        <p:spPr>
          <a:xfrm>
            <a:off x="0" y="0"/>
            <a:ext cx="115383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5" name="Slide Body Text">
            <a:extLst>
              <a:ext uri="{FF2B5EF4-FFF2-40B4-BE49-F238E27FC236}">
                <a16:creationId xmlns:a16="http://schemas.microsoft.com/office/drawing/2014/main" id="{6157C8DE-E0AF-422B-BBB1-F0AF1264B5E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673561" y="1121143"/>
            <a:ext cx="10321675" cy="5546589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pic>
        <p:nvPicPr>
          <p:cNvPr id="16" name="Logo Software University" descr="Software University logo">
            <a:extLst>
              <a:ext uri="{FF2B5EF4-FFF2-40B4-BE49-F238E27FC236}">
                <a16:creationId xmlns:a16="http://schemas.microsoft.com/office/drawing/2014/main" id="{EFEBB553-EACE-4B4F-8B4F-7629FDD910A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8761" y="190267"/>
            <a:ext cx="2013336" cy="690975"/>
          </a:xfrm>
          <a:prstGeom prst="rect">
            <a:avLst/>
          </a:prstGeom>
        </p:spPr>
      </p:pic>
      <p:sp>
        <p:nvSpPr>
          <p:cNvPr id="13" name="Slide Title">
            <a:extLst>
              <a:ext uri="{FF2B5EF4-FFF2-40B4-BE49-F238E27FC236}">
                <a16:creationId xmlns:a16="http://schemas.microsoft.com/office/drawing/2014/main" id="{0D5CC956-5C4A-44BE-8F8B-327FAFA51E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6957" y="100750"/>
            <a:ext cx="8625520" cy="882654"/>
          </a:xfrm>
        </p:spPr>
        <p:txBody>
          <a:bodyPr/>
          <a:lstStyle>
            <a:lvl1pPr latinLnBrk="0">
              <a:defRPr/>
            </a:lvl1pPr>
          </a:lstStyle>
          <a:p>
            <a:r>
              <a:rPr lang="en-US" noProof="0" dirty="0"/>
              <a:t>Slide Title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7CF60135-47AA-48F0-96BA-0E795668ABDB}"/>
              </a:ext>
            </a:extLst>
          </p:cNvPr>
          <p:cNvGrpSpPr/>
          <p:nvPr userDrawn="1"/>
        </p:nvGrpSpPr>
        <p:grpSpPr>
          <a:xfrm>
            <a:off x="392806" y="3429000"/>
            <a:ext cx="1522048" cy="2411973"/>
            <a:chOff x="3928039" y="1792355"/>
            <a:chExt cx="1830304" cy="2900460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2823380E-3936-41AF-BDF7-DA54D75BBF6B}"/>
                </a:ext>
              </a:extLst>
            </p:cNvPr>
            <p:cNvGrpSpPr/>
            <p:nvPr/>
          </p:nvGrpSpPr>
          <p:grpSpPr>
            <a:xfrm>
              <a:off x="3928039" y="1792355"/>
              <a:ext cx="1830304" cy="2206534"/>
              <a:chOff x="3216839" y="2404072"/>
              <a:chExt cx="1830304" cy="2206534"/>
            </a:xfrm>
          </p:grpSpPr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52B047D9-D8DD-45C7-9BC8-6D4F682F5182}"/>
                  </a:ext>
                </a:extLst>
              </p:cNvPr>
              <p:cNvSpPr/>
              <p:nvPr/>
            </p:nvSpPr>
            <p:spPr>
              <a:xfrm>
                <a:off x="3216839" y="2404072"/>
                <a:ext cx="1830304" cy="1830304"/>
              </a:xfrm>
              <a:prstGeom prst="ellipse">
                <a:avLst/>
              </a:pr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/>
              </a:p>
            </p:txBody>
          </p:sp>
          <p:sp>
            <p:nvSpPr>
              <p:cNvPr id="48" name="Rectangle 5">
                <a:extLst>
                  <a:ext uri="{FF2B5EF4-FFF2-40B4-BE49-F238E27FC236}">
                    <a16:creationId xmlns:a16="http://schemas.microsoft.com/office/drawing/2014/main" id="{4D84FE51-BD8E-47EA-9463-CE02FEA31766}"/>
                  </a:ext>
                </a:extLst>
              </p:cNvPr>
              <p:cNvSpPr/>
              <p:nvPr/>
            </p:nvSpPr>
            <p:spPr>
              <a:xfrm>
                <a:off x="3699615" y="3807346"/>
                <a:ext cx="1143001" cy="803260"/>
              </a:xfrm>
              <a:custGeom>
                <a:avLst/>
                <a:gdLst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1130300"/>
                  <a:gd name="connsiteY0" fmla="*/ 0 h 787400"/>
                  <a:gd name="connsiteX1" fmla="*/ 1130300 w 1130300"/>
                  <a:gd name="connsiteY1" fmla="*/ 50800 h 787400"/>
                  <a:gd name="connsiteX2" fmla="*/ 876300 w 1130300"/>
                  <a:gd name="connsiteY2" fmla="*/ 787400 h 787400"/>
                  <a:gd name="connsiteX3" fmla="*/ 0 w 1130300"/>
                  <a:gd name="connsiteY3" fmla="*/ 787400 h 787400"/>
                  <a:gd name="connsiteX4" fmla="*/ 0 w 1130300"/>
                  <a:gd name="connsiteY4" fmla="*/ 0 h 787400"/>
                  <a:gd name="connsiteX0" fmla="*/ 0 w 1136650"/>
                  <a:gd name="connsiteY0" fmla="*/ 0 h 787400"/>
                  <a:gd name="connsiteX1" fmla="*/ 1136650 w 1136650"/>
                  <a:gd name="connsiteY1" fmla="*/ 38100 h 787400"/>
                  <a:gd name="connsiteX2" fmla="*/ 876300 w 1136650"/>
                  <a:gd name="connsiteY2" fmla="*/ 787400 h 787400"/>
                  <a:gd name="connsiteX3" fmla="*/ 0 w 1136650"/>
                  <a:gd name="connsiteY3" fmla="*/ 787400 h 787400"/>
                  <a:gd name="connsiteX4" fmla="*/ 0 w 1136650"/>
                  <a:gd name="connsiteY4" fmla="*/ 0 h 787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36650" h="787400">
                    <a:moveTo>
                      <a:pt x="0" y="0"/>
                    </a:moveTo>
                    <a:lnTo>
                      <a:pt x="1136650" y="38100"/>
                    </a:lnTo>
                    <a:cubicBezTo>
                      <a:pt x="920750" y="376767"/>
                      <a:pt x="876300" y="524933"/>
                      <a:pt x="876300" y="787400"/>
                    </a:cubicBezTo>
                    <a:lnTo>
                      <a:pt x="0" y="787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 dirty="0"/>
              </a:p>
            </p:txBody>
          </p:sp>
          <p:sp>
            <p:nvSpPr>
              <p:cNvPr id="49" name="Rectangle 5">
                <a:extLst>
                  <a:ext uri="{FF2B5EF4-FFF2-40B4-BE49-F238E27FC236}">
                    <a16:creationId xmlns:a16="http://schemas.microsoft.com/office/drawing/2014/main" id="{F5C8F037-C197-4219-AC87-3A81763512BC}"/>
                  </a:ext>
                </a:extLst>
              </p:cNvPr>
              <p:cNvSpPr/>
              <p:nvPr/>
            </p:nvSpPr>
            <p:spPr>
              <a:xfrm flipH="1">
                <a:off x="3426570" y="3807347"/>
                <a:ext cx="1143000" cy="803259"/>
              </a:xfrm>
              <a:custGeom>
                <a:avLst/>
                <a:gdLst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1130300"/>
                  <a:gd name="connsiteY0" fmla="*/ 0 h 787400"/>
                  <a:gd name="connsiteX1" fmla="*/ 1130300 w 1130300"/>
                  <a:gd name="connsiteY1" fmla="*/ 50800 h 787400"/>
                  <a:gd name="connsiteX2" fmla="*/ 876300 w 1130300"/>
                  <a:gd name="connsiteY2" fmla="*/ 787400 h 787400"/>
                  <a:gd name="connsiteX3" fmla="*/ 0 w 1130300"/>
                  <a:gd name="connsiteY3" fmla="*/ 787400 h 787400"/>
                  <a:gd name="connsiteX4" fmla="*/ 0 w 1130300"/>
                  <a:gd name="connsiteY4" fmla="*/ 0 h 787400"/>
                  <a:gd name="connsiteX0" fmla="*/ 0 w 1136650"/>
                  <a:gd name="connsiteY0" fmla="*/ 0 h 787400"/>
                  <a:gd name="connsiteX1" fmla="*/ 1136650 w 1136650"/>
                  <a:gd name="connsiteY1" fmla="*/ 38100 h 787400"/>
                  <a:gd name="connsiteX2" fmla="*/ 876300 w 1136650"/>
                  <a:gd name="connsiteY2" fmla="*/ 787400 h 787400"/>
                  <a:gd name="connsiteX3" fmla="*/ 0 w 1136650"/>
                  <a:gd name="connsiteY3" fmla="*/ 787400 h 787400"/>
                  <a:gd name="connsiteX4" fmla="*/ 0 w 1136650"/>
                  <a:gd name="connsiteY4" fmla="*/ 0 h 787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36650" h="787400">
                    <a:moveTo>
                      <a:pt x="0" y="0"/>
                    </a:moveTo>
                    <a:lnTo>
                      <a:pt x="1136650" y="38100"/>
                    </a:lnTo>
                    <a:cubicBezTo>
                      <a:pt x="920750" y="376767"/>
                      <a:pt x="876300" y="524933"/>
                      <a:pt x="876300" y="787400"/>
                    </a:cubicBezTo>
                    <a:lnTo>
                      <a:pt x="0" y="787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 dirty="0"/>
              </a:p>
            </p:txBody>
          </p:sp>
          <p:sp>
            <p:nvSpPr>
              <p:cNvPr id="50" name="Arc 49">
                <a:extLst>
                  <a:ext uri="{FF2B5EF4-FFF2-40B4-BE49-F238E27FC236}">
                    <a16:creationId xmlns:a16="http://schemas.microsoft.com/office/drawing/2014/main" id="{786EE401-CF8E-439B-94A0-EE6F3A7D5798}"/>
                  </a:ext>
                </a:extLst>
              </p:cNvPr>
              <p:cNvSpPr/>
              <p:nvPr/>
            </p:nvSpPr>
            <p:spPr>
              <a:xfrm>
                <a:off x="3454111" y="2482850"/>
                <a:ext cx="1504950" cy="1504950"/>
              </a:xfrm>
              <a:prstGeom prst="arc">
                <a:avLst>
                  <a:gd name="adj1" fmla="val 18068338"/>
                  <a:gd name="adj2" fmla="val 0"/>
                </a:avLst>
              </a:prstGeom>
              <a:ln w="38100" cap="rnd">
                <a:solidFill>
                  <a:schemeClr val="bg2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bg-BG">
                  <a:ln w="57150"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51" name="Arc 50">
                <a:extLst>
                  <a:ext uri="{FF2B5EF4-FFF2-40B4-BE49-F238E27FC236}">
                    <a16:creationId xmlns:a16="http://schemas.microsoft.com/office/drawing/2014/main" id="{8D9ACD38-B3EB-4A63-9730-CBF0501BF235}"/>
                  </a:ext>
                </a:extLst>
              </p:cNvPr>
              <p:cNvSpPr/>
              <p:nvPr/>
            </p:nvSpPr>
            <p:spPr>
              <a:xfrm>
                <a:off x="3454111" y="2482849"/>
                <a:ext cx="1504950" cy="1504950"/>
              </a:xfrm>
              <a:prstGeom prst="arc">
                <a:avLst>
                  <a:gd name="adj1" fmla="val 17518504"/>
                  <a:gd name="adj2" fmla="val 17709817"/>
                </a:avLst>
              </a:prstGeom>
              <a:ln w="38100" cap="rnd">
                <a:solidFill>
                  <a:schemeClr val="bg2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bg-BG">
                  <a:ln w="57150">
                    <a:solidFill>
                      <a:schemeClr val="tx1"/>
                    </a:solidFill>
                  </a:ln>
                </a:endParaRPr>
              </a:p>
            </p:txBody>
          </p:sp>
        </p:grpSp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64EE493E-A353-4C75-A3B9-D48ABA2C57CC}"/>
                </a:ext>
              </a:extLst>
            </p:cNvPr>
            <p:cNvSpPr/>
            <p:nvPr/>
          </p:nvSpPr>
          <p:spPr>
            <a:xfrm>
              <a:off x="4400007" y="4324162"/>
              <a:ext cx="886369" cy="150698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718408B9-204E-42E3-9E79-33E047E869BC}"/>
                </a:ext>
              </a:extLst>
            </p:cNvPr>
            <p:cNvSpPr/>
            <p:nvPr/>
          </p:nvSpPr>
          <p:spPr>
            <a:xfrm>
              <a:off x="4533357" y="4542116"/>
              <a:ext cx="619670" cy="150699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  <a:effectLst>
              <a:outerShdw blurRad="152400" dist="381000" dir="5400000" sx="70000" sy="70000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0AB66D97-DF6F-4CD2-AF13-42B5C852F67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72677" y="2844800"/>
              <a:ext cx="161562" cy="1164292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F2AFBA69-C196-4703-8AAB-5F72A8EDCEB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78548" y="3618567"/>
              <a:ext cx="528128" cy="0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9AFC66C1-0C1C-4332-9C4E-782574C896B8}"/>
                </a:ext>
              </a:extLst>
            </p:cNvPr>
            <p:cNvGrpSpPr/>
            <p:nvPr/>
          </p:nvGrpSpPr>
          <p:grpSpPr>
            <a:xfrm>
              <a:off x="4203288" y="2479090"/>
              <a:ext cx="436874" cy="448528"/>
              <a:chOff x="2320288" y="2903541"/>
              <a:chExt cx="332555" cy="302680"/>
            </a:xfrm>
            <a:solidFill>
              <a:srgbClr val="464646"/>
            </a:solidFill>
          </p:grpSpPr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872CA8AD-EAF6-40BE-9DDE-ECDB4A980CA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321560" y="305488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57DD3EC7-1A13-4AFE-BD6F-DA12C281FAF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320288" y="290354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E46151FA-19E9-4E84-A082-EDAC6F76EA9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48904" y="2844800"/>
              <a:ext cx="142425" cy="1164292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1" name="Rectangle: Rounded Corners 40">
              <a:extLst>
                <a:ext uri="{FF2B5EF4-FFF2-40B4-BE49-F238E27FC236}">
                  <a16:creationId xmlns:a16="http://schemas.microsoft.com/office/drawing/2014/main" id="{3423EEF0-5B70-4091-B2DA-0740D2609643}"/>
                </a:ext>
              </a:extLst>
            </p:cNvPr>
            <p:cNvSpPr/>
            <p:nvPr/>
          </p:nvSpPr>
          <p:spPr>
            <a:xfrm>
              <a:off x="4355556" y="4106208"/>
              <a:ext cx="975271" cy="150698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49A8AAA7-98E7-4224-B027-830FFCC285A3}"/>
                </a:ext>
              </a:extLst>
            </p:cNvPr>
            <p:cNvGrpSpPr/>
            <p:nvPr/>
          </p:nvGrpSpPr>
          <p:grpSpPr>
            <a:xfrm flipH="1">
              <a:off x="5035162" y="2479090"/>
              <a:ext cx="436872" cy="448528"/>
              <a:chOff x="2320288" y="2903541"/>
              <a:chExt cx="332555" cy="302680"/>
            </a:xfrm>
            <a:solidFill>
              <a:srgbClr val="464646"/>
            </a:solidFill>
          </p:grpSpPr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2129EC38-471E-4685-973E-BA7A7F567C4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321560" y="305488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678142BE-84C9-4834-B6CC-6623E401661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320288" y="290354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679651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">
            <a:extLst>
              <a:ext uri="{FF2B5EF4-FFF2-40B4-BE49-F238E27FC236}">
                <a16:creationId xmlns:a16="http://schemas.microsoft.com/office/drawing/2014/main" id="{F0B8C963-1813-4B69-AD27-6D02EBBBB5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3" name="Rectangle Left">
            <a:extLst>
              <a:ext uri="{FF2B5EF4-FFF2-40B4-BE49-F238E27FC236}">
                <a16:creationId xmlns:a16="http://schemas.microsoft.com/office/drawing/2014/main" id="{345FB1C8-7F66-4D5C-ACCE-AE919936BCFD}"/>
              </a:ext>
            </a:extLst>
          </p:cNvPr>
          <p:cNvSpPr/>
          <p:nvPr userDrawn="1"/>
        </p:nvSpPr>
        <p:spPr>
          <a:xfrm>
            <a:off x="0" y="0"/>
            <a:ext cx="429471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" name="Slide Body Text">
            <a:extLst>
              <a:ext uri="{FF2B5EF4-FFF2-40B4-BE49-F238E27FC236}">
                <a16:creationId xmlns:a16="http://schemas.microsoft.com/office/drawing/2014/main" id="{7296EDA7-D37D-4B31-A888-371F0804124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5176" y="1121143"/>
            <a:ext cx="11410061" cy="5546589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6" name="Slide Title">
            <a:extLst>
              <a:ext uri="{FF2B5EF4-FFF2-40B4-BE49-F238E27FC236}">
                <a16:creationId xmlns:a16="http://schemas.microsoft.com/office/drawing/2014/main" id="{55A88B09-3557-48A3-BF27-42699C2692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176" y="100750"/>
            <a:ext cx="11410061" cy="882654"/>
          </a:xfrm>
        </p:spPr>
        <p:txBody>
          <a:bodyPr/>
          <a:lstStyle>
            <a:lvl1pPr latinLnBrk="0">
              <a:defRPr/>
            </a:lvl1pPr>
          </a:lstStyle>
          <a:p>
            <a:r>
              <a:rPr lang="en-US" noProof="0" dirty="0"/>
              <a:t>Slide Title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C4248838-4E67-439E-AE0A-0043D2CB04D6}"/>
              </a:ext>
            </a:extLst>
          </p:cNvPr>
          <p:cNvGrpSpPr/>
          <p:nvPr userDrawn="1"/>
        </p:nvGrpSpPr>
        <p:grpSpPr>
          <a:xfrm>
            <a:off x="108596" y="5591709"/>
            <a:ext cx="641749" cy="1016973"/>
            <a:chOff x="3928039" y="1792355"/>
            <a:chExt cx="1830304" cy="2900460"/>
          </a:xfrm>
        </p:grpSpPr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810CFD6A-2427-49D5-846A-5F93601D4184}"/>
                </a:ext>
              </a:extLst>
            </p:cNvPr>
            <p:cNvGrpSpPr/>
            <p:nvPr/>
          </p:nvGrpSpPr>
          <p:grpSpPr>
            <a:xfrm>
              <a:off x="3928039" y="1792355"/>
              <a:ext cx="1830304" cy="2206534"/>
              <a:chOff x="3216839" y="2404072"/>
              <a:chExt cx="1830304" cy="2206534"/>
            </a:xfrm>
          </p:grpSpPr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017B1AE5-5C36-4839-BA1F-B404EA44E701}"/>
                  </a:ext>
                </a:extLst>
              </p:cNvPr>
              <p:cNvSpPr/>
              <p:nvPr/>
            </p:nvSpPr>
            <p:spPr>
              <a:xfrm>
                <a:off x="3216839" y="2404072"/>
                <a:ext cx="1830304" cy="1830304"/>
              </a:xfrm>
              <a:prstGeom prst="ellipse">
                <a:avLst/>
              </a:pr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/>
              </a:p>
            </p:txBody>
          </p:sp>
          <p:sp>
            <p:nvSpPr>
              <p:cNvPr id="43" name="Rectangle 5">
                <a:extLst>
                  <a:ext uri="{FF2B5EF4-FFF2-40B4-BE49-F238E27FC236}">
                    <a16:creationId xmlns:a16="http://schemas.microsoft.com/office/drawing/2014/main" id="{FB963D79-BB49-4A1D-BA66-EA0670C79BAE}"/>
                  </a:ext>
                </a:extLst>
              </p:cNvPr>
              <p:cNvSpPr/>
              <p:nvPr/>
            </p:nvSpPr>
            <p:spPr>
              <a:xfrm>
                <a:off x="3699615" y="3807346"/>
                <a:ext cx="1143001" cy="803260"/>
              </a:xfrm>
              <a:custGeom>
                <a:avLst/>
                <a:gdLst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1130300"/>
                  <a:gd name="connsiteY0" fmla="*/ 0 h 787400"/>
                  <a:gd name="connsiteX1" fmla="*/ 1130300 w 1130300"/>
                  <a:gd name="connsiteY1" fmla="*/ 50800 h 787400"/>
                  <a:gd name="connsiteX2" fmla="*/ 876300 w 1130300"/>
                  <a:gd name="connsiteY2" fmla="*/ 787400 h 787400"/>
                  <a:gd name="connsiteX3" fmla="*/ 0 w 1130300"/>
                  <a:gd name="connsiteY3" fmla="*/ 787400 h 787400"/>
                  <a:gd name="connsiteX4" fmla="*/ 0 w 1130300"/>
                  <a:gd name="connsiteY4" fmla="*/ 0 h 787400"/>
                  <a:gd name="connsiteX0" fmla="*/ 0 w 1136650"/>
                  <a:gd name="connsiteY0" fmla="*/ 0 h 787400"/>
                  <a:gd name="connsiteX1" fmla="*/ 1136650 w 1136650"/>
                  <a:gd name="connsiteY1" fmla="*/ 38100 h 787400"/>
                  <a:gd name="connsiteX2" fmla="*/ 876300 w 1136650"/>
                  <a:gd name="connsiteY2" fmla="*/ 787400 h 787400"/>
                  <a:gd name="connsiteX3" fmla="*/ 0 w 1136650"/>
                  <a:gd name="connsiteY3" fmla="*/ 787400 h 787400"/>
                  <a:gd name="connsiteX4" fmla="*/ 0 w 1136650"/>
                  <a:gd name="connsiteY4" fmla="*/ 0 h 787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36650" h="787400">
                    <a:moveTo>
                      <a:pt x="0" y="0"/>
                    </a:moveTo>
                    <a:lnTo>
                      <a:pt x="1136650" y="38100"/>
                    </a:lnTo>
                    <a:cubicBezTo>
                      <a:pt x="920750" y="376767"/>
                      <a:pt x="876300" y="524933"/>
                      <a:pt x="876300" y="787400"/>
                    </a:cubicBezTo>
                    <a:lnTo>
                      <a:pt x="0" y="787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 dirty="0"/>
              </a:p>
            </p:txBody>
          </p:sp>
          <p:sp>
            <p:nvSpPr>
              <p:cNvPr id="44" name="Rectangle 5">
                <a:extLst>
                  <a:ext uri="{FF2B5EF4-FFF2-40B4-BE49-F238E27FC236}">
                    <a16:creationId xmlns:a16="http://schemas.microsoft.com/office/drawing/2014/main" id="{6D7746D8-B913-493B-AAE9-25BC6893D40E}"/>
                  </a:ext>
                </a:extLst>
              </p:cNvPr>
              <p:cNvSpPr/>
              <p:nvPr/>
            </p:nvSpPr>
            <p:spPr>
              <a:xfrm flipH="1">
                <a:off x="3426570" y="3807347"/>
                <a:ext cx="1143000" cy="803259"/>
              </a:xfrm>
              <a:custGeom>
                <a:avLst/>
                <a:gdLst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1130300"/>
                  <a:gd name="connsiteY0" fmla="*/ 0 h 787400"/>
                  <a:gd name="connsiteX1" fmla="*/ 1130300 w 1130300"/>
                  <a:gd name="connsiteY1" fmla="*/ 50800 h 787400"/>
                  <a:gd name="connsiteX2" fmla="*/ 876300 w 1130300"/>
                  <a:gd name="connsiteY2" fmla="*/ 787400 h 787400"/>
                  <a:gd name="connsiteX3" fmla="*/ 0 w 1130300"/>
                  <a:gd name="connsiteY3" fmla="*/ 787400 h 787400"/>
                  <a:gd name="connsiteX4" fmla="*/ 0 w 1130300"/>
                  <a:gd name="connsiteY4" fmla="*/ 0 h 787400"/>
                  <a:gd name="connsiteX0" fmla="*/ 0 w 1136650"/>
                  <a:gd name="connsiteY0" fmla="*/ 0 h 787400"/>
                  <a:gd name="connsiteX1" fmla="*/ 1136650 w 1136650"/>
                  <a:gd name="connsiteY1" fmla="*/ 38100 h 787400"/>
                  <a:gd name="connsiteX2" fmla="*/ 876300 w 1136650"/>
                  <a:gd name="connsiteY2" fmla="*/ 787400 h 787400"/>
                  <a:gd name="connsiteX3" fmla="*/ 0 w 1136650"/>
                  <a:gd name="connsiteY3" fmla="*/ 787400 h 787400"/>
                  <a:gd name="connsiteX4" fmla="*/ 0 w 1136650"/>
                  <a:gd name="connsiteY4" fmla="*/ 0 h 787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36650" h="787400">
                    <a:moveTo>
                      <a:pt x="0" y="0"/>
                    </a:moveTo>
                    <a:lnTo>
                      <a:pt x="1136650" y="38100"/>
                    </a:lnTo>
                    <a:cubicBezTo>
                      <a:pt x="920750" y="376767"/>
                      <a:pt x="876300" y="524933"/>
                      <a:pt x="876300" y="787400"/>
                    </a:cubicBezTo>
                    <a:lnTo>
                      <a:pt x="0" y="787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 dirty="0"/>
              </a:p>
            </p:txBody>
          </p:sp>
          <p:sp>
            <p:nvSpPr>
              <p:cNvPr id="45" name="Arc 44">
                <a:extLst>
                  <a:ext uri="{FF2B5EF4-FFF2-40B4-BE49-F238E27FC236}">
                    <a16:creationId xmlns:a16="http://schemas.microsoft.com/office/drawing/2014/main" id="{29031C02-E965-417B-8799-96061B14F30D}"/>
                  </a:ext>
                </a:extLst>
              </p:cNvPr>
              <p:cNvSpPr/>
              <p:nvPr/>
            </p:nvSpPr>
            <p:spPr>
              <a:xfrm>
                <a:off x="3454111" y="2482850"/>
                <a:ext cx="1504950" cy="1504950"/>
              </a:xfrm>
              <a:prstGeom prst="arc">
                <a:avLst>
                  <a:gd name="adj1" fmla="val 18068338"/>
                  <a:gd name="adj2" fmla="val 0"/>
                </a:avLst>
              </a:prstGeom>
              <a:ln w="38100" cap="rnd">
                <a:solidFill>
                  <a:schemeClr val="bg2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bg-BG">
                  <a:ln w="57150"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46" name="Arc 45">
                <a:extLst>
                  <a:ext uri="{FF2B5EF4-FFF2-40B4-BE49-F238E27FC236}">
                    <a16:creationId xmlns:a16="http://schemas.microsoft.com/office/drawing/2014/main" id="{26BFD8A6-BC99-4B16-BA10-08A9E5C681C0}"/>
                  </a:ext>
                </a:extLst>
              </p:cNvPr>
              <p:cNvSpPr/>
              <p:nvPr/>
            </p:nvSpPr>
            <p:spPr>
              <a:xfrm>
                <a:off x="3454111" y="2482849"/>
                <a:ext cx="1504950" cy="1504950"/>
              </a:xfrm>
              <a:prstGeom prst="arc">
                <a:avLst>
                  <a:gd name="adj1" fmla="val 17518504"/>
                  <a:gd name="adj2" fmla="val 17709817"/>
                </a:avLst>
              </a:prstGeom>
              <a:ln w="38100" cap="rnd">
                <a:solidFill>
                  <a:schemeClr val="bg2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bg-BG">
                  <a:ln w="57150">
                    <a:solidFill>
                      <a:schemeClr val="tx1"/>
                    </a:solidFill>
                  </a:ln>
                </a:endParaRPr>
              </a:p>
            </p:txBody>
          </p:sp>
        </p:grpSp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B310277F-A78E-4FB9-9EA9-88BE4F1D585B}"/>
                </a:ext>
              </a:extLst>
            </p:cNvPr>
            <p:cNvSpPr/>
            <p:nvPr/>
          </p:nvSpPr>
          <p:spPr>
            <a:xfrm>
              <a:off x="4400007" y="4324162"/>
              <a:ext cx="886369" cy="150698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A92CF92B-C212-4542-83AE-A0058B5BB5EA}"/>
                </a:ext>
              </a:extLst>
            </p:cNvPr>
            <p:cNvSpPr/>
            <p:nvPr/>
          </p:nvSpPr>
          <p:spPr>
            <a:xfrm>
              <a:off x="4533357" y="4542116"/>
              <a:ext cx="619670" cy="150699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  <a:effectLst>
              <a:outerShdw blurRad="152400" dist="381000" dir="5400000" sx="70000" sy="70000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63B4374-5C0D-461F-B3BD-78D99614D36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72677" y="2844800"/>
              <a:ext cx="161562" cy="1164292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FBC6FDE7-AEA1-4230-8433-4C088A0FF5F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78548" y="3618567"/>
              <a:ext cx="528128" cy="0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C4D1021D-07C7-4331-8FF6-36980A30978B}"/>
                </a:ext>
              </a:extLst>
            </p:cNvPr>
            <p:cNvGrpSpPr/>
            <p:nvPr/>
          </p:nvGrpSpPr>
          <p:grpSpPr>
            <a:xfrm>
              <a:off x="4203288" y="2479090"/>
              <a:ext cx="436874" cy="448528"/>
              <a:chOff x="2320288" y="2903541"/>
              <a:chExt cx="332555" cy="302680"/>
            </a:xfrm>
            <a:solidFill>
              <a:srgbClr val="464646"/>
            </a:solidFill>
          </p:grpSpPr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13B7FE99-95CF-45D5-966B-87A979B9343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321560" y="305488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71BBA69B-19FF-4ADB-A739-AD8136A5F0A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320288" y="290354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BFD1D86B-562B-40B2-8E46-34233EFEE7F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48904" y="2844800"/>
              <a:ext cx="142425" cy="1164292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388C17BD-16A1-43C5-BFFA-2FF9174719E1}"/>
                </a:ext>
              </a:extLst>
            </p:cNvPr>
            <p:cNvSpPr/>
            <p:nvPr/>
          </p:nvSpPr>
          <p:spPr>
            <a:xfrm>
              <a:off x="4355556" y="4106208"/>
              <a:ext cx="975271" cy="150698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1B3B910E-ACFC-4F28-8E28-F02E1588B87E}"/>
                </a:ext>
              </a:extLst>
            </p:cNvPr>
            <p:cNvGrpSpPr/>
            <p:nvPr/>
          </p:nvGrpSpPr>
          <p:grpSpPr>
            <a:xfrm flipH="1">
              <a:off x="5035162" y="2479090"/>
              <a:ext cx="436872" cy="448528"/>
              <a:chOff x="2320288" y="2903541"/>
              <a:chExt cx="332555" cy="302680"/>
            </a:xfrm>
            <a:solidFill>
              <a:srgbClr val="464646"/>
            </a:solidFill>
          </p:grpSpPr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F57772B6-06C0-4F54-AA94-D3F92DA4716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321560" y="305488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23370C1F-7876-4278-AB20-78F6CAA385E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320288" y="290354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32845625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urce Code Ex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">
            <a:extLst>
              <a:ext uri="{FF2B5EF4-FFF2-40B4-BE49-F238E27FC236}">
                <a16:creationId xmlns:a16="http://schemas.microsoft.com/office/drawing/2014/main" id="{509D954E-A844-4072-A556-DE584BEB93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6" name="Code Box">
            <a:extLst>
              <a:ext uri="{FF2B5EF4-FFF2-40B4-BE49-F238E27FC236}">
                <a16:creationId xmlns:a16="http://schemas.microsoft.com/office/drawing/2014/main" id="{3278A82F-5546-4977-9F75-2A933B41594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1234" y="1931154"/>
            <a:ext cx="10949531" cy="1362846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50000"/>
              </a:schemeClr>
            </a:solidFill>
          </a:ln>
        </p:spPr>
        <p:txBody>
          <a:bodyPr wrap="square" lIns="144000" tIns="108000" rIns="144000" bIns="108000">
            <a:spAutoFit/>
          </a:bodyPr>
          <a:lstStyle>
            <a:lvl1pPr marL="0" indent="0" latinLnBrk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lang="en-US" sz="2398" b="1" noProof="1" smtClean="0">
                <a:solidFill>
                  <a:schemeClr val="tx1"/>
                </a:solidFill>
                <a:effectLst/>
                <a:latin typeface="Consolas" pitchFamily="49" charset="0"/>
                <a:cs typeface="Consolas" pitchFamily="49" charset="0"/>
              </a:defRPr>
            </a:lvl1pPr>
          </a:lstStyle>
          <a:p>
            <a:pPr marL="0" lvl="0"/>
            <a:r>
              <a:rPr lang="en-US" noProof="1"/>
              <a:t>Source code box</a:t>
            </a:r>
          </a:p>
          <a:p>
            <a:pPr marL="0" lvl="0"/>
            <a:r>
              <a:rPr lang="en-US" noProof="1"/>
              <a:t>…</a:t>
            </a:r>
          </a:p>
          <a:p>
            <a:pPr marL="0" lvl="0"/>
            <a:r>
              <a:rPr lang="en-US" noProof="1"/>
              <a:t>…</a:t>
            </a:r>
          </a:p>
        </p:txBody>
      </p:sp>
      <p:sp>
        <p:nvSpPr>
          <p:cNvPr id="21" name="Slide Body Text">
            <a:extLst>
              <a:ext uri="{FF2B5EF4-FFF2-40B4-BE49-F238E27FC236}">
                <a16:creationId xmlns:a16="http://schemas.microsoft.com/office/drawing/2014/main" id="{04F318BE-2BAD-4677-871C-D78A4BF0CBA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0501" y="1196126"/>
            <a:ext cx="11811097" cy="5561124"/>
          </a:xfrm>
        </p:spPr>
        <p:txBody>
          <a:bodyPr/>
          <a:lstStyle>
            <a:lvl1pPr marL="0" indent="0" latinLnBrk="0">
              <a:buNone/>
              <a:defRPr>
                <a:solidFill>
                  <a:schemeClr val="tx1"/>
                </a:solidFill>
              </a:defRPr>
            </a:lvl1pPr>
            <a:lvl2pPr marL="609219" indent="0">
              <a:buNone/>
              <a:defRPr/>
            </a:lvl2pPr>
          </a:lstStyle>
          <a:p>
            <a:pPr lvl="0"/>
            <a:r>
              <a:rPr lang="en-US" noProof="0"/>
              <a:t>Sample source code:</a:t>
            </a:r>
          </a:p>
        </p:txBody>
      </p:sp>
      <p:sp>
        <p:nvSpPr>
          <p:cNvPr id="9" name="Rectangle Top">
            <a:extLst>
              <a:ext uri="{FF2B5EF4-FFF2-40B4-BE49-F238E27FC236}">
                <a16:creationId xmlns:a16="http://schemas.microsoft.com/office/drawing/2014/main" id="{A15CE03A-0933-4E5D-9EA1-718D4F802FFC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0" name="Logo Software University" descr="Software University logo">
            <a:extLst>
              <a:ext uri="{FF2B5EF4-FFF2-40B4-BE49-F238E27FC236}">
                <a16:creationId xmlns:a16="http://schemas.microsoft.com/office/drawing/2014/main" id="{8C01D7AF-7CBD-46E1-99F3-8EB60E838D9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7957" y="253936"/>
            <a:ext cx="1915704" cy="559235"/>
          </a:xfrm>
          <a:prstGeom prst="rect">
            <a:avLst/>
          </a:prstGeom>
        </p:spPr>
      </p:pic>
      <p:sp>
        <p:nvSpPr>
          <p:cNvPr id="11" name="Slide Title">
            <a:extLst>
              <a:ext uri="{FF2B5EF4-FFF2-40B4-BE49-F238E27FC236}">
                <a16:creationId xmlns:a16="http://schemas.microsoft.com/office/drawing/2014/main" id="{47D60833-F0A9-4F29-8C06-A963A7C8BE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9715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1000829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">
            <a:extLst>
              <a:ext uri="{FF2B5EF4-FFF2-40B4-BE49-F238E27FC236}">
                <a16:creationId xmlns:a16="http://schemas.microsoft.com/office/drawing/2014/main" id="{39DDE17E-5472-41F3-AF5F-54DFF10DC6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/>
          </a:p>
        </p:txBody>
      </p:sp>
      <p:pic>
        <p:nvPicPr>
          <p:cNvPr id="9" name="Picture SoftUni Mascot" descr="SoftUni mascot with laptop">
            <a:extLst>
              <a:ext uri="{FF2B5EF4-FFF2-40B4-BE49-F238E27FC236}">
                <a16:creationId xmlns:a16="http://schemas.microsoft.com/office/drawing/2014/main" id="{DC4365F6-D2C1-47B4-8477-38FD2C7711A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9516000" y="3408496"/>
            <a:ext cx="2251057" cy="3044431"/>
          </a:xfrm>
          <a:prstGeom prst="rect">
            <a:avLst/>
          </a:prstGeom>
        </p:spPr>
      </p:pic>
      <p:sp>
        <p:nvSpPr>
          <p:cNvPr id="23" name="Slide Body Text">
            <a:extLst>
              <a:ext uri="{FF2B5EF4-FFF2-40B4-BE49-F238E27FC236}">
                <a16:creationId xmlns:a16="http://schemas.microsoft.com/office/drawing/2014/main" id="{889D93F4-ABFA-46BF-8E5D-FE6562ACB20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96766" y="1371604"/>
            <a:ext cx="9049234" cy="5207396"/>
          </a:xfrm>
        </p:spPr>
        <p:txBody>
          <a:bodyPr>
            <a:normAutofit/>
          </a:bodyPr>
          <a:lstStyle>
            <a:lvl1pPr marL="514042" indent="-514042" latinLnBrk="0">
              <a:buFont typeface="+mj-lt"/>
              <a:buAutoNum type="arabicPeriod"/>
              <a:defRPr sz="3600">
                <a:solidFill>
                  <a:schemeClr val="tx1"/>
                </a:solidFill>
              </a:defRPr>
            </a:lvl1pPr>
            <a:lvl2pPr>
              <a:defRPr sz="3400"/>
            </a:lvl2pPr>
          </a:lstStyle>
          <a:p>
            <a:pPr lvl="0"/>
            <a:r>
              <a:rPr lang="en-US" noProof="0"/>
              <a:t>…</a:t>
            </a:r>
          </a:p>
          <a:p>
            <a:pPr lvl="1"/>
            <a:r>
              <a:rPr lang="en-US" noProof="0"/>
              <a:t>…</a:t>
            </a:r>
          </a:p>
          <a:p>
            <a:pPr lvl="1"/>
            <a:r>
              <a:rPr lang="en-US" noProof="0"/>
              <a:t>…</a:t>
            </a:r>
          </a:p>
          <a:p>
            <a:pPr lvl="0"/>
            <a:r>
              <a:rPr lang="en-US" noProof="0"/>
              <a:t>…</a:t>
            </a:r>
          </a:p>
          <a:p>
            <a:pPr lvl="1"/>
            <a:r>
              <a:rPr lang="en-US" noProof="0"/>
              <a:t>…</a:t>
            </a:r>
          </a:p>
          <a:p>
            <a:pPr lvl="1"/>
            <a:r>
              <a:rPr lang="en-US" noProof="0"/>
              <a:t>…</a:t>
            </a:r>
          </a:p>
          <a:p>
            <a:pPr lvl="0"/>
            <a:r>
              <a:rPr lang="en-US" noProof="0"/>
              <a:t>…</a:t>
            </a:r>
          </a:p>
        </p:txBody>
      </p:sp>
      <p:sp>
        <p:nvSpPr>
          <p:cNvPr id="8" name="Rectangle Top">
            <a:extLst>
              <a:ext uri="{FF2B5EF4-FFF2-40B4-BE49-F238E27FC236}">
                <a16:creationId xmlns:a16="http://schemas.microsoft.com/office/drawing/2014/main" id="{930E0800-9260-4369-8330-8264DD33C5CE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1" name="Logo Software University" descr="Software University logo">
            <a:extLst>
              <a:ext uri="{FF2B5EF4-FFF2-40B4-BE49-F238E27FC236}">
                <a16:creationId xmlns:a16="http://schemas.microsoft.com/office/drawing/2014/main" id="{14F779A7-4A91-448B-BEFA-956C70A1C22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7957" y="253936"/>
            <a:ext cx="1915704" cy="559235"/>
          </a:xfrm>
          <a:prstGeom prst="rect">
            <a:avLst/>
          </a:prstGeom>
        </p:spPr>
      </p:pic>
      <p:sp>
        <p:nvSpPr>
          <p:cNvPr id="13" name="Slide Title">
            <a:extLst>
              <a:ext uri="{FF2B5EF4-FFF2-40B4-BE49-F238E27FC236}">
                <a16:creationId xmlns:a16="http://schemas.microsoft.com/office/drawing/2014/main" id="{357D7BE1-6358-42CC-94F3-7BCDD91DCB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9715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Table of Contents</a:t>
            </a:r>
          </a:p>
        </p:txBody>
      </p:sp>
    </p:spTree>
    <p:extLst>
      <p:ext uri="{BB962C8B-B14F-4D97-AF65-F5344CB8AC3E}">
        <p14:creationId xmlns:p14="http://schemas.microsoft.com/office/powerpoint/2010/main" val="1028724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Bottom"/>
          <p:cNvSpPr/>
          <p:nvPr/>
        </p:nvSpPr>
        <p:spPr>
          <a:xfrm>
            <a:off x="2" y="6264000"/>
            <a:ext cx="12192000" cy="594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856" tIns="60928" rIns="121856" bIns="6092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Slide Number">
            <a:extLst>
              <a:ext uri="{FF2B5EF4-FFF2-40B4-BE49-F238E27FC236}">
                <a16:creationId xmlns:a16="http://schemas.microsoft.com/office/drawing/2014/main" id="{6750ECE4-94E0-469B-B8E4-562792823B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462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bg2"/>
                </a:solidFill>
              </a:defRPr>
            </a:lvl1pPr>
          </a:lstStyle>
          <a:p>
            <a:fld id="{2BF067CD-8E6B-4360-9AA8-C5DF2A48A6D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Oval Logo Holder"/>
          <p:cNvSpPr/>
          <p:nvPr/>
        </p:nvSpPr>
        <p:spPr>
          <a:xfrm>
            <a:off x="5161650" y="4824665"/>
            <a:ext cx="1868701" cy="1868701"/>
          </a:xfrm>
          <a:prstGeom prst="ellipse">
            <a:avLst/>
          </a:prstGeom>
          <a:solidFill>
            <a:schemeClr val="tx2"/>
          </a:solidFill>
          <a:ln w="635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2" name="Logo Software University Down" descr="Software University logo">
            <a:extLst>
              <a:ext uri="{FF2B5EF4-FFF2-40B4-BE49-F238E27FC236}">
                <a16:creationId xmlns:a16="http://schemas.microsoft.com/office/drawing/2014/main" id="{7028D2F0-1E67-414B-A93D-D3F8F131A13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6551" y="5206773"/>
            <a:ext cx="958900" cy="1184869"/>
          </a:xfrm>
          <a:prstGeom prst="rect">
            <a:avLst/>
          </a:prstGeom>
        </p:spPr>
      </p:pic>
      <p:sp>
        <p:nvSpPr>
          <p:cNvPr id="10" name="Text Placeholder Right">
            <a:extLst>
              <a:ext uri="{FF2B5EF4-FFF2-40B4-BE49-F238E27FC236}">
                <a16:creationId xmlns:a16="http://schemas.microsoft.com/office/drawing/2014/main" id="{AF69A59F-C564-4A04-B1CC-31C26149999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56000" y="1195931"/>
            <a:ext cx="5545597" cy="4957073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9" name="Text Placeholder Left">
            <a:extLst>
              <a:ext uri="{FF2B5EF4-FFF2-40B4-BE49-F238E27FC236}">
                <a16:creationId xmlns:a16="http://schemas.microsoft.com/office/drawing/2014/main" id="{C8A626D2-456B-41EF-9818-EA8DD7E314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0402" y="1195931"/>
            <a:ext cx="5545598" cy="4957073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Rectangle Top">
            <a:extLst>
              <a:ext uri="{FF2B5EF4-FFF2-40B4-BE49-F238E27FC236}">
                <a16:creationId xmlns:a16="http://schemas.microsoft.com/office/drawing/2014/main" id="{E03301DA-D0AF-46FD-8740-2F761250203A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4" name="Logo Software University" descr="Software University logo">
            <a:extLst>
              <a:ext uri="{FF2B5EF4-FFF2-40B4-BE49-F238E27FC236}">
                <a16:creationId xmlns:a16="http://schemas.microsoft.com/office/drawing/2014/main" id="{19A67BB9-D880-4EAD-B90E-89C4219BFC0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7957" y="253936"/>
            <a:ext cx="1915704" cy="559235"/>
          </a:xfrm>
          <a:prstGeom prst="rect">
            <a:avLst/>
          </a:prstGeom>
        </p:spPr>
      </p:pic>
      <p:sp>
        <p:nvSpPr>
          <p:cNvPr id="15" name="Slide Title">
            <a:extLst>
              <a:ext uri="{FF2B5EF4-FFF2-40B4-BE49-F238E27FC236}">
                <a16:creationId xmlns:a16="http://schemas.microsoft.com/office/drawing/2014/main" id="{EA9A94D1-F9F6-4D7B-85E3-896A987B6A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9715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3044033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">
            <a:extLst>
              <a:ext uri="{FF2B5EF4-FFF2-40B4-BE49-F238E27FC236}">
                <a16:creationId xmlns:a16="http://schemas.microsoft.com/office/drawing/2014/main" id="{F888EE71-82B3-40F1-A63F-7417422FB4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444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4" name="Text Placeholder Body">
            <a:extLst>
              <a:ext uri="{FF2B5EF4-FFF2-40B4-BE49-F238E27FC236}">
                <a16:creationId xmlns:a16="http://schemas.microsoft.com/office/drawing/2014/main" id="{A2ABE920-240F-4CF6-AD45-23ED489FAD6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69002" y="1353866"/>
            <a:ext cx="7426234" cy="5219931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Picture Placeholder Left"/>
          <p:cNvSpPr>
            <a:spLocks noGrp="1"/>
          </p:cNvSpPr>
          <p:nvPr>
            <p:ph type="pic" idx="1" hasCustomPrompt="1"/>
          </p:nvPr>
        </p:nvSpPr>
        <p:spPr>
          <a:xfrm>
            <a:off x="190405" y="1355077"/>
            <a:ext cx="3889373" cy="536640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anchor="ctr"/>
          <a:lstStyle>
            <a:lvl1pPr marL="0" indent="0" algn="ctr" latinLnBrk="0">
              <a:buNone/>
              <a:defRPr sz="2131" baseline="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  <a:lvl2pPr marL="609219" indent="0">
              <a:buNone/>
              <a:defRPr sz="3731"/>
            </a:lvl2pPr>
            <a:lvl3pPr marL="1218438" indent="0">
              <a:buNone/>
              <a:defRPr sz="3198"/>
            </a:lvl3pPr>
            <a:lvl4pPr marL="1827657" indent="0">
              <a:buNone/>
              <a:defRPr sz="2665"/>
            </a:lvl4pPr>
            <a:lvl5pPr marL="2436876" indent="0">
              <a:buNone/>
              <a:defRPr sz="2665"/>
            </a:lvl5pPr>
            <a:lvl6pPr marL="3046096" indent="0">
              <a:buNone/>
              <a:defRPr sz="2665"/>
            </a:lvl6pPr>
            <a:lvl7pPr marL="3655315" indent="0">
              <a:buNone/>
              <a:defRPr sz="2665"/>
            </a:lvl7pPr>
            <a:lvl8pPr marL="4264533" indent="0">
              <a:buNone/>
              <a:defRPr sz="2665"/>
            </a:lvl8pPr>
            <a:lvl9pPr marL="4873752" indent="0">
              <a:buNone/>
              <a:defRPr sz="2665"/>
            </a:lvl9pPr>
          </a:lstStyle>
          <a:p>
            <a:r>
              <a:rPr lang="en-US" altLang="ko-KR" noProof="0"/>
              <a:t>Your Picture Here</a:t>
            </a:r>
          </a:p>
        </p:txBody>
      </p:sp>
      <p:sp>
        <p:nvSpPr>
          <p:cNvPr id="3" name="Rectangle Left Second"/>
          <p:cNvSpPr/>
          <p:nvPr/>
        </p:nvSpPr>
        <p:spPr>
          <a:xfrm>
            <a:off x="4127777" y="1748999"/>
            <a:ext cx="240001" cy="3360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2" name="Rectangle Left First"/>
          <p:cNvSpPr/>
          <p:nvPr/>
        </p:nvSpPr>
        <p:spPr>
          <a:xfrm>
            <a:off x="4079775" y="1355073"/>
            <a:ext cx="48001" cy="550292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0" name="Rectangle Down">
            <a:extLst>
              <a:ext uri="{FF2B5EF4-FFF2-40B4-BE49-F238E27FC236}">
                <a16:creationId xmlns:a16="http://schemas.microsoft.com/office/drawing/2014/main" id="{E9B994EC-35A8-4A11-98CB-25DC28852F94}"/>
              </a:ext>
            </a:extLst>
          </p:cNvPr>
          <p:cNvSpPr/>
          <p:nvPr/>
        </p:nvSpPr>
        <p:spPr>
          <a:xfrm>
            <a:off x="2" y="6721482"/>
            <a:ext cx="12192000" cy="1365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Rectangle Top">
            <a:extLst>
              <a:ext uri="{FF2B5EF4-FFF2-40B4-BE49-F238E27FC236}">
                <a16:creationId xmlns:a16="http://schemas.microsoft.com/office/drawing/2014/main" id="{274B8F05-DFCE-47BD-BAFD-DF93E1A63BDD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2" name="Logo Software University" descr="Software University logo">
            <a:extLst>
              <a:ext uri="{FF2B5EF4-FFF2-40B4-BE49-F238E27FC236}">
                <a16:creationId xmlns:a16="http://schemas.microsoft.com/office/drawing/2014/main" id="{233CBB95-791E-4630-B3D9-FADFCE7BCF5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7957" y="253936"/>
            <a:ext cx="1915704" cy="559235"/>
          </a:xfrm>
          <a:prstGeom prst="rect">
            <a:avLst/>
          </a:prstGeom>
        </p:spPr>
      </p:pic>
      <p:sp>
        <p:nvSpPr>
          <p:cNvPr id="13" name="Slide Title">
            <a:extLst>
              <a:ext uri="{FF2B5EF4-FFF2-40B4-BE49-F238E27FC236}">
                <a16:creationId xmlns:a16="http://schemas.microsoft.com/office/drawing/2014/main" id="{3F218E34-55D7-4290-BFE4-80F31F9415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9715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3774019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s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Bottom">
            <a:extLst>
              <a:ext uri="{FF2B5EF4-FFF2-40B4-BE49-F238E27FC236}">
                <a16:creationId xmlns:a16="http://schemas.microsoft.com/office/drawing/2014/main" id="{550A59F9-9A9D-4956-95B4-F78CC0DB1D59}"/>
              </a:ext>
            </a:extLst>
          </p:cNvPr>
          <p:cNvSpPr/>
          <p:nvPr userDrawn="1"/>
        </p:nvSpPr>
        <p:spPr>
          <a:xfrm>
            <a:off x="0" y="6371332"/>
            <a:ext cx="12195176" cy="48723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53" name="Rectangle Bottom Copyright">
            <a:extLst>
              <a:ext uri="{FF2B5EF4-FFF2-40B4-BE49-F238E27FC236}">
                <a16:creationId xmlns:a16="http://schemas.microsoft.com/office/drawing/2014/main" id="{B07FB7FB-DA6C-4F5D-B068-357F0FCE27D8}"/>
              </a:ext>
            </a:extLst>
          </p:cNvPr>
          <p:cNvSpPr/>
          <p:nvPr userDrawn="1"/>
        </p:nvSpPr>
        <p:spPr>
          <a:xfrm>
            <a:off x="111000" y="6454758"/>
            <a:ext cx="11970000" cy="258449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noProof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© SoftUni – </a:t>
            </a:r>
            <a:r>
              <a:rPr lang="en-US" sz="1600" u="sng" noProof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  <a:hlinkClick r:id="rId2"/>
              </a:rPr>
              <a:t>https://about.softuni.bg</a:t>
            </a:r>
            <a:r>
              <a:rPr lang="en-US" sz="1600" noProof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 Copyrighted document. Unauthorized copy, reproduction or use is not permitted.</a:t>
            </a:r>
            <a:endParaRPr lang="en-US" sz="2400" noProof="0" dirty="0">
              <a:solidFill>
                <a:schemeClr val="bg2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26" name="Picture SoftUni Mascot" descr="SoftUni mascot with open hand">
            <a:extLst>
              <a:ext uri="{FF2B5EF4-FFF2-40B4-BE49-F238E27FC236}">
                <a16:creationId xmlns:a16="http://schemas.microsoft.com/office/drawing/2014/main" id="{247CFF3C-C4FA-493D-8505-DF469F4D36A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586" y="2898830"/>
            <a:ext cx="2451608" cy="2959741"/>
          </a:xfrm>
          <a:prstGeom prst="rect">
            <a:avLst/>
          </a:prstGeom>
        </p:spPr>
      </p:pic>
      <p:grpSp>
        <p:nvGrpSpPr>
          <p:cNvPr id="2" name="Group SoftUni Brands">
            <a:extLst>
              <a:ext uri="{FF2B5EF4-FFF2-40B4-BE49-F238E27FC236}">
                <a16:creationId xmlns:a16="http://schemas.microsoft.com/office/drawing/2014/main" id="{418FAE34-C1F8-46C7-A4AE-F270D1E70F25}"/>
              </a:ext>
            </a:extLst>
          </p:cNvPr>
          <p:cNvGrpSpPr/>
          <p:nvPr userDrawn="1"/>
        </p:nvGrpSpPr>
        <p:grpSpPr>
          <a:xfrm>
            <a:off x="3332216" y="1702473"/>
            <a:ext cx="8314909" cy="3543782"/>
            <a:chOff x="3332216" y="1702473"/>
            <a:chExt cx="8314909" cy="3543782"/>
          </a:xfrm>
        </p:grpSpPr>
        <p:pic>
          <p:nvPicPr>
            <p:cNvPr id="24" name="Picture SoftUni Kids Logo" descr="SoftUni Kids logo">
              <a:extLst>
                <a:ext uri="{FF2B5EF4-FFF2-40B4-BE49-F238E27FC236}">
                  <a16:creationId xmlns:a16="http://schemas.microsoft.com/office/drawing/2014/main" id="{B0812936-74B6-4265-8C08-AEDC8C79870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516883" y="3776294"/>
              <a:ext cx="1130242" cy="1389256"/>
            </a:xfrm>
            <a:prstGeom prst="rect">
              <a:avLst/>
            </a:prstGeom>
          </p:spPr>
        </p:pic>
        <p:pic>
          <p:nvPicPr>
            <p:cNvPr id="23" name="Picture SoftUni Foundation Logo" descr="SoftUni Foundation logo">
              <a:extLst>
                <a:ext uri="{FF2B5EF4-FFF2-40B4-BE49-F238E27FC236}">
                  <a16:creationId xmlns:a16="http://schemas.microsoft.com/office/drawing/2014/main" id="{6643F71A-2013-433A-8322-FBAAED3162D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053913" y="3788231"/>
              <a:ext cx="1166400" cy="1350756"/>
            </a:xfrm>
            <a:prstGeom prst="rect">
              <a:avLst/>
            </a:prstGeom>
          </p:spPr>
        </p:pic>
        <p:pic>
          <p:nvPicPr>
            <p:cNvPr id="22" name="Picture SoftUni Digital Logo" descr="SoftUni Digital logo">
              <a:extLst>
                <a:ext uri="{FF2B5EF4-FFF2-40B4-BE49-F238E27FC236}">
                  <a16:creationId xmlns:a16="http://schemas.microsoft.com/office/drawing/2014/main" id="{0A83D66F-855B-463B-920B-BF239B01A20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57695" y="3789000"/>
              <a:ext cx="1084614" cy="1457255"/>
            </a:xfrm>
            <a:prstGeom prst="rect">
              <a:avLst/>
            </a:prstGeom>
          </p:spPr>
        </p:pic>
        <p:pic>
          <p:nvPicPr>
            <p:cNvPr id="21" name="Picture SoftUni Creative Logo" descr="SoftUni Creative logo">
              <a:extLst>
                <a:ext uri="{FF2B5EF4-FFF2-40B4-BE49-F238E27FC236}">
                  <a16:creationId xmlns:a16="http://schemas.microsoft.com/office/drawing/2014/main" id="{EA755AAE-BA08-481C-9224-0061170EE4B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73913" y="3776293"/>
              <a:ext cx="1166400" cy="1389257"/>
            </a:xfrm>
            <a:prstGeom prst="rect">
              <a:avLst/>
            </a:prstGeom>
          </p:spPr>
        </p:pic>
        <p:pic>
          <p:nvPicPr>
            <p:cNvPr id="20" name="Picture SoftUni Svetlina Logo" descr="SoftUni Svetlina logo">
              <a:extLst>
                <a:ext uri="{FF2B5EF4-FFF2-40B4-BE49-F238E27FC236}">
                  <a16:creationId xmlns:a16="http://schemas.microsoft.com/office/drawing/2014/main" id="{827D15FD-4C66-4B85-98E6-7826AA8F61C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35029" y="3776293"/>
              <a:ext cx="1166400" cy="1402229"/>
            </a:xfrm>
            <a:prstGeom prst="rect">
              <a:avLst/>
            </a:prstGeom>
          </p:spPr>
        </p:pic>
        <p:pic>
          <p:nvPicPr>
            <p:cNvPr id="25" name="Picture Software University Logo" descr="Software University logo">
              <a:extLst>
                <a:ext uri="{FF2B5EF4-FFF2-40B4-BE49-F238E27FC236}">
                  <a16:creationId xmlns:a16="http://schemas.microsoft.com/office/drawing/2014/main" id="{C74C190C-5856-41B9-8819-AE8DE0E1098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32216" y="3776295"/>
              <a:ext cx="1164654" cy="1440000"/>
            </a:xfrm>
            <a:prstGeom prst="rect">
              <a:avLst/>
            </a:prstGeom>
          </p:spPr>
        </p:pic>
        <p:cxnSp>
          <p:nvCxnSpPr>
            <p:cNvPr id="33" name="Straight Connector 6">
              <a:extLst>
                <a:ext uri="{FF2B5EF4-FFF2-40B4-BE49-F238E27FC236}">
                  <a16:creationId xmlns:a16="http://schemas.microsoft.com/office/drawing/2014/main" id="{5C63D1E8-4A92-4691-8A24-A2FC7E8008E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077113" y="333556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5">
              <a:extLst>
                <a:ext uri="{FF2B5EF4-FFF2-40B4-BE49-F238E27FC236}">
                  <a16:creationId xmlns:a16="http://schemas.microsoft.com/office/drawing/2014/main" id="{6E91D320-3732-40B8-864D-142D0A277ED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637113" y="332921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4">
              <a:extLst>
                <a:ext uri="{FF2B5EF4-FFF2-40B4-BE49-F238E27FC236}">
                  <a16:creationId xmlns:a16="http://schemas.microsoft.com/office/drawing/2014/main" id="{299ABE09-E33C-46B7-A80D-7BF4A6956211}"/>
                </a:ext>
              </a:extLst>
            </p:cNvPr>
            <p:cNvCxnSpPr/>
            <p:nvPr userDrawn="1"/>
          </p:nvCxnSpPr>
          <p:spPr>
            <a:xfrm>
              <a:off x="8197113" y="332921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3">
              <a:extLst>
                <a:ext uri="{FF2B5EF4-FFF2-40B4-BE49-F238E27FC236}">
                  <a16:creationId xmlns:a16="http://schemas.microsoft.com/office/drawing/2014/main" id="{93DDBF37-0764-47AA-94E3-9A44F3ED8FB5}"/>
                </a:ext>
              </a:extLst>
            </p:cNvPr>
            <p:cNvCxnSpPr/>
            <p:nvPr userDrawn="1"/>
          </p:nvCxnSpPr>
          <p:spPr>
            <a:xfrm>
              <a:off x="6757113" y="332921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">
              <a:extLst>
                <a:ext uri="{FF2B5EF4-FFF2-40B4-BE49-F238E27FC236}">
                  <a16:creationId xmlns:a16="http://schemas.microsoft.com/office/drawing/2014/main" id="{72BFE2F3-0845-4E5B-9375-E9D4027DD675}"/>
                </a:ext>
              </a:extLst>
            </p:cNvPr>
            <p:cNvCxnSpPr/>
            <p:nvPr userDrawn="1"/>
          </p:nvCxnSpPr>
          <p:spPr>
            <a:xfrm>
              <a:off x="5309913" y="333556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1">
              <a:extLst>
                <a:ext uri="{FF2B5EF4-FFF2-40B4-BE49-F238E27FC236}">
                  <a16:creationId xmlns:a16="http://schemas.microsoft.com/office/drawing/2014/main" id="{D4E5982E-3110-47E1-A5BB-91B7BECC3093}"/>
                </a:ext>
              </a:extLst>
            </p:cNvPr>
            <p:cNvCxnSpPr/>
            <p:nvPr userDrawn="1"/>
          </p:nvCxnSpPr>
          <p:spPr>
            <a:xfrm>
              <a:off x="3915327" y="333556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Horizontal">
              <a:extLst>
                <a:ext uri="{FF2B5EF4-FFF2-40B4-BE49-F238E27FC236}">
                  <a16:creationId xmlns:a16="http://schemas.microsoft.com/office/drawing/2014/main" id="{5F62FB7C-BD6E-4383-98C1-2CF30F34CAF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915327" y="3335565"/>
              <a:ext cx="7161786" cy="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0">
              <a:extLst>
                <a:ext uri="{FF2B5EF4-FFF2-40B4-BE49-F238E27FC236}">
                  <a16:creationId xmlns:a16="http://schemas.microsoft.com/office/drawing/2014/main" id="{C84A0FE1-723D-4682-8682-77BAD950EE15}"/>
                </a:ext>
              </a:extLst>
            </p:cNvPr>
            <p:cNvCxnSpPr/>
            <p:nvPr userDrawn="1"/>
          </p:nvCxnSpPr>
          <p:spPr>
            <a:xfrm>
              <a:off x="7496220" y="309299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8" name="Picture SoftUni Logo" descr="SoftUni logo">
              <a:extLst>
                <a:ext uri="{FF2B5EF4-FFF2-40B4-BE49-F238E27FC236}">
                  <a16:creationId xmlns:a16="http://schemas.microsoft.com/office/drawing/2014/main" id="{A0675455-B7FA-4569-A5FD-A3B0F20B2A2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96770" y="1702473"/>
              <a:ext cx="1198901" cy="1198901"/>
            </a:xfrm>
            <a:prstGeom prst="rect">
              <a:avLst/>
            </a:prstGeom>
          </p:spPr>
        </p:pic>
      </p:grpSp>
      <p:sp>
        <p:nvSpPr>
          <p:cNvPr id="19" name="Slide Title">
            <a:extLst>
              <a:ext uri="{FF2B5EF4-FFF2-40B4-BE49-F238E27FC236}">
                <a16:creationId xmlns:a16="http://schemas.microsoft.com/office/drawing/2014/main" id="{7CFDBB16-985C-4CC7-B6DB-B81B360379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9628" y="703244"/>
            <a:ext cx="5916372" cy="1033303"/>
          </a:xfrm>
          <a:prstGeom prst="rect">
            <a:avLst/>
          </a:prstGeom>
        </p:spPr>
        <p:txBody>
          <a:bodyPr wrap="none" lIns="0" tIns="0" rIns="0" bIns="0" anchor="ctr" anchorCtr="0">
            <a:noAutofit/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pPr marL="0" marR="0" lvl="0" indent="0" algn="l" defTabSz="913852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7748E">
                  <a:lumMod val="40000"/>
                  <a:lumOff val="60000"/>
                </a:srgbClr>
              </a:buClr>
              <a:buSzPct val="70000"/>
              <a:buFont typeface="Wingdings 2" pitchFamily="18" charset="2"/>
              <a:buNone/>
              <a:tabLst/>
              <a:defRPr/>
            </a:pPr>
            <a:r>
              <a:rPr kumimoji="0" lang="en-US" sz="8797" b="1" i="0" u="none" strike="noStrike" kern="1200" cap="none" spc="0" normalizeH="0" baseline="0" noProof="0" dirty="0">
                <a:ln>
                  <a:noFill/>
                </a:ln>
                <a:solidFill>
                  <a:srgbClr val="23446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Questions?</a:t>
            </a:r>
            <a:endParaRPr kumimoji="0" lang="en-US" sz="8797" b="1" i="0" u="none" strike="noStrike" kern="1200" cap="none" spc="150" normalizeH="0" baseline="0" noProof="0" dirty="0">
              <a:ln w="11430"/>
              <a:solidFill>
                <a:srgbClr val="234465"/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6" name="Logo Software University" descr="Software University logo">
            <a:extLst>
              <a:ext uri="{FF2B5EF4-FFF2-40B4-BE49-F238E27FC236}">
                <a16:creationId xmlns:a16="http://schemas.microsoft.com/office/drawing/2014/main" id="{67FC4D2E-913D-432A-B658-F0D82839FA5E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8761" y="190267"/>
            <a:ext cx="2013336" cy="690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20612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ou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">
            <a:extLst>
              <a:ext uri="{FF2B5EF4-FFF2-40B4-BE49-F238E27FC236}">
                <a16:creationId xmlns:a16="http://schemas.microsoft.com/office/drawing/2014/main" id="{5B8761D8-B42F-4A70-A0CE-682CEB2AE3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pic>
        <p:nvPicPr>
          <p:cNvPr id="17" name="Picture Logo FB" descr="Facebook logo">
            <a:hlinkClick r:id="rId2" tooltip="Software University @ Facebook"/>
            <a:extLst>
              <a:ext uri="{FF2B5EF4-FFF2-40B4-BE49-F238E27FC236}">
                <a16:creationId xmlns:a16="http://schemas.microsoft.com/office/drawing/2014/main" id="{6B2C510E-5EF2-49F6-B926-2BD74CD3C7F8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0507451" y="3689937"/>
            <a:ext cx="1003954" cy="1017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Logo SoftUni Right" descr="Software University logo">
            <a:hlinkClick r:id="rId4"/>
            <a:extLst>
              <a:ext uri="{FF2B5EF4-FFF2-40B4-BE49-F238E27FC236}">
                <a16:creationId xmlns:a16="http://schemas.microsoft.com/office/drawing/2014/main" id="{F4604840-E810-44B7-9FF1-3B28CD68B758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3401" y="1674000"/>
            <a:ext cx="1192055" cy="1473880"/>
          </a:xfrm>
          <a:prstGeom prst="rect">
            <a:avLst/>
          </a:prstGeom>
        </p:spPr>
      </p:pic>
      <p:pic>
        <p:nvPicPr>
          <p:cNvPr id="16" name="Picture SoftUni Mascot" descr="SoftUni mascot">
            <a:hlinkClick r:id="rId6"/>
            <a:extLst>
              <a:ext uri="{FF2B5EF4-FFF2-40B4-BE49-F238E27FC236}">
                <a16:creationId xmlns:a16="http://schemas.microsoft.com/office/drawing/2014/main" id="{07C965FA-A87E-4824-AFA8-C67AF548A76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181957" y="2584289"/>
            <a:ext cx="2732955" cy="3630993"/>
          </a:xfrm>
          <a:prstGeom prst="rect">
            <a:avLst/>
          </a:prstGeom>
        </p:spPr>
      </p:pic>
      <p:sp>
        <p:nvSpPr>
          <p:cNvPr id="12" name="Slide Body Text">
            <a:extLst>
              <a:ext uri="{FF2B5EF4-FFF2-40B4-BE49-F238E27FC236}">
                <a16:creationId xmlns:a16="http://schemas.microsoft.com/office/drawing/2014/main" id="{0C1F9416-8B6E-46DE-973C-777785E27A26}"/>
              </a:ext>
            </a:extLst>
          </p:cNvPr>
          <p:cNvSpPr>
            <a:spLocks noGrp="1"/>
          </p:cNvSpPr>
          <p:nvPr>
            <p:ph idx="4294967295" hasCustomPrompt="1"/>
          </p:nvPr>
        </p:nvSpPr>
        <p:spPr>
          <a:xfrm>
            <a:off x="152410" y="1186307"/>
            <a:ext cx="8688590" cy="5496127"/>
          </a:xfrm>
        </p:spPr>
        <p:txBody>
          <a:bodyPr wrap="square">
            <a:noAutofit/>
          </a:bodyPr>
          <a:lstStyle>
            <a:lvl1pPr latinLnBrk="0">
              <a:buClr>
                <a:schemeClr val="tx1"/>
              </a:buClr>
              <a:defRPr sz="2798"/>
            </a:lvl1pPr>
            <a:lvl2pPr marL="989981" marR="0" indent="-380762" algn="l" defTabSz="1218438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§"/>
              <a:tabLst>
                <a:tab pos="282405" algn="l"/>
              </a:tabLst>
              <a:defRPr sz="2800"/>
            </a:lvl2pPr>
            <a:lvl3pPr>
              <a:buClr>
                <a:schemeClr val="tx1"/>
              </a:buClr>
              <a:defRPr/>
            </a:lvl3pPr>
          </a:lstStyle>
          <a:p>
            <a:r>
              <a:rPr lang="en-US" sz="3000" noProof="0" dirty="0"/>
              <a:t>Software University – High-Quality Education, Profession and Job for Software Developers</a:t>
            </a:r>
          </a:p>
          <a:p>
            <a:pPr lvl="1"/>
            <a:r>
              <a:rPr lang="en-US" noProof="1">
                <a:hlinkClick r:id="rId6"/>
              </a:rPr>
              <a:t>softuni.bg</a:t>
            </a:r>
            <a:endParaRPr lang="en-US" noProof="1"/>
          </a:p>
          <a:p>
            <a:r>
              <a:rPr lang="en-US" sz="3000" noProof="0" dirty="0"/>
              <a:t>Software University Foundation</a:t>
            </a:r>
          </a:p>
          <a:p>
            <a:pPr lvl="1"/>
            <a:r>
              <a:rPr lang="en-US" noProof="1">
                <a:hlinkClick r:id="rId8"/>
              </a:rPr>
              <a:t>softuni.foundation</a:t>
            </a:r>
            <a:endParaRPr lang="en-US" noProof="1"/>
          </a:p>
          <a:p>
            <a:r>
              <a:rPr lang="en-US" sz="3000" noProof="0" dirty="0"/>
              <a:t>Software University @ Facebook</a:t>
            </a:r>
          </a:p>
          <a:p>
            <a:pPr lvl="1"/>
            <a:r>
              <a:rPr lang="en-US" noProof="1">
                <a:hlinkClick r:id="rId2"/>
              </a:rPr>
              <a:t>facebook.com/SoftwareUniversity</a:t>
            </a:r>
            <a:endParaRPr lang="en-US" noProof="1"/>
          </a:p>
          <a:p>
            <a:r>
              <a:rPr lang="en-US" sz="3000" noProof="0" dirty="0"/>
              <a:t>Software University Forums</a:t>
            </a:r>
          </a:p>
          <a:p>
            <a:pPr lvl="1"/>
            <a:r>
              <a:rPr lang="en-US" noProof="1">
                <a:hlinkClick r:id="rId9"/>
              </a:rPr>
              <a:t>forum.softuni.bg</a:t>
            </a:r>
            <a:endParaRPr lang="en-US" noProof="1"/>
          </a:p>
        </p:txBody>
      </p:sp>
      <p:sp>
        <p:nvSpPr>
          <p:cNvPr id="10" name="Rectangle Top">
            <a:extLst>
              <a:ext uri="{FF2B5EF4-FFF2-40B4-BE49-F238E27FC236}">
                <a16:creationId xmlns:a16="http://schemas.microsoft.com/office/drawing/2014/main" id="{86646B95-5E3B-4DE8-9118-031C2C296D8C}"/>
              </a:ext>
            </a:extLst>
          </p:cNvPr>
          <p:cNvSpPr/>
          <p:nvPr userDrawn="1"/>
        </p:nvSpPr>
        <p:spPr>
          <a:xfrm>
            <a:off x="0" y="0"/>
            <a:ext cx="12195176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1" name="Logo Software University" descr="Software University logo">
            <a:extLst>
              <a:ext uri="{FF2B5EF4-FFF2-40B4-BE49-F238E27FC236}">
                <a16:creationId xmlns:a16="http://schemas.microsoft.com/office/drawing/2014/main" id="{58AB1944-B146-4E89-B2D9-426EB610F319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7957" y="253936"/>
            <a:ext cx="1915704" cy="559235"/>
          </a:xfrm>
          <a:prstGeom prst="rect">
            <a:avLst/>
          </a:prstGeom>
        </p:spPr>
      </p:pic>
      <p:sp>
        <p:nvSpPr>
          <p:cNvPr id="18" name="Slide Title">
            <a:extLst>
              <a:ext uri="{FF2B5EF4-FFF2-40B4-BE49-F238E27FC236}">
                <a16:creationId xmlns:a16="http://schemas.microsoft.com/office/drawing/2014/main" id="{AE87ED9C-76E1-4D85-9B06-3AF44AABB6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2286" y="108873"/>
            <a:ext cx="9742626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Trainings @ Software University (SoftUni)</a:t>
            </a:r>
          </a:p>
        </p:txBody>
      </p:sp>
    </p:spTree>
    <p:extLst>
      <p:ext uri="{BB962C8B-B14F-4D97-AF65-F5344CB8AC3E}">
        <p14:creationId xmlns:p14="http://schemas.microsoft.com/office/powerpoint/2010/main" val="21964663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gray"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Background" descr="SoftUni Background">
            <a:extLst>
              <a:ext uri="{FF2B5EF4-FFF2-40B4-BE49-F238E27FC236}">
                <a16:creationId xmlns:a16="http://schemas.microsoft.com/office/drawing/2014/main" id="{5BE90A63-DDD9-4B3B-A234-DF69B9BC812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4"/>
          <a:srcRect b="1672"/>
          <a:stretch/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sp>
        <p:nvSpPr>
          <p:cNvPr id="11" name="Slide Body Text">
            <a:extLst>
              <a:ext uri="{FF2B5EF4-FFF2-40B4-BE49-F238E27FC236}">
                <a16:creationId xmlns:a16="http://schemas.microsoft.com/office/drawing/2014/main" id="{90CBFB32-9F46-4F2F-8A54-9EE8BED278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0404" y="1138844"/>
            <a:ext cx="11804830" cy="5530156"/>
          </a:xfrm>
          <a:prstGeom prst="rect">
            <a:avLst/>
          </a:prstGeom>
        </p:spPr>
        <p:txBody>
          <a:bodyPr vert="horz" lIns="108000" tIns="36000" rIns="108000" bIns="36000" rtlCol="0">
            <a:normAutofit/>
          </a:bodyPr>
          <a:lstStyle/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10" name="Slide Title">
            <a:extLst>
              <a:ext uri="{FF2B5EF4-FFF2-40B4-BE49-F238E27FC236}">
                <a16:creationId xmlns:a16="http://schemas.microsoft.com/office/drawing/2014/main" id="{B770C392-3003-4C35-9625-BB041F8257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405" y="100750"/>
            <a:ext cx="11804829" cy="882654"/>
          </a:xfrm>
          <a:prstGeom prst="rect">
            <a:avLst/>
          </a:prstGeom>
        </p:spPr>
        <p:txBody>
          <a:bodyPr vert="horz" lIns="108000" tIns="36000" rIns="108000" bIns="3600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6789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89" r:id="rId2"/>
    <p:sldLayoutId id="2147483681" r:id="rId3"/>
    <p:sldLayoutId id="2147483691" r:id="rId4"/>
    <p:sldLayoutId id="2147483680" r:id="rId5"/>
    <p:sldLayoutId id="2147483688" r:id="rId6"/>
    <p:sldLayoutId id="2147483684" r:id="rId7"/>
    <p:sldLayoutId id="2147483677" r:id="rId8"/>
    <p:sldLayoutId id="2147483683" r:id="rId9"/>
    <p:sldLayoutId id="2147483685" r:id="rId10"/>
    <p:sldLayoutId id="2147483686" r:id="rId11"/>
    <p:sldLayoutId id="2147483687" r:id="rId12"/>
  </p:sldLayoutIdLst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hf hdr="0" ftr="0" dt="0"/>
  <p:txStyles>
    <p:titleStyle>
      <a:lvl1pPr algn="l" defTabSz="1218438" rtl="0" eaLnBrk="1" latinLnBrk="0" hangingPunct="1">
        <a:spcBef>
          <a:spcPct val="0"/>
        </a:spcBef>
        <a:buNone/>
        <a:defRPr sz="3998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0363" indent="-360363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3398" kern="1200">
          <a:solidFill>
            <a:schemeClr val="tx1"/>
          </a:solidFill>
          <a:latin typeface="+mn-lt"/>
          <a:ea typeface="+mn-ea"/>
          <a:cs typeface="+mn-cs"/>
        </a:defRPr>
      </a:lvl1pPr>
      <a:lvl2pPr marL="803275" indent="-360363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3198" kern="1200">
          <a:solidFill>
            <a:schemeClr val="tx1"/>
          </a:solidFill>
          <a:latin typeface="+mn-lt"/>
          <a:ea typeface="+mn-ea"/>
          <a:cs typeface="+mn-cs"/>
        </a:defRPr>
      </a:lvl2pPr>
      <a:lvl3pPr marL="1255713" indent="-360363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2998" kern="1200">
          <a:solidFill>
            <a:schemeClr val="tx1"/>
          </a:solidFill>
          <a:latin typeface="+mn-lt"/>
          <a:ea typeface="+mn-ea"/>
          <a:cs typeface="+mn-cs"/>
        </a:defRPr>
      </a:lvl3pPr>
      <a:lvl4pPr marL="1700213" indent="-352425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2798" kern="1200">
          <a:solidFill>
            <a:schemeClr val="tx1"/>
          </a:solidFill>
          <a:latin typeface="+mn-lt"/>
          <a:ea typeface="+mn-ea"/>
          <a:cs typeface="+mn-cs"/>
        </a:defRPr>
      </a:lvl4pPr>
      <a:lvl5pPr marL="2058988" indent="-266700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2598" kern="1200">
          <a:solidFill>
            <a:schemeClr val="tx1"/>
          </a:solidFill>
          <a:latin typeface="+mn-lt"/>
          <a:ea typeface="+mn-ea"/>
          <a:cs typeface="+mn-cs"/>
        </a:defRPr>
      </a:lvl5pPr>
      <a:lvl6pPr marL="3350704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59924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69143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78362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1pPr>
      <a:lvl2pPr marL="609219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2pPr>
      <a:lvl3pPr marL="1218438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3pPr>
      <a:lvl4pPr marL="1827657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4pPr>
      <a:lvl5pPr marL="2436876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5pPr>
      <a:lvl6pPr marL="3046096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6pPr>
      <a:lvl7pPr marL="3655315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7pPr>
      <a:lvl8pPr marL="4264533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8pPr>
      <a:lvl9pPr marL="4873752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1843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bg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sv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hyperlink" Target="https://developer.mozilla.org/en-US/docs/Learn/CSS/CSS_layout/Flexbox" TargetMode="Externa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css-tricks.com/snippets/css/a-guide-to-flexbox/" TargetMode="Externa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mozilla.org/en-US/docs/Web/CSS/CSS_Flexible_Box_Layout/Basic_Concepts_of_Flexbox" TargetMode="External"/><Relationship Id="rId2" Type="http://schemas.openxmlformats.org/officeDocument/2006/relationships/hyperlink" Target="https://developer.mozilla.org/en-US/docs/Learn/CSS/CSS_layout/Flexbox" TargetMode="Externa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www.flexboxgame.com/" TargetMode="External"/><Relationship Id="rId5" Type="http://schemas.openxmlformats.org/officeDocument/2006/relationships/hyperlink" Target="https://www.youtube.com/watch?v=hs3piaN4b5I" TargetMode="External"/><Relationship Id="rId4" Type="http://schemas.openxmlformats.org/officeDocument/2006/relationships/hyperlink" Target="https://css-tricks.com/snippets/css/a-guide-to-flexbox/" TargetMode="Externa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bg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hyperlink" Target="https://www.facebook.com/SoftwareUniversity" TargetMode="External"/><Relationship Id="rId5" Type="http://schemas.openxmlformats.org/officeDocument/2006/relationships/hyperlink" Target="https://softuni.foundation/" TargetMode="External"/><Relationship Id="rId4" Type="http://schemas.openxmlformats.org/officeDocument/2006/relationships/hyperlink" Target="https://about.softuni.bg/" TargetMode="Externa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hyperlink" Target="https://about.softuni.bg/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7.png"/><Relationship Id="rId4" Type="http://schemas.openxmlformats.org/officeDocument/2006/relationships/hyperlink" Target="https://softuni.bg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mpany Web Site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https://softuni.bg</a:t>
            </a:r>
            <a:endParaRPr lang="en-US" dirty="0"/>
          </a:p>
        </p:txBody>
      </p:sp>
      <p:sp>
        <p:nvSpPr>
          <p:cNvPr id="11" name="Company Name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/>
              <a:t>Software University</a:t>
            </a:r>
          </a:p>
        </p:txBody>
      </p:sp>
      <p:sp>
        <p:nvSpPr>
          <p:cNvPr id="10" name="Author Position">
            <a:extLst>
              <a:ext uri="{FF2B5EF4-FFF2-40B4-BE49-F238E27FC236}">
                <a16:creationId xmlns:a16="http://schemas.microsoft.com/office/drawing/2014/main" id="{F585BC4C-0F13-4FD4-8F23-99FD466183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US" dirty="0"/>
              <a:t>Technical Trainers</a:t>
            </a:r>
          </a:p>
        </p:txBody>
      </p:sp>
      <p:sp>
        <p:nvSpPr>
          <p:cNvPr id="9" name="Author Name">
            <a:extLst>
              <a:ext uri="{FF2B5EF4-FFF2-40B4-BE49-F238E27FC236}">
                <a16:creationId xmlns:a16="http://schemas.microsoft.com/office/drawing/2014/main" id="{FA396BB6-2053-4690-9672-BC528007D37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 dirty="0"/>
              <a:t>SoftUni Team</a:t>
            </a:r>
          </a:p>
        </p:txBody>
      </p:sp>
      <p:sp>
        <p:nvSpPr>
          <p:cNvPr id="3" name="Presentation Subtitle">
            <a:extLst>
              <a:ext uri="{FF2B5EF4-FFF2-40B4-BE49-F238E27FC236}">
                <a16:creationId xmlns:a16="http://schemas.microsoft.com/office/drawing/2014/main" id="{A004DC04-DA2A-41C0-8578-4B8D2F08EA7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CSS Flexbox Layout Module</a:t>
            </a:r>
          </a:p>
        </p:txBody>
      </p:sp>
      <p:sp>
        <p:nvSpPr>
          <p:cNvPr id="2" name="Presentation Title">
            <a:extLst>
              <a:ext uri="{FF2B5EF4-FFF2-40B4-BE49-F238E27FC236}">
                <a16:creationId xmlns:a16="http://schemas.microsoft.com/office/drawing/2014/main" id="{37F91798-9AD5-4209-8887-9580295484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Flexbox</a:t>
            </a:r>
          </a:p>
        </p:txBody>
      </p:sp>
      <p:pic>
        <p:nvPicPr>
          <p:cNvPr id="8" name="Picture 2" descr="Резултат с изображение за „flexbox“">
            <a:extLst>
              <a:ext uri="{FF2B5EF4-FFF2-40B4-BE49-F238E27FC236}">
                <a16:creationId xmlns:a16="http://schemas.microsoft.com/office/drawing/2014/main" id="{FAE183C2-57A5-4CFA-ACFB-3BECBBC17E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8217" y="2574000"/>
            <a:ext cx="3843000" cy="21616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710846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446088" indent="-446088">
              <a:lnSpc>
                <a:spcPct val="100000"/>
              </a:lnSpc>
              <a:buFontTx/>
              <a:buAutoNum type="arabicPeriod"/>
            </a:pPr>
            <a:r>
              <a:rPr lang="en-US" dirty="0"/>
              <a:t>Flexbox</a:t>
            </a:r>
          </a:p>
          <a:p>
            <a:pPr marL="446088" indent="-446088">
              <a:lnSpc>
                <a:spcPct val="100000"/>
              </a:lnSpc>
              <a:buFontTx/>
              <a:buAutoNum type="arabicPeriod"/>
            </a:pPr>
            <a:r>
              <a:rPr lang="en-US" dirty="0"/>
              <a:t>Flexbox Properties for the </a:t>
            </a:r>
            <a:r>
              <a:rPr lang="en-US" b="1" dirty="0">
                <a:solidFill>
                  <a:schemeClr val="bg1"/>
                </a:solidFill>
              </a:rPr>
              <a:t>Parent</a:t>
            </a:r>
            <a:r>
              <a:rPr lang="en-US" dirty="0"/>
              <a:t> </a:t>
            </a:r>
          </a:p>
          <a:p>
            <a:pPr marL="446088" indent="-446088">
              <a:lnSpc>
                <a:spcPct val="100000"/>
              </a:lnSpc>
              <a:buFontTx/>
              <a:buAutoNum type="arabicPeriod"/>
            </a:pPr>
            <a:r>
              <a:rPr lang="en-US" dirty="0"/>
              <a:t>Flexbox Properties for the </a:t>
            </a:r>
            <a:r>
              <a:rPr lang="en-US" b="1" dirty="0">
                <a:solidFill>
                  <a:schemeClr val="bg1"/>
                </a:solidFill>
              </a:rPr>
              <a:t>Children</a:t>
            </a:r>
          </a:p>
        </p:txBody>
      </p:sp>
      <p:sp>
        <p:nvSpPr>
          <p:cNvPr id="444418" name="Slide Title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 of Contents</a:t>
            </a:r>
            <a:endParaRPr lang="bg-BG" dirty="0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B0D7631A-0C2F-4050-B4A8-E93BB4F8D2F5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823700" y="6507163"/>
            <a:ext cx="368300" cy="29686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9607303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 descr="Abacus">
            <a:extLst>
              <a:ext uri="{FF2B5EF4-FFF2-40B4-BE49-F238E27FC236}">
                <a16:creationId xmlns:a16="http://schemas.microsoft.com/office/drawing/2014/main" id="{558C0A2F-039A-46AF-84B4-57BE91FFBD88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629900" y="1134000"/>
            <a:ext cx="2932200" cy="2932200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5D601D8D-E148-43D4-99A9-3F8BD230B58F}"/>
              </a:ext>
            </a:extLst>
          </p:cNvPr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r>
              <a:rPr lang="en-GB" dirty="0"/>
              <a:t>Flexbox</a:t>
            </a:r>
          </a:p>
        </p:txBody>
      </p:sp>
    </p:spTree>
    <p:extLst>
      <p:ext uri="{BB962C8B-B14F-4D97-AF65-F5344CB8AC3E}">
        <p14:creationId xmlns:p14="http://schemas.microsoft.com/office/powerpoint/2010/main" val="3219109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ов контейнер 1">
            <a:extLst>
              <a:ext uri="{FF2B5EF4-FFF2-40B4-BE49-F238E27FC236}">
                <a16:creationId xmlns:a16="http://schemas.microsoft.com/office/drawing/2014/main" id="{B3EDA8DD-442C-9D79-A684-17A5624947B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2800" b="0" dirty="0"/>
              <a:t>The Flexible Box Module, usually referred to as </a:t>
            </a:r>
            <a:r>
              <a:rPr lang="en-US" sz="2800" b="1" dirty="0">
                <a:solidFill>
                  <a:schemeClr val="bg1"/>
                </a:solidFill>
              </a:rPr>
              <a:t>flexbox</a:t>
            </a:r>
            <a:r>
              <a:rPr lang="en-US" sz="2800" b="0" dirty="0"/>
              <a:t>, was designed as a </a:t>
            </a:r>
            <a:r>
              <a:rPr lang="en-US" sz="2800" b="1" dirty="0">
                <a:solidFill>
                  <a:schemeClr val="bg1"/>
                </a:solidFill>
              </a:rPr>
              <a:t>one-dimensional</a:t>
            </a:r>
            <a:r>
              <a:rPr lang="en-US" sz="2800" b="0" dirty="0"/>
              <a:t> layout model, and as a method that could offer </a:t>
            </a:r>
            <a:r>
              <a:rPr lang="en-US" sz="2800" b="1" dirty="0">
                <a:solidFill>
                  <a:schemeClr val="bg1"/>
                </a:solidFill>
              </a:rPr>
              <a:t>space distribution </a:t>
            </a:r>
            <a:r>
              <a:rPr lang="en-US" sz="2800" b="0" dirty="0"/>
              <a:t>between items in an </a:t>
            </a:r>
            <a:r>
              <a:rPr lang="en-US" sz="2800" b="1" dirty="0">
                <a:solidFill>
                  <a:schemeClr val="bg1"/>
                </a:solidFill>
              </a:rPr>
              <a:t>interface</a:t>
            </a:r>
            <a:r>
              <a:rPr lang="en-US" sz="2800" b="0" dirty="0"/>
              <a:t> and </a:t>
            </a:r>
            <a:r>
              <a:rPr lang="en-US" sz="2800" b="1" dirty="0">
                <a:solidFill>
                  <a:schemeClr val="bg1"/>
                </a:solidFill>
              </a:rPr>
              <a:t>powerful </a:t>
            </a:r>
            <a:br>
              <a:rPr lang="bg-BG" sz="2800" b="1" dirty="0">
                <a:solidFill>
                  <a:schemeClr val="bg1"/>
                </a:solidFill>
              </a:rPr>
            </a:br>
            <a:r>
              <a:rPr lang="en-US" sz="2800" b="1" dirty="0">
                <a:solidFill>
                  <a:schemeClr val="bg1"/>
                </a:solidFill>
              </a:rPr>
              <a:t>alignment capabilities</a:t>
            </a:r>
          </a:p>
          <a:p>
            <a:pPr>
              <a:lnSpc>
                <a:spcPct val="110000"/>
              </a:lnSpc>
            </a:pPr>
            <a:r>
              <a:rPr lang="en-US" sz="2800" b="0" dirty="0">
                <a:hlinkClick r:id="rId2"/>
              </a:rPr>
              <a:t>https://developer.mozilla.org/en-US/docs/Learn/CSS/CSS_layout/Flexbox</a:t>
            </a:r>
            <a:endParaRPr lang="en-US" sz="2800" b="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9A1DA41-F15A-4A36-BC07-5ABC6728B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is Flexbox?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FA87A99-2CBD-1816-98C8-35B2EFE494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6000" y="4194000"/>
            <a:ext cx="6052983" cy="239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2691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ов контейнер 1">
            <a:extLst>
              <a:ext uri="{FF2B5EF4-FFF2-40B4-BE49-F238E27FC236}">
                <a16:creationId xmlns:a16="http://schemas.microsoft.com/office/drawing/2014/main" id="{5A1F21D4-52EE-3F89-1BD5-D9042B466B8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sz="2800" b="0" dirty="0"/>
              <a:t>For a long time, the only reliable cross browser-compatible tools available for creating CSS layouts were things like </a:t>
            </a:r>
            <a:r>
              <a:rPr lang="en-US" sz="2800" b="1" dirty="0">
                <a:solidFill>
                  <a:schemeClr val="bg1"/>
                </a:solidFill>
              </a:rPr>
              <a:t>floats</a:t>
            </a:r>
            <a:r>
              <a:rPr lang="en-US" sz="2800" b="0" dirty="0"/>
              <a:t> and </a:t>
            </a:r>
            <a:r>
              <a:rPr lang="en-US" sz="2800" b="1" dirty="0">
                <a:solidFill>
                  <a:schemeClr val="bg1"/>
                </a:solidFill>
              </a:rPr>
              <a:t>positioning</a:t>
            </a:r>
            <a:r>
              <a:rPr lang="en-US" sz="2800" b="0" dirty="0"/>
              <a:t>. These are fine and they work, but in some ways, they are also rather </a:t>
            </a:r>
            <a:r>
              <a:rPr lang="en-US" sz="2800" b="1" dirty="0"/>
              <a:t>limiting</a:t>
            </a:r>
            <a:r>
              <a:rPr lang="en-US" sz="2800" b="0" dirty="0"/>
              <a:t> and </a:t>
            </a:r>
            <a:r>
              <a:rPr lang="en-US" sz="2800" b="1" dirty="0"/>
              <a:t>frustrating</a:t>
            </a:r>
          </a:p>
          <a:p>
            <a:r>
              <a:rPr lang="en-US" sz="2800" b="0" dirty="0"/>
              <a:t>Flexbox can be looked at as a logical system to </a:t>
            </a:r>
            <a:br>
              <a:rPr lang="bg-BG" sz="2800" b="0" dirty="0"/>
            </a:br>
            <a:r>
              <a:rPr lang="en-US" sz="2800" b="1" dirty="0">
                <a:solidFill>
                  <a:schemeClr val="bg1"/>
                </a:solidFill>
              </a:rPr>
              <a:t>arrange boxes in </a:t>
            </a:r>
            <a:r>
              <a:rPr lang="en-US" sz="2800" b="1">
                <a:solidFill>
                  <a:schemeClr val="bg1"/>
                </a:solidFill>
              </a:rPr>
              <a:t>1 dimension</a:t>
            </a:r>
            <a:r>
              <a:rPr lang="en-US" sz="2800" b="0"/>
              <a:t>. </a:t>
            </a:r>
            <a:r>
              <a:rPr lang="en-US" sz="2800" b="0" dirty="0"/>
              <a:t>There are many </a:t>
            </a:r>
            <a:br>
              <a:rPr lang="bg-BG" sz="2800" b="0" dirty="0"/>
            </a:br>
            <a:r>
              <a:rPr lang="en-US" sz="2800" b="0" dirty="0"/>
              <a:t>places where an understanding of the ideas of </a:t>
            </a:r>
            <a:br>
              <a:rPr lang="bg-BG" sz="2800" b="0" dirty="0"/>
            </a:br>
            <a:r>
              <a:rPr lang="en-US" sz="2800" b="0" dirty="0"/>
              <a:t>Flexbox will be very </a:t>
            </a:r>
            <a:r>
              <a:rPr lang="en-US" sz="2800" b="1" dirty="0">
                <a:solidFill>
                  <a:schemeClr val="bg1"/>
                </a:solidFill>
              </a:rPr>
              <a:t>useful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9A1DA41-F15A-4A36-BC07-5ABC6728B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Why Flexbox?</a:t>
            </a:r>
          </a:p>
        </p:txBody>
      </p:sp>
      <p:pic>
        <p:nvPicPr>
          <p:cNvPr id="2050" name="Picture 2" descr="Резултат с изображение за „flexbox vs positioning and float“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20" t="5168" r="3731" b="4717"/>
          <a:stretch/>
        </p:blipFill>
        <p:spPr bwMode="auto">
          <a:xfrm>
            <a:off x="7626000" y="2733900"/>
            <a:ext cx="4382498" cy="399099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906924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ов контейнер 4">
            <a:extLst>
              <a:ext uri="{FF2B5EF4-FFF2-40B4-BE49-F238E27FC236}">
                <a16:creationId xmlns:a16="http://schemas.microsoft.com/office/drawing/2014/main" id="{4B7071FA-BF86-9EC2-B9B2-43B607723A9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196125"/>
            <a:ext cx="11845598" cy="5528766"/>
          </a:xfrm>
        </p:spPr>
        <p:txBody>
          <a:bodyPr>
            <a:normAutofit/>
          </a:bodyPr>
          <a:lstStyle/>
          <a:p>
            <a:r>
              <a:rPr lang="en-US" sz="3200" b="0" dirty="0"/>
              <a:t>For elements to be laid out as flexible boxes we set a </a:t>
            </a:r>
            <a:r>
              <a:rPr lang="en-US" sz="3200" b="1" dirty="0">
                <a:solidFill>
                  <a:schemeClr val="bg1"/>
                </a:solidFill>
              </a:rPr>
              <a:t>special value </a:t>
            </a:r>
            <a:r>
              <a:rPr lang="en-US" sz="3200" b="0" dirty="0"/>
              <a:t>of display on the parent element of the elements you want to affect. This causes the element to become a </a:t>
            </a:r>
            <a:r>
              <a:rPr lang="en-US" sz="3200" b="1" dirty="0">
                <a:solidFill>
                  <a:schemeClr val="bg1"/>
                </a:solidFill>
              </a:rPr>
              <a:t>flex container </a:t>
            </a:r>
            <a:r>
              <a:rPr lang="en-US" sz="3200" b="0" dirty="0"/>
              <a:t>and its children to become </a:t>
            </a:r>
            <a:r>
              <a:rPr lang="en-US" sz="3200" b="1" dirty="0">
                <a:solidFill>
                  <a:schemeClr val="bg1"/>
                </a:solidFill>
              </a:rPr>
              <a:t>flex items</a:t>
            </a:r>
            <a:endParaRPr lang="en-US" sz="3200" dirty="0">
              <a:solidFill>
                <a:schemeClr val="bg1"/>
              </a:solidFill>
            </a:endParaRPr>
          </a:p>
          <a:p>
            <a:r>
              <a:rPr lang="en-US" sz="3200" b="0" dirty="0"/>
              <a:t>When elements are laid out as flex items, they are laid out along </a:t>
            </a:r>
            <a:r>
              <a:rPr lang="en-US" sz="3200" b="1" dirty="0">
                <a:solidFill>
                  <a:schemeClr val="bg1"/>
                </a:solidFill>
              </a:rPr>
              <a:t>two axes</a:t>
            </a:r>
            <a:r>
              <a:rPr lang="en-US" sz="3200" b="0" dirty="0"/>
              <a:t>: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9A1DA41-F15A-4A36-BC07-5ABC6728B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Flex Model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1462852-F876-0B2A-F43A-64A1734ADF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1000" y="4059000"/>
            <a:ext cx="6052983" cy="23978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736111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9A1DA41-F15A-4A36-BC07-5ABC6728B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Flex Model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D04D151-3C64-BCC4-A990-71CF165F39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2254" y="1629000"/>
            <a:ext cx="7947491" cy="469495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449282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ов контейнер 4">
            <a:extLst>
              <a:ext uri="{FF2B5EF4-FFF2-40B4-BE49-F238E27FC236}">
                <a16:creationId xmlns:a16="http://schemas.microsoft.com/office/drawing/2014/main" id="{F7FDDA1E-533B-B71C-8418-5A003E43F15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lnSpcReduction="10000"/>
          </a:bodyPr>
          <a:lstStyle/>
          <a:p>
            <a:r>
              <a:rPr lang="en-GB" sz="3600" dirty="0"/>
              <a:t>Complexity and the value of reference</a:t>
            </a:r>
          </a:p>
          <a:p>
            <a:pPr lvl="1">
              <a:lnSpc>
                <a:spcPct val="120000"/>
              </a:lnSpc>
            </a:pPr>
            <a:r>
              <a:rPr lang="en-US" sz="3400" b="0" dirty="0"/>
              <a:t>The entire specification with all possible properties that are related to flexbox can be </a:t>
            </a:r>
            <a:r>
              <a:rPr lang="en-US" sz="3400" b="1" dirty="0"/>
              <a:t>overwhelming</a:t>
            </a:r>
            <a:r>
              <a:rPr lang="en-US" sz="3400" b="0" dirty="0"/>
              <a:t>, especially in </a:t>
            </a:r>
            <a:br>
              <a:rPr lang="bg-BG" sz="3400" b="0" dirty="0"/>
            </a:br>
            <a:r>
              <a:rPr lang="en-US" sz="3400" b="0" dirty="0"/>
              <a:t>the beginning</a:t>
            </a:r>
            <a:endParaRPr lang="bg-BG" sz="3400" dirty="0"/>
          </a:p>
          <a:p>
            <a:pPr lvl="1">
              <a:lnSpc>
                <a:spcPct val="120000"/>
              </a:lnSpc>
            </a:pPr>
            <a:r>
              <a:rPr lang="en-US" sz="3400" b="1" dirty="0"/>
              <a:t>Don't try </a:t>
            </a:r>
            <a:r>
              <a:rPr lang="en-US" sz="3400" b="0" dirty="0"/>
              <a:t>to learn and remember everything</a:t>
            </a:r>
            <a:endParaRPr lang="bg-BG" sz="3400" dirty="0"/>
          </a:p>
          <a:p>
            <a:pPr lvl="1">
              <a:lnSpc>
                <a:spcPct val="120000"/>
              </a:lnSpc>
            </a:pPr>
            <a:r>
              <a:rPr lang="en-US" sz="3400" b="0" dirty="0"/>
              <a:t>Try to understand the basic concepts – the properties will be learned through </a:t>
            </a:r>
            <a:r>
              <a:rPr lang="en-US" sz="3400" b="1" dirty="0"/>
              <a:t>exercise</a:t>
            </a:r>
            <a:r>
              <a:rPr lang="en-US" sz="3400" b="0" dirty="0"/>
              <a:t> and </a:t>
            </a:r>
            <a:r>
              <a:rPr lang="en-US" sz="3400" b="1" dirty="0"/>
              <a:t>repetition</a:t>
            </a:r>
          </a:p>
          <a:p>
            <a:pPr lvl="1">
              <a:lnSpc>
                <a:spcPct val="120000"/>
              </a:lnSpc>
            </a:pPr>
            <a:r>
              <a:rPr lang="en-US" sz="3400" b="0" dirty="0">
                <a:hlinkClick r:id="rId2"/>
              </a:rPr>
              <a:t>https://css-tricks.com/snippets/css/a-guide-to-flexbox/</a:t>
            </a:r>
            <a:endParaRPr lang="en-GB" sz="3400" dirty="0">
              <a:solidFill>
                <a:schemeClr val="bg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9A1DA41-F15A-4A36-BC07-5ABC6728B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/>
              <a:t>Flexbox properties</a:t>
            </a:r>
            <a:endParaRPr lang="en-GB" sz="4400" dirty="0"/>
          </a:p>
        </p:txBody>
      </p:sp>
    </p:spTree>
    <p:extLst>
      <p:ext uri="{BB962C8B-B14F-4D97-AF65-F5344CB8AC3E}">
        <p14:creationId xmlns:p14="http://schemas.microsoft.com/office/powerpoint/2010/main" val="29672670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1000" y="1916044"/>
            <a:ext cx="3150000" cy="132208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198C316-EAA9-4202-A5A8-0D853439D60C}"/>
              </a:ext>
            </a:extLst>
          </p:cNvPr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r>
              <a:rPr lang="en-GB" sz="5400" dirty="0"/>
              <a:t>Properties for the Parent</a:t>
            </a:r>
          </a:p>
        </p:txBody>
      </p:sp>
    </p:spTree>
    <p:extLst>
      <p:ext uri="{BB962C8B-B14F-4D97-AF65-F5344CB8AC3E}">
        <p14:creationId xmlns:p14="http://schemas.microsoft.com/office/powerpoint/2010/main" val="5721160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Display – Flex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>
              <a:buClr>
                <a:schemeClr val="tx1"/>
              </a:buClr>
            </a:pPr>
            <a:r>
              <a:rPr lang="en-US" dirty="0"/>
              <a:t>The element is turned into a </a:t>
            </a:r>
            <a:r>
              <a:rPr lang="en-US" b="1" dirty="0">
                <a:solidFill>
                  <a:schemeClr val="bg1"/>
                </a:solidFill>
              </a:rPr>
              <a:t>flexbox</a:t>
            </a:r>
            <a:r>
              <a:rPr lang="en-US" dirty="0"/>
              <a:t> container</a:t>
            </a:r>
          </a:p>
          <a:p>
            <a:pPr>
              <a:buClr>
                <a:schemeClr val="tx1"/>
              </a:buClr>
            </a:pPr>
            <a:r>
              <a:rPr lang="en-US" dirty="0"/>
              <a:t>Its child elements will be turned into </a:t>
            </a:r>
            <a:r>
              <a:rPr lang="en-US" b="1" dirty="0">
                <a:solidFill>
                  <a:schemeClr val="bg1"/>
                </a:solidFill>
              </a:rPr>
              <a:t>flexbox items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" name="Текстово поле 10"/>
          <p:cNvSpPr txBox="1"/>
          <p:nvPr/>
        </p:nvSpPr>
        <p:spPr>
          <a:xfrm>
            <a:off x="744583" y="2670495"/>
            <a:ext cx="4590000" cy="3726762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75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/>
          <a:p>
            <a:r>
              <a:rPr lang="en-GB" sz="1600" b="1" dirty="0">
                <a:solidFill>
                  <a:srgbClr val="800000"/>
                </a:solidFill>
                <a:latin typeface="Consolas" panose="020B0609020204030204" pitchFamily="49" charset="0"/>
              </a:rPr>
              <a:t>&lt;body&gt;</a:t>
            </a:r>
            <a:endParaRPr lang="en-GB" sz="16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GB" sz="1600" b="1" dirty="0">
                <a:solidFill>
                  <a:srgbClr val="800000"/>
                </a:solidFill>
                <a:latin typeface="Consolas" panose="020B0609020204030204" pitchFamily="49" charset="0"/>
              </a:rPr>
              <a:t>&lt;p&gt;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Lorem ipsum </a:t>
            </a:r>
            <a:r>
              <a:rPr lang="en-GB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dolor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 sit </a:t>
            </a:r>
            <a:r>
              <a:rPr lang="en-GB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amet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GB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consectetur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GB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adipiscing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GB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elit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GB" sz="1600" b="1" dirty="0">
                <a:solidFill>
                  <a:srgbClr val="800000"/>
                </a:solidFill>
                <a:latin typeface="Consolas" panose="020B0609020204030204" pitchFamily="49" charset="0"/>
              </a:rPr>
              <a:t>&lt;/p&gt;</a:t>
            </a:r>
            <a:endParaRPr lang="en-GB" sz="16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GB" sz="1600" b="1" dirty="0">
                <a:solidFill>
                  <a:srgbClr val="800000"/>
                </a:solidFill>
                <a:latin typeface="Consolas" panose="020B0609020204030204" pitchFamily="49" charset="0"/>
              </a:rPr>
              <a:t>&lt;div</a:t>
            </a:r>
            <a:r>
              <a:rPr lang="en-GB" sz="1600" b="1" dirty="0">
                <a:solidFill>
                  <a:srgbClr val="FF0000"/>
                </a:solidFill>
                <a:latin typeface="Consolas" panose="020B0609020204030204" pitchFamily="49" charset="0"/>
              </a:rPr>
              <a:t> class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"container"</a:t>
            </a:r>
            <a:r>
              <a:rPr lang="en-GB" sz="1600" b="1" dirty="0">
                <a:solidFill>
                  <a:srgbClr val="800000"/>
                </a:solidFill>
                <a:latin typeface="Consolas" panose="020B0609020204030204" pitchFamily="49" charset="0"/>
              </a:rPr>
              <a:t>&gt;</a:t>
            </a:r>
            <a:endParaRPr lang="en-GB" sz="16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GB" sz="1600" b="1" dirty="0">
                <a:solidFill>
                  <a:srgbClr val="800000"/>
                </a:solidFill>
                <a:latin typeface="Consolas" panose="020B0609020204030204" pitchFamily="49" charset="0"/>
              </a:rPr>
              <a:t>&lt;p&gt;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First child</a:t>
            </a:r>
            <a:r>
              <a:rPr lang="en-GB" sz="1600" b="1" dirty="0">
                <a:solidFill>
                  <a:srgbClr val="800000"/>
                </a:solidFill>
                <a:latin typeface="Consolas" panose="020B0609020204030204" pitchFamily="49" charset="0"/>
              </a:rPr>
              <a:t>&lt;/p&gt;</a:t>
            </a:r>
            <a:endParaRPr lang="en-GB" sz="16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GB" sz="1600" b="1" dirty="0">
                <a:solidFill>
                  <a:srgbClr val="800000"/>
                </a:solidFill>
                <a:latin typeface="Consolas" panose="020B0609020204030204" pitchFamily="49" charset="0"/>
              </a:rPr>
              <a:t>&lt;p&gt;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Second child</a:t>
            </a:r>
            <a:r>
              <a:rPr lang="en-GB" sz="1600" b="1" dirty="0">
                <a:solidFill>
                  <a:srgbClr val="800000"/>
                </a:solidFill>
                <a:latin typeface="Consolas" panose="020B0609020204030204" pitchFamily="49" charset="0"/>
              </a:rPr>
              <a:t>&lt;/p&gt;</a:t>
            </a:r>
            <a:endParaRPr lang="en-GB" sz="16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GB" sz="1600" b="1" dirty="0">
                <a:solidFill>
                  <a:srgbClr val="800000"/>
                </a:solidFill>
                <a:latin typeface="Consolas" panose="020B0609020204030204" pitchFamily="49" charset="0"/>
              </a:rPr>
              <a:t>&lt;/div&gt;</a:t>
            </a:r>
            <a:endParaRPr lang="en-GB" sz="16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GB" sz="1600" b="1" dirty="0">
                <a:solidFill>
                  <a:srgbClr val="800000"/>
                </a:solidFill>
                <a:latin typeface="Consolas" panose="020B0609020204030204" pitchFamily="49" charset="0"/>
              </a:rPr>
              <a:t>&lt;p&gt;</a:t>
            </a:r>
            <a:endParaRPr lang="en-GB" sz="16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GB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Etiam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 semper </a:t>
            </a:r>
            <a:r>
              <a:rPr lang="en-GB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diam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 at </a:t>
            </a:r>
            <a:r>
              <a:rPr lang="en-GB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erat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 pulvinar, at pulvinar </a:t>
            </a:r>
            <a:r>
              <a:rPr lang="en-GB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felis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GB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blandit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. Vestibulum </a:t>
            </a:r>
            <a:r>
              <a:rPr lang="en-GB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volutpat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GB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tellus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GB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diam,consequat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 gravida libero </a:t>
            </a:r>
            <a:r>
              <a:rPr lang="en-GB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rhoncus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GB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ut.</a:t>
            </a:r>
            <a:endParaRPr lang="en-GB" sz="16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GB" sz="1600" b="1" dirty="0">
                <a:solidFill>
                  <a:srgbClr val="800000"/>
                </a:solidFill>
                <a:latin typeface="Consolas" panose="020B0609020204030204" pitchFamily="49" charset="0"/>
              </a:rPr>
              <a:t>&lt;/p&gt;</a:t>
            </a:r>
            <a:endParaRPr lang="en-GB" sz="16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600" b="1" dirty="0">
                <a:solidFill>
                  <a:srgbClr val="800000"/>
                </a:solidFill>
                <a:latin typeface="Consolas" panose="020B0609020204030204" pitchFamily="49" charset="0"/>
              </a:rPr>
              <a:t>&lt;/body&gt;</a:t>
            </a:r>
            <a:endParaRPr lang="en-GB" sz="1600" b="1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384EE433-F731-43CF-9F88-BA121DBCBF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10</a:t>
            </a:fld>
            <a:endParaRPr lang="en-US" noProof="0" dirty="0"/>
          </a:p>
        </p:txBody>
      </p:sp>
      <p:sp>
        <p:nvSpPr>
          <p:cNvPr id="6" name="Текстово поле 10">
            <a:extLst>
              <a:ext uri="{FF2B5EF4-FFF2-40B4-BE49-F238E27FC236}">
                <a16:creationId xmlns:a16="http://schemas.microsoft.com/office/drawing/2014/main" id="{22C075E3-7E3B-430A-9421-48C7C1078B78}"/>
              </a:ext>
            </a:extLst>
          </p:cNvPr>
          <p:cNvSpPr txBox="1"/>
          <p:nvPr/>
        </p:nvSpPr>
        <p:spPr>
          <a:xfrm>
            <a:off x="5916000" y="2675804"/>
            <a:ext cx="4365000" cy="1326105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75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/>
          <a:p>
            <a:r>
              <a:rPr lang="en-GB" sz="2400" b="1" dirty="0">
                <a:solidFill>
                  <a:srgbClr val="800000"/>
                </a:solidFill>
                <a:latin typeface="Consolas" panose="020B0609020204030204" pitchFamily="49" charset="0"/>
              </a:rPr>
              <a:t>.container</a:t>
            </a:r>
            <a:r>
              <a:rPr lang="en-GB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 {</a:t>
            </a:r>
          </a:p>
          <a:p>
            <a:r>
              <a:rPr lang="en-GB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en-GB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display</a:t>
            </a:r>
            <a:r>
              <a:rPr lang="en-GB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: </a:t>
            </a:r>
            <a:r>
              <a:rPr lang="en-GB" sz="2400" b="1" dirty="0">
                <a:solidFill>
                  <a:srgbClr val="0451A5"/>
                </a:solidFill>
                <a:latin typeface="Consolas" panose="020B0609020204030204" pitchFamily="49" charset="0"/>
              </a:rPr>
              <a:t>flex</a:t>
            </a:r>
            <a:r>
              <a:rPr lang="en-GB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GB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pic>
        <p:nvPicPr>
          <p:cNvPr id="9" name="Picture 5">
            <a:extLst>
              <a:ext uri="{FF2B5EF4-FFF2-40B4-BE49-F238E27FC236}">
                <a16:creationId xmlns:a16="http://schemas.microsoft.com/office/drawing/2014/main" id="{E90D390A-5495-4B55-A57B-079CA6981DF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6000" y="4149178"/>
            <a:ext cx="5040000" cy="2357822"/>
          </a:xfrm>
          <a:prstGeom prst="rect">
            <a:avLst/>
          </a:prstGeom>
          <a:ln w="3175" cap="rnd">
            <a:solidFill>
              <a:schemeClr val="tx1"/>
            </a:solidFill>
          </a:ln>
          <a:effectLst/>
        </p:spPr>
      </p:pic>
    </p:spTree>
    <p:extLst>
      <p:ext uri="{BB962C8B-B14F-4D97-AF65-F5344CB8AC3E}">
        <p14:creationId xmlns:p14="http://schemas.microsoft.com/office/powerpoint/2010/main" val="2699798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Display – Inline-flex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190402" y="1196125"/>
            <a:ext cx="6580598" cy="5528766"/>
          </a:xfrm>
        </p:spPr>
        <p:txBody>
          <a:bodyPr>
            <a:normAutofit/>
          </a:bodyPr>
          <a:lstStyle/>
          <a:p>
            <a:pPr>
              <a:buClr>
                <a:schemeClr val="tx1"/>
              </a:buClr>
            </a:pPr>
            <a:r>
              <a:rPr lang="en-US" sz="3600" dirty="0"/>
              <a:t>The element shares properties of both an </a:t>
            </a:r>
            <a:r>
              <a:rPr lang="en-US" sz="3600" b="1" dirty="0">
                <a:solidFill>
                  <a:schemeClr val="bg1"/>
                </a:solidFill>
              </a:rPr>
              <a:t>inline</a:t>
            </a:r>
            <a:r>
              <a:rPr lang="en-US" sz="3600" dirty="0"/>
              <a:t> and a </a:t>
            </a:r>
            <a:r>
              <a:rPr lang="en-US" sz="3600" b="1" dirty="0">
                <a:solidFill>
                  <a:schemeClr val="bg1"/>
                </a:solidFill>
              </a:rPr>
              <a:t>flexbox</a:t>
            </a:r>
            <a:r>
              <a:rPr lang="en-US" sz="3600" dirty="0"/>
              <a:t> element:</a:t>
            </a:r>
          </a:p>
          <a:p>
            <a:pPr lvl="1">
              <a:buClr>
                <a:schemeClr val="tx1"/>
              </a:buClr>
            </a:pPr>
            <a:r>
              <a:rPr lang="en-US" sz="3400" b="1" dirty="0">
                <a:solidFill>
                  <a:schemeClr val="bg1"/>
                </a:solidFill>
              </a:rPr>
              <a:t>inline</a:t>
            </a:r>
            <a:r>
              <a:rPr lang="en-US" sz="3400" dirty="0"/>
              <a:t> because the element behaves like simple text, and inserts itself in a block of text</a:t>
            </a:r>
          </a:p>
          <a:p>
            <a:pPr lvl="1">
              <a:buClr>
                <a:schemeClr val="tx1"/>
              </a:buClr>
            </a:pPr>
            <a:r>
              <a:rPr lang="en-US" sz="3400" b="1" dirty="0">
                <a:solidFill>
                  <a:schemeClr val="bg1"/>
                </a:solidFill>
              </a:rPr>
              <a:t>flexbox</a:t>
            </a:r>
            <a:r>
              <a:rPr lang="en-US" sz="3400" dirty="0"/>
              <a:t> because its child element will be turned into flexbox items</a:t>
            </a:r>
            <a:endParaRPr lang="en-US" sz="3400" dirty="0">
              <a:solidFill>
                <a:schemeClr val="bg1"/>
              </a:solidFill>
            </a:endParaRP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3ADB0BD7-F89E-4EE8-8C60-742318FB59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11</a:t>
            </a:fld>
            <a:endParaRPr lang="en-US" noProof="0" dirty="0"/>
          </a:p>
        </p:txBody>
      </p:sp>
      <p:sp>
        <p:nvSpPr>
          <p:cNvPr id="6" name="Текстово поле 10">
            <a:extLst>
              <a:ext uri="{FF2B5EF4-FFF2-40B4-BE49-F238E27FC236}">
                <a16:creationId xmlns:a16="http://schemas.microsoft.com/office/drawing/2014/main" id="{A19031B3-EDC4-4322-A376-16C2E89DC4F5}"/>
              </a:ext>
            </a:extLst>
          </p:cNvPr>
          <p:cNvSpPr txBox="1"/>
          <p:nvPr/>
        </p:nvSpPr>
        <p:spPr>
          <a:xfrm>
            <a:off x="6546000" y="1239296"/>
            <a:ext cx="5310000" cy="2372545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75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/>
          <a:p>
            <a:r>
              <a:rPr lang="en-GB" sz="2800" b="1" dirty="0">
                <a:solidFill>
                  <a:srgbClr val="800000"/>
                </a:solidFill>
                <a:latin typeface="Consolas" panose="020B0609020204030204" pitchFamily="49" charset="0"/>
              </a:rPr>
              <a:t>.container</a:t>
            </a:r>
            <a:r>
              <a:rPr lang="en-GB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 {</a:t>
            </a:r>
          </a:p>
          <a:p>
            <a:r>
              <a:rPr lang="en-GB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en-GB" sz="2800" b="1" dirty="0">
                <a:solidFill>
                  <a:srgbClr val="FF0000"/>
                </a:solidFill>
                <a:latin typeface="Consolas" panose="020B0609020204030204" pitchFamily="49" charset="0"/>
              </a:rPr>
              <a:t>display</a:t>
            </a:r>
            <a:r>
              <a:rPr lang="en-GB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: </a:t>
            </a:r>
            <a:r>
              <a:rPr lang="en-GB" sz="2800" b="1" dirty="0">
                <a:solidFill>
                  <a:srgbClr val="0451A5"/>
                </a:solidFill>
                <a:latin typeface="Consolas" panose="020B0609020204030204" pitchFamily="49" charset="0"/>
              </a:rPr>
              <a:t>inline-flex</a:t>
            </a:r>
            <a:r>
              <a:rPr lang="en-GB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GB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en-GB" sz="2800" b="1" dirty="0">
                <a:solidFill>
                  <a:srgbClr val="FF0000"/>
                </a:solidFill>
                <a:latin typeface="Consolas" panose="020B0609020204030204" pitchFamily="49" charset="0"/>
              </a:rPr>
              <a:t>height</a:t>
            </a:r>
            <a:r>
              <a:rPr lang="en-GB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: </a:t>
            </a:r>
            <a:r>
              <a:rPr lang="en-GB" sz="2800" b="1" dirty="0">
                <a:solidFill>
                  <a:srgbClr val="098658"/>
                </a:solidFill>
                <a:latin typeface="Consolas" panose="020B0609020204030204" pitchFamily="49" charset="0"/>
              </a:rPr>
              <a:t>3em</a:t>
            </a:r>
            <a:r>
              <a:rPr lang="en-GB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GB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en-GB" sz="2800" b="1" dirty="0">
                <a:solidFill>
                  <a:srgbClr val="FF0000"/>
                </a:solidFill>
                <a:latin typeface="Consolas" panose="020B0609020204030204" pitchFamily="49" charset="0"/>
              </a:rPr>
              <a:t>width</a:t>
            </a:r>
            <a:r>
              <a:rPr lang="en-GB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: </a:t>
            </a:r>
            <a:r>
              <a:rPr lang="en-GB" sz="2800" b="1" dirty="0">
                <a:solidFill>
                  <a:srgbClr val="098658"/>
                </a:solidFill>
                <a:latin typeface="Consolas" panose="020B0609020204030204" pitchFamily="49" charset="0"/>
              </a:rPr>
              <a:t>120px</a:t>
            </a:r>
            <a:r>
              <a:rPr lang="en-GB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GB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pic>
        <p:nvPicPr>
          <p:cNvPr id="7" name="Picture 7">
            <a:extLst>
              <a:ext uri="{FF2B5EF4-FFF2-40B4-BE49-F238E27FC236}">
                <a16:creationId xmlns:a16="http://schemas.microsoft.com/office/drawing/2014/main" id="{9D92023B-D456-49AB-A78F-77C0B0ED8C0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6000" y="3938409"/>
            <a:ext cx="5364586" cy="2372545"/>
          </a:xfrm>
          <a:prstGeom prst="rect">
            <a:avLst/>
          </a:prstGeom>
          <a:ln w="3175" cap="rnd">
            <a:solidFill>
              <a:schemeClr val="tx1"/>
            </a:solidFill>
          </a:ln>
          <a:effectLst/>
        </p:spPr>
      </p:pic>
    </p:spTree>
    <p:extLst>
      <p:ext uri="{BB962C8B-B14F-4D97-AF65-F5344CB8AC3E}">
        <p14:creationId xmlns:p14="http://schemas.microsoft.com/office/powerpoint/2010/main" val="8139123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Flex Direction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190402" y="1196125"/>
            <a:ext cx="11818096" cy="3267875"/>
          </a:xfrm>
        </p:spPr>
        <p:txBody>
          <a:bodyPr>
            <a:normAutofit/>
          </a:bodyPr>
          <a:lstStyle/>
          <a:p>
            <a:pPr>
              <a:buClr>
                <a:schemeClr val="tx1"/>
              </a:buClr>
            </a:pPr>
            <a:r>
              <a:rPr lang="en-US" dirty="0"/>
              <a:t>Defines how flexbox items are ordered within a </a:t>
            </a:r>
            <a:br>
              <a:rPr lang="bg-BG" dirty="0"/>
            </a:br>
            <a:r>
              <a:rPr lang="en-US" dirty="0"/>
              <a:t>flexbox container</a:t>
            </a:r>
          </a:p>
          <a:p>
            <a:pPr lvl="1">
              <a:buClr>
                <a:schemeClr val="tx1"/>
              </a:buClr>
            </a:pPr>
            <a:endParaRPr lang="en-US" dirty="0"/>
          </a:p>
          <a:p>
            <a:pPr lvl="1">
              <a:buClr>
                <a:schemeClr val="tx1"/>
              </a:buClr>
            </a:pPr>
            <a:r>
              <a:rPr lang="en-US" dirty="0"/>
              <a:t>The flexbox  items are ordered the </a:t>
            </a:r>
            <a:r>
              <a:rPr lang="en-US" b="1" dirty="0">
                <a:solidFill>
                  <a:schemeClr val="bg1"/>
                </a:solidFill>
              </a:rPr>
              <a:t>same way </a:t>
            </a:r>
            <a:r>
              <a:rPr lang="en-US" dirty="0"/>
              <a:t>as the text direction, along the main axis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000" y="4317140"/>
            <a:ext cx="6968382" cy="1755000"/>
          </a:xfrm>
          <a:prstGeom prst="rect">
            <a:avLst/>
          </a:prstGeom>
          <a:ln w="3175" cap="rnd">
            <a:solidFill>
              <a:schemeClr val="tx1"/>
            </a:solidFill>
          </a:ln>
          <a:effectLst/>
        </p:spPr>
      </p:pic>
      <p:sp>
        <p:nvSpPr>
          <p:cNvPr id="9" name="Текстово поле 10">
            <a:extLst>
              <a:ext uri="{FF2B5EF4-FFF2-40B4-BE49-F238E27FC236}">
                <a16:creationId xmlns:a16="http://schemas.microsoft.com/office/drawing/2014/main" id="{BB31EC2A-0A21-4CB9-8FC1-2AF7BFFE25C6}"/>
              </a:ext>
            </a:extLst>
          </p:cNvPr>
          <p:cNvSpPr txBox="1"/>
          <p:nvPr/>
        </p:nvSpPr>
        <p:spPr>
          <a:xfrm>
            <a:off x="651000" y="2415279"/>
            <a:ext cx="6968382" cy="587441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75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/>
          <a:p>
            <a:r>
              <a:rPr lang="en-GB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flex-direction</a:t>
            </a:r>
            <a:r>
              <a:rPr lang="en-GB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: </a:t>
            </a:r>
            <a:r>
              <a:rPr lang="en-GB" sz="2400" b="1" dirty="0">
                <a:solidFill>
                  <a:srgbClr val="0451A5"/>
                </a:solidFill>
                <a:latin typeface="Consolas" panose="020B0609020204030204" pitchFamily="49" charset="0"/>
              </a:rPr>
              <a:t>row</a:t>
            </a:r>
            <a:r>
              <a:rPr lang="en-GB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; </a:t>
            </a: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C8430CAD-7433-45DC-B724-675F538F11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12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055703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Flex Direction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190402" y="1196125"/>
            <a:ext cx="6895598" cy="5528766"/>
          </a:xfrm>
        </p:spPr>
        <p:txBody>
          <a:bodyPr>
            <a:normAutofit/>
          </a:bodyPr>
          <a:lstStyle/>
          <a:p>
            <a:pPr>
              <a:buClr>
                <a:schemeClr val="tx1"/>
              </a:buClr>
            </a:pPr>
            <a:r>
              <a:rPr lang="en-US" dirty="0"/>
              <a:t>The flexbox items are ordered the</a:t>
            </a:r>
            <a:r>
              <a:rPr lang="bg-BG" dirty="0"/>
              <a:t> </a:t>
            </a:r>
            <a:r>
              <a:rPr lang="en-US" b="1" dirty="0">
                <a:solidFill>
                  <a:schemeClr val="bg1"/>
                </a:solidFill>
              </a:rPr>
              <a:t>opposite</a:t>
            </a:r>
            <a:r>
              <a:rPr lang="en-US" dirty="0"/>
              <a:t> way as the </a:t>
            </a:r>
            <a:r>
              <a:rPr lang="en-US" b="1" dirty="0">
                <a:solidFill>
                  <a:schemeClr val="bg1"/>
                </a:solidFill>
              </a:rPr>
              <a:t>text</a:t>
            </a:r>
            <a:r>
              <a:rPr lang="en-US" b="1" dirty="0"/>
              <a:t> </a:t>
            </a:r>
            <a:r>
              <a:rPr lang="en-US" b="1" dirty="0">
                <a:solidFill>
                  <a:schemeClr val="bg1"/>
                </a:solidFill>
              </a:rPr>
              <a:t>direction</a:t>
            </a:r>
            <a:r>
              <a:rPr lang="en-US" dirty="0"/>
              <a:t>,</a:t>
            </a:r>
            <a:r>
              <a:rPr lang="bg-BG" dirty="0"/>
              <a:t> </a:t>
            </a:r>
            <a:r>
              <a:rPr lang="en-US" dirty="0"/>
              <a:t>along the main axis</a:t>
            </a:r>
          </a:p>
          <a:p>
            <a:pPr marL="0" indent="0">
              <a:buClr>
                <a:schemeClr val="tx1"/>
              </a:buClr>
              <a:buNone/>
            </a:pPr>
            <a:endParaRPr lang="en-US" dirty="0"/>
          </a:p>
          <a:p>
            <a:pPr>
              <a:buClr>
                <a:schemeClr val="tx1"/>
              </a:buClr>
            </a:pPr>
            <a:r>
              <a:rPr lang="en-US" dirty="0"/>
              <a:t>The flexbox items are ordered</a:t>
            </a:r>
            <a:r>
              <a:rPr lang="bg-BG" dirty="0"/>
              <a:t> </a:t>
            </a:r>
            <a:r>
              <a:rPr lang="en-US" dirty="0"/>
              <a:t>the </a:t>
            </a:r>
            <a:r>
              <a:rPr lang="en-US" b="1" dirty="0">
                <a:solidFill>
                  <a:schemeClr val="bg1"/>
                </a:solidFill>
              </a:rPr>
              <a:t>same</a:t>
            </a:r>
            <a:r>
              <a:rPr lang="en-US" dirty="0"/>
              <a:t> way as the </a:t>
            </a:r>
            <a:r>
              <a:rPr lang="en-US" b="1" dirty="0">
                <a:solidFill>
                  <a:schemeClr val="bg1"/>
                </a:solidFill>
              </a:rPr>
              <a:t>text</a:t>
            </a:r>
            <a:r>
              <a:rPr lang="en-US" b="1" dirty="0"/>
              <a:t> </a:t>
            </a:r>
            <a:r>
              <a:rPr lang="en-US" b="1" dirty="0">
                <a:solidFill>
                  <a:schemeClr val="bg1"/>
                </a:solidFill>
              </a:rPr>
              <a:t>direction</a:t>
            </a:r>
            <a:r>
              <a:rPr lang="en-US" dirty="0"/>
              <a:t>, along the </a:t>
            </a:r>
            <a:r>
              <a:rPr lang="en-US" b="1" dirty="0">
                <a:solidFill>
                  <a:schemeClr val="bg1"/>
                </a:solidFill>
              </a:rPr>
              <a:t>cross axis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1456" y="1809000"/>
            <a:ext cx="3857625" cy="1136098"/>
          </a:xfrm>
          <a:prstGeom prst="rect">
            <a:avLst/>
          </a:prstGeom>
          <a:ln w="3175" cap="rnd">
            <a:solidFill>
              <a:schemeClr val="tx1"/>
            </a:solidFill>
          </a:ln>
          <a:effectLst/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1931" y="3847100"/>
            <a:ext cx="3867150" cy="2160000"/>
          </a:xfrm>
          <a:prstGeom prst="rect">
            <a:avLst/>
          </a:prstGeom>
          <a:ln w="3175" cap="rnd">
            <a:solidFill>
              <a:schemeClr val="tx1"/>
            </a:solidFill>
          </a:ln>
          <a:effectLst/>
        </p:spPr>
      </p:pic>
      <p:sp>
        <p:nvSpPr>
          <p:cNvPr id="10" name="Текстово поле 10">
            <a:extLst>
              <a:ext uri="{FF2B5EF4-FFF2-40B4-BE49-F238E27FC236}">
                <a16:creationId xmlns:a16="http://schemas.microsoft.com/office/drawing/2014/main" id="{BA6F22B1-4BAC-45FE-8CEF-C944CEBCE388}"/>
              </a:ext>
            </a:extLst>
          </p:cNvPr>
          <p:cNvSpPr txBox="1"/>
          <p:nvPr/>
        </p:nvSpPr>
        <p:spPr>
          <a:xfrm>
            <a:off x="741000" y="3005198"/>
            <a:ext cx="6075000" cy="587441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75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/>
          <a:p>
            <a:r>
              <a:rPr lang="en-GB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flex-direction</a:t>
            </a:r>
            <a:r>
              <a:rPr lang="en-GB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: </a:t>
            </a:r>
            <a:r>
              <a:rPr lang="en-GB" sz="2400" b="1" dirty="0">
                <a:solidFill>
                  <a:srgbClr val="0451A5"/>
                </a:solidFill>
                <a:latin typeface="Consolas" panose="020B0609020204030204" pitchFamily="49" charset="0"/>
              </a:rPr>
              <a:t>row-reverse</a:t>
            </a:r>
            <a:r>
              <a:rPr lang="en-GB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; </a:t>
            </a:r>
          </a:p>
        </p:txBody>
      </p:sp>
      <p:sp>
        <p:nvSpPr>
          <p:cNvPr id="11" name="Текстово поле 10">
            <a:extLst>
              <a:ext uri="{FF2B5EF4-FFF2-40B4-BE49-F238E27FC236}">
                <a16:creationId xmlns:a16="http://schemas.microsoft.com/office/drawing/2014/main" id="{3B4D3A05-3570-42FE-91E7-9BA9C39D5BFE}"/>
              </a:ext>
            </a:extLst>
          </p:cNvPr>
          <p:cNvSpPr txBox="1"/>
          <p:nvPr/>
        </p:nvSpPr>
        <p:spPr>
          <a:xfrm>
            <a:off x="741000" y="5401712"/>
            <a:ext cx="6075000" cy="587441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75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/>
          <a:p>
            <a:r>
              <a:rPr lang="en-GB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flex-direction</a:t>
            </a:r>
            <a:r>
              <a:rPr lang="en-GB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: </a:t>
            </a:r>
            <a:r>
              <a:rPr lang="en-GB" sz="2400" b="1" dirty="0">
                <a:solidFill>
                  <a:srgbClr val="0451A5"/>
                </a:solidFill>
                <a:latin typeface="Consolas" panose="020B0609020204030204" pitchFamily="49" charset="0"/>
              </a:rPr>
              <a:t>column</a:t>
            </a:r>
            <a:r>
              <a:rPr lang="en-GB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; </a:t>
            </a:r>
          </a:p>
        </p:txBody>
      </p:sp>
      <p:sp>
        <p:nvSpPr>
          <p:cNvPr id="12" name="Slide Number">
            <a:extLst>
              <a:ext uri="{FF2B5EF4-FFF2-40B4-BE49-F238E27FC236}">
                <a16:creationId xmlns:a16="http://schemas.microsoft.com/office/drawing/2014/main" id="{07795648-9470-430B-BE01-BA016FED64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13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2694940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Flex Direction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190402" y="1196125"/>
            <a:ext cx="5715000" cy="2457875"/>
          </a:xfrm>
        </p:spPr>
        <p:txBody>
          <a:bodyPr>
            <a:noAutofit/>
          </a:bodyPr>
          <a:lstStyle/>
          <a:p>
            <a:pPr>
              <a:buClr>
                <a:schemeClr val="tx1"/>
              </a:buClr>
            </a:pPr>
            <a:r>
              <a:rPr lang="en-US" sz="3400" dirty="0"/>
              <a:t>The flexbox items are ordered the </a:t>
            </a:r>
            <a:r>
              <a:rPr lang="en-US" sz="3400" b="1" dirty="0">
                <a:solidFill>
                  <a:schemeClr val="accent1"/>
                </a:solidFill>
              </a:rPr>
              <a:t>opposite</a:t>
            </a:r>
            <a:r>
              <a:rPr lang="en-US" sz="3400" dirty="0"/>
              <a:t> way as the </a:t>
            </a:r>
            <a:r>
              <a:rPr lang="en-US" sz="3400" b="1" dirty="0">
                <a:solidFill>
                  <a:schemeClr val="accent1"/>
                </a:solidFill>
              </a:rPr>
              <a:t>text</a:t>
            </a:r>
            <a:r>
              <a:rPr lang="bg-BG" sz="3400" b="1" dirty="0">
                <a:solidFill>
                  <a:schemeClr val="accent1"/>
                </a:solidFill>
              </a:rPr>
              <a:t> </a:t>
            </a:r>
            <a:r>
              <a:rPr lang="en-US" sz="3400" b="1" dirty="0">
                <a:solidFill>
                  <a:schemeClr val="accent1"/>
                </a:solidFill>
              </a:rPr>
              <a:t>direction</a:t>
            </a:r>
            <a:r>
              <a:rPr lang="en-US" sz="3400" dirty="0"/>
              <a:t>, along the </a:t>
            </a:r>
            <a:r>
              <a:rPr lang="en-US" sz="3400" b="1" dirty="0">
                <a:solidFill>
                  <a:schemeClr val="accent1"/>
                </a:solidFill>
              </a:rPr>
              <a:t>cross axis</a:t>
            </a:r>
            <a:endParaRPr lang="en-US" sz="3400" dirty="0">
              <a:solidFill>
                <a:schemeClr val="accent1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000" y="3142751"/>
            <a:ext cx="5715000" cy="3364249"/>
          </a:xfrm>
          <a:prstGeom prst="rect">
            <a:avLst/>
          </a:prstGeom>
          <a:ln w="3175" cap="rnd">
            <a:solidFill>
              <a:schemeClr val="tx1"/>
            </a:solidFill>
          </a:ln>
          <a:effectLst/>
        </p:spPr>
      </p:pic>
      <p:sp>
        <p:nvSpPr>
          <p:cNvPr id="9" name="Текстово поле 10">
            <a:extLst>
              <a:ext uri="{FF2B5EF4-FFF2-40B4-BE49-F238E27FC236}">
                <a16:creationId xmlns:a16="http://schemas.microsoft.com/office/drawing/2014/main" id="{42988899-FAC2-4620-A0A9-BF03E5693E02}"/>
              </a:ext>
            </a:extLst>
          </p:cNvPr>
          <p:cNvSpPr txBox="1"/>
          <p:nvPr/>
        </p:nvSpPr>
        <p:spPr>
          <a:xfrm>
            <a:off x="6038030" y="1359000"/>
            <a:ext cx="5715000" cy="587441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75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/>
          <a:p>
            <a:r>
              <a:rPr lang="en-GB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flex-direction</a:t>
            </a:r>
            <a:r>
              <a:rPr lang="en-GB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: </a:t>
            </a:r>
            <a:r>
              <a:rPr lang="en-GB" sz="2400" b="1" dirty="0">
                <a:solidFill>
                  <a:srgbClr val="0451A5"/>
                </a:solidFill>
                <a:latin typeface="Consolas" panose="020B0609020204030204" pitchFamily="49" charset="0"/>
              </a:rPr>
              <a:t>column-reverse</a:t>
            </a:r>
            <a:r>
              <a:rPr lang="en-GB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; </a:t>
            </a: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0D82A8D4-EF0A-4E66-BF33-E9068B5766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14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121393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Flex Wrap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190402" y="1196125"/>
            <a:ext cx="11818096" cy="3222875"/>
          </a:xfrm>
        </p:spPr>
        <p:txBody>
          <a:bodyPr>
            <a:normAutofit/>
          </a:bodyPr>
          <a:lstStyle/>
          <a:p>
            <a:pPr>
              <a:buClr>
                <a:schemeClr val="tx1"/>
              </a:buClr>
            </a:pPr>
            <a:r>
              <a:rPr lang="en-US" dirty="0"/>
              <a:t>Defines if flexbox items appear on a </a:t>
            </a:r>
            <a:r>
              <a:rPr lang="en-US" b="1" dirty="0">
                <a:solidFill>
                  <a:schemeClr val="accent1"/>
                </a:solidFill>
              </a:rPr>
              <a:t>single line</a:t>
            </a:r>
            <a:r>
              <a:rPr lang="en-US" dirty="0"/>
              <a:t> or on </a:t>
            </a:r>
            <a:r>
              <a:rPr lang="en-US" b="1" dirty="0">
                <a:solidFill>
                  <a:schemeClr val="accent1"/>
                </a:solidFill>
              </a:rPr>
              <a:t>multiple lines</a:t>
            </a:r>
            <a:r>
              <a:rPr lang="en-US" dirty="0"/>
              <a:t> within a flexbox container</a:t>
            </a:r>
          </a:p>
          <a:p>
            <a:pPr>
              <a:buClr>
                <a:schemeClr val="tx1"/>
              </a:buClr>
            </a:pPr>
            <a:endParaRPr lang="en-US" dirty="0"/>
          </a:p>
          <a:p>
            <a:pPr>
              <a:buClr>
                <a:schemeClr val="tx1"/>
              </a:buClr>
            </a:pPr>
            <a:r>
              <a:rPr lang="en-US" dirty="0"/>
              <a:t>The flexbox items will remain on a </a:t>
            </a:r>
            <a:r>
              <a:rPr lang="en-US" b="1" dirty="0">
                <a:solidFill>
                  <a:schemeClr val="accent1"/>
                </a:solidFill>
              </a:rPr>
              <a:t>single line</a:t>
            </a:r>
            <a:r>
              <a:rPr lang="en-US" dirty="0"/>
              <a:t>, no matter what, and will eventually overflow if needed</a:t>
            </a:r>
          </a:p>
          <a:p>
            <a:pPr lvl="1">
              <a:buClr>
                <a:schemeClr val="tx1"/>
              </a:buClr>
            </a:pPr>
            <a:endParaRPr lang="en-US" dirty="0"/>
          </a:p>
          <a:p>
            <a:pPr lvl="1">
              <a:buClr>
                <a:schemeClr val="tx1"/>
              </a:buClr>
            </a:pP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000" y="4474779"/>
            <a:ext cx="6349226" cy="1834221"/>
          </a:xfrm>
          <a:prstGeom prst="rect">
            <a:avLst/>
          </a:prstGeom>
          <a:ln w="3175" cap="rnd">
            <a:solidFill>
              <a:schemeClr val="tx1"/>
            </a:solidFill>
          </a:ln>
          <a:effectLst/>
        </p:spPr>
      </p:pic>
      <p:sp>
        <p:nvSpPr>
          <p:cNvPr id="8" name="Текстово поле 10">
            <a:extLst>
              <a:ext uri="{FF2B5EF4-FFF2-40B4-BE49-F238E27FC236}">
                <a16:creationId xmlns:a16="http://schemas.microsoft.com/office/drawing/2014/main" id="{4E3381FF-4EED-4D20-94DF-7ED4F5546B35}"/>
              </a:ext>
            </a:extLst>
          </p:cNvPr>
          <p:cNvSpPr txBox="1"/>
          <p:nvPr/>
        </p:nvSpPr>
        <p:spPr>
          <a:xfrm>
            <a:off x="711317" y="2439000"/>
            <a:ext cx="6333910" cy="587441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75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/>
          <a:p>
            <a:r>
              <a:rPr lang="en-GB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flex-wrap</a:t>
            </a:r>
            <a:r>
              <a:rPr lang="en-GB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: </a:t>
            </a:r>
            <a:r>
              <a:rPr lang="en-GB" sz="2400" b="1" dirty="0" err="1">
                <a:solidFill>
                  <a:srgbClr val="0451A5"/>
                </a:solidFill>
                <a:latin typeface="Consolas" panose="020B0609020204030204" pitchFamily="49" charset="0"/>
              </a:rPr>
              <a:t>nowrap</a:t>
            </a:r>
            <a:r>
              <a:rPr lang="en-GB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; 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65EF8FF7-A228-462D-966C-A1C3375F9A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15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8099755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Flex Wrap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173314" y="1329234"/>
            <a:ext cx="7115372" cy="5528766"/>
          </a:xfrm>
        </p:spPr>
        <p:txBody>
          <a:bodyPr>
            <a:normAutofit/>
          </a:bodyPr>
          <a:lstStyle/>
          <a:p>
            <a:pPr>
              <a:buClr>
                <a:schemeClr val="tx1"/>
              </a:buClr>
            </a:pPr>
            <a:endParaRPr lang="bg-BG" dirty="0"/>
          </a:p>
          <a:p>
            <a:pPr>
              <a:buClr>
                <a:schemeClr val="tx1"/>
              </a:buClr>
            </a:pPr>
            <a:r>
              <a:rPr lang="en-US" dirty="0"/>
              <a:t>The flexbox items will be distributed</a:t>
            </a:r>
            <a:r>
              <a:rPr lang="bg-BG" dirty="0"/>
              <a:t> </a:t>
            </a:r>
          </a:p>
          <a:p>
            <a:pPr>
              <a:buClr>
                <a:schemeClr val="tx1"/>
              </a:buClr>
              <a:buNone/>
            </a:pPr>
            <a:r>
              <a:rPr lang="bg-BG" dirty="0"/>
              <a:t>	</a:t>
            </a:r>
            <a:r>
              <a:rPr lang="en-US" dirty="0"/>
              <a:t>among </a:t>
            </a:r>
            <a:r>
              <a:rPr lang="en-US" b="1" dirty="0">
                <a:solidFill>
                  <a:schemeClr val="accent1"/>
                </a:solidFill>
              </a:rPr>
              <a:t>multiple lines</a:t>
            </a:r>
            <a:r>
              <a:rPr lang="en-US" dirty="0"/>
              <a:t> if needed</a:t>
            </a:r>
            <a:endParaRPr lang="bg-BG" dirty="0"/>
          </a:p>
          <a:p>
            <a:pPr>
              <a:buClr>
                <a:schemeClr val="tx1"/>
              </a:buClr>
              <a:buNone/>
            </a:pPr>
            <a:endParaRPr lang="bg-BG" dirty="0"/>
          </a:p>
          <a:p>
            <a:pPr>
              <a:buClr>
                <a:schemeClr val="tx1"/>
              </a:buClr>
              <a:buNone/>
            </a:pPr>
            <a:endParaRPr lang="en-US" dirty="0"/>
          </a:p>
          <a:p>
            <a:pPr>
              <a:buClr>
                <a:schemeClr val="tx1"/>
              </a:buClr>
            </a:pPr>
            <a:r>
              <a:rPr lang="en-US" dirty="0"/>
              <a:t>Same as </a:t>
            </a:r>
            <a:r>
              <a:rPr lang="en-US" b="1" dirty="0">
                <a:solidFill>
                  <a:schemeClr val="accent1"/>
                </a:solidFill>
              </a:rPr>
              <a:t>wrap</a:t>
            </a:r>
            <a:r>
              <a:rPr lang="en-US" dirty="0"/>
              <a:t>, but any</a:t>
            </a:r>
            <a:r>
              <a:rPr lang="bg-BG" dirty="0"/>
              <a:t> </a:t>
            </a:r>
            <a:r>
              <a:rPr lang="en-US" dirty="0"/>
              <a:t>additional line will appear </a:t>
            </a:r>
            <a:r>
              <a:rPr lang="en-US" b="1" dirty="0">
                <a:solidFill>
                  <a:schemeClr val="accent1"/>
                </a:solidFill>
              </a:rPr>
              <a:t>before</a:t>
            </a:r>
            <a:r>
              <a:rPr lang="en-US" dirty="0"/>
              <a:t> the previous one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9483" y="1517650"/>
            <a:ext cx="4299421" cy="1564393"/>
          </a:xfrm>
          <a:prstGeom prst="rect">
            <a:avLst/>
          </a:prstGeom>
          <a:ln w="3175" cap="rnd">
            <a:solidFill>
              <a:schemeClr val="tx1"/>
            </a:solidFill>
          </a:ln>
          <a:effectLst/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392"/>
          <a:stretch/>
        </p:blipFill>
        <p:spPr>
          <a:xfrm>
            <a:off x="7305774" y="4222044"/>
            <a:ext cx="4524277" cy="1733550"/>
          </a:xfrm>
          <a:prstGeom prst="rect">
            <a:avLst/>
          </a:prstGeom>
          <a:ln w="3175" cap="rnd">
            <a:solidFill>
              <a:schemeClr val="tx1"/>
            </a:solidFill>
          </a:ln>
          <a:effectLst/>
        </p:spPr>
      </p:pic>
      <p:sp>
        <p:nvSpPr>
          <p:cNvPr id="10" name="Текстово поле 10">
            <a:extLst>
              <a:ext uri="{FF2B5EF4-FFF2-40B4-BE49-F238E27FC236}">
                <a16:creationId xmlns:a16="http://schemas.microsoft.com/office/drawing/2014/main" id="{0C45CCF8-F75C-4BC6-B6CF-A5C1B2B8D4EC}"/>
              </a:ext>
            </a:extLst>
          </p:cNvPr>
          <p:cNvSpPr txBox="1"/>
          <p:nvPr/>
        </p:nvSpPr>
        <p:spPr>
          <a:xfrm>
            <a:off x="516168" y="1329234"/>
            <a:ext cx="6333910" cy="587441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75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/>
          <a:p>
            <a:r>
              <a:rPr lang="en-GB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flex-wrap</a:t>
            </a:r>
            <a:r>
              <a:rPr lang="en-GB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: </a:t>
            </a:r>
            <a:r>
              <a:rPr lang="en-GB" sz="2400" b="1" dirty="0">
                <a:solidFill>
                  <a:srgbClr val="0451A5"/>
                </a:solidFill>
                <a:latin typeface="Consolas" panose="020B0609020204030204" pitchFamily="49" charset="0"/>
              </a:rPr>
              <a:t>wrap</a:t>
            </a:r>
            <a:r>
              <a:rPr lang="en-GB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; </a:t>
            </a:r>
          </a:p>
        </p:txBody>
      </p:sp>
      <p:sp>
        <p:nvSpPr>
          <p:cNvPr id="11" name="Текстово поле 10">
            <a:extLst>
              <a:ext uri="{FF2B5EF4-FFF2-40B4-BE49-F238E27FC236}">
                <a16:creationId xmlns:a16="http://schemas.microsoft.com/office/drawing/2014/main" id="{EFEC31F9-B001-4584-93DA-5CC97E9399A3}"/>
              </a:ext>
            </a:extLst>
          </p:cNvPr>
          <p:cNvSpPr txBox="1"/>
          <p:nvPr/>
        </p:nvSpPr>
        <p:spPr>
          <a:xfrm>
            <a:off x="516168" y="4093617"/>
            <a:ext cx="6333910" cy="587441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75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/>
          <a:p>
            <a:r>
              <a:rPr lang="en-GB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flex-wrap</a:t>
            </a:r>
            <a:r>
              <a:rPr lang="en-GB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: </a:t>
            </a:r>
            <a:r>
              <a:rPr lang="en-GB" sz="2400" b="1" dirty="0">
                <a:solidFill>
                  <a:srgbClr val="0451A5"/>
                </a:solidFill>
                <a:latin typeface="Consolas" panose="020B0609020204030204" pitchFamily="49" charset="0"/>
              </a:rPr>
              <a:t>wrap-reverse</a:t>
            </a:r>
            <a:r>
              <a:rPr lang="en-GB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; </a:t>
            </a:r>
          </a:p>
        </p:txBody>
      </p:sp>
      <p:sp>
        <p:nvSpPr>
          <p:cNvPr id="12" name="Slide Number">
            <a:extLst>
              <a:ext uri="{FF2B5EF4-FFF2-40B4-BE49-F238E27FC236}">
                <a16:creationId xmlns:a16="http://schemas.microsoft.com/office/drawing/2014/main" id="{F2AC734E-2C06-4D9E-A898-8A626BD0ED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16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1989965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Flex Flow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>
              <a:buClr>
                <a:schemeClr val="tx1"/>
              </a:buClr>
            </a:pPr>
            <a:r>
              <a:rPr lang="en-US" sz="3200" b="1" dirty="0">
                <a:solidFill>
                  <a:schemeClr val="bg1"/>
                </a:solidFill>
                <a:latin typeface="Consolas" panose="020B0609020204030204" pitchFamily="49" charset="0"/>
              </a:rPr>
              <a:t>flex-flow</a:t>
            </a:r>
            <a:r>
              <a:rPr lang="en-US" dirty="0"/>
              <a:t> is a shorthand for the </a:t>
            </a:r>
            <a:r>
              <a:rPr lang="en-US" sz="3200" b="1" dirty="0">
                <a:solidFill>
                  <a:schemeClr val="bg1"/>
                </a:solidFill>
                <a:latin typeface="Consolas" panose="020B0609020204030204" pitchFamily="49" charset="0"/>
              </a:rPr>
              <a:t>flex-direction</a:t>
            </a:r>
            <a:r>
              <a:rPr lang="en-US" dirty="0"/>
              <a:t> and </a:t>
            </a:r>
            <a:br>
              <a:rPr lang="en-US" dirty="0"/>
            </a:br>
            <a:r>
              <a:rPr lang="en-US" sz="3200" b="1" dirty="0">
                <a:solidFill>
                  <a:schemeClr val="bg1"/>
                </a:solidFill>
                <a:latin typeface="Consolas" panose="020B0609020204030204" pitchFamily="49" charset="0"/>
              </a:rPr>
              <a:t>flex-wrap</a:t>
            </a:r>
            <a:r>
              <a:rPr lang="en-US" dirty="0"/>
              <a:t> properties</a:t>
            </a:r>
          </a:p>
          <a:p>
            <a:pPr>
              <a:buClr>
                <a:schemeClr val="tx1"/>
              </a:buClr>
            </a:pPr>
            <a:r>
              <a:rPr lang="en-US" dirty="0"/>
              <a:t> The default value is </a:t>
            </a:r>
            <a:r>
              <a:rPr lang="en-US" sz="3200" b="1" dirty="0">
                <a:solidFill>
                  <a:schemeClr val="bg1"/>
                </a:solidFill>
                <a:latin typeface="Consolas" panose="020B0609020204030204" pitchFamily="49" charset="0"/>
              </a:rPr>
              <a:t>row</a:t>
            </a:r>
            <a:r>
              <a:rPr lang="en-US" sz="3200" dirty="0"/>
              <a:t> </a:t>
            </a:r>
            <a:r>
              <a:rPr lang="en-US" sz="3200" b="1" dirty="0" err="1">
                <a:solidFill>
                  <a:schemeClr val="bg1"/>
                </a:solidFill>
                <a:latin typeface="Consolas" panose="020B0609020204030204" pitchFamily="49" charset="0"/>
              </a:rPr>
              <a:t>nowrap</a:t>
            </a:r>
            <a:endParaRPr lang="en-US" sz="3200" b="1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Текстово поле 10"/>
          <p:cNvSpPr txBox="1"/>
          <p:nvPr/>
        </p:nvSpPr>
        <p:spPr>
          <a:xfrm>
            <a:off x="786000" y="3249000"/>
            <a:ext cx="7560000" cy="2064769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75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/>
          <a:p>
            <a:r>
              <a:rPr lang="en-GB" sz="2400" b="1" dirty="0">
                <a:solidFill>
                  <a:srgbClr val="800000"/>
                </a:solidFill>
                <a:latin typeface="Consolas" panose="020B0609020204030204" pitchFamily="49" charset="0"/>
              </a:rPr>
              <a:t>flex-flow</a:t>
            </a:r>
            <a:r>
              <a:rPr lang="en-GB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: &lt;</a:t>
            </a:r>
            <a:r>
              <a:rPr lang="en-GB" sz="2400" b="1" dirty="0">
                <a:solidFill>
                  <a:srgbClr val="800000"/>
                </a:solidFill>
                <a:latin typeface="Consolas" panose="020B0609020204030204" pitchFamily="49" charset="0"/>
              </a:rPr>
              <a:t>flex-direction</a:t>
            </a:r>
            <a:r>
              <a:rPr lang="en-GB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&gt; || &lt;</a:t>
            </a:r>
            <a:r>
              <a:rPr lang="en-GB" sz="2400" b="1" dirty="0">
                <a:solidFill>
                  <a:srgbClr val="800000"/>
                </a:solidFill>
                <a:latin typeface="Consolas" panose="020B0609020204030204" pitchFamily="49" charset="0"/>
              </a:rPr>
              <a:t>flex-wrap</a:t>
            </a:r>
            <a:r>
              <a:rPr lang="en-GB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&gt;</a:t>
            </a:r>
          </a:p>
          <a:p>
            <a:br>
              <a:rPr lang="en-GB" sz="2400" b="1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GB" sz="2400" b="1" dirty="0">
                <a:solidFill>
                  <a:srgbClr val="800000"/>
                </a:solidFill>
                <a:latin typeface="Consolas" panose="020B0609020204030204" pitchFamily="49" charset="0"/>
              </a:rPr>
              <a:t>.container</a:t>
            </a:r>
            <a:r>
              <a:rPr lang="en-GB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 {</a:t>
            </a:r>
          </a:p>
          <a:p>
            <a:r>
              <a:rPr lang="en-GB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     </a:t>
            </a:r>
            <a:r>
              <a:rPr lang="en-GB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flex-flow</a:t>
            </a:r>
            <a:r>
              <a:rPr lang="en-GB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: </a:t>
            </a:r>
            <a:r>
              <a:rPr lang="en-GB" sz="2400" b="1" dirty="0">
                <a:solidFill>
                  <a:srgbClr val="0451A5"/>
                </a:solidFill>
                <a:latin typeface="Consolas" panose="020B0609020204030204" pitchFamily="49" charset="0"/>
              </a:rPr>
              <a:t>row</a:t>
            </a:r>
            <a:r>
              <a:rPr lang="en-GB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GB" sz="2400" b="1" dirty="0">
                <a:solidFill>
                  <a:srgbClr val="0451A5"/>
                </a:solidFill>
                <a:latin typeface="Consolas" panose="020B0609020204030204" pitchFamily="49" charset="0"/>
              </a:rPr>
              <a:t>wrap</a:t>
            </a:r>
            <a:r>
              <a:rPr lang="en-GB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GB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F22704B6-FC1E-492B-9EF9-AAE6AD3EFA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17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164370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Justify Content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>
              <a:buClr>
                <a:schemeClr val="tx1"/>
              </a:buClr>
            </a:pPr>
            <a:r>
              <a:rPr lang="en-US" dirty="0"/>
              <a:t>Defines how </a:t>
            </a:r>
            <a:r>
              <a:rPr lang="en-US" b="1" dirty="0">
                <a:solidFill>
                  <a:schemeClr val="bg1"/>
                </a:solidFill>
              </a:rPr>
              <a:t>flexbox </a:t>
            </a:r>
            <a:r>
              <a:rPr lang="en-US" dirty="0"/>
              <a:t>items are aligned according to the </a:t>
            </a:r>
            <a:r>
              <a:rPr lang="en-US" b="1" dirty="0">
                <a:solidFill>
                  <a:schemeClr val="bg1"/>
                </a:solidFill>
              </a:rPr>
              <a:t>main</a:t>
            </a:r>
            <a:r>
              <a:rPr lang="en-US" dirty="0"/>
              <a:t> axis, within a flexbox container</a:t>
            </a:r>
          </a:p>
          <a:p>
            <a:pPr lvl="1">
              <a:buClr>
                <a:schemeClr val="tx1"/>
              </a:buClr>
            </a:pPr>
            <a:endParaRPr lang="en-US" dirty="0"/>
          </a:p>
          <a:p>
            <a:pPr lvl="1">
              <a:buClr>
                <a:schemeClr val="tx1"/>
              </a:buClr>
            </a:pPr>
            <a:r>
              <a:rPr lang="en-US" dirty="0"/>
              <a:t>The flexbox items are pushed towards the </a:t>
            </a:r>
            <a:r>
              <a:rPr lang="en-US" b="1" dirty="0">
                <a:solidFill>
                  <a:schemeClr val="bg1"/>
                </a:solidFill>
              </a:rPr>
              <a:t>start</a:t>
            </a:r>
            <a:r>
              <a:rPr lang="en-US" dirty="0"/>
              <a:t> of the container's main axis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000" y="4304239"/>
            <a:ext cx="5994707" cy="1401525"/>
          </a:xfrm>
          <a:prstGeom prst="rect">
            <a:avLst/>
          </a:prstGeom>
          <a:ln w="3175" cap="rnd">
            <a:solidFill>
              <a:schemeClr val="tx1"/>
            </a:solidFill>
          </a:ln>
          <a:effectLst/>
        </p:spPr>
      </p:pic>
      <p:sp>
        <p:nvSpPr>
          <p:cNvPr id="8" name="Текстово поле 10">
            <a:extLst>
              <a:ext uri="{FF2B5EF4-FFF2-40B4-BE49-F238E27FC236}">
                <a16:creationId xmlns:a16="http://schemas.microsoft.com/office/drawing/2014/main" id="{11B146D2-8DF0-4E72-84D2-D1408BF01BF9}"/>
              </a:ext>
            </a:extLst>
          </p:cNvPr>
          <p:cNvSpPr txBox="1"/>
          <p:nvPr/>
        </p:nvSpPr>
        <p:spPr>
          <a:xfrm>
            <a:off x="696000" y="2455703"/>
            <a:ext cx="5994707" cy="587441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75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/>
          <a:p>
            <a:r>
              <a:rPr lang="en-GB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justify-content</a:t>
            </a:r>
            <a:r>
              <a:rPr lang="en-GB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: </a:t>
            </a:r>
            <a:r>
              <a:rPr lang="en-GB" sz="2400" b="1" dirty="0">
                <a:solidFill>
                  <a:srgbClr val="0451A5"/>
                </a:solidFill>
                <a:latin typeface="Consolas" panose="020B0609020204030204" pitchFamily="49" charset="0"/>
              </a:rPr>
              <a:t>flex-start</a:t>
            </a:r>
            <a:r>
              <a:rPr lang="en-GB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14E19041-5876-4C87-82F8-8A252EDC81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18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0348005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Justify Content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>
              <a:buClr>
                <a:schemeClr val="tx1"/>
              </a:buClr>
            </a:pPr>
            <a:r>
              <a:rPr lang="en-US" dirty="0"/>
              <a:t>The flexbox items are pushed towards the </a:t>
            </a:r>
            <a:r>
              <a:rPr lang="en-US" b="1" dirty="0">
                <a:solidFill>
                  <a:schemeClr val="bg1"/>
                </a:solidFill>
              </a:rPr>
              <a:t>end</a:t>
            </a:r>
            <a:r>
              <a:rPr lang="en-US" dirty="0"/>
              <a:t> of the container's main axis</a:t>
            </a:r>
          </a:p>
          <a:p>
            <a:pPr marL="442912" lvl="1" indent="0">
              <a:buClr>
                <a:schemeClr val="tx1"/>
              </a:buClr>
              <a:buNone/>
            </a:pPr>
            <a:endParaRPr lang="en-US" dirty="0"/>
          </a:p>
          <a:p>
            <a:pPr marL="442912" lvl="1" indent="0">
              <a:buClr>
                <a:schemeClr val="tx1"/>
              </a:buClr>
              <a:buNone/>
            </a:pPr>
            <a:endParaRPr lang="en-US" dirty="0"/>
          </a:p>
          <a:p>
            <a:pPr>
              <a:buClr>
                <a:schemeClr val="tx1"/>
              </a:buClr>
            </a:pPr>
            <a:r>
              <a:rPr lang="en-US" dirty="0"/>
              <a:t>The flexbox items are </a:t>
            </a:r>
            <a:r>
              <a:rPr lang="en-US" b="1" dirty="0">
                <a:solidFill>
                  <a:schemeClr val="bg1"/>
                </a:solidFill>
              </a:rPr>
              <a:t>centered</a:t>
            </a:r>
            <a:r>
              <a:rPr lang="en-US" dirty="0"/>
              <a:t> along the container's main axis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7950" y="2502758"/>
            <a:ext cx="5061276" cy="1009762"/>
          </a:xfrm>
          <a:prstGeom prst="rect">
            <a:avLst/>
          </a:prstGeom>
          <a:ln w="3175" cap="rnd">
            <a:solidFill>
              <a:schemeClr val="tx1"/>
            </a:solidFill>
          </a:ln>
          <a:effectLst/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332" y="5560052"/>
            <a:ext cx="4513257" cy="878195"/>
          </a:xfrm>
          <a:prstGeom prst="rect">
            <a:avLst/>
          </a:prstGeom>
          <a:ln w="3175" cap="rnd">
            <a:solidFill>
              <a:schemeClr val="tx1"/>
            </a:solidFill>
          </a:ln>
          <a:effectLst/>
        </p:spPr>
      </p:pic>
      <p:sp>
        <p:nvSpPr>
          <p:cNvPr id="10" name="Текстово поле 10">
            <a:extLst>
              <a:ext uri="{FF2B5EF4-FFF2-40B4-BE49-F238E27FC236}">
                <a16:creationId xmlns:a16="http://schemas.microsoft.com/office/drawing/2014/main" id="{5523A17D-E574-4C8F-BADD-367CB750FFC9}"/>
              </a:ext>
            </a:extLst>
          </p:cNvPr>
          <p:cNvSpPr txBox="1"/>
          <p:nvPr/>
        </p:nvSpPr>
        <p:spPr>
          <a:xfrm>
            <a:off x="711027" y="2713919"/>
            <a:ext cx="5204973" cy="587441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75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/>
          <a:p>
            <a:r>
              <a:rPr lang="en-GB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justify-content</a:t>
            </a:r>
            <a:r>
              <a:rPr lang="en-GB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: </a:t>
            </a:r>
            <a:r>
              <a:rPr lang="en-GB" sz="2400" b="1" dirty="0">
                <a:solidFill>
                  <a:srgbClr val="0451A5"/>
                </a:solidFill>
                <a:latin typeface="Consolas" panose="020B0609020204030204" pitchFamily="49" charset="0"/>
              </a:rPr>
              <a:t>flex-end</a:t>
            </a:r>
            <a:r>
              <a:rPr lang="en-GB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11" name="Текстово поле 10">
            <a:extLst>
              <a:ext uri="{FF2B5EF4-FFF2-40B4-BE49-F238E27FC236}">
                <a16:creationId xmlns:a16="http://schemas.microsoft.com/office/drawing/2014/main" id="{080352A5-4B4A-4F79-A82E-806AD265DA9C}"/>
              </a:ext>
            </a:extLst>
          </p:cNvPr>
          <p:cNvSpPr txBox="1"/>
          <p:nvPr/>
        </p:nvSpPr>
        <p:spPr>
          <a:xfrm>
            <a:off x="711026" y="4662830"/>
            <a:ext cx="5204973" cy="587441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75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/>
          <a:p>
            <a:r>
              <a:rPr lang="en-GB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justify-content</a:t>
            </a:r>
            <a:r>
              <a:rPr lang="en-GB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: </a:t>
            </a:r>
            <a:r>
              <a:rPr lang="en-GB" sz="2400" b="1" dirty="0" err="1">
                <a:solidFill>
                  <a:srgbClr val="0451A5"/>
                </a:solidFill>
                <a:latin typeface="Consolas" panose="020B0609020204030204" pitchFamily="49" charset="0"/>
              </a:rPr>
              <a:t>center</a:t>
            </a:r>
            <a:r>
              <a:rPr lang="en-GB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12" name="Slide Number">
            <a:extLst>
              <a:ext uri="{FF2B5EF4-FFF2-40B4-BE49-F238E27FC236}">
                <a16:creationId xmlns:a16="http://schemas.microsoft.com/office/drawing/2014/main" id="{A393D25E-472F-496D-8B1E-A5446C7C11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19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8993312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Justify Content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>
              <a:buClr>
                <a:schemeClr val="tx1"/>
              </a:buClr>
            </a:pPr>
            <a:r>
              <a:rPr lang="en-US" dirty="0"/>
              <a:t>The remaining space is distributed </a:t>
            </a:r>
            <a:r>
              <a:rPr lang="en-US" b="1" dirty="0">
                <a:solidFill>
                  <a:schemeClr val="bg1"/>
                </a:solidFill>
              </a:rPr>
              <a:t>between</a:t>
            </a:r>
            <a:r>
              <a:rPr lang="en-US" dirty="0"/>
              <a:t> the flexbox items</a:t>
            </a:r>
          </a:p>
          <a:p>
            <a:pPr marL="442912" lvl="1" indent="0">
              <a:buClr>
                <a:schemeClr val="tx1"/>
              </a:buClr>
              <a:buNone/>
            </a:pPr>
            <a:endParaRPr lang="en-US" dirty="0"/>
          </a:p>
          <a:p>
            <a:pPr marL="442912" lvl="1" indent="0">
              <a:buClr>
                <a:schemeClr val="tx1"/>
              </a:buClr>
              <a:buNone/>
            </a:pPr>
            <a:endParaRPr lang="en-US" dirty="0"/>
          </a:p>
          <a:p>
            <a:pPr>
              <a:buClr>
                <a:schemeClr val="tx1"/>
              </a:buClr>
            </a:pPr>
            <a:r>
              <a:rPr lang="en-US" dirty="0"/>
              <a:t>The remaining space is distributed </a:t>
            </a:r>
            <a:r>
              <a:rPr lang="en-US" b="1" dirty="0">
                <a:solidFill>
                  <a:schemeClr val="bg1"/>
                </a:solidFill>
              </a:rPr>
              <a:t>around</a:t>
            </a:r>
            <a:r>
              <a:rPr lang="en-US" dirty="0"/>
              <a:t> the flexbox items: this adds space </a:t>
            </a:r>
            <a:r>
              <a:rPr lang="en-US" b="1" dirty="0">
                <a:solidFill>
                  <a:schemeClr val="bg1"/>
                </a:solidFill>
              </a:rPr>
              <a:t>before</a:t>
            </a:r>
            <a:r>
              <a:rPr lang="en-US" dirty="0"/>
              <a:t> the first item and </a:t>
            </a:r>
            <a:r>
              <a:rPr lang="en-US" b="1" dirty="0">
                <a:solidFill>
                  <a:schemeClr val="bg1"/>
                </a:solidFill>
              </a:rPr>
              <a:t>after</a:t>
            </a:r>
            <a:r>
              <a:rPr lang="en-US" dirty="0"/>
              <a:t> the last one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6000" y="2073664"/>
            <a:ext cx="5038304" cy="967950"/>
          </a:xfrm>
          <a:prstGeom prst="rect">
            <a:avLst/>
          </a:prstGeom>
          <a:ln w="3175" cap="rnd">
            <a:solidFill>
              <a:schemeClr val="tx1"/>
            </a:solidFill>
          </a:ln>
          <a:effectLst/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289" y="5577073"/>
            <a:ext cx="3876675" cy="762000"/>
          </a:xfrm>
          <a:prstGeom prst="rect">
            <a:avLst/>
          </a:prstGeom>
          <a:ln w="3175" cap="rnd">
            <a:solidFill>
              <a:schemeClr val="tx1"/>
            </a:solidFill>
          </a:ln>
          <a:effectLst/>
        </p:spPr>
      </p:pic>
      <p:sp>
        <p:nvSpPr>
          <p:cNvPr id="10" name="Текстово поле 10">
            <a:extLst>
              <a:ext uri="{FF2B5EF4-FFF2-40B4-BE49-F238E27FC236}">
                <a16:creationId xmlns:a16="http://schemas.microsoft.com/office/drawing/2014/main" id="{58013F07-659C-4788-929D-21370F10D40C}"/>
              </a:ext>
            </a:extLst>
          </p:cNvPr>
          <p:cNvSpPr txBox="1"/>
          <p:nvPr/>
        </p:nvSpPr>
        <p:spPr>
          <a:xfrm>
            <a:off x="741001" y="2263919"/>
            <a:ext cx="5625000" cy="587441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75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/>
          <a:p>
            <a:r>
              <a:rPr lang="en-GB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justify-content</a:t>
            </a:r>
            <a:r>
              <a:rPr lang="en-GB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: </a:t>
            </a:r>
            <a:r>
              <a:rPr lang="en-GB" sz="2400" b="1" dirty="0">
                <a:solidFill>
                  <a:srgbClr val="0451A5"/>
                </a:solidFill>
                <a:latin typeface="Consolas" panose="020B0609020204030204" pitchFamily="49" charset="0"/>
              </a:rPr>
              <a:t>space-between</a:t>
            </a:r>
            <a:r>
              <a:rPr lang="en-GB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11" name="Текстово поле 10">
            <a:extLst>
              <a:ext uri="{FF2B5EF4-FFF2-40B4-BE49-F238E27FC236}">
                <a16:creationId xmlns:a16="http://schemas.microsoft.com/office/drawing/2014/main" id="{82FD8FBE-5E61-4714-B6C0-D8B21C45E628}"/>
              </a:ext>
            </a:extLst>
          </p:cNvPr>
          <p:cNvSpPr txBox="1"/>
          <p:nvPr/>
        </p:nvSpPr>
        <p:spPr>
          <a:xfrm>
            <a:off x="741001" y="4746050"/>
            <a:ext cx="5625000" cy="587441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75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/>
          <a:p>
            <a:r>
              <a:rPr lang="en-GB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justify-content</a:t>
            </a:r>
            <a:r>
              <a:rPr lang="en-GB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: </a:t>
            </a:r>
            <a:r>
              <a:rPr lang="en-GB" sz="2400" b="1" dirty="0">
                <a:solidFill>
                  <a:srgbClr val="0451A5"/>
                </a:solidFill>
                <a:latin typeface="Consolas" panose="020B0609020204030204" pitchFamily="49" charset="0"/>
              </a:rPr>
              <a:t>space-around</a:t>
            </a:r>
            <a:r>
              <a:rPr lang="en-GB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12" name="Slide Number">
            <a:extLst>
              <a:ext uri="{FF2B5EF4-FFF2-40B4-BE49-F238E27FC236}">
                <a16:creationId xmlns:a16="http://schemas.microsoft.com/office/drawing/2014/main" id="{B09BB691-5FBF-4BC3-82E1-FB9B342039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20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442873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20354D-C158-8DCC-1591-2BC723CFC3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5D93531-3366-0339-9621-90EAECFC77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Justify Content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BCA5B9-A71C-EDDA-37F6-4191E4DC249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6" y="1674000"/>
            <a:ext cx="11818096" cy="5528766"/>
          </a:xfrm>
        </p:spPr>
        <p:txBody>
          <a:bodyPr>
            <a:normAutofit/>
          </a:bodyPr>
          <a:lstStyle/>
          <a:p>
            <a:pPr>
              <a:buClr>
                <a:schemeClr val="tx1"/>
              </a:buClr>
            </a:pPr>
            <a:r>
              <a:rPr lang="en-US" dirty="0"/>
              <a:t>The remaining space is distributed </a:t>
            </a:r>
            <a:r>
              <a:rPr lang="en-US" b="1" dirty="0">
                <a:solidFill>
                  <a:schemeClr val="bg1"/>
                </a:solidFill>
              </a:rPr>
              <a:t>evenly</a:t>
            </a:r>
            <a:r>
              <a:rPr lang="en-US" dirty="0"/>
              <a:t> between, before, and after the flexbox items: all gaps (including edges) are </a:t>
            </a:r>
            <a:r>
              <a:rPr lang="en-US" b="1" dirty="0">
                <a:solidFill>
                  <a:schemeClr val="bg1"/>
                </a:solidFill>
              </a:rPr>
              <a:t>equal</a:t>
            </a:r>
          </a:p>
          <a:p>
            <a:pPr>
              <a:buClr>
                <a:schemeClr val="tx1"/>
              </a:buClr>
            </a:pPr>
            <a:endParaRPr lang="en-US" dirty="0"/>
          </a:p>
          <a:p>
            <a:pPr marL="442912" lvl="1" indent="0">
              <a:buClr>
                <a:schemeClr val="tx1"/>
              </a:buClr>
              <a:buNone/>
            </a:pPr>
            <a:endParaRPr lang="en-US" dirty="0"/>
          </a:p>
          <a:p>
            <a:pPr marL="442912" lvl="1" indent="0">
              <a:buClr>
                <a:schemeClr val="tx1"/>
              </a:buClr>
              <a:buNone/>
            </a:pPr>
            <a:endParaRPr lang="en-US" dirty="0"/>
          </a:p>
        </p:txBody>
      </p:sp>
      <p:sp>
        <p:nvSpPr>
          <p:cNvPr id="10" name="Текстово поле 10">
            <a:extLst>
              <a:ext uri="{FF2B5EF4-FFF2-40B4-BE49-F238E27FC236}">
                <a16:creationId xmlns:a16="http://schemas.microsoft.com/office/drawing/2014/main" id="{DD63F108-3708-234F-C0AF-083FB20F255F}"/>
              </a:ext>
            </a:extLst>
          </p:cNvPr>
          <p:cNvSpPr txBox="1"/>
          <p:nvPr/>
        </p:nvSpPr>
        <p:spPr>
          <a:xfrm>
            <a:off x="426000" y="3765612"/>
            <a:ext cx="5625000" cy="587441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75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/>
          <a:p>
            <a:r>
              <a:rPr lang="en-GB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justify-content</a:t>
            </a:r>
            <a:r>
              <a:rPr lang="en-GB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: </a:t>
            </a:r>
            <a:r>
              <a:rPr lang="en-GB" sz="2400" b="1" dirty="0">
                <a:solidFill>
                  <a:srgbClr val="0451A5"/>
                </a:solidFill>
                <a:latin typeface="Consolas" panose="020B0609020204030204" pitchFamily="49" charset="0"/>
              </a:rPr>
              <a:t>space-evenly</a:t>
            </a:r>
            <a:r>
              <a:rPr lang="en-GB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12" name="Slide Number">
            <a:extLst>
              <a:ext uri="{FF2B5EF4-FFF2-40B4-BE49-F238E27FC236}">
                <a16:creationId xmlns:a16="http://schemas.microsoft.com/office/drawing/2014/main" id="{0AC810EC-9475-35EA-6834-01667EDF00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21</a:t>
            </a:fld>
            <a:endParaRPr lang="en-US" noProof="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6704979-341E-6BE7-4BBE-41AC7A2B09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8708" y="5364000"/>
            <a:ext cx="5512292" cy="82483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ACB643C-7DBA-D401-AEC6-220EF53976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6750" y="3530694"/>
            <a:ext cx="5429250" cy="1057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99434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Align Items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>
              <a:buClr>
                <a:schemeClr val="tx1"/>
              </a:buClr>
            </a:pPr>
            <a:r>
              <a:rPr lang="en-US" dirty="0"/>
              <a:t>Defines how flexbox items are aligned according to the </a:t>
            </a:r>
            <a:r>
              <a:rPr lang="en-US" b="1" dirty="0">
                <a:solidFill>
                  <a:schemeClr val="bg1"/>
                </a:solidFill>
              </a:rPr>
              <a:t>cross</a:t>
            </a:r>
            <a:r>
              <a:rPr lang="en-US" dirty="0"/>
              <a:t> axis, within a line of a flexbox container</a:t>
            </a:r>
          </a:p>
          <a:p>
            <a:pPr lvl="1">
              <a:buClr>
                <a:schemeClr val="tx1"/>
              </a:buClr>
            </a:pPr>
            <a:endParaRPr lang="en-US" dirty="0"/>
          </a:p>
          <a:p>
            <a:pPr lvl="1">
              <a:buClr>
                <a:schemeClr val="tx1"/>
              </a:buClr>
            </a:pPr>
            <a:r>
              <a:rPr lang="en-US" dirty="0"/>
              <a:t>The flexbox items are aligned at the </a:t>
            </a:r>
            <a:r>
              <a:rPr lang="en-US" b="1" dirty="0">
                <a:solidFill>
                  <a:schemeClr val="bg1"/>
                </a:solidFill>
              </a:rPr>
              <a:t>start</a:t>
            </a:r>
            <a:r>
              <a:rPr lang="en-US" dirty="0"/>
              <a:t> of the </a:t>
            </a:r>
            <a:r>
              <a:rPr lang="en-US" b="1" dirty="0">
                <a:solidFill>
                  <a:schemeClr val="bg1"/>
                </a:solidFill>
              </a:rPr>
              <a:t>cross axis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699" y="3798333"/>
            <a:ext cx="4535363" cy="2598035"/>
          </a:xfrm>
          <a:prstGeom prst="rect">
            <a:avLst/>
          </a:prstGeom>
          <a:ln w="3175" cap="rnd">
            <a:solidFill>
              <a:schemeClr val="tx1"/>
            </a:solidFill>
          </a:ln>
          <a:effectLst/>
        </p:spPr>
      </p:pic>
      <p:sp>
        <p:nvSpPr>
          <p:cNvPr id="9" name="Текстово поле 10">
            <a:extLst>
              <a:ext uri="{FF2B5EF4-FFF2-40B4-BE49-F238E27FC236}">
                <a16:creationId xmlns:a16="http://schemas.microsoft.com/office/drawing/2014/main" id="{C47B027B-A97B-4241-97DE-77D5508B2CFC}"/>
              </a:ext>
            </a:extLst>
          </p:cNvPr>
          <p:cNvSpPr txBox="1"/>
          <p:nvPr/>
        </p:nvSpPr>
        <p:spPr>
          <a:xfrm>
            <a:off x="682699" y="2394000"/>
            <a:ext cx="4535363" cy="587441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75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/>
          <a:p>
            <a:r>
              <a:rPr lang="en-GB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align-items</a:t>
            </a:r>
            <a:r>
              <a:rPr lang="en-GB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: </a:t>
            </a:r>
            <a:r>
              <a:rPr lang="en-GB" sz="2400" b="1" dirty="0">
                <a:solidFill>
                  <a:srgbClr val="0451A5"/>
                </a:solidFill>
                <a:latin typeface="Consolas" panose="020B0609020204030204" pitchFamily="49" charset="0"/>
              </a:rPr>
              <a:t>flex-start</a:t>
            </a:r>
            <a:r>
              <a:rPr lang="en-GB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99FD2863-271F-48AF-A56D-0CFD8CF6F6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22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740077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Align-items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190402" y="1196125"/>
            <a:ext cx="6670598" cy="5528766"/>
          </a:xfrm>
        </p:spPr>
        <p:txBody>
          <a:bodyPr>
            <a:normAutofit/>
          </a:bodyPr>
          <a:lstStyle/>
          <a:p>
            <a:pPr>
              <a:buClr>
                <a:schemeClr val="tx1"/>
              </a:buClr>
            </a:pPr>
            <a:r>
              <a:rPr lang="en-US" dirty="0"/>
              <a:t>The flexbox items are aligned at the</a:t>
            </a:r>
            <a:r>
              <a:rPr lang="bg-BG" dirty="0"/>
              <a:t> </a:t>
            </a:r>
            <a:r>
              <a:rPr lang="en-US" b="1" dirty="0">
                <a:solidFill>
                  <a:schemeClr val="bg1"/>
                </a:solidFill>
              </a:rPr>
              <a:t>end</a:t>
            </a:r>
            <a:r>
              <a:rPr lang="en-US" dirty="0"/>
              <a:t> of the </a:t>
            </a:r>
            <a:r>
              <a:rPr lang="en-US" b="1" dirty="0">
                <a:solidFill>
                  <a:schemeClr val="bg1"/>
                </a:solidFill>
              </a:rPr>
              <a:t>cross axis</a:t>
            </a:r>
          </a:p>
          <a:p>
            <a:pPr marL="442912" lvl="1" indent="0">
              <a:buClr>
                <a:schemeClr val="tx1"/>
              </a:buClr>
              <a:buNone/>
            </a:pPr>
            <a:endParaRPr lang="en-US" b="1" dirty="0">
              <a:solidFill>
                <a:schemeClr val="bg1"/>
              </a:solidFill>
            </a:endParaRPr>
          </a:p>
          <a:p>
            <a:pPr>
              <a:buClr>
                <a:schemeClr val="tx1"/>
              </a:buClr>
            </a:pPr>
            <a:r>
              <a:rPr lang="en-US" dirty="0"/>
              <a:t>The flexbox items are aligned at the</a:t>
            </a:r>
            <a:r>
              <a:rPr lang="bg-BG" dirty="0"/>
              <a:t> </a:t>
            </a:r>
            <a:r>
              <a:rPr lang="en-US" b="1" dirty="0">
                <a:solidFill>
                  <a:schemeClr val="bg1"/>
                </a:solidFill>
              </a:rPr>
              <a:t>center</a:t>
            </a:r>
            <a:r>
              <a:rPr lang="en-US" dirty="0"/>
              <a:t> of the </a:t>
            </a:r>
            <a:r>
              <a:rPr lang="en-US" b="1" dirty="0">
                <a:solidFill>
                  <a:schemeClr val="bg1"/>
                </a:solidFill>
              </a:rPr>
              <a:t>cross axis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6000" y="1349049"/>
            <a:ext cx="3857625" cy="2219325"/>
          </a:xfrm>
          <a:prstGeom prst="rect">
            <a:avLst/>
          </a:prstGeom>
          <a:ln w="3175" cap="rnd">
            <a:solidFill>
              <a:schemeClr val="tx1"/>
            </a:solidFill>
          </a:ln>
          <a:effectLst/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6000" y="3834000"/>
            <a:ext cx="3867150" cy="2219325"/>
          </a:xfrm>
          <a:prstGeom prst="rect">
            <a:avLst/>
          </a:prstGeom>
          <a:ln w="3175" cap="rnd">
            <a:solidFill>
              <a:schemeClr val="tx1"/>
            </a:solidFill>
          </a:ln>
          <a:effectLst/>
        </p:spPr>
      </p:pic>
      <p:sp>
        <p:nvSpPr>
          <p:cNvPr id="9" name="Текстово поле 10">
            <a:extLst>
              <a:ext uri="{FF2B5EF4-FFF2-40B4-BE49-F238E27FC236}">
                <a16:creationId xmlns:a16="http://schemas.microsoft.com/office/drawing/2014/main" id="{4644447A-AC50-4AA0-A576-D3B9D89CD444}"/>
              </a:ext>
            </a:extLst>
          </p:cNvPr>
          <p:cNvSpPr txBox="1"/>
          <p:nvPr/>
        </p:nvSpPr>
        <p:spPr>
          <a:xfrm>
            <a:off x="713201" y="2400978"/>
            <a:ext cx="5625000" cy="587441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75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/>
          <a:p>
            <a:r>
              <a:rPr lang="en-GB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align-items</a:t>
            </a:r>
            <a:r>
              <a:rPr lang="en-GB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: </a:t>
            </a:r>
            <a:r>
              <a:rPr lang="en-GB" sz="2400" b="1" dirty="0">
                <a:solidFill>
                  <a:srgbClr val="0451A5"/>
                </a:solidFill>
                <a:latin typeface="Consolas" panose="020B0609020204030204" pitchFamily="49" charset="0"/>
              </a:rPr>
              <a:t>flex-end</a:t>
            </a:r>
            <a:r>
              <a:rPr lang="en-GB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10" name="Текстово поле 10">
            <a:extLst>
              <a:ext uri="{FF2B5EF4-FFF2-40B4-BE49-F238E27FC236}">
                <a16:creationId xmlns:a16="http://schemas.microsoft.com/office/drawing/2014/main" id="{F9D8F304-FC46-4FB1-B7D0-69621AC62B42}"/>
              </a:ext>
            </a:extLst>
          </p:cNvPr>
          <p:cNvSpPr txBox="1"/>
          <p:nvPr/>
        </p:nvSpPr>
        <p:spPr>
          <a:xfrm>
            <a:off x="703075" y="4309894"/>
            <a:ext cx="5625000" cy="587441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75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/>
          <a:p>
            <a:r>
              <a:rPr lang="en-GB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align-items</a:t>
            </a:r>
            <a:r>
              <a:rPr lang="en-GB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: </a:t>
            </a:r>
            <a:r>
              <a:rPr lang="en-GB" sz="2400" b="1" dirty="0" err="1">
                <a:solidFill>
                  <a:srgbClr val="0451A5"/>
                </a:solidFill>
                <a:latin typeface="Consolas" panose="020B0609020204030204" pitchFamily="49" charset="0"/>
              </a:rPr>
              <a:t>center</a:t>
            </a:r>
            <a:r>
              <a:rPr lang="en-GB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12" name="Slide Number">
            <a:extLst>
              <a:ext uri="{FF2B5EF4-FFF2-40B4-BE49-F238E27FC236}">
                <a16:creationId xmlns:a16="http://schemas.microsoft.com/office/drawing/2014/main" id="{F5889B71-4B8A-4DF8-97D9-B29FDB06C8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23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824867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Align-items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190402" y="1196125"/>
            <a:ext cx="6985598" cy="5528766"/>
          </a:xfrm>
        </p:spPr>
        <p:txBody>
          <a:bodyPr>
            <a:normAutofit/>
          </a:bodyPr>
          <a:lstStyle/>
          <a:p>
            <a:pPr>
              <a:buClr>
                <a:schemeClr val="tx1"/>
              </a:buClr>
            </a:pPr>
            <a:r>
              <a:rPr lang="en-US" dirty="0"/>
              <a:t>The flexbox items are aligned at the</a:t>
            </a:r>
            <a:r>
              <a:rPr lang="bg-BG" dirty="0"/>
              <a:t> </a:t>
            </a:r>
            <a:r>
              <a:rPr lang="en-US" b="1" dirty="0">
                <a:solidFill>
                  <a:schemeClr val="bg1"/>
                </a:solidFill>
              </a:rPr>
              <a:t>baseline</a:t>
            </a:r>
            <a:r>
              <a:rPr lang="en-US" dirty="0"/>
              <a:t> of the </a:t>
            </a:r>
            <a:r>
              <a:rPr lang="en-US" b="1" dirty="0">
                <a:solidFill>
                  <a:schemeClr val="bg1"/>
                </a:solidFill>
              </a:rPr>
              <a:t>cross axis</a:t>
            </a:r>
          </a:p>
          <a:p>
            <a:pPr marL="442912" lvl="1" indent="0">
              <a:buClr>
                <a:schemeClr val="tx1"/>
              </a:buClr>
              <a:buNone/>
            </a:pPr>
            <a:endParaRPr lang="en-US" b="1" dirty="0">
              <a:solidFill>
                <a:schemeClr val="bg1"/>
              </a:solidFill>
            </a:endParaRPr>
          </a:p>
          <a:p>
            <a:pPr>
              <a:buClr>
                <a:schemeClr val="tx1"/>
              </a:buClr>
            </a:pPr>
            <a:r>
              <a:rPr lang="en-US" dirty="0"/>
              <a:t>The flexbox items will stretch across</a:t>
            </a:r>
            <a:r>
              <a:rPr lang="bg-BG" dirty="0"/>
              <a:t> </a:t>
            </a:r>
            <a:r>
              <a:rPr lang="en-US" dirty="0"/>
              <a:t>the whole </a:t>
            </a:r>
            <a:r>
              <a:rPr lang="en-US" b="1" dirty="0">
                <a:solidFill>
                  <a:schemeClr val="bg1"/>
                </a:solidFill>
              </a:rPr>
              <a:t>cross axis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1000" y="1359000"/>
            <a:ext cx="3876675" cy="2219325"/>
          </a:xfrm>
          <a:prstGeom prst="rect">
            <a:avLst/>
          </a:prstGeom>
          <a:ln w="3175" cap="rnd">
            <a:solidFill>
              <a:schemeClr val="tx1"/>
            </a:solidFill>
          </a:ln>
          <a:effectLst/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5231" y="3954846"/>
            <a:ext cx="3857625" cy="2219325"/>
          </a:xfrm>
          <a:prstGeom prst="rect">
            <a:avLst/>
          </a:prstGeom>
          <a:ln w="3175" cap="rnd">
            <a:solidFill>
              <a:schemeClr val="tx1"/>
            </a:solidFill>
          </a:ln>
          <a:effectLst/>
        </p:spPr>
      </p:pic>
      <p:sp>
        <p:nvSpPr>
          <p:cNvPr id="8" name="Текстово поле 10">
            <a:extLst>
              <a:ext uri="{FF2B5EF4-FFF2-40B4-BE49-F238E27FC236}">
                <a16:creationId xmlns:a16="http://schemas.microsoft.com/office/drawing/2014/main" id="{44A6D705-94CB-41A5-AA23-78F3C54D01A3}"/>
              </a:ext>
            </a:extLst>
          </p:cNvPr>
          <p:cNvSpPr txBox="1"/>
          <p:nvPr/>
        </p:nvSpPr>
        <p:spPr>
          <a:xfrm>
            <a:off x="651000" y="2410649"/>
            <a:ext cx="5625000" cy="587441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75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/>
          <a:p>
            <a:r>
              <a:rPr lang="en-GB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align-items</a:t>
            </a:r>
            <a:r>
              <a:rPr lang="en-GB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: </a:t>
            </a:r>
            <a:r>
              <a:rPr lang="en-GB" sz="2400" b="1" dirty="0">
                <a:solidFill>
                  <a:srgbClr val="0451A5"/>
                </a:solidFill>
                <a:latin typeface="Consolas" panose="020B0609020204030204" pitchFamily="49" charset="0"/>
              </a:rPr>
              <a:t>baseline</a:t>
            </a:r>
            <a:r>
              <a:rPr lang="en-GB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10" name="Текстово поле 10">
            <a:extLst>
              <a:ext uri="{FF2B5EF4-FFF2-40B4-BE49-F238E27FC236}">
                <a16:creationId xmlns:a16="http://schemas.microsoft.com/office/drawing/2014/main" id="{401F10D9-F935-443D-ABA6-123439184BB5}"/>
              </a:ext>
            </a:extLst>
          </p:cNvPr>
          <p:cNvSpPr txBox="1"/>
          <p:nvPr/>
        </p:nvSpPr>
        <p:spPr>
          <a:xfrm>
            <a:off x="650117" y="4374000"/>
            <a:ext cx="5625000" cy="587441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75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/>
          <a:p>
            <a:r>
              <a:rPr lang="en-GB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align-items</a:t>
            </a:r>
            <a:r>
              <a:rPr lang="en-GB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: </a:t>
            </a:r>
            <a:r>
              <a:rPr lang="en-GB" sz="2400" b="1" dirty="0">
                <a:solidFill>
                  <a:srgbClr val="0451A5"/>
                </a:solidFill>
                <a:latin typeface="Consolas" panose="020B0609020204030204" pitchFamily="49" charset="0"/>
              </a:rPr>
              <a:t>stretch</a:t>
            </a:r>
            <a:r>
              <a:rPr lang="en-GB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12" name="Slide Number">
            <a:extLst>
              <a:ext uri="{FF2B5EF4-FFF2-40B4-BE49-F238E27FC236}">
                <a16:creationId xmlns:a16="http://schemas.microsoft.com/office/drawing/2014/main" id="{D43483F8-8708-41DE-B833-5800B15BC3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24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9468687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Align Content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>
              <a:buClr>
                <a:schemeClr val="tx1"/>
              </a:buClr>
            </a:pPr>
            <a:r>
              <a:rPr lang="en-US" dirty="0"/>
              <a:t>Defines how each line is </a:t>
            </a:r>
            <a:r>
              <a:rPr lang="en-US" b="1" dirty="0">
                <a:solidFill>
                  <a:schemeClr val="bg1"/>
                </a:solidFill>
              </a:rPr>
              <a:t>aligned</a:t>
            </a:r>
            <a:r>
              <a:rPr lang="en-US" dirty="0"/>
              <a:t> within a flexbox container</a:t>
            </a:r>
          </a:p>
          <a:p>
            <a:pPr>
              <a:buClr>
                <a:schemeClr val="tx1"/>
              </a:buClr>
            </a:pPr>
            <a:r>
              <a:rPr lang="en-US" dirty="0"/>
              <a:t>It only applies if </a:t>
            </a:r>
            <a:r>
              <a:rPr lang="en-US" sz="3200" b="1" dirty="0">
                <a:solidFill>
                  <a:schemeClr val="bg1"/>
                </a:solidFill>
                <a:latin typeface="Consolas" panose="020B0609020204030204" pitchFamily="49" charset="0"/>
              </a:rPr>
              <a:t>flex-wrap:</a:t>
            </a:r>
            <a:r>
              <a:rPr lang="en-US" sz="3200" dirty="0"/>
              <a:t> </a:t>
            </a:r>
            <a:r>
              <a:rPr lang="en-US" sz="3200" b="1" dirty="0">
                <a:solidFill>
                  <a:schemeClr val="bg1"/>
                </a:solidFill>
                <a:latin typeface="Consolas" panose="020B0609020204030204" pitchFamily="49" charset="0"/>
              </a:rPr>
              <a:t>wrap</a:t>
            </a:r>
            <a:r>
              <a:rPr lang="en-US" sz="3200" dirty="0"/>
              <a:t> </a:t>
            </a:r>
            <a:r>
              <a:rPr lang="en-US" dirty="0"/>
              <a:t>is present, and if there are multiple lines of flexbox items</a:t>
            </a:r>
            <a:endParaRPr lang="en-US" b="1" dirty="0">
              <a:solidFill>
                <a:schemeClr val="bg1"/>
              </a:solidFill>
            </a:endParaRPr>
          </a:p>
          <a:p>
            <a:pPr lvl="1">
              <a:buClr>
                <a:schemeClr val="tx1"/>
              </a:buClr>
            </a:pPr>
            <a:endParaRPr lang="en-US" dirty="0"/>
          </a:p>
          <a:p>
            <a:pPr lvl="1">
              <a:buClr>
                <a:schemeClr val="tx1"/>
              </a:buClr>
            </a:pPr>
            <a:r>
              <a:rPr lang="en-US" dirty="0"/>
              <a:t>Each line will stretch to </a:t>
            </a:r>
            <a:r>
              <a:rPr lang="en-US" b="1" dirty="0">
                <a:solidFill>
                  <a:schemeClr val="bg1"/>
                </a:solidFill>
              </a:rPr>
              <a:t>fill</a:t>
            </a:r>
            <a:r>
              <a:rPr lang="en-US" dirty="0"/>
              <a:t> the remaining space</a:t>
            </a:r>
          </a:p>
          <a:p>
            <a:pPr marL="442912" lvl="1" indent="0">
              <a:buClr>
                <a:schemeClr val="tx1"/>
              </a:buClr>
              <a:buNone/>
            </a:pP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Текстово поле 10">
            <a:extLst>
              <a:ext uri="{FF2B5EF4-FFF2-40B4-BE49-F238E27FC236}">
                <a16:creationId xmlns:a16="http://schemas.microsoft.com/office/drawing/2014/main" id="{CB6969DF-6E49-4C48-9568-DC0DDC42A400}"/>
              </a:ext>
            </a:extLst>
          </p:cNvPr>
          <p:cNvSpPr txBox="1"/>
          <p:nvPr/>
        </p:nvSpPr>
        <p:spPr>
          <a:xfrm>
            <a:off x="696000" y="3156559"/>
            <a:ext cx="4995000" cy="587441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75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/>
          <a:p>
            <a:r>
              <a:rPr lang="en-GB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align-content</a:t>
            </a:r>
            <a:r>
              <a:rPr lang="en-GB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: </a:t>
            </a:r>
            <a:r>
              <a:rPr lang="en-GB" sz="2400" b="1" dirty="0">
                <a:solidFill>
                  <a:srgbClr val="0451A5"/>
                </a:solidFill>
                <a:latin typeface="Consolas" panose="020B0609020204030204" pitchFamily="49" charset="0"/>
              </a:rPr>
              <a:t>stretch</a:t>
            </a:r>
            <a:r>
              <a:rPr lang="en-GB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50991C8F-9AFF-446B-A5EC-A682898165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25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6553662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Align Content: Stretch Example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  <a:buClr>
                <a:schemeClr val="tx1"/>
              </a:buClr>
            </a:pPr>
            <a:r>
              <a:rPr lang="en-US" dirty="0">
                <a:solidFill>
                  <a:schemeClr val="tx2"/>
                </a:solidFill>
              </a:rPr>
              <a:t>The first line is </a:t>
            </a:r>
            <a:r>
              <a:rPr lang="en-US" b="1" dirty="0">
                <a:solidFill>
                  <a:schemeClr val="bg1"/>
                </a:solidFill>
              </a:rPr>
              <a:t>100px</a:t>
            </a:r>
            <a:r>
              <a:rPr lang="en-US" dirty="0">
                <a:solidFill>
                  <a:schemeClr val="tx2"/>
                </a:solidFill>
              </a:rPr>
              <a:t> high</a:t>
            </a:r>
          </a:p>
          <a:p>
            <a:pPr>
              <a:lnSpc>
                <a:spcPct val="100000"/>
              </a:lnSpc>
              <a:buClr>
                <a:schemeClr val="tx1"/>
              </a:buClr>
            </a:pPr>
            <a:r>
              <a:rPr lang="en-US" dirty="0">
                <a:solidFill>
                  <a:schemeClr val="tx2"/>
                </a:solidFill>
              </a:rPr>
              <a:t>The second line is </a:t>
            </a:r>
            <a:r>
              <a:rPr lang="en-US" b="1" dirty="0">
                <a:solidFill>
                  <a:schemeClr val="bg1"/>
                </a:solidFill>
              </a:rPr>
              <a:t>50px</a:t>
            </a:r>
            <a:r>
              <a:rPr lang="en-US" dirty="0">
                <a:solidFill>
                  <a:schemeClr val="tx2"/>
                </a:solidFill>
              </a:rPr>
              <a:t> high</a:t>
            </a:r>
          </a:p>
          <a:p>
            <a:pPr>
              <a:lnSpc>
                <a:spcPct val="100000"/>
              </a:lnSpc>
              <a:buClr>
                <a:schemeClr val="tx1"/>
              </a:buClr>
            </a:pPr>
            <a:r>
              <a:rPr lang="en-US" dirty="0">
                <a:solidFill>
                  <a:schemeClr val="tx2"/>
                </a:solidFill>
              </a:rPr>
              <a:t>The remaining space is </a:t>
            </a:r>
            <a:r>
              <a:rPr lang="en-US" b="1" dirty="0">
                <a:solidFill>
                  <a:schemeClr val="bg1"/>
                </a:solidFill>
              </a:rPr>
              <a:t>150px</a:t>
            </a:r>
            <a:r>
              <a:rPr lang="en-US" dirty="0">
                <a:solidFill>
                  <a:schemeClr val="tx2"/>
                </a:solidFill>
              </a:rPr>
              <a:t> and it is distributed equally amongst the two lines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2798" y="3326825"/>
            <a:ext cx="3857625" cy="3200400"/>
          </a:xfrm>
          <a:prstGeom prst="rect">
            <a:avLst/>
          </a:prstGeom>
          <a:ln w="3175" cap="rnd">
            <a:solidFill>
              <a:schemeClr val="tx1"/>
            </a:solidFill>
          </a:ln>
          <a:effectLst/>
        </p:spPr>
      </p:pic>
      <p:sp>
        <p:nvSpPr>
          <p:cNvPr id="7" name="Rounded Rectangular Callout 6"/>
          <p:cNvSpPr/>
          <p:nvPr/>
        </p:nvSpPr>
        <p:spPr bwMode="auto">
          <a:xfrm>
            <a:off x="9213952" y="3568572"/>
            <a:ext cx="2677343" cy="1025559"/>
          </a:xfrm>
          <a:prstGeom prst="wedgeRoundRectCallout">
            <a:avLst>
              <a:gd name="adj1" fmla="val -64942"/>
              <a:gd name="adj2" fmla="val 23531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1" algn="ctr">
              <a:lnSpc>
                <a:spcPts val="3300"/>
              </a:lnSpc>
              <a:buClr>
                <a:schemeClr val="tx1"/>
              </a:buClr>
            </a:pPr>
            <a:r>
              <a:rPr lang="en-US" sz="2200" b="1" dirty="0">
                <a:solidFill>
                  <a:schemeClr val="bg2"/>
                </a:solidFill>
              </a:rPr>
              <a:t>The first line is 175px high</a:t>
            </a:r>
          </a:p>
        </p:txBody>
      </p:sp>
      <p:sp>
        <p:nvSpPr>
          <p:cNvPr id="9" name="Rounded Rectangular Callout 8"/>
          <p:cNvSpPr/>
          <p:nvPr/>
        </p:nvSpPr>
        <p:spPr bwMode="auto">
          <a:xfrm>
            <a:off x="9213952" y="5150494"/>
            <a:ext cx="2677343" cy="1018035"/>
          </a:xfrm>
          <a:prstGeom prst="wedgeRoundRectCallout">
            <a:avLst>
              <a:gd name="adj1" fmla="val -62827"/>
              <a:gd name="adj2" fmla="val 18001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1" algn="ctr">
              <a:lnSpc>
                <a:spcPts val="3300"/>
              </a:lnSpc>
              <a:buClr>
                <a:schemeClr val="tx1"/>
              </a:buClr>
            </a:pPr>
            <a:r>
              <a:rPr lang="en-US" sz="2200" b="1" dirty="0">
                <a:solidFill>
                  <a:schemeClr val="bg2"/>
                </a:solidFill>
              </a:rPr>
              <a:t>The second line is 125px high</a:t>
            </a:r>
          </a:p>
        </p:txBody>
      </p:sp>
      <p:sp>
        <p:nvSpPr>
          <p:cNvPr id="12" name="Rounded Rectangular Callout 6">
            <a:extLst>
              <a:ext uri="{FF2B5EF4-FFF2-40B4-BE49-F238E27FC236}">
                <a16:creationId xmlns:a16="http://schemas.microsoft.com/office/drawing/2014/main" id="{A7DD1BAF-8C47-4F85-A721-8C1418F65268}"/>
              </a:ext>
            </a:extLst>
          </p:cNvPr>
          <p:cNvSpPr/>
          <p:nvPr/>
        </p:nvSpPr>
        <p:spPr bwMode="auto">
          <a:xfrm>
            <a:off x="630756" y="4081351"/>
            <a:ext cx="4053347" cy="1721173"/>
          </a:xfrm>
          <a:prstGeom prst="wedgeRoundRectCallout">
            <a:avLst>
              <a:gd name="adj1" fmla="val 53654"/>
              <a:gd name="adj2" fmla="val -21211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ts val="3300"/>
              </a:lnSpc>
              <a:buClr>
                <a:schemeClr val="tx1"/>
              </a:buClr>
            </a:pPr>
            <a:r>
              <a:rPr lang="en-US" sz="2200" b="1" dirty="0">
                <a:solidFill>
                  <a:schemeClr val="bg2"/>
                </a:solidFill>
              </a:rPr>
              <a:t>The container is 300px high</a:t>
            </a:r>
          </a:p>
          <a:p>
            <a:pPr>
              <a:lnSpc>
                <a:spcPts val="3300"/>
              </a:lnSpc>
              <a:buClr>
                <a:schemeClr val="tx1"/>
              </a:buClr>
            </a:pPr>
            <a:r>
              <a:rPr lang="en-US" sz="2200" b="1" dirty="0">
                <a:solidFill>
                  <a:schemeClr val="bg2"/>
                </a:solidFill>
              </a:rPr>
              <a:t>All boxes are 50px high</a:t>
            </a:r>
          </a:p>
          <a:p>
            <a:pPr>
              <a:lnSpc>
                <a:spcPts val="3300"/>
              </a:lnSpc>
              <a:buClr>
                <a:schemeClr val="tx1"/>
              </a:buClr>
            </a:pPr>
            <a:r>
              <a:rPr lang="en-US" sz="2200" b="1" dirty="0">
                <a:solidFill>
                  <a:schemeClr val="bg2"/>
                </a:solidFill>
              </a:rPr>
              <a:t>The second box is 100px high</a:t>
            </a:r>
          </a:p>
        </p:txBody>
      </p:sp>
      <p:sp>
        <p:nvSpPr>
          <p:cNvPr id="10" name="Slide Number">
            <a:extLst>
              <a:ext uri="{FF2B5EF4-FFF2-40B4-BE49-F238E27FC236}">
                <a16:creationId xmlns:a16="http://schemas.microsoft.com/office/drawing/2014/main" id="{03600B75-F378-44C8-BE26-699DB8C117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26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823694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12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Align Content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>
              <a:buClr>
                <a:schemeClr val="tx1"/>
              </a:buClr>
            </a:pPr>
            <a:r>
              <a:rPr lang="en-US" dirty="0"/>
              <a:t>Each line will only fill the space it </a:t>
            </a:r>
            <a:r>
              <a:rPr lang="en-US" b="1" dirty="0">
                <a:solidFill>
                  <a:schemeClr val="bg1"/>
                </a:solidFill>
              </a:rPr>
              <a:t>needs</a:t>
            </a:r>
          </a:p>
          <a:p>
            <a:pPr>
              <a:buClr>
                <a:schemeClr val="tx1"/>
              </a:buClr>
            </a:pPr>
            <a:r>
              <a:rPr lang="en-US" dirty="0"/>
              <a:t>They will all move towards the </a:t>
            </a:r>
            <a:r>
              <a:rPr lang="en-US" b="1" dirty="0">
                <a:solidFill>
                  <a:schemeClr val="accent1"/>
                </a:solidFill>
              </a:rPr>
              <a:t>start</a:t>
            </a:r>
            <a:r>
              <a:rPr lang="en-US" dirty="0"/>
              <a:t> of the flexbox container's cross axis</a:t>
            </a:r>
            <a:endParaRPr lang="bg-BG" dirty="0"/>
          </a:p>
          <a:p>
            <a:pPr marL="442912" lvl="1" indent="0">
              <a:buClr>
                <a:schemeClr val="tx1"/>
              </a:buClr>
              <a:buNone/>
            </a:pPr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3277" y="2709000"/>
            <a:ext cx="4455000" cy="3672067"/>
          </a:xfrm>
          <a:prstGeom prst="rect">
            <a:avLst/>
          </a:prstGeom>
          <a:ln w="3175" cap="rnd">
            <a:solidFill>
              <a:schemeClr val="tx1"/>
            </a:solidFill>
          </a:ln>
          <a:effectLst/>
        </p:spPr>
      </p:pic>
      <p:sp>
        <p:nvSpPr>
          <p:cNvPr id="7" name="Текстово поле 10">
            <a:extLst>
              <a:ext uri="{FF2B5EF4-FFF2-40B4-BE49-F238E27FC236}">
                <a16:creationId xmlns:a16="http://schemas.microsoft.com/office/drawing/2014/main" id="{5F8C758B-CFFE-4ED8-807F-5158764C334D}"/>
              </a:ext>
            </a:extLst>
          </p:cNvPr>
          <p:cNvSpPr txBox="1"/>
          <p:nvPr/>
        </p:nvSpPr>
        <p:spPr>
          <a:xfrm>
            <a:off x="741000" y="3349891"/>
            <a:ext cx="4995000" cy="587441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75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/>
          <a:p>
            <a:r>
              <a:rPr lang="en-GB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align-content</a:t>
            </a:r>
            <a:r>
              <a:rPr lang="en-GB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: </a:t>
            </a:r>
            <a:r>
              <a:rPr lang="en-GB" sz="2400" b="1" dirty="0">
                <a:solidFill>
                  <a:srgbClr val="0451A5"/>
                </a:solidFill>
                <a:latin typeface="Consolas" panose="020B0609020204030204" pitchFamily="49" charset="0"/>
              </a:rPr>
              <a:t>flex-start</a:t>
            </a:r>
            <a:r>
              <a:rPr lang="en-GB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5C828D2F-1B40-4C0B-823E-FE7045B1D8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27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735074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Align Content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>
              <a:buClr>
                <a:schemeClr val="tx1"/>
              </a:buClr>
            </a:pPr>
            <a:r>
              <a:rPr lang="en-US" dirty="0"/>
              <a:t>Each line will only fill the space it </a:t>
            </a:r>
            <a:r>
              <a:rPr lang="en-US" b="1" dirty="0">
                <a:solidFill>
                  <a:schemeClr val="bg1"/>
                </a:solidFill>
              </a:rPr>
              <a:t>needs</a:t>
            </a:r>
          </a:p>
          <a:p>
            <a:pPr>
              <a:buClr>
                <a:schemeClr val="tx1"/>
              </a:buClr>
            </a:pPr>
            <a:r>
              <a:rPr lang="en-US" dirty="0"/>
              <a:t>They will all move towards the </a:t>
            </a:r>
            <a:r>
              <a:rPr lang="en-US" b="1" dirty="0">
                <a:solidFill>
                  <a:schemeClr val="accent1"/>
                </a:solidFill>
              </a:rPr>
              <a:t>end</a:t>
            </a:r>
            <a:r>
              <a:rPr lang="bg-BG" b="1" dirty="0">
                <a:solidFill>
                  <a:schemeClr val="accent1"/>
                </a:solidFill>
              </a:rPr>
              <a:t> </a:t>
            </a:r>
            <a:r>
              <a:rPr lang="en-US" dirty="0"/>
              <a:t>of the flexbox container's cross axis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6260" y="2709000"/>
            <a:ext cx="4275000" cy="3619145"/>
          </a:xfrm>
          <a:prstGeom prst="rect">
            <a:avLst/>
          </a:prstGeom>
          <a:ln w="3175" cap="rnd">
            <a:solidFill>
              <a:schemeClr val="tx1"/>
            </a:solidFill>
          </a:ln>
          <a:effectLst/>
        </p:spPr>
      </p:pic>
      <p:sp>
        <p:nvSpPr>
          <p:cNvPr id="8" name="Текстово поле 10">
            <a:extLst>
              <a:ext uri="{FF2B5EF4-FFF2-40B4-BE49-F238E27FC236}">
                <a16:creationId xmlns:a16="http://schemas.microsoft.com/office/drawing/2014/main" id="{F0CA2792-9E3A-4AF2-A24D-2A2BB13138D0}"/>
              </a:ext>
            </a:extLst>
          </p:cNvPr>
          <p:cNvSpPr txBox="1"/>
          <p:nvPr/>
        </p:nvSpPr>
        <p:spPr>
          <a:xfrm>
            <a:off x="786000" y="3246143"/>
            <a:ext cx="4995000" cy="587441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75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/>
          <a:p>
            <a:r>
              <a:rPr lang="en-GB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align-content</a:t>
            </a:r>
            <a:r>
              <a:rPr lang="en-GB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: </a:t>
            </a:r>
            <a:r>
              <a:rPr lang="en-GB" sz="2400" b="1" dirty="0">
                <a:solidFill>
                  <a:srgbClr val="0451A5"/>
                </a:solidFill>
                <a:latin typeface="Consolas" panose="020B0609020204030204" pitchFamily="49" charset="0"/>
              </a:rPr>
              <a:t>flex-end</a:t>
            </a:r>
            <a:r>
              <a:rPr lang="en-GB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10" name="Slide Number">
            <a:extLst>
              <a:ext uri="{FF2B5EF4-FFF2-40B4-BE49-F238E27FC236}">
                <a16:creationId xmlns:a16="http://schemas.microsoft.com/office/drawing/2014/main" id="{EF41946B-4EF2-4177-AB2A-A0F25FAF47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28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37543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Align Content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>
              <a:buClr>
                <a:schemeClr val="tx1"/>
              </a:buClr>
            </a:pPr>
            <a:r>
              <a:rPr lang="en-US" dirty="0"/>
              <a:t>Each line will only fill the space it </a:t>
            </a:r>
            <a:r>
              <a:rPr lang="en-US" b="1" dirty="0">
                <a:solidFill>
                  <a:schemeClr val="bg1"/>
                </a:solidFill>
              </a:rPr>
              <a:t>needs</a:t>
            </a:r>
          </a:p>
          <a:p>
            <a:pPr>
              <a:buClr>
                <a:schemeClr val="tx1"/>
              </a:buClr>
            </a:pPr>
            <a:r>
              <a:rPr lang="en-US" dirty="0"/>
              <a:t>They will all move towards the </a:t>
            </a:r>
            <a:r>
              <a:rPr lang="en-US" b="1" dirty="0">
                <a:solidFill>
                  <a:schemeClr val="accent1"/>
                </a:solidFill>
              </a:rPr>
              <a:t>center</a:t>
            </a:r>
            <a:r>
              <a:rPr lang="en-US" dirty="0"/>
              <a:t> of the</a:t>
            </a:r>
            <a:r>
              <a:rPr lang="bg-BG" dirty="0"/>
              <a:t> </a:t>
            </a:r>
            <a:r>
              <a:rPr lang="en-US" dirty="0"/>
              <a:t>flexbox container's cross axis</a:t>
            </a:r>
            <a:endParaRPr lang="bg-BG" dirty="0"/>
          </a:p>
          <a:p>
            <a:pPr marL="442912" lvl="1" indent="0">
              <a:buClr>
                <a:schemeClr val="tx1"/>
              </a:buClr>
              <a:buNone/>
            </a:pPr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6002" y="2754883"/>
            <a:ext cx="4534402" cy="3719104"/>
          </a:xfrm>
          <a:prstGeom prst="rect">
            <a:avLst/>
          </a:prstGeom>
          <a:ln w="3175" cap="rnd">
            <a:solidFill>
              <a:schemeClr val="tx1"/>
            </a:solidFill>
          </a:ln>
          <a:effectLst/>
        </p:spPr>
      </p:pic>
      <p:sp>
        <p:nvSpPr>
          <p:cNvPr id="8" name="Текстово поле 10">
            <a:extLst>
              <a:ext uri="{FF2B5EF4-FFF2-40B4-BE49-F238E27FC236}">
                <a16:creationId xmlns:a16="http://schemas.microsoft.com/office/drawing/2014/main" id="{ECE7D01F-3379-4B96-91F7-63519D851F36}"/>
              </a:ext>
            </a:extLst>
          </p:cNvPr>
          <p:cNvSpPr txBox="1"/>
          <p:nvPr/>
        </p:nvSpPr>
        <p:spPr>
          <a:xfrm>
            <a:off x="741000" y="3294000"/>
            <a:ext cx="4995000" cy="587441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75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/>
          <a:p>
            <a:r>
              <a:rPr lang="en-GB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align-content</a:t>
            </a:r>
            <a:r>
              <a:rPr lang="en-GB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: </a:t>
            </a:r>
            <a:r>
              <a:rPr lang="en-GB" sz="2400" b="1" dirty="0" err="1">
                <a:solidFill>
                  <a:srgbClr val="0451A5"/>
                </a:solidFill>
                <a:latin typeface="Consolas" panose="020B0609020204030204" pitchFamily="49" charset="0"/>
              </a:rPr>
              <a:t>center</a:t>
            </a:r>
            <a:r>
              <a:rPr lang="en-GB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4C3FA1E7-ED36-4857-A047-BEDBC5D6B8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29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4340555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Align Content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>
              <a:buClr>
                <a:schemeClr val="tx1"/>
              </a:buClr>
            </a:pPr>
            <a:r>
              <a:rPr lang="en-US" dirty="0"/>
              <a:t>Each line will only fill the space it </a:t>
            </a:r>
            <a:r>
              <a:rPr lang="en-US" b="1" dirty="0">
                <a:solidFill>
                  <a:schemeClr val="bg1"/>
                </a:solidFill>
              </a:rPr>
              <a:t>needs</a:t>
            </a:r>
            <a:endParaRPr lang="en-US" dirty="0"/>
          </a:p>
          <a:p>
            <a:pPr>
              <a:buClr>
                <a:schemeClr val="tx1"/>
              </a:buClr>
            </a:pPr>
            <a:r>
              <a:rPr lang="en-US" dirty="0"/>
              <a:t>The </a:t>
            </a:r>
            <a:r>
              <a:rPr lang="en-US" b="1" dirty="0">
                <a:solidFill>
                  <a:schemeClr val="bg1"/>
                </a:solidFill>
              </a:rPr>
              <a:t>remaining</a:t>
            </a:r>
            <a:r>
              <a:rPr lang="en-US" dirty="0"/>
              <a:t> space will appear </a:t>
            </a:r>
            <a:r>
              <a:rPr lang="en-US" b="1" dirty="0">
                <a:solidFill>
                  <a:schemeClr val="accent1"/>
                </a:solidFill>
              </a:rPr>
              <a:t>between</a:t>
            </a:r>
            <a:r>
              <a:rPr lang="en-US" dirty="0"/>
              <a:t> the lines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8201" y="2709000"/>
            <a:ext cx="4936083" cy="3871792"/>
          </a:xfrm>
          <a:prstGeom prst="rect">
            <a:avLst/>
          </a:prstGeom>
          <a:ln w="3175" cap="rnd">
            <a:solidFill>
              <a:schemeClr val="tx1"/>
            </a:solidFill>
          </a:ln>
          <a:effectLst/>
        </p:spPr>
      </p:pic>
      <p:sp>
        <p:nvSpPr>
          <p:cNvPr id="7" name="Текстово поле 10">
            <a:extLst>
              <a:ext uri="{FF2B5EF4-FFF2-40B4-BE49-F238E27FC236}">
                <a16:creationId xmlns:a16="http://schemas.microsoft.com/office/drawing/2014/main" id="{828DD145-B041-4DDA-8A0B-E6BBACA2C7C5}"/>
              </a:ext>
            </a:extLst>
          </p:cNvPr>
          <p:cNvSpPr txBox="1"/>
          <p:nvPr/>
        </p:nvSpPr>
        <p:spPr>
          <a:xfrm>
            <a:off x="651000" y="2709000"/>
            <a:ext cx="5597825" cy="587441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75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/>
          <a:p>
            <a:r>
              <a:rPr lang="en-GB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align-content</a:t>
            </a:r>
            <a:r>
              <a:rPr lang="en-GB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: </a:t>
            </a:r>
            <a:r>
              <a:rPr lang="en-GB" sz="2400" b="1" dirty="0">
                <a:solidFill>
                  <a:srgbClr val="0451A5"/>
                </a:solidFill>
                <a:latin typeface="Consolas" panose="020B0609020204030204" pitchFamily="49" charset="0"/>
              </a:rPr>
              <a:t>space-between</a:t>
            </a:r>
            <a:r>
              <a:rPr lang="en-GB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10" name="Slide Number">
            <a:extLst>
              <a:ext uri="{FF2B5EF4-FFF2-40B4-BE49-F238E27FC236}">
                <a16:creationId xmlns:a16="http://schemas.microsoft.com/office/drawing/2014/main" id="{6BEBECD2-0CE6-4C96-9918-602BC4CC4B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30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6538032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Align Content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>
              <a:buClr>
                <a:schemeClr val="tx1"/>
              </a:buClr>
            </a:pPr>
            <a:r>
              <a:rPr lang="en-US" dirty="0"/>
              <a:t>Each line will only fill the space it </a:t>
            </a:r>
            <a:r>
              <a:rPr lang="en-US" b="1" dirty="0">
                <a:solidFill>
                  <a:schemeClr val="accent1"/>
                </a:solidFill>
              </a:rPr>
              <a:t>needs</a:t>
            </a:r>
            <a:endParaRPr lang="en-US" dirty="0"/>
          </a:p>
          <a:p>
            <a:pPr>
              <a:buClr>
                <a:schemeClr val="tx1"/>
              </a:buClr>
            </a:pPr>
            <a:r>
              <a:rPr lang="en-US" dirty="0"/>
              <a:t>The </a:t>
            </a:r>
            <a:r>
              <a:rPr lang="en-US" b="1" dirty="0">
                <a:solidFill>
                  <a:schemeClr val="bg1"/>
                </a:solidFill>
              </a:rPr>
              <a:t>remaining</a:t>
            </a:r>
            <a:r>
              <a:rPr lang="en-US" dirty="0"/>
              <a:t> space will be distributed equally </a:t>
            </a:r>
            <a:r>
              <a:rPr lang="en-US" b="1" dirty="0">
                <a:solidFill>
                  <a:schemeClr val="accent1"/>
                </a:solidFill>
              </a:rPr>
              <a:t>around</a:t>
            </a:r>
            <a:r>
              <a:rPr lang="en-US" dirty="0"/>
              <a:t> the lines: before the first line, between the two, and after </a:t>
            </a:r>
            <a:br>
              <a:rPr lang="bg-BG" dirty="0"/>
            </a:br>
            <a:r>
              <a:rPr lang="en-US" dirty="0"/>
              <a:t>the last one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6575" y="3204000"/>
            <a:ext cx="3876675" cy="3162300"/>
          </a:xfrm>
          <a:prstGeom prst="rect">
            <a:avLst/>
          </a:prstGeom>
          <a:ln w="3175" cap="rnd">
            <a:solidFill>
              <a:schemeClr val="tx1"/>
            </a:solidFill>
          </a:ln>
          <a:effectLst/>
        </p:spPr>
      </p:pic>
      <p:sp>
        <p:nvSpPr>
          <p:cNvPr id="7" name="Текстово поле 10">
            <a:extLst>
              <a:ext uri="{FF2B5EF4-FFF2-40B4-BE49-F238E27FC236}">
                <a16:creationId xmlns:a16="http://schemas.microsoft.com/office/drawing/2014/main" id="{DBD8F880-6CDD-4C48-B722-D0340C3FC058}"/>
              </a:ext>
            </a:extLst>
          </p:cNvPr>
          <p:cNvSpPr txBox="1"/>
          <p:nvPr/>
        </p:nvSpPr>
        <p:spPr>
          <a:xfrm>
            <a:off x="723502" y="3744000"/>
            <a:ext cx="5597825" cy="587441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75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/>
          <a:p>
            <a:r>
              <a:rPr lang="en-GB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align-content</a:t>
            </a:r>
            <a:r>
              <a:rPr lang="en-GB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: </a:t>
            </a:r>
            <a:r>
              <a:rPr lang="en-GB" sz="2400" b="1" dirty="0">
                <a:solidFill>
                  <a:srgbClr val="0451A5"/>
                </a:solidFill>
                <a:latin typeface="Consolas" panose="020B0609020204030204" pitchFamily="49" charset="0"/>
              </a:rPr>
              <a:t>space-around</a:t>
            </a:r>
            <a:r>
              <a:rPr lang="en-GB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AAA72281-A89F-4066-9D84-4A352BA611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31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7897752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AF54247-613D-4FA2-B808-EA355D05162B}"/>
              </a:ext>
            </a:extLst>
          </p:cNvPr>
          <p:cNvSpPr/>
          <p:nvPr/>
        </p:nvSpPr>
        <p:spPr bwMode="auto">
          <a:xfrm>
            <a:off x="4498578" y="819000"/>
            <a:ext cx="3172422" cy="3600000"/>
          </a:xfrm>
          <a:prstGeom prst="rect">
            <a:avLst/>
          </a:prstGeom>
          <a:solidFill>
            <a:schemeClr val="bg2"/>
          </a:solidFill>
          <a:ln w="19050">
            <a:solidFill>
              <a:schemeClr val="bg2"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4869" y="1539000"/>
            <a:ext cx="5242261" cy="2293489"/>
          </a:xfrm>
          <a:prstGeom prst="roundRect">
            <a:avLst>
              <a:gd name="adj" fmla="val 3093"/>
            </a:avLst>
          </a:prstGeom>
          <a:ln>
            <a:solidFill>
              <a:schemeClr val="tx1"/>
            </a:solidFill>
          </a:ln>
          <a:effectLst/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ECC3A1AD-5143-4AF1-B7A7-9E7FCD636176}"/>
              </a:ext>
            </a:extLst>
          </p:cNvPr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r>
              <a:rPr lang="en-GB" dirty="0"/>
              <a:t>Properties for the Children</a:t>
            </a:r>
          </a:p>
        </p:txBody>
      </p:sp>
    </p:spTree>
    <p:extLst>
      <p:ext uri="{BB962C8B-B14F-4D97-AF65-F5344CB8AC3E}">
        <p14:creationId xmlns:p14="http://schemas.microsoft.com/office/powerpoint/2010/main" val="9904094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Order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190402" y="1196125"/>
            <a:ext cx="6805598" cy="5528766"/>
          </a:xfrm>
        </p:spPr>
        <p:txBody>
          <a:bodyPr>
            <a:normAutofit/>
          </a:bodyPr>
          <a:lstStyle/>
          <a:p>
            <a:pPr>
              <a:buClr>
                <a:schemeClr val="tx1"/>
              </a:buClr>
            </a:pPr>
            <a:r>
              <a:rPr lang="en-US" sz="3200" dirty="0"/>
              <a:t>Order - defines the order of a </a:t>
            </a:r>
            <a:br>
              <a:rPr lang="bg-BG" sz="3200" dirty="0"/>
            </a:br>
            <a:r>
              <a:rPr lang="en-US" sz="3200" dirty="0"/>
              <a:t>flexbox item</a:t>
            </a:r>
          </a:p>
          <a:p>
            <a:pPr lvl="1">
              <a:buClr>
                <a:schemeClr val="tx1"/>
              </a:buClr>
            </a:pPr>
            <a:r>
              <a:rPr lang="en-US" sz="3000" dirty="0"/>
              <a:t>The order of the flexbox items is the one defined in the </a:t>
            </a:r>
            <a:r>
              <a:rPr lang="en-US" sz="3000" b="1" dirty="0">
                <a:solidFill>
                  <a:schemeClr val="accent1"/>
                </a:solidFill>
              </a:rPr>
              <a:t>HTML code</a:t>
            </a:r>
            <a:endParaRPr lang="bg-BG" sz="3000" b="1" dirty="0">
              <a:solidFill>
                <a:schemeClr val="accent1"/>
              </a:solidFill>
            </a:endParaRPr>
          </a:p>
          <a:p>
            <a:pPr>
              <a:buClr>
                <a:schemeClr val="tx1"/>
              </a:buClr>
            </a:pPr>
            <a:r>
              <a:rPr lang="en-US" sz="3200" dirty="0"/>
              <a:t>The order is </a:t>
            </a:r>
            <a:r>
              <a:rPr lang="en-US" sz="3200" b="1" dirty="0">
                <a:solidFill>
                  <a:schemeClr val="accent1"/>
                </a:solidFill>
              </a:rPr>
              <a:t>relative</a:t>
            </a:r>
            <a:r>
              <a:rPr lang="en-US" sz="3200" dirty="0"/>
              <a:t> to the flexbox item's </a:t>
            </a:r>
            <a:r>
              <a:rPr lang="en-US" sz="3200" b="1" dirty="0">
                <a:solidFill>
                  <a:schemeClr val="accent1"/>
                </a:solidFill>
              </a:rPr>
              <a:t>siblings</a:t>
            </a:r>
          </a:p>
          <a:p>
            <a:pPr>
              <a:buClr>
                <a:schemeClr val="tx1"/>
              </a:buClr>
            </a:pPr>
            <a:r>
              <a:rPr lang="en-US" sz="3200" dirty="0"/>
              <a:t>The final order is defined when all individual flexbox item order values</a:t>
            </a:r>
            <a:r>
              <a:rPr lang="bg-BG" sz="3200" dirty="0"/>
              <a:t> </a:t>
            </a:r>
            <a:r>
              <a:rPr lang="en-US" sz="3200" dirty="0"/>
              <a:t>are considered</a:t>
            </a:r>
            <a:endParaRPr lang="en-US" sz="3200" b="1" dirty="0">
              <a:solidFill>
                <a:schemeClr val="accent1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5737" y="2012251"/>
            <a:ext cx="5151000" cy="1530000"/>
          </a:xfrm>
          <a:prstGeom prst="rect">
            <a:avLst/>
          </a:prstGeom>
          <a:ln w="3175" cap="rnd">
            <a:solidFill>
              <a:schemeClr val="tx1"/>
            </a:solidFill>
          </a:ln>
          <a:effectLst/>
        </p:spPr>
      </p:pic>
      <p:sp>
        <p:nvSpPr>
          <p:cNvPr id="7" name="Текстово поле 10">
            <a:extLst>
              <a:ext uri="{FF2B5EF4-FFF2-40B4-BE49-F238E27FC236}">
                <a16:creationId xmlns:a16="http://schemas.microsoft.com/office/drawing/2014/main" id="{9527733E-CC98-49C3-B8F8-35D5AC82EC62}"/>
              </a:ext>
            </a:extLst>
          </p:cNvPr>
          <p:cNvSpPr txBox="1"/>
          <p:nvPr/>
        </p:nvSpPr>
        <p:spPr>
          <a:xfrm>
            <a:off x="9538500" y="1305866"/>
            <a:ext cx="1980000" cy="587441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75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/>
          <a:p>
            <a:r>
              <a:rPr lang="en-GB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order</a:t>
            </a:r>
            <a:r>
              <a:rPr lang="en-GB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: </a:t>
            </a:r>
            <a:r>
              <a:rPr lang="en-GB" sz="2400" b="1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GB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D8AD9620-0960-4565-864B-4C39B1E785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33</a:t>
            </a:fld>
            <a:endParaRPr lang="en-US" noProof="0" dirty="0"/>
          </a:p>
        </p:txBody>
      </p:sp>
      <p:sp>
        <p:nvSpPr>
          <p:cNvPr id="8" name="Текстово поле 10">
            <a:extLst>
              <a:ext uri="{FF2B5EF4-FFF2-40B4-BE49-F238E27FC236}">
                <a16:creationId xmlns:a16="http://schemas.microsoft.com/office/drawing/2014/main" id="{42AD3E1C-D4E1-44A4-B29A-CE1E8C46D9F3}"/>
              </a:ext>
            </a:extLst>
          </p:cNvPr>
          <p:cNvSpPr txBox="1"/>
          <p:nvPr/>
        </p:nvSpPr>
        <p:spPr>
          <a:xfrm>
            <a:off x="9606000" y="3960508"/>
            <a:ext cx="1845000" cy="587441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75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/>
          <a:p>
            <a:r>
              <a:rPr lang="en-GB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order</a:t>
            </a:r>
            <a:r>
              <a:rPr lang="en-GB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: </a:t>
            </a:r>
            <a:r>
              <a:rPr lang="en-GB" sz="2400" b="1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GB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</p:txBody>
      </p:sp>
      <p:pic>
        <p:nvPicPr>
          <p:cNvPr id="10" name="Picture 5">
            <a:extLst>
              <a:ext uri="{FF2B5EF4-FFF2-40B4-BE49-F238E27FC236}">
                <a16:creationId xmlns:a16="http://schemas.microsoft.com/office/drawing/2014/main" id="{7A567F2F-C6A6-4AEC-A535-FEA7F20F755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5737" y="4712678"/>
            <a:ext cx="5151000" cy="1453725"/>
          </a:xfrm>
          <a:prstGeom prst="rect">
            <a:avLst/>
          </a:prstGeom>
          <a:ln w="3175" cap="rnd">
            <a:solidFill>
              <a:schemeClr val="tx1"/>
            </a:solidFill>
          </a:ln>
          <a:effectLst/>
        </p:spPr>
      </p:pic>
    </p:spTree>
    <p:extLst>
      <p:ext uri="{BB962C8B-B14F-4D97-AF65-F5344CB8AC3E}">
        <p14:creationId xmlns:p14="http://schemas.microsoft.com/office/powerpoint/2010/main" val="27609626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Order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>
              <a:buClr>
                <a:schemeClr val="tx1"/>
              </a:buClr>
            </a:pPr>
            <a:r>
              <a:rPr lang="en-US" dirty="0"/>
              <a:t>You can use </a:t>
            </a:r>
            <a:r>
              <a:rPr lang="en-US" b="1" dirty="0">
                <a:solidFill>
                  <a:schemeClr val="accent1"/>
                </a:solidFill>
              </a:rPr>
              <a:t>negative</a:t>
            </a:r>
            <a:r>
              <a:rPr lang="en-US" dirty="0"/>
              <a:t> values</a:t>
            </a:r>
            <a:endParaRPr lang="bg-BG" dirty="0"/>
          </a:p>
          <a:p>
            <a:pPr marL="442912" lvl="1" indent="0">
              <a:buClr>
                <a:schemeClr val="tx1"/>
              </a:buClr>
              <a:buNone/>
            </a:pPr>
            <a:endParaRPr lang="bg-BG" b="1" dirty="0">
              <a:solidFill>
                <a:schemeClr val="accent1"/>
              </a:solidFill>
            </a:endParaRPr>
          </a:p>
          <a:p>
            <a:pPr marL="442912" lvl="1" indent="0">
              <a:buClr>
                <a:schemeClr val="tx1"/>
              </a:buClr>
              <a:buNone/>
            </a:pPr>
            <a:endParaRPr lang="bg-BG" b="1" dirty="0">
              <a:solidFill>
                <a:schemeClr val="accent1"/>
              </a:solidFill>
            </a:endParaRPr>
          </a:p>
          <a:p>
            <a:pPr marL="442912" lvl="1" indent="0">
              <a:buClr>
                <a:schemeClr val="tx1"/>
              </a:buClr>
              <a:buNone/>
            </a:pPr>
            <a:endParaRPr lang="bg-BG" b="1" dirty="0">
              <a:solidFill>
                <a:schemeClr val="accent1"/>
              </a:solidFill>
            </a:endParaRPr>
          </a:p>
          <a:p>
            <a:pPr>
              <a:buClr>
                <a:schemeClr val="tx1"/>
              </a:buClr>
            </a:pPr>
            <a:r>
              <a:rPr lang="en-US" dirty="0"/>
              <a:t>You can set a </a:t>
            </a:r>
            <a:r>
              <a:rPr lang="en-US" b="1" dirty="0">
                <a:solidFill>
                  <a:schemeClr val="accent1"/>
                </a:solidFill>
              </a:rPr>
              <a:t>different</a:t>
            </a:r>
            <a:r>
              <a:rPr lang="en-US" dirty="0"/>
              <a:t> value for each flexbox item</a:t>
            </a:r>
            <a:endParaRPr lang="en-US" b="1" dirty="0">
              <a:solidFill>
                <a:schemeClr val="accent1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9598" y="1939757"/>
            <a:ext cx="5688028" cy="1689513"/>
          </a:xfrm>
          <a:prstGeom prst="rect">
            <a:avLst/>
          </a:prstGeom>
          <a:ln w="3175" cap="rnd">
            <a:solidFill>
              <a:schemeClr val="tx1"/>
            </a:solidFill>
          </a:ln>
          <a:effectLst/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9598" y="4488849"/>
            <a:ext cx="5688028" cy="1675434"/>
          </a:xfrm>
          <a:prstGeom prst="rect">
            <a:avLst/>
          </a:prstGeom>
          <a:ln w="3175" cap="rnd">
            <a:solidFill>
              <a:schemeClr val="tx1"/>
            </a:solidFill>
          </a:ln>
          <a:effectLst/>
        </p:spPr>
      </p:pic>
      <p:sp>
        <p:nvSpPr>
          <p:cNvPr id="10" name="Текстово поле 10">
            <a:extLst>
              <a:ext uri="{FF2B5EF4-FFF2-40B4-BE49-F238E27FC236}">
                <a16:creationId xmlns:a16="http://schemas.microsoft.com/office/drawing/2014/main" id="{50393C90-6877-48E6-B118-20A64136D3C6}"/>
              </a:ext>
            </a:extLst>
          </p:cNvPr>
          <p:cNvSpPr txBox="1"/>
          <p:nvPr/>
        </p:nvSpPr>
        <p:spPr>
          <a:xfrm>
            <a:off x="730289" y="2197073"/>
            <a:ext cx="2575712" cy="587441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75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/>
          <a:p>
            <a:r>
              <a:rPr lang="en-GB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order</a:t>
            </a:r>
            <a:r>
              <a:rPr lang="en-GB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: </a:t>
            </a:r>
            <a:r>
              <a:rPr lang="en-GB" sz="2400" b="1" dirty="0">
                <a:solidFill>
                  <a:srgbClr val="098658"/>
                </a:solidFill>
                <a:latin typeface="Consolas" panose="020B0609020204030204" pitchFamily="49" charset="0"/>
              </a:rPr>
              <a:t>-1</a:t>
            </a:r>
            <a:r>
              <a:rPr lang="en-GB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11" name="Текстово поле 10">
            <a:extLst>
              <a:ext uri="{FF2B5EF4-FFF2-40B4-BE49-F238E27FC236}">
                <a16:creationId xmlns:a16="http://schemas.microsoft.com/office/drawing/2014/main" id="{49D45FE2-78CE-412E-A6AA-2F3E5E3835D5}"/>
              </a:ext>
            </a:extLst>
          </p:cNvPr>
          <p:cNvSpPr txBox="1"/>
          <p:nvPr/>
        </p:nvSpPr>
        <p:spPr>
          <a:xfrm>
            <a:off x="730289" y="5116439"/>
            <a:ext cx="2575712" cy="587441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75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/>
          <a:p>
            <a:r>
              <a:rPr lang="en-GB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order</a:t>
            </a:r>
            <a:r>
              <a:rPr lang="en-GB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: </a:t>
            </a:r>
            <a:r>
              <a:rPr lang="en-GB" sz="2400" b="1" dirty="0">
                <a:solidFill>
                  <a:srgbClr val="098658"/>
                </a:solidFill>
                <a:latin typeface="Consolas" panose="020B0609020204030204" pitchFamily="49" charset="0"/>
              </a:rPr>
              <a:t>9</a:t>
            </a:r>
            <a:r>
              <a:rPr lang="en-GB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37F732C4-6593-49D7-9FF3-6B42A259C1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34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1112462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Flex Grow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5530030" y="1218764"/>
            <a:ext cx="6580598" cy="5528766"/>
          </a:xfrm>
        </p:spPr>
        <p:txBody>
          <a:bodyPr>
            <a:normAutofit fontScale="92500"/>
          </a:bodyPr>
          <a:lstStyle/>
          <a:p>
            <a:pPr>
              <a:buClr>
                <a:schemeClr val="tx1"/>
              </a:buClr>
            </a:pPr>
            <a:r>
              <a:rPr lang="en-US" sz="3200" dirty="0"/>
              <a:t>Defines how much a flexbox item should </a:t>
            </a:r>
            <a:r>
              <a:rPr lang="en-US" sz="3200" b="1" dirty="0">
                <a:solidFill>
                  <a:schemeClr val="accent1"/>
                </a:solidFill>
              </a:rPr>
              <a:t>grow</a:t>
            </a:r>
            <a:r>
              <a:rPr lang="en-US" sz="3200" dirty="0"/>
              <a:t> if there's space available</a:t>
            </a:r>
          </a:p>
          <a:p>
            <a:pPr lvl="1">
              <a:buClr>
                <a:schemeClr val="tx1"/>
              </a:buClr>
            </a:pPr>
            <a:r>
              <a:rPr lang="en-US" sz="3000" dirty="0"/>
              <a:t>The element will </a:t>
            </a:r>
            <a:r>
              <a:rPr lang="en-US" sz="3000" b="1" dirty="0">
                <a:solidFill>
                  <a:schemeClr val="accent1"/>
                </a:solidFill>
              </a:rPr>
              <a:t>NOT</a:t>
            </a:r>
            <a:r>
              <a:rPr lang="en-US" sz="3000" dirty="0"/>
              <a:t> grow if there's space available</a:t>
            </a:r>
          </a:p>
          <a:p>
            <a:pPr lvl="1">
              <a:buClr>
                <a:schemeClr val="tx1"/>
              </a:buClr>
            </a:pPr>
            <a:r>
              <a:rPr lang="en-US" sz="3000" dirty="0"/>
              <a:t> It will only use</a:t>
            </a:r>
            <a:r>
              <a:rPr lang="bg-BG" sz="3000" dirty="0"/>
              <a:t> </a:t>
            </a:r>
            <a:r>
              <a:rPr lang="en-US" sz="3000" dirty="0"/>
              <a:t>the space</a:t>
            </a:r>
            <a:r>
              <a:rPr lang="bg-BG" sz="3000" dirty="0"/>
              <a:t> </a:t>
            </a:r>
            <a:r>
              <a:rPr lang="en-US" sz="3000" dirty="0"/>
              <a:t>it needs</a:t>
            </a:r>
            <a:endParaRPr lang="bg-BG" sz="3000" dirty="0"/>
          </a:p>
          <a:p>
            <a:pPr>
              <a:buClr>
                <a:schemeClr val="tx1"/>
              </a:buClr>
            </a:pPr>
            <a:r>
              <a:rPr lang="en-US" sz="3200" dirty="0"/>
              <a:t>The element will </a:t>
            </a:r>
            <a:r>
              <a:rPr lang="en-US" sz="3200" b="1" dirty="0">
                <a:solidFill>
                  <a:schemeClr val="accent1"/>
                </a:solidFill>
              </a:rPr>
              <a:t>grow</a:t>
            </a:r>
            <a:r>
              <a:rPr lang="en-US" sz="3200" dirty="0"/>
              <a:t> by a factor of 1</a:t>
            </a:r>
          </a:p>
          <a:p>
            <a:pPr>
              <a:buClr>
                <a:schemeClr val="tx1"/>
              </a:buClr>
            </a:pPr>
            <a:r>
              <a:rPr lang="en-US" sz="3200" dirty="0"/>
              <a:t>It will fill up the remaining space if no other</a:t>
            </a:r>
            <a:r>
              <a:rPr lang="bg-BG" sz="3200" dirty="0"/>
              <a:t> </a:t>
            </a:r>
            <a:r>
              <a:rPr lang="en-US" sz="3200" dirty="0"/>
              <a:t>flexbox item has a </a:t>
            </a:r>
            <a:br>
              <a:rPr lang="bg-BG" sz="3200" dirty="0"/>
            </a:br>
            <a:r>
              <a:rPr lang="en-US" sz="3200" b="1" dirty="0">
                <a:solidFill>
                  <a:schemeClr val="bg1"/>
                </a:solidFill>
                <a:latin typeface="Consolas" panose="020B0609020204030204" pitchFamily="49" charset="0"/>
              </a:rPr>
              <a:t>flex-grow</a:t>
            </a:r>
            <a:r>
              <a:rPr lang="en-US" sz="3200" dirty="0"/>
              <a:t> value</a:t>
            </a:r>
            <a:endParaRPr lang="en-US" sz="3200" b="1" dirty="0">
              <a:solidFill>
                <a:schemeClr val="accent1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621" y="2315254"/>
            <a:ext cx="5196055" cy="1395000"/>
          </a:xfrm>
          <a:prstGeom prst="rect">
            <a:avLst/>
          </a:prstGeom>
          <a:ln w="3175" cap="rnd">
            <a:solidFill>
              <a:schemeClr val="tx1"/>
            </a:solidFill>
          </a:ln>
          <a:effectLst/>
        </p:spPr>
      </p:pic>
      <p:sp>
        <p:nvSpPr>
          <p:cNvPr id="8" name="Текстово поле 10">
            <a:extLst>
              <a:ext uri="{FF2B5EF4-FFF2-40B4-BE49-F238E27FC236}">
                <a16:creationId xmlns:a16="http://schemas.microsoft.com/office/drawing/2014/main" id="{4E606817-94AB-4AF8-8CB9-651E701397D7}"/>
              </a:ext>
            </a:extLst>
          </p:cNvPr>
          <p:cNvSpPr txBox="1"/>
          <p:nvPr/>
        </p:nvSpPr>
        <p:spPr>
          <a:xfrm>
            <a:off x="173624" y="1528948"/>
            <a:ext cx="5196054" cy="587441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75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/>
          <a:p>
            <a:r>
              <a:rPr lang="en-GB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flex-grow</a:t>
            </a:r>
            <a:r>
              <a:rPr lang="en-GB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: </a:t>
            </a:r>
            <a:r>
              <a:rPr lang="en-GB" sz="2400" b="1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GB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10" name="Slide Number">
            <a:extLst>
              <a:ext uri="{FF2B5EF4-FFF2-40B4-BE49-F238E27FC236}">
                <a16:creationId xmlns:a16="http://schemas.microsoft.com/office/drawing/2014/main" id="{38781915-8675-467D-BC6B-CE6AD471A1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35</a:t>
            </a:fld>
            <a:endParaRPr lang="en-US" noProof="0" dirty="0"/>
          </a:p>
        </p:txBody>
      </p:sp>
      <p:sp>
        <p:nvSpPr>
          <p:cNvPr id="9" name="Текстово поле 10">
            <a:extLst>
              <a:ext uri="{FF2B5EF4-FFF2-40B4-BE49-F238E27FC236}">
                <a16:creationId xmlns:a16="http://schemas.microsoft.com/office/drawing/2014/main" id="{4488E117-9791-4C80-9615-B41FCE2FCA36}"/>
              </a:ext>
            </a:extLst>
          </p:cNvPr>
          <p:cNvSpPr txBox="1"/>
          <p:nvPr/>
        </p:nvSpPr>
        <p:spPr>
          <a:xfrm>
            <a:off x="161120" y="4284000"/>
            <a:ext cx="5193036" cy="587441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75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/>
          <a:p>
            <a:r>
              <a:rPr lang="en-GB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flex-grow</a:t>
            </a:r>
            <a:r>
              <a:rPr lang="en-GB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: </a:t>
            </a:r>
            <a:r>
              <a:rPr lang="en-GB" sz="2400" b="1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GB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</p:txBody>
      </p:sp>
      <p:pic>
        <p:nvPicPr>
          <p:cNvPr id="11" name="Picture 8">
            <a:extLst>
              <a:ext uri="{FF2B5EF4-FFF2-40B4-BE49-F238E27FC236}">
                <a16:creationId xmlns:a16="http://schemas.microsoft.com/office/drawing/2014/main" id="{0C102C5C-8253-4888-85B6-8A48E88567F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120" y="5135012"/>
            <a:ext cx="5193036" cy="1371988"/>
          </a:xfrm>
          <a:prstGeom prst="rect">
            <a:avLst/>
          </a:prstGeom>
          <a:ln w="3175" cap="rnd">
            <a:solidFill>
              <a:schemeClr val="tx1"/>
            </a:solidFill>
          </a:ln>
          <a:effectLst/>
        </p:spPr>
      </p:pic>
    </p:spTree>
    <p:extLst>
      <p:ext uri="{BB962C8B-B14F-4D97-AF65-F5344CB8AC3E}">
        <p14:creationId xmlns:p14="http://schemas.microsoft.com/office/powerpoint/2010/main" val="16420825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Flex Shrink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>
              <a:buClr>
                <a:schemeClr val="tx1"/>
              </a:buClr>
            </a:pPr>
            <a:r>
              <a:rPr lang="en-US" dirty="0"/>
              <a:t>Defines how much a flexbox item should </a:t>
            </a:r>
            <a:r>
              <a:rPr lang="en-US" b="1" dirty="0">
                <a:solidFill>
                  <a:schemeClr val="accent1"/>
                </a:solidFill>
              </a:rPr>
              <a:t>shrink</a:t>
            </a:r>
            <a:r>
              <a:rPr lang="en-US" dirty="0"/>
              <a:t> if there's </a:t>
            </a:r>
            <a:r>
              <a:rPr lang="en-US" b="1" dirty="0">
                <a:solidFill>
                  <a:schemeClr val="accent1"/>
                </a:solidFill>
              </a:rPr>
              <a:t>NOT enough</a:t>
            </a:r>
            <a:r>
              <a:rPr lang="en-US" dirty="0"/>
              <a:t> space available</a:t>
            </a:r>
          </a:p>
          <a:p>
            <a:pPr marL="442912" lvl="1" indent="0">
              <a:buClr>
                <a:schemeClr val="tx1"/>
              </a:buClr>
              <a:buNone/>
            </a:pPr>
            <a:endParaRPr lang="en-US" dirty="0"/>
          </a:p>
          <a:p>
            <a:pPr lvl="1">
              <a:buClr>
                <a:schemeClr val="tx1"/>
              </a:buClr>
            </a:pPr>
            <a:r>
              <a:rPr lang="en-US" dirty="0"/>
              <a:t>If there's </a:t>
            </a:r>
            <a:r>
              <a:rPr lang="en-US" b="1" dirty="0">
                <a:solidFill>
                  <a:schemeClr val="accent1"/>
                </a:solidFill>
              </a:rPr>
              <a:t>NOT enough</a:t>
            </a:r>
            <a:r>
              <a:rPr lang="en-US" dirty="0"/>
              <a:t> space available in the container's main axis, the element will </a:t>
            </a:r>
            <a:r>
              <a:rPr lang="en-US" b="1" dirty="0">
                <a:solidFill>
                  <a:schemeClr val="accent1"/>
                </a:solidFill>
              </a:rPr>
              <a:t>shrink</a:t>
            </a:r>
            <a:r>
              <a:rPr lang="en-US" dirty="0"/>
              <a:t> by a factor of </a:t>
            </a:r>
            <a:r>
              <a:rPr lang="en-US" b="1" dirty="0">
                <a:solidFill>
                  <a:schemeClr val="accent1"/>
                </a:solidFill>
              </a:rPr>
              <a:t>1</a:t>
            </a:r>
            <a:r>
              <a:rPr lang="en-US" dirty="0"/>
              <a:t>, and will wrap </a:t>
            </a:r>
            <a:br>
              <a:rPr lang="bg-BG" dirty="0"/>
            </a:br>
            <a:r>
              <a:rPr lang="en-US" dirty="0"/>
              <a:t>its content</a:t>
            </a:r>
            <a:endParaRPr lang="bg-BG" b="1" dirty="0">
              <a:solidFill>
                <a:schemeClr val="accent1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000" y="4803135"/>
            <a:ext cx="5578375" cy="1717480"/>
          </a:xfrm>
          <a:prstGeom prst="rect">
            <a:avLst/>
          </a:prstGeom>
          <a:ln w="3175" cap="rnd">
            <a:solidFill>
              <a:schemeClr val="tx1"/>
            </a:solidFill>
          </a:ln>
          <a:effectLst/>
        </p:spPr>
      </p:pic>
      <p:sp>
        <p:nvSpPr>
          <p:cNvPr id="7" name="Текстово поле 10">
            <a:extLst>
              <a:ext uri="{FF2B5EF4-FFF2-40B4-BE49-F238E27FC236}">
                <a16:creationId xmlns:a16="http://schemas.microsoft.com/office/drawing/2014/main" id="{CAF55DD5-EEA0-4CBA-B770-AFAD18C9BBC5}"/>
              </a:ext>
            </a:extLst>
          </p:cNvPr>
          <p:cNvSpPr txBox="1"/>
          <p:nvPr/>
        </p:nvSpPr>
        <p:spPr>
          <a:xfrm>
            <a:off x="741000" y="2394000"/>
            <a:ext cx="5578375" cy="587441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75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/>
          <a:p>
            <a:r>
              <a:rPr lang="en-GB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flex-shrink</a:t>
            </a:r>
            <a:r>
              <a:rPr lang="en-GB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: </a:t>
            </a:r>
            <a:r>
              <a:rPr lang="en-GB" sz="2400" b="1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GB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EBCAEE8B-2D6E-414D-8BAF-B25AB303EB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36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3749623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Flex Shrink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206150" y="3069000"/>
            <a:ext cx="11818096" cy="3177875"/>
          </a:xfrm>
        </p:spPr>
        <p:txBody>
          <a:bodyPr>
            <a:normAutofit/>
          </a:bodyPr>
          <a:lstStyle/>
          <a:p>
            <a:r>
              <a:rPr lang="en-US" dirty="0"/>
              <a:t>The element will </a:t>
            </a:r>
            <a:r>
              <a:rPr lang="en-US" b="1" dirty="0">
                <a:solidFill>
                  <a:schemeClr val="accent1"/>
                </a:solidFill>
              </a:rPr>
              <a:t>NOT</a:t>
            </a:r>
            <a:r>
              <a:rPr lang="en-US" dirty="0"/>
              <a:t> shrink it will retain the width it needs, and </a:t>
            </a:r>
            <a:r>
              <a:rPr lang="en-US" b="1" dirty="0">
                <a:solidFill>
                  <a:schemeClr val="accent1"/>
                </a:solidFill>
              </a:rPr>
              <a:t>NOT</a:t>
            </a:r>
            <a:r>
              <a:rPr lang="en-US" dirty="0"/>
              <a:t> wrap its content</a:t>
            </a:r>
          </a:p>
          <a:p>
            <a:r>
              <a:rPr lang="en-US" dirty="0"/>
              <a:t>Its siblings will shrink to give space to the target element.</a:t>
            </a:r>
          </a:p>
          <a:p>
            <a:pPr lvl="1"/>
            <a:r>
              <a:rPr lang="en-US" dirty="0"/>
              <a:t>Because the target element will </a:t>
            </a:r>
            <a:r>
              <a:rPr lang="en-US" b="1" dirty="0">
                <a:solidFill>
                  <a:schemeClr val="accent1"/>
                </a:solidFill>
              </a:rPr>
              <a:t>NOT</a:t>
            </a:r>
            <a:r>
              <a:rPr lang="en-US" dirty="0"/>
              <a:t> wrap its content, there is a chance for the flexbox container's content to </a:t>
            </a:r>
            <a:r>
              <a:rPr lang="en-US" b="1" dirty="0">
                <a:solidFill>
                  <a:schemeClr val="bg1"/>
                </a:solidFill>
              </a:rPr>
              <a:t>overflow</a:t>
            </a:r>
            <a:endParaRPr lang="en-US" dirty="0">
              <a:solidFill>
                <a:schemeClr val="bg1"/>
              </a:solidFill>
            </a:endParaRPr>
          </a:p>
          <a:p>
            <a:pPr marL="442912" lvl="1" indent="0">
              <a:buClr>
                <a:schemeClr val="tx1"/>
              </a:buClr>
              <a:buNone/>
            </a:pPr>
            <a:endParaRPr lang="bg-BG" b="1" dirty="0">
              <a:solidFill>
                <a:schemeClr val="accent1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8475" y="1525894"/>
            <a:ext cx="3848100" cy="1171575"/>
          </a:xfrm>
          <a:prstGeom prst="rect">
            <a:avLst/>
          </a:prstGeom>
          <a:ln w="3175" cap="rnd">
            <a:solidFill>
              <a:schemeClr val="tx1"/>
            </a:solidFill>
          </a:ln>
          <a:effectLst/>
        </p:spPr>
      </p:pic>
      <p:sp>
        <p:nvSpPr>
          <p:cNvPr id="9" name="Текстово поле 10">
            <a:extLst>
              <a:ext uri="{FF2B5EF4-FFF2-40B4-BE49-F238E27FC236}">
                <a16:creationId xmlns:a16="http://schemas.microsoft.com/office/drawing/2014/main" id="{F265C9E6-BC00-4D76-AEE2-36A9B76A21D8}"/>
              </a:ext>
            </a:extLst>
          </p:cNvPr>
          <p:cNvSpPr txBox="1"/>
          <p:nvPr/>
        </p:nvSpPr>
        <p:spPr>
          <a:xfrm>
            <a:off x="381000" y="1817962"/>
            <a:ext cx="3863194" cy="587441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75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/>
          <a:p>
            <a:r>
              <a:rPr lang="en-GB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flex-shrink</a:t>
            </a:r>
            <a:r>
              <a:rPr lang="en-GB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: </a:t>
            </a:r>
            <a:r>
              <a:rPr lang="en-GB" sz="2400" b="1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GB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A2876F33-816B-442F-85DA-368058CA1E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37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980717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Flex Basis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5196000" y="1213606"/>
            <a:ext cx="6850598" cy="5528766"/>
          </a:xfrm>
        </p:spPr>
        <p:txBody>
          <a:bodyPr>
            <a:normAutofit/>
          </a:bodyPr>
          <a:lstStyle/>
          <a:p>
            <a:pPr>
              <a:buClr>
                <a:schemeClr val="tx1"/>
              </a:buClr>
            </a:pPr>
            <a:r>
              <a:rPr lang="en-US" dirty="0"/>
              <a:t>Defines the </a:t>
            </a:r>
            <a:r>
              <a:rPr lang="en-US" b="1" dirty="0">
                <a:solidFill>
                  <a:schemeClr val="bg1"/>
                </a:solidFill>
              </a:rPr>
              <a:t>initial</a:t>
            </a:r>
            <a:r>
              <a:rPr lang="en-US" dirty="0"/>
              <a:t> </a:t>
            </a:r>
            <a:r>
              <a:rPr lang="en-US" b="1" dirty="0">
                <a:solidFill>
                  <a:schemeClr val="bg1"/>
                </a:solidFill>
              </a:rPr>
              <a:t>size</a:t>
            </a:r>
            <a:r>
              <a:rPr lang="en-US" dirty="0"/>
              <a:t> of a </a:t>
            </a:r>
            <a:br>
              <a:rPr lang="bg-BG" dirty="0"/>
            </a:br>
            <a:r>
              <a:rPr lang="en-US" dirty="0"/>
              <a:t>flexbox item</a:t>
            </a:r>
          </a:p>
          <a:p>
            <a:pPr lvl="1">
              <a:buClr>
                <a:schemeClr val="tx1"/>
              </a:buClr>
            </a:pPr>
            <a:r>
              <a:rPr lang="en-US" dirty="0">
                <a:solidFill>
                  <a:schemeClr val="tx2"/>
                </a:solidFill>
              </a:rPr>
              <a:t>The element will be automatically sized based on its </a:t>
            </a:r>
            <a:r>
              <a:rPr lang="en-US" b="1" dirty="0">
                <a:solidFill>
                  <a:schemeClr val="bg1"/>
                </a:solidFill>
              </a:rPr>
              <a:t>content</a:t>
            </a:r>
            <a:r>
              <a:rPr lang="en-US" dirty="0">
                <a:solidFill>
                  <a:schemeClr val="tx2"/>
                </a:solidFill>
              </a:rPr>
              <a:t>, or on</a:t>
            </a:r>
            <a:r>
              <a:rPr lang="bg-BG" dirty="0">
                <a:solidFill>
                  <a:schemeClr val="tx2"/>
                </a:solidFill>
              </a:rPr>
              <a:t> </a:t>
            </a:r>
            <a:r>
              <a:rPr lang="en-US" dirty="0">
                <a:solidFill>
                  <a:schemeClr val="tx2"/>
                </a:solidFill>
              </a:rPr>
              <a:t>any </a:t>
            </a:r>
            <a:r>
              <a:rPr lang="en-US" b="1" dirty="0">
                <a:solidFill>
                  <a:schemeClr val="bg1"/>
                </a:solidFill>
              </a:rPr>
              <a:t>height</a:t>
            </a:r>
            <a:r>
              <a:rPr lang="en-US" dirty="0">
                <a:solidFill>
                  <a:schemeClr val="tx2"/>
                </a:solidFill>
              </a:rPr>
              <a:t> or </a:t>
            </a:r>
            <a:r>
              <a:rPr lang="en-US" b="1" dirty="0">
                <a:solidFill>
                  <a:schemeClr val="bg1"/>
                </a:solidFill>
              </a:rPr>
              <a:t>width</a:t>
            </a:r>
            <a:r>
              <a:rPr lang="en-US" dirty="0">
                <a:solidFill>
                  <a:schemeClr val="tx2"/>
                </a:solidFill>
              </a:rPr>
              <a:t> </a:t>
            </a:r>
            <a:r>
              <a:rPr lang="en-US" b="1" dirty="0">
                <a:solidFill>
                  <a:schemeClr val="bg1"/>
                </a:solidFill>
              </a:rPr>
              <a:t>value</a:t>
            </a:r>
            <a:r>
              <a:rPr lang="en-US" dirty="0">
                <a:solidFill>
                  <a:schemeClr val="tx2"/>
                </a:solidFill>
              </a:rPr>
              <a:t> if they are defined</a:t>
            </a:r>
            <a:endParaRPr lang="bg-BG" dirty="0">
              <a:solidFill>
                <a:schemeClr val="tx2"/>
              </a:solidFill>
            </a:endParaRPr>
          </a:p>
          <a:p>
            <a:pPr>
              <a:buClr>
                <a:schemeClr val="tx1"/>
              </a:buClr>
            </a:pPr>
            <a:r>
              <a:rPr lang="en-US" dirty="0"/>
              <a:t>You can define </a:t>
            </a:r>
            <a:r>
              <a:rPr lang="en-US" b="1" dirty="0">
                <a:solidFill>
                  <a:schemeClr val="bg1"/>
                </a:solidFill>
              </a:rPr>
              <a:t>pixel</a:t>
            </a:r>
            <a:r>
              <a:rPr lang="en-US" dirty="0"/>
              <a:t> or </a:t>
            </a:r>
            <a:r>
              <a:rPr lang="en-US" b="1" dirty="0">
                <a:solidFill>
                  <a:schemeClr val="bg1"/>
                </a:solidFill>
              </a:rPr>
              <a:t>(r)</a:t>
            </a:r>
            <a:r>
              <a:rPr lang="en-US" b="1" dirty="0" err="1">
                <a:solidFill>
                  <a:schemeClr val="bg1"/>
                </a:solidFill>
              </a:rPr>
              <a:t>em</a:t>
            </a:r>
            <a:r>
              <a:rPr lang="en-US" dirty="0">
                <a:solidFill>
                  <a:schemeClr val="bg1"/>
                </a:solidFill>
              </a:rPr>
              <a:t> </a:t>
            </a:r>
            <a:r>
              <a:rPr lang="en-US" dirty="0"/>
              <a:t>values</a:t>
            </a:r>
          </a:p>
          <a:p>
            <a:pPr>
              <a:buClr>
                <a:schemeClr val="tx1"/>
              </a:buClr>
            </a:pPr>
            <a:r>
              <a:rPr lang="en-US" dirty="0"/>
              <a:t>The element will wrap its content to avoid any overflow</a:t>
            </a:r>
            <a:endParaRPr lang="en-US" dirty="0">
              <a:solidFill>
                <a:schemeClr val="tx2"/>
              </a:solidFill>
            </a:endParaRPr>
          </a:p>
          <a:p>
            <a:pPr>
              <a:buClr>
                <a:schemeClr val="tx1"/>
              </a:buClr>
            </a:pPr>
            <a:endParaRPr lang="en-US" dirty="0">
              <a:solidFill>
                <a:schemeClr val="tx2"/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650" y="2329928"/>
            <a:ext cx="4897350" cy="1336128"/>
          </a:xfrm>
          <a:prstGeom prst="rect">
            <a:avLst/>
          </a:prstGeom>
          <a:ln w="3175" cap="rnd">
            <a:solidFill>
              <a:schemeClr val="accent6">
                <a:lumMod val="10000"/>
              </a:schemeClr>
            </a:solidFill>
          </a:ln>
          <a:effectLst/>
        </p:spPr>
      </p:pic>
      <p:sp>
        <p:nvSpPr>
          <p:cNvPr id="7" name="Текстово поле 10">
            <a:extLst>
              <a:ext uri="{FF2B5EF4-FFF2-40B4-BE49-F238E27FC236}">
                <a16:creationId xmlns:a16="http://schemas.microsoft.com/office/drawing/2014/main" id="{6626A857-6891-487E-965E-55AF6797417C}"/>
              </a:ext>
            </a:extLst>
          </p:cNvPr>
          <p:cNvSpPr txBox="1"/>
          <p:nvPr/>
        </p:nvSpPr>
        <p:spPr>
          <a:xfrm>
            <a:off x="684960" y="1540509"/>
            <a:ext cx="3510000" cy="587441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75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/>
          <a:p>
            <a:r>
              <a:rPr lang="en-GB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flex-basis</a:t>
            </a:r>
            <a:r>
              <a:rPr lang="en-GB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: </a:t>
            </a:r>
            <a:r>
              <a:rPr lang="en-GB" sz="2400" b="1" dirty="0">
                <a:solidFill>
                  <a:srgbClr val="0451A5"/>
                </a:solidFill>
                <a:latin typeface="Consolas" panose="020B0609020204030204" pitchFamily="49" charset="0"/>
              </a:rPr>
              <a:t>auto</a:t>
            </a:r>
            <a:r>
              <a:rPr lang="en-GB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10" name="Slide Number">
            <a:extLst>
              <a:ext uri="{FF2B5EF4-FFF2-40B4-BE49-F238E27FC236}">
                <a16:creationId xmlns:a16="http://schemas.microsoft.com/office/drawing/2014/main" id="{DA6E727C-DCA0-4B9B-93E1-417185E8E1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38</a:t>
            </a:fld>
            <a:endParaRPr lang="en-US" noProof="0" dirty="0"/>
          </a:p>
        </p:txBody>
      </p:sp>
      <p:sp>
        <p:nvSpPr>
          <p:cNvPr id="9" name="Текстово поле 10">
            <a:extLst>
              <a:ext uri="{FF2B5EF4-FFF2-40B4-BE49-F238E27FC236}">
                <a16:creationId xmlns:a16="http://schemas.microsoft.com/office/drawing/2014/main" id="{0DB0FAC5-61EC-4BC4-9BC0-D16DEA2A57AC}"/>
              </a:ext>
            </a:extLst>
          </p:cNvPr>
          <p:cNvSpPr txBox="1"/>
          <p:nvPr/>
        </p:nvSpPr>
        <p:spPr>
          <a:xfrm>
            <a:off x="684960" y="4223161"/>
            <a:ext cx="3510000" cy="587441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75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/>
          <a:p>
            <a:r>
              <a:rPr lang="en-GB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flex-basis</a:t>
            </a:r>
            <a:r>
              <a:rPr lang="en-GB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: </a:t>
            </a:r>
            <a:r>
              <a:rPr lang="en-GB" sz="2400" b="1" dirty="0">
                <a:solidFill>
                  <a:srgbClr val="0451A5"/>
                </a:solidFill>
                <a:latin typeface="Consolas" panose="020B0609020204030204" pitchFamily="49" charset="0"/>
              </a:rPr>
              <a:t>80px</a:t>
            </a:r>
            <a:r>
              <a:rPr lang="en-GB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</p:txBody>
      </p:sp>
      <p:pic>
        <p:nvPicPr>
          <p:cNvPr id="11" name="Picture 8">
            <a:extLst>
              <a:ext uri="{FF2B5EF4-FFF2-40B4-BE49-F238E27FC236}">
                <a16:creationId xmlns:a16="http://schemas.microsoft.com/office/drawing/2014/main" id="{72A576CF-763A-4E24-9615-BE361AEF7D3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263" y="5012580"/>
            <a:ext cx="4895737" cy="1531854"/>
          </a:xfrm>
          <a:prstGeom prst="rect">
            <a:avLst/>
          </a:prstGeom>
          <a:ln w="3175" cap="rnd">
            <a:solidFill>
              <a:schemeClr val="tx1"/>
            </a:solidFill>
          </a:ln>
          <a:effectLst/>
        </p:spPr>
      </p:pic>
    </p:spTree>
    <p:extLst>
      <p:ext uri="{BB962C8B-B14F-4D97-AF65-F5344CB8AC3E}">
        <p14:creationId xmlns:p14="http://schemas.microsoft.com/office/powerpoint/2010/main" val="2926094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Flex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>
              <a:buClr>
                <a:schemeClr val="tx1"/>
              </a:buClr>
            </a:pPr>
            <a:r>
              <a:rPr lang="en-US" dirty="0">
                <a:solidFill>
                  <a:schemeClr val="tx2"/>
                </a:solidFill>
              </a:rPr>
              <a:t>Flex is the shorthand for:</a:t>
            </a:r>
          </a:p>
          <a:p>
            <a:pPr lvl="1">
              <a:buClr>
                <a:schemeClr val="tx1"/>
              </a:buClr>
            </a:pPr>
            <a:r>
              <a:rPr lang="en-US" sz="3200" b="1" dirty="0">
                <a:solidFill>
                  <a:schemeClr val="bg1"/>
                </a:solidFill>
                <a:latin typeface="Consolas" panose="020B0609020204030204" pitchFamily="49" charset="0"/>
              </a:rPr>
              <a:t>flex-grow</a:t>
            </a:r>
          </a:p>
          <a:p>
            <a:pPr lvl="1">
              <a:buClr>
                <a:schemeClr val="tx1"/>
              </a:buClr>
            </a:pPr>
            <a:r>
              <a:rPr lang="en-US" sz="3200" b="1" dirty="0">
                <a:solidFill>
                  <a:schemeClr val="bg1"/>
                </a:solidFill>
                <a:latin typeface="Consolas" panose="020B0609020204030204" pitchFamily="49" charset="0"/>
              </a:rPr>
              <a:t>flex-shrink</a:t>
            </a:r>
          </a:p>
          <a:p>
            <a:pPr lvl="1">
              <a:buClr>
                <a:schemeClr val="tx1"/>
              </a:buClr>
            </a:pPr>
            <a:r>
              <a:rPr lang="en-US" sz="3200" b="1" dirty="0">
                <a:solidFill>
                  <a:schemeClr val="bg1"/>
                </a:solidFill>
                <a:latin typeface="Consolas" panose="020B0609020204030204" pitchFamily="49" charset="0"/>
              </a:rPr>
              <a:t>flex-basis</a:t>
            </a:r>
          </a:p>
          <a:p>
            <a:pPr>
              <a:buClr>
                <a:schemeClr val="tx1"/>
              </a:buClr>
            </a:pPr>
            <a:r>
              <a:rPr lang="en-US" dirty="0">
                <a:solidFill>
                  <a:schemeClr val="tx2"/>
                </a:solidFill>
              </a:rPr>
              <a:t>The default value is </a:t>
            </a:r>
            <a:r>
              <a:rPr lang="en-US" sz="2800" b="1" dirty="0">
                <a:solidFill>
                  <a:schemeClr val="bg1"/>
                </a:solidFill>
                <a:latin typeface="Consolas" panose="020B0609020204030204" pitchFamily="49" charset="0"/>
              </a:rPr>
              <a:t>0 1 auto</a:t>
            </a:r>
          </a:p>
        </p:txBody>
      </p:sp>
      <p:sp>
        <p:nvSpPr>
          <p:cNvPr id="7" name="Текстово поле 10"/>
          <p:cNvSpPr txBox="1"/>
          <p:nvPr/>
        </p:nvSpPr>
        <p:spPr>
          <a:xfrm>
            <a:off x="831000" y="4599000"/>
            <a:ext cx="9180000" cy="1326105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75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/>
          <a:p>
            <a:r>
              <a:rPr lang="en-GB" sz="2400" b="1" dirty="0">
                <a:solidFill>
                  <a:srgbClr val="800000"/>
                </a:solidFill>
                <a:latin typeface="Consolas" panose="020B0609020204030204" pitchFamily="49" charset="0"/>
              </a:rPr>
              <a:t>.item</a:t>
            </a:r>
            <a:r>
              <a:rPr lang="en-GB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 {</a:t>
            </a:r>
          </a:p>
          <a:p>
            <a:r>
              <a:rPr lang="en-GB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GB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flex</a:t>
            </a:r>
            <a:r>
              <a:rPr lang="en-GB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: &lt;flex-grow&gt; &lt;flex-shrink&gt; &lt;flex-basis&gt;</a:t>
            </a:r>
          </a:p>
          <a:p>
            <a:r>
              <a:rPr lang="en-GB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8A10DE19-7A2E-40CE-AA5E-1C3F64E06C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39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6313806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Align Self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>
              <a:buClr>
                <a:schemeClr val="tx1"/>
              </a:buClr>
            </a:pPr>
            <a:r>
              <a:rPr lang="en-US" dirty="0"/>
              <a:t>Works like </a:t>
            </a:r>
            <a:r>
              <a:rPr lang="en-US" sz="3200" b="1" dirty="0">
                <a:solidFill>
                  <a:schemeClr val="bg1"/>
                </a:solidFill>
                <a:latin typeface="Consolas" panose="020B0609020204030204" pitchFamily="49" charset="0"/>
              </a:rPr>
              <a:t>align-items</a:t>
            </a:r>
            <a:r>
              <a:rPr lang="en-US" dirty="0"/>
              <a:t>, but applies only to a </a:t>
            </a:r>
            <a:r>
              <a:rPr lang="en-US" b="1" dirty="0">
                <a:solidFill>
                  <a:schemeClr val="bg1"/>
                </a:solidFill>
              </a:rPr>
              <a:t>single </a:t>
            </a:r>
            <a:r>
              <a:rPr lang="en-US" dirty="0"/>
              <a:t>flexbox item, instead of all of them</a:t>
            </a:r>
            <a:endParaRPr lang="en-US" dirty="0">
              <a:solidFill>
                <a:schemeClr val="tx2"/>
              </a:solidFill>
            </a:endParaRPr>
          </a:p>
          <a:p>
            <a:pPr lvl="1">
              <a:buClr>
                <a:schemeClr val="tx1"/>
              </a:buClr>
            </a:pPr>
            <a:r>
              <a:rPr lang="en-US" dirty="0">
                <a:solidFill>
                  <a:schemeClr val="tx2"/>
                </a:solidFill>
              </a:rPr>
              <a:t>The target will use the value of </a:t>
            </a:r>
            <a:r>
              <a:rPr lang="en-US" sz="2800" b="1" dirty="0">
                <a:solidFill>
                  <a:schemeClr val="bg1"/>
                </a:solidFill>
                <a:latin typeface="Consolas" panose="020B0609020204030204" pitchFamily="49" charset="0"/>
              </a:rPr>
              <a:t>align-items</a:t>
            </a:r>
          </a:p>
          <a:p>
            <a:pPr lvl="1">
              <a:buClr>
                <a:schemeClr val="tx1"/>
              </a:buClr>
            </a:pPr>
            <a:endParaRPr lang="en-US" dirty="0">
              <a:solidFill>
                <a:schemeClr val="tx2"/>
              </a:solidFill>
            </a:endParaRPr>
          </a:p>
          <a:p>
            <a:pPr>
              <a:buClr>
                <a:schemeClr val="tx1"/>
              </a:buClr>
            </a:pPr>
            <a:r>
              <a:rPr lang="en-US" dirty="0">
                <a:solidFill>
                  <a:schemeClr val="tx2"/>
                </a:solidFill>
              </a:rPr>
              <a:t>The container has </a:t>
            </a:r>
            <a:r>
              <a:rPr lang="en-US" sz="2800" b="1" dirty="0">
                <a:solidFill>
                  <a:schemeClr val="bg1"/>
                </a:solidFill>
                <a:latin typeface="Consolas" panose="020B0609020204030204" pitchFamily="49" charset="0"/>
              </a:rPr>
              <a:t>align-items:</a:t>
            </a:r>
            <a:r>
              <a:rPr lang="en-US" sz="2800" dirty="0">
                <a:solidFill>
                  <a:schemeClr val="tx2"/>
                </a:solidFill>
              </a:rPr>
              <a:t> </a:t>
            </a:r>
            <a:r>
              <a:rPr lang="en-US" sz="2800" b="1" dirty="0">
                <a:solidFill>
                  <a:schemeClr val="bg1"/>
                </a:solidFill>
                <a:latin typeface="Consolas" panose="020B0609020204030204" pitchFamily="49" charset="0"/>
              </a:rPr>
              <a:t>center</a:t>
            </a:r>
            <a:endParaRPr lang="en-US" sz="3200" b="1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buClr>
                <a:schemeClr val="tx1"/>
              </a:buClr>
            </a:pPr>
            <a:r>
              <a:rPr lang="en-US" dirty="0">
                <a:solidFill>
                  <a:schemeClr val="tx2"/>
                </a:solidFill>
              </a:rPr>
              <a:t>The target has </a:t>
            </a:r>
            <a:r>
              <a:rPr lang="en-US" sz="2800" b="1" dirty="0">
                <a:solidFill>
                  <a:schemeClr val="bg1"/>
                </a:solidFill>
                <a:latin typeface="Consolas" panose="020B0609020204030204" pitchFamily="49" charset="0"/>
              </a:rPr>
              <a:t>align-self:</a:t>
            </a:r>
            <a:r>
              <a:rPr lang="en-US" sz="2800" dirty="0">
                <a:solidFill>
                  <a:schemeClr val="tx2"/>
                </a:solidFill>
              </a:rPr>
              <a:t> </a:t>
            </a:r>
            <a:r>
              <a:rPr lang="en-US" sz="2800" b="1" dirty="0">
                <a:solidFill>
                  <a:schemeClr val="bg1"/>
                </a:solidFill>
                <a:latin typeface="Consolas" panose="020B0609020204030204" pitchFamily="49" charset="0"/>
              </a:rPr>
              <a:t>flex-start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31000" y="2529000"/>
            <a:ext cx="2655000" cy="1514334"/>
          </a:xfrm>
          <a:prstGeom prst="rect">
            <a:avLst/>
          </a:prstGeom>
          <a:ln w="3175" cap="rnd">
            <a:solidFill>
              <a:schemeClr val="tx1"/>
            </a:solidFill>
          </a:ln>
          <a:effectLst/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3885" y="4458678"/>
            <a:ext cx="2629230" cy="1522871"/>
          </a:xfrm>
          <a:prstGeom prst="rect">
            <a:avLst/>
          </a:prstGeom>
          <a:ln w="3175" cap="rnd">
            <a:solidFill>
              <a:schemeClr val="tx1"/>
            </a:solidFill>
          </a:ln>
          <a:effectLst/>
        </p:spPr>
      </p:pic>
      <p:sp>
        <p:nvSpPr>
          <p:cNvPr id="9" name="Текстово поле 10">
            <a:extLst>
              <a:ext uri="{FF2B5EF4-FFF2-40B4-BE49-F238E27FC236}">
                <a16:creationId xmlns:a16="http://schemas.microsoft.com/office/drawing/2014/main" id="{7955F204-1B6B-49AB-913D-BAAEB3B1E8D9}"/>
              </a:ext>
            </a:extLst>
          </p:cNvPr>
          <p:cNvSpPr txBox="1"/>
          <p:nvPr/>
        </p:nvSpPr>
        <p:spPr>
          <a:xfrm>
            <a:off x="1191000" y="3114000"/>
            <a:ext cx="6597579" cy="587441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75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/>
          <a:p>
            <a:r>
              <a:rPr lang="en-GB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align-self</a:t>
            </a:r>
            <a:r>
              <a:rPr lang="en-GB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: </a:t>
            </a:r>
            <a:r>
              <a:rPr lang="en-GB" sz="2400" b="1" dirty="0">
                <a:solidFill>
                  <a:srgbClr val="0451A5"/>
                </a:solidFill>
                <a:latin typeface="Consolas" panose="020B0609020204030204" pitchFamily="49" charset="0"/>
              </a:rPr>
              <a:t>auto</a:t>
            </a:r>
            <a:r>
              <a:rPr lang="en-GB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10" name="Текстово поле 10">
            <a:extLst>
              <a:ext uri="{FF2B5EF4-FFF2-40B4-BE49-F238E27FC236}">
                <a16:creationId xmlns:a16="http://schemas.microsoft.com/office/drawing/2014/main" id="{B22A7203-2CD7-425A-872F-97E927AB364E}"/>
              </a:ext>
            </a:extLst>
          </p:cNvPr>
          <p:cNvSpPr txBox="1"/>
          <p:nvPr/>
        </p:nvSpPr>
        <p:spPr>
          <a:xfrm>
            <a:off x="1190999" y="5156714"/>
            <a:ext cx="6597579" cy="587441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75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/>
          <a:p>
            <a:r>
              <a:rPr lang="en-GB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align-self</a:t>
            </a:r>
            <a:r>
              <a:rPr lang="en-GB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: </a:t>
            </a:r>
            <a:r>
              <a:rPr lang="en-GB" sz="2400" b="1" dirty="0">
                <a:solidFill>
                  <a:srgbClr val="0451A5"/>
                </a:solidFill>
                <a:latin typeface="Consolas" panose="020B0609020204030204" pitchFamily="49" charset="0"/>
              </a:rPr>
              <a:t>flex-start</a:t>
            </a:r>
            <a:r>
              <a:rPr lang="en-GB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12" name="Slide Number">
            <a:extLst>
              <a:ext uri="{FF2B5EF4-FFF2-40B4-BE49-F238E27FC236}">
                <a16:creationId xmlns:a16="http://schemas.microsoft.com/office/drawing/2014/main" id="{74F89736-4F3A-4D3B-A4D7-6AF5199F25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40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9057240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Align Self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>
              <a:buClr>
                <a:schemeClr val="tx1"/>
              </a:buClr>
            </a:pPr>
            <a:r>
              <a:rPr lang="en-US" dirty="0">
                <a:solidFill>
                  <a:schemeClr val="tx2"/>
                </a:solidFill>
              </a:rPr>
              <a:t>The container has align-items: </a:t>
            </a:r>
            <a:r>
              <a:rPr lang="en-US" sz="2800" b="1" dirty="0">
                <a:solidFill>
                  <a:schemeClr val="bg1"/>
                </a:solidFill>
                <a:latin typeface="Consolas" panose="020B0609020204030204" pitchFamily="49" charset="0"/>
              </a:rPr>
              <a:t>flex-start</a:t>
            </a:r>
            <a:endParaRPr lang="en-US" sz="3200" b="1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buClr>
                <a:schemeClr val="tx1"/>
              </a:buClr>
            </a:pPr>
            <a:r>
              <a:rPr lang="en-US" dirty="0">
                <a:solidFill>
                  <a:schemeClr val="tx2"/>
                </a:solidFill>
              </a:rPr>
              <a:t>The target has </a:t>
            </a:r>
            <a:r>
              <a:rPr lang="en-US" sz="2800" b="1" dirty="0">
                <a:solidFill>
                  <a:schemeClr val="bg1"/>
                </a:solidFill>
                <a:latin typeface="Consolas" panose="020B0609020204030204" pitchFamily="49" charset="0"/>
              </a:rPr>
              <a:t>align-self: center</a:t>
            </a:r>
          </a:p>
          <a:p>
            <a:pPr marL="442912" lvl="1" indent="0">
              <a:buClr>
                <a:schemeClr val="tx1"/>
              </a:buClr>
              <a:buNone/>
            </a:pPr>
            <a:endParaRPr lang="en-US" dirty="0">
              <a:solidFill>
                <a:schemeClr val="tx2"/>
              </a:solidFill>
            </a:endParaRPr>
          </a:p>
          <a:p>
            <a:pPr>
              <a:buClr>
                <a:schemeClr val="tx1"/>
              </a:buClr>
            </a:pPr>
            <a:r>
              <a:rPr lang="en-US" dirty="0">
                <a:solidFill>
                  <a:schemeClr val="tx2"/>
                </a:solidFill>
              </a:rPr>
              <a:t>The container has </a:t>
            </a:r>
            <a:r>
              <a:rPr lang="en-US" sz="2800" b="1" dirty="0">
                <a:solidFill>
                  <a:schemeClr val="bg1"/>
                </a:solidFill>
                <a:latin typeface="Consolas" panose="020B0609020204030204" pitchFamily="49" charset="0"/>
              </a:rPr>
              <a:t>align-items: center</a:t>
            </a:r>
          </a:p>
          <a:p>
            <a:pPr>
              <a:buClr>
                <a:schemeClr val="tx1"/>
              </a:buClr>
            </a:pPr>
            <a:r>
              <a:rPr lang="en-US" dirty="0">
                <a:solidFill>
                  <a:schemeClr val="tx2"/>
                </a:solidFill>
              </a:rPr>
              <a:t>The target has </a:t>
            </a:r>
            <a:r>
              <a:rPr lang="en-US" sz="2800" b="1" dirty="0">
                <a:solidFill>
                  <a:schemeClr val="bg1"/>
                </a:solidFill>
                <a:latin typeface="Consolas" panose="020B0609020204030204" pitchFamily="49" charset="0"/>
              </a:rPr>
              <a:t>align-self: stretch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7028" y="2092916"/>
            <a:ext cx="3134903" cy="1812487"/>
          </a:xfrm>
          <a:prstGeom prst="rect">
            <a:avLst/>
          </a:prstGeom>
          <a:ln w="3175" cap="rnd">
            <a:solidFill>
              <a:schemeClr val="tx1"/>
            </a:solidFill>
          </a:ln>
          <a:effectLst/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7027" y="4118124"/>
            <a:ext cx="3134903" cy="1788056"/>
          </a:xfrm>
          <a:prstGeom prst="rect">
            <a:avLst/>
          </a:prstGeom>
          <a:ln w="3175" cap="rnd">
            <a:solidFill>
              <a:schemeClr val="tx1"/>
            </a:solidFill>
          </a:ln>
          <a:effectLst/>
        </p:spPr>
      </p:pic>
      <p:sp>
        <p:nvSpPr>
          <p:cNvPr id="9" name="Текстово поле 10">
            <a:extLst>
              <a:ext uri="{FF2B5EF4-FFF2-40B4-BE49-F238E27FC236}">
                <a16:creationId xmlns:a16="http://schemas.microsoft.com/office/drawing/2014/main" id="{84C4F09D-0144-47D0-BB42-2E8AD4E91A0F}"/>
              </a:ext>
            </a:extLst>
          </p:cNvPr>
          <p:cNvSpPr txBox="1"/>
          <p:nvPr/>
        </p:nvSpPr>
        <p:spPr>
          <a:xfrm>
            <a:off x="722865" y="2539046"/>
            <a:ext cx="4422830" cy="587441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75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/>
          <a:p>
            <a:r>
              <a:rPr lang="en-GB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align-self</a:t>
            </a:r>
            <a:r>
              <a:rPr lang="en-GB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: </a:t>
            </a:r>
            <a:r>
              <a:rPr lang="en-GB" sz="2400" b="1" dirty="0" err="1">
                <a:solidFill>
                  <a:srgbClr val="0451A5"/>
                </a:solidFill>
                <a:latin typeface="Consolas" panose="020B0609020204030204" pitchFamily="49" charset="0"/>
              </a:rPr>
              <a:t>center</a:t>
            </a:r>
            <a:r>
              <a:rPr lang="en-GB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10" name="Текстово поле 10">
            <a:extLst>
              <a:ext uri="{FF2B5EF4-FFF2-40B4-BE49-F238E27FC236}">
                <a16:creationId xmlns:a16="http://schemas.microsoft.com/office/drawing/2014/main" id="{7F0A668E-0896-498C-91F0-5AE8021CD460}"/>
              </a:ext>
            </a:extLst>
          </p:cNvPr>
          <p:cNvSpPr txBox="1"/>
          <p:nvPr/>
        </p:nvSpPr>
        <p:spPr>
          <a:xfrm>
            <a:off x="728171" y="4689000"/>
            <a:ext cx="4422829" cy="587441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75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/>
          <a:p>
            <a:r>
              <a:rPr lang="en-GB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align-self</a:t>
            </a:r>
            <a:r>
              <a:rPr lang="en-GB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: </a:t>
            </a:r>
            <a:r>
              <a:rPr lang="en-GB" sz="2400" b="1" dirty="0">
                <a:solidFill>
                  <a:srgbClr val="0451A5"/>
                </a:solidFill>
                <a:latin typeface="Consolas" panose="020B0609020204030204" pitchFamily="49" charset="0"/>
              </a:rPr>
              <a:t>stretch</a:t>
            </a:r>
            <a:r>
              <a:rPr lang="en-GB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12" name="Slide Number">
            <a:extLst>
              <a:ext uri="{FF2B5EF4-FFF2-40B4-BE49-F238E27FC236}">
                <a16:creationId xmlns:a16="http://schemas.microsoft.com/office/drawing/2014/main" id="{B16F15E4-5908-47A0-99FD-BA438EA095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41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9480818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ов контейнер 2">
            <a:extLst>
              <a:ext uri="{FF2B5EF4-FFF2-40B4-BE49-F238E27FC236}">
                <a16:creationId xmlns:a16="http://schemas.microsoft.com/office/drawing/2014/main" id="{AB564BA1-E0FB-A247-83CE-274E0D78F66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196125"/>
            <a:ext cx="11890598" cy="5528766"/>
          </a:xfrm>
        </p:spPr>
        <p:txBody>
          <a:bodyPr>
            <a:normAutofit fontScale="92500"/>
          </a:bodyPr>
          <a:lstStyle/>
          <a:p>
            <a:pPr>
              <a:lnSpc>
                <a:spcPct val="150000"/>
              </a:lnSpc>
              <a:buClr>
                <a:schemeClr val="tx1"/>
              </a:buClr>
            </a:pPr>
            <a:r>
              <a:rPr lang="en-US" sz="3200" u="sng" dirty="0">
                <a:solidFill>
                  <a:schemeClr val="bg1"/>
                </a:solidFill>
                <a:hlinkClick r:id="rId2"/>
              </a:rPr>
              <a:t>https://developer.mozilla.org/en-US/docs/Learn/CSS/CSS_layout/Flexbox</a:t>
            </a:r>
            <a:endParaRPr lang="en-US" sz="3200" u="sng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  <a:buClr>
                <a:schemeClr val="tx1"/>
              </a:buClr>
            </a:pPr>
            <a:r>
              <a:rPr lang="en-US" sz="3200" u="sng" dirty="0">
                <a:solidFill>
                  <a:schemeClr val="bg1"/>
                </a:solidFill>
                <a:hlinkClick r:id="rId3"/>
              </a:rPr>
              <a:t>https://developer.mozilla.org/en-US/docs/Web/CSS/CSS_Flexible_Box_Layout/Basic_Concepts_of_Flexbox</a:t>
            </a:r>
            <a:endParaRPr lang="en-US" sz="3200" u="sng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  <a:buClr>
                <a:schemeClr val="tx1"/>
              </a:buClr>
            </a:pPr>
            <a:r>
              <a:rPr lang="en-US" sz="3200" u="sng" dirty="0">
                <a:solidFill>
                  <a:schemeClr val="bg1"/>
                </a:solidFill>
                <a:hlinkClick r:id="rId4"/>
              </a:rPr>
              <a:t>https://css-tricks.com/snippets/css/a-guide-to-flexbox/</a:t>
            </a:r>
            <a:endParaRPr lang="en-US" sz="3200" u="sng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  <a:buClr>
                <a:schemeClr val="tx1"/>
              </a:buClr>
            </a:pPr>
            <a:r>
              <a:rPr lang="en-US" sz="3200" u="sng" dirty="0">
                <a:solidFill>
                  <a:schemeClr val="bg1"/>
                </a:solidFill>
                <a:hlinkClick r:id="rId5"/>
              </a:rPr>
              <a:t>https://www.youtube.com/watch?v=hs3piaN4b5I</a:t>
            </a:r>
            <a:endParaRPr lang="en-US" sz="3200" u="sng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  <a:buClr>
                <a:schemeClr val="tx1"/>
              </a:buClr>
            </a:pPr>
            <a:r>
              <a:rPr lang="en-US" sz="3200" u="sng" dirty="0">
                <a:solidFill>
                  <a:schemeClr val="bg1"/>
                </a:solidFill>
                <a:hlinkClick r:id="rId6"/>
              </a:rPr>
              <a:t>https://www.flexboxgame.com/</a:t>
            </a:r>
            <a:endParaRPr lang="en-US" sz="3200" u="sng" dirty="0">
              <a:solidFill>
                <a:schemeClr val="bg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9A1DA41-F15A-4A36-BC07-5ABC6728B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Resources</a:t>
            </a:r>
          </a:p>
        </p:txBody>
      </p:sp>
    </p:spTree>
    <p:extLst>
      <p:ext uri="{BB962C8B-B14F-4D97-AF65-F5344CB8AC3E}">
        <p14:creationId xmlns:p14="http://schemas.microsoft.com/office/powerpoint/2010/main" val="9058117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Summary Box Group">
            <a:extLst>
              <a:ext uri="{FF2B5EF4-FFF2-40B4-BE49-F238E27FC236}">
                <a16:creationId xmlns:a16="http://schemas.microsoft.com/office/drawing/2014/main" id="{EBAFE522-EB7D-4931-A015-9A7E8A98517D}"/>
              </a:ext>
            </a:extLst>
          </p:cNvPr>
          <p:cNvGrpSpPr/>
          <p:nvPr/>
        </p:nvGrpSpPr>
        <p:grpSpPr>
          <a:xfrm>
            <a:off x="190403" y="1294337"/>
            <a:ext cx="9190597" cy="5394328"/>
            <a:chOff x="472011" y="1508786"/>
            <a:chExt cx="3799787" cy="4865561"/>
          </a:xfrm>
        </p:grpSpPr>
        <p:sp>
          <p:nvSpPr>
            <p:cNvPr id="10" name="Rounded Rectangle Blue">
              <a:extLst>
                <a:ext uri="{FF2B5EF4-FFF2-40B4-BE49-F238E27FC236}">
                  <a16:creationId xmlns:a16="http://schemas.microsoft.com/office/drawing/2014/main" id="{18F78F23-3D09-4B63-8DF9-D49CFBB145EE}"/>
                </a:ext>
              </a:extLst>
            </p:cNvPr>
            <p:cNvSpPr/>
            <p:nvPr/>
          </p:nvSpPr>
          <p:spPr>
            <a:xfrm>
              <a:off x="472011" y="1508786"/>
              <a:ext cx="3799787" cy="4865561"/>
            </a:xfrm>
            <a:prstGeom prst="roundRect">
              <a:avLst>
                <a:gd name="adj" fmla="val 3968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 dirty="0"/>
            </a:p>
          </p:txBody>
        </p:sp>
        <p:sp>
          <p:nvSpPr>
            <p:cNvPr id="11" name="Rounded Rectangle Left">
              <a:extLst>
                <a:ext uri="{FF2B5EF4-FFF2-40B4-BE49-F238E27FC236}">
                  <a16:creationId xmlns:a16="http://schemas.microsoft.com/office/drawing/2014/main" id="{F12C06CE-2BBE-46C2-B718-813794C58DF9}"/>
                </a:ext>
              </a:extLst>
            </p:cNvPr>
            <p:cNvSpPr/>
            <p:nvPr/>
          </p:nvSpPr>
          <p:spPr>
            <a:xfrm>
              <a:off x="546866" y="1696737"/>
              <a:ext cx="81601" cy="4489658"/>
            </a:xfrm>
            <a:prstGeom prst="roundRect">
              <a:avLst>
                <a:gd name="adj" fmla="val 50000"/>
              </a:avLst>
            </a:prstGeom>
            <a:solidFill>
              <a:schemeClr val="bg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 dirty="0">
                <a:solidFill>
                  <a:schemeClr val="bg1"/>
                </a:solidFill>
              </a:endParaRPr>
            </a:p>
          </p:txBody>
        </p:sp>
        <p:sp>
          <p:nvSpPr>
            <p:cNvPr id="12" name="Half Frame Top Right">
              <a:extLst>
                <a:ext uri="{FF2B5EF4-FFF2-40B4-BE49-F238E27FC236}">
                  <a16:creationId xmlns:a16="http://schemas.microsoft.com/office/drawing/2014/main" id="{66CDBB1E-AF3C-43FC-9F34-2DD691F81726}"/>
                </a:ext>
              </a:extLst>
            </p:cNvPr>
            <p:cNvSpPr/>
            <p:nvPr/>
          </p:nvSpPr>
          <p:spPr>
            <a:xfrm rot="5400000">
              <a:off x="3742559" y="1912372"/>
              <a:ext cx="669775" cy="238503"/>
            </a:xfrm>
            <a:prstGeom prst="halfFrame">
              <a:avLst>
                <a:gd name="adj1" fmla="val 23728"/>
                <a:gd name="adj2" fmla="val 24642"/>
              </a:avLst>
            </a:prstGeom>
            <a:solidFill>
              <a:schemeClr val="bg2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 dirty="0">
                <a:solidFill>
                  <a:schemeClr val="tx1"/>
                </a:solidFill>
              </a:endParaRPr>
            </a:p>
          </p:txBody>
        </p:sp>
      </p:grpSp>
      <p:pic>
        <p:nvPicPr>
          <p:cNvPr id="13" name="Picture SoftUni Mascot">
            <a:extLst>
              <a:ext uri="{FF2B5EF4-FFF2-40B4-BE49-F238E27FC236}">
                <a16:creationId xmlns:a16="http://schemas.microsoft.com/office/drawing/2014/main" id="{CCC3A316-993C-4741-8826-E104F27650A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9551645" y="3924000"/>
            <a:ext cx="2315076" cy="2505494"/>
          </a:xfrm>
          <a:prstGeom prst="rect">
            <a:avLst/>
          </a:prstGeom>
        </p:spPr>
      </p:pic>
      <p:sp>
        <p:nvSpPr>
          <p:cNvPr id="14" name="Text Placeholder Body">
            <a:extLst>
              <a:ext uri="{FF2B5EF4-FFF2-40B4-BE49-F238E27FC236}">
                <a16:creationId xmlns:a16="http://schemas.microsoft.com/office/drawing/2014/main" id="{0E49D336-45B6-44D3-97C4-E28F8DEA202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97879" y="1676785"/>
            <a:ext cx="8501476" cy="4830215"/>
          </a:xfrm>
        </p:spPr>
        <p:txBody>
          <a:bodyPr>
            <a:normAutofit/>
          </a:bodyPr>
          <a:lstStyle>
            <a:lvl1pPr marL="514350" indent="-514350">
              <a:buFont typeface="Wingdings" panose="05000000000000000000" pitchFamily="2" charset="2"/>
              <a:buChar char="§"/>
              <a:defRPr>
                <a:solidFill>
                  <a:schemeClr val="bg2"/>
                </a:solidFill>
              </a:defRPr>
            </a:lvl1pPr>
            <a:lvl2pPr marL="1123935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2pPr>
            <a:lvl3pPr marL="1733520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3pPr>
            <a:lvl4pPr marL="2343105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4pPr>
            <a:lvl5pPr marL="2952689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5pPr>
          </a:lstStyle>
          <a:p>
            <a:pPr>
              <a:buClr>
                <a:schemeClr val="bg2"/>
              </a:buClr>
            </a:pPr>
            <a:r>
              <a:rPr lang="en-US" sz="3200" b="1" dirty="0"/>
              <a:t>What is </a:t>
            </a:r>
            <a:r>
              <a:rPr lang="en-US" sz="3200" b="1" dirty="0">
                <a:solidFill>
                  <a:schemeClr val="bg1"/>
                </a:solidFill>
              </a:rPr>
              <a:t>Flexbox</a:t>
            </a:r>
            <a:r>
              <a:rPr lang="en-US" sz="3200" b="1" dirty="0"/>
              <a:t>?</a:t>
            </a:r>
          </a:p>
          <a:p>
            <a:pPr lvl="1">
              <a:buClr>
                <a:schemeClr val="bg2"/>
              </a:buClr>
            </a:pPr>
            <a:r>
              <a:rPr lang="en-US" sz="3000" b="1" dirty="0">
                <a:solidFill>
                  <a:schemeClr val="bg2"/>
                </a:solidFill>
              </a:rPr>
              <a:t>Why</a:t>
            </a:r>
            <a:r>
              <a:rPr lang="en-US" sz="3000" b="1" dirty="0"/>
              <a:t> </a:t>
            </a:r>
            <a:r>
              <a:rPr lang="en-US" sz="3000" b="1" dirty="0">
                <a:solidFill>
                  <a:schemeClr val="bg1"/>
                </a:solidFill>
              </a:rPr>
              <a:t>Flexbox</a:t>
            </a:r>
            <a:r>
              <a:rPr lang="en-US" sz="3000" b="1" dirty="0">
                <a:solidFill>
                  <a:schemeClr val="bg2"/>
                </a:solidFill>
              </a:rPr>
              <a:t>?</a:t>
            </a:r>
          </a:p>
          <a:p>
            <a:pPr>
              <a:buClr>
                <a:schemeClr val="bg2"/>
              </a:buClr>
            </a:pPr>
            <a:r>
              <a:rPr lang="en-US" sz="3200" b="1" dirty="0"/>
              <a:t>Properties for the Parent: </a:t>
            </a:r>
            <a:r>
              <a:rPr lang="en-US" sz="2800" b="1" dirty="0">
                <a:solidFill>
                  <a:schemeClr val="bg1"/>
                </a:solidFill>
                <a:latin typeface="Consolas" panose="020B0609020204030204" pitchFamily="49" charset="0"/>
              </a:rPr>
              <a:t>display</a:t>
            </a:r>
            <a:r>
              <a:rPr lang="en-US" sz="3200" b="1" dirty="0"/>
              <a:t>, </a:t>
            </a:r>
            <a:r>
              <a:rPr lang="en-US" sz="2800" b="1" dirty="0">
                <a:solidFill>
                  <a:schemeClr val="bg1"/>
                </a:solidFill>
                <a:latin typeface="Consolas" panose="020B0609020204030204" pitchFamily="49" charset="0"/>
              </a:rPr>
              <a:t>direction</a:t>
            </a:r>
            <a:r>
              <a:rPr lang="en-US" sz="3200" b="1" dirty="0"/>
              <a:t>, </a:t>
            </a:r>
            <a:r>
              <a:rPr lang="en-US" sz="2800" b="1" dirty="0">
                <a:solidFill>
                  <a:schemeClr val="bg1"/>
                </a:solidFill>
                <a:latin typeface="Consolas" panose="020B0609020204030204" pitchFamily="49" charset="0"/>
              </a:rPr>
              <a:t>wrap</a:t>
            </a:r>
            <a:r>
              <a:rPr lang="en-US" sz="3200" b="1" dirty="0"/>
              <a:t>, </a:t>
            </a:r>
            <a:r>
              <a:rPr lang="en-US" sz="2800" b="1" dirty="0">
                <a:solidFill>
                  <a:schemeClr val="bg1"/>
                </a:solidFill>
                <a:latin typeface="Consolas" panose="020B0609020204030204" pitchFamily="49" charset="0"/>
              </a:rPr>
              <a:t>justify</a:t>
            </a:r>
            <a:r>
              <a:rPr lang="en-US" sz="3200" b="1" dirty="0"/>
              <a:t>, </a:t>
            </a:r>
            <a:r>
              <a:rPr lang="en-US" sz="2800" b="1" dirty="0">
                <a:solidFill>
                  <a:schemeClr val="bg1"/>
                </a:solidFill>
                <a:latin typeface="Consolas" panose="020B0609020204030204" pitchFamily="49" charset="0"/>
              </a:rPr>
              <a:t>align</a:t>
            </a:r>
            <a:r>
              <a:rPr lang="en-US" sz="3200" b="1" dirty="0"/>
              <a:t> </a:t>
            </a:r>
          </a:p>
          <a:p>
            <a:pPr>
              <a:buClr>
                <a:schemeClr val="bg2"/>
              </a:buClr>
            </a:pPr>
            <a:r>
              <a:rPr lang="en-GB" sz="3200" b="1" dirty="0"/>
              <a:t>Properties for the children: </a:t>
            </a:r>
            <a:r>
              <a:rPr lang="en-GB" sz="2800" b="1" dirty="0">
                <a:solidFill>
                  <a:schemeClr val="bg1"/>
                </a:solidFill>
                <a:latin typeface="Consolas" panose="020B0609020204030204" pitchFamily="49" charset="0"/>
              </a:rPr>
              <a:t>order</a:t>
            </a:r>
            <a:r>
              <a:rPr lang="en-GB" sz="3200" b="1" dirty="0"/>
              <a:t>, </a:t>
            </a:r>
            <a:br>
              <a:rPr lang="bg-BG" sz="3200" b="1" dirty="0"/>
            </a:br>
            <a:r>
              <a:rPr lang="en-GB" sz="2800" b="1" dirty="0">
                <a:solidFill>
                  <a:schemeClr val="bg1"/>
                </a:solidFill>
                <a:latin typeface="Consolas" panose="020B0609020204030204" pitchFamily="49" charset="0"/>
              </a:rPr>
              <a:t>shrink</a:t>
            </a:r>
            <a:r>
              <a:rPr lang="en-GB" sz="3200" b="1" dirty="0"/>
              <a:t>, </a:t>
            </a:r>
            <a:r>
              <a:rPr lang="en-GB" sz="2800" b="1" dirty="0">
                <a:solidFill>
                  <a:schemeClr val="bg1"/>
                </a:solidFill>
                <a:latin typeface="Consolas" panose="020B0609020204030204" pitchFamily="49" charset="0"/>
              </a:rPr>
              <a:t>align</a:t>
            </a:r>
          </a:p>
        </p:txBody>
      </p:sp>
      <p:sp>
        <p:nvSpPr>
          <p:cNvPr id="4" name="Slide Title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Summary</a:t>
            </a:r>
          </a:p>
        </p:txBody>
      </p:sp>
      <p:sp>
        <p:nvSpPr>
          <p:cNvPr id="16" name="Slide Number">
            <a:extLst>
              <a:ext uri="{FF2B5EF4-FFF2-40B4-BE49-F238E27FC236}">
                <a16:creationId xmlns:a16="http://schemas.microsoft.com/office/drawing/2014/main" id="{C509C3F4-DAAC-44CD-8AE4-4916C4BD22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43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6014619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Body"/>
          <p:cNvSpPr>
            <a:spLocks noGrp="1"/>
          </p:cNvSpPr>
          <p:nvPr>
            <p:ph idx="4294967295"/>
          </p:nvPr>
        </p:nvSpPr>
        <p:spPr>
          <a:xfrm>
            <a:off x="190404" y="1179000"/>
            <a:ext cx="8695596" cy="549000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3200" dirty="0"/>
              <a:t>Software University – High-Quality Education, Profession and Job for Software Developers</a:t>
            </a:r>
          </a:p>
          <a:p>
            <a:pPr lvl="1"/>
            <a:r>
              <a:rPr lang="en-US" sz="3000" noProof="1">
                <a:hlinkClick r:id="rId3"/>
              </a:rPr>
              <a:t>softuni.bg</a:t>
            </a:r>
            <a:r>
              <a:rPr lang="en-US" sz="3000" noProof="1"/>
              <a:t>, </a:t>
            </a:r>
            <a:r>
              <a:rPr lang="en-US" sz="3000" noProof="1">
                <a:hlinkClick r:id="rId4"/>
              </a:rPr>
              <a:t>about.softuni.bg</a:t>
            </a:r>
            <a:r>
              <a:rPr lang="en-US" sz="3000" noProof="1"/>
              <a:t> </a:t>
            </a:r>
          </a:p>
          <a:p>
            <a:pPr>
              <a:lnSpc>
                <a:spcPct val="100000"/>
              </a:lnSpc>
            </a:pPr>
            <a:r>
              <a:rPr lang="en-US" sz="3200" dirty="0"/>
              <a:t>Software University Foundation</a:t>
            </a:r>
            <a:endParaRPr lang="bg-BG" sz="3200" dirty="0"/>
          </a:p>
          <a:p>
            <a:pPr lvl="1"/>
            <a:r>
              <a:rPr lang="en-US" sz="3000" noProof="1">
                <a:hlinkClick r:id="rId5"/>
              </a:rPr>
              <a:t>softuni.foundation</a:t>
            </a:r>
            <a:endParaRPr lang="en-US" sz="3000" noProof="1"/>
          </a:p>
          <a:p>
            <a:pPr>
              <a:lnSpc>
                <a:spcPct val="100000"/>
              </a:lnSpc>
            </a:pPr>
            <a:r>
              <a:rPr lang="en-US" sz="3200" dirty="0"/>
              <a:t>Software University @ Facebook</a:t>
            </a:r>
          </a:p>
          <a:p>
            <a:pPr lvl="1"/>
            <a:r>
              <a:rPr lang="en-US" sz="3000" noProof="1">
                <a:hlinkClick r:id="rId6"/>
              </a:rPr>
              <a:t>facebook.com/SoftwareUniversity</a:t>
            </a:r>
            <a:endParaRPr lang="en-US" sz="3000" noProof="1"/>
          </a:p>
        </p:txBody>
      </p:sp>
      <p:sp>
        <p:nvSpPr>
          <p:cNvPr id="3" name="Slide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Trainings @ Software University</a:t>
            </a:r>
            <a:r>
              <a:rPr lang="bg-BG" dirty="0"/>
              <a:t> (</a:t>
            </a:r>
            <a:r>
              <a:rPr lang="en-US" dirty="0"/>
              <a:t>SoftUni)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DD2EA64D-70B4-41B4-A07A-3B1B9FFE5325}"/>
              </a:ext>
            </a:extLst>
          </p:cNvPr>
          <p:cNvSpPr txBox="1">
            <a:spLocks/>
          </p:cNvSpPr>
          <p:nvPr/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F067CD-8E6B-4360-9AA8-C5DF2A48A6D1}" type="slidenum">
              <a:rPr lang="en-US" smtClean="0"/>
              <a:pPr/>
              <a:t>44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4546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Body">
            <a:extLst>
              <a:ext uri="{FF2B5EF4-FFF2-40B4-BE49-F238E27FC236}">
                <a16:creationId xmlns:a16="http://schemas.microsoft.com/office/drawing/2014/main" id="{980F49B1-E4BE-4389-A747-7AB9B71AD92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269001"/>
            <a:ext cx="11818096" cy="545589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en-US" dirty="0"/>
              <a:t>This course (slides, examples, demos, exercises, homework, documents, videos and other assets) is </a:t>
            </a:r>
            <a:r>
              <a:rPr lang="en-US" b="1" dirty="0"/>
              <a:t>copyrighted content</a:t>
            </a:r>
            <a:endParaRPr lang="en-US" dirty="0"/>
          </a:p>
          <a:p>
            <a:pPr>
              <a:lnSpc>
                <a:spcPct val="120000"/>
              </a:lnSpc>
            </a:pPr>
            <a:r>
              <a:rPr lang="en-US" dirty="0"/>
              <a:t>Unauthorized copy, reproduction or use is illegal</a:t>
            </a:r>
          </a:p>
          <a:p>
            <a:pPr>
              <a:lnSpc>
                <a:spcPct val="120000"/>
              </a:lnSpc>
            </a:pPr>
            <a:r>
              <a:rPr lang="en-US" dirty="0"/>
              <a:t>© SoftUni – </a:t>
            </a:r>
            <a:r>
              <a:rPr lang="en-US" dirty="0">
                <a:hlinkClick r:id="rId3"/>
              </a:rPr>
              <a:t>https://about.softuni.bg/</a:t>
            </a:r>
            <a:endParaRPr lang="en-US" dirty="0"/>
          </a:p>
          <a:p>
            <a:pPr>
              <a:lnSpc>
                <a:spcPct val="120000"/>
              </a:lnSpc>
            </a:pPr>
            <a:r>
              <a:rPr lang="en-US" dirty="0"/>
              <a:t>© Software University – </a:t>
            </a:r>
            <a:r>
              <a:rPr lang="en-US" dirty="0">
                <a:hlinkClick r:id="rId4"/>
              </a:rPr>
              <a:t>https://softuni.bg</a:t>
            </a:r>
            <a:endParaRPr lang="bg-BG" dirty="0"/>
          </a:p>
        </p:txBody>
      </p:sp>
      <p:pic>
        <p:nvPicPr>
          <p:cNvPr id="6" name="Picture License" descr="License">
            <a:extLst>
              <a:ext uri="{FF2B5EF4-FFF2-40B4-BE49-F238E27FC236}">
                <a16:creationId xmlns:a16="http://schemas.microsoft.com/office/drawing/2014/main" id="{A10A2585-858C-4B1E-8846-27CF1C15729E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745023" y="4445455"/>
            <a:ext cx="1930977" cy="2043545"/>
          </a:xfrm>
          <a:prstGeom prst="rect">
            <a:avLst/>
          </a:prstGeom>
        </p:spPr>
      </p:pic>
      <p:sp>
        <p:nvSpPr>
          <p:cNvPr id="3" name="Slide Title">
            <a:extLst>
              <a:ext uri="{FF2B5EF4-FFF2-40B4-BE49-F238E27FC236}">
                <a16:creationId xmlns:a16="http://schemas.microsoft.com/office/drawing/2014/main" id="{E5F1FB41-80C3-4816-BC47-CCC50632E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License</a:t>
            </a:r>
            <a:endParaRPr lang="bg-BG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2B76E6DC-EACD-4D53-85F5-69B038EF7E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45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0016402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theme/theme1.xml><?xml version="1.0" encoding="utf-8"?>
<a:theme xmlns:a="http://schemas.openxmlformats.org/drawingml/2006/main" name="SoftUni">
  <a:themeElements>
    <a:clrScheme name="SoftUni">
      <a:dk1>
        <a:srgbClr val="234465"/>
      </a:dk1>
      <a:lt1>
        <a:srgbClr val="FFA000"/>
      </a:lt1>
      <a:dk2>
        <a:srgbClr val="234465"/>
      </a:dk2>
      <a:lt2>
        <a:srgbClr val="FFFFFF"/>
      </a:lt2>
      <a:accent1>
        <a:srgbClr val="FFA000"/>
      </a:accent1>
      <a:accent2>
        <a:srgbClr val="00B050"/>
      </a:accent2>
      <a:accent3>
        <a:srgbClr val="44A9F8"/>
      </a:accent3>
      <a:accent4>
        <a:srgbClr val="7030A0"/>
      </a:accent4>
      <a:accent5>
        <a:srgbClr val="67748E"/>
      </a:accent5>
      <a:accent6>
        <a:srgbClr val="F4F5F7"/>
      </a:accent6>
      <a:hlink>
        <a:srgbClr val="F2AC44"/>
      </a:hlink>
      <a:folHlink>
        <a:srgbClr val="F6C781"/>
      </a:folHlink>
    </a:clrScheme>
    <a:fontScheme name="SoftUni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dk2">
            <a:alpha val="80000"/>
          </a:schemeClr>
        </a:solidFill>
        <a:ln w="19050">
          <a:solidFill>
            <a:schemeClr val="tx1">
              <a:lumMod val="75000"/>
              <a:alpha val="80000"/>
            </a:schemeClr>
          </a:solidFill>
        </a:ln>
        <a:effectLst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2800" b="1" dirty="0">
            <a:solidFill>
              <a:srgbClr val="FFFFFF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defRPr>
        </a:defPPr>
      </a:lstStyle>
      <a:style>
        <a:lnRef idx="2">
          <a:schemeClr val="accent1">
            <a:shade val="50000"/>
          </a:schemeClr>
        </a:lnRef>
        <a:fillRef idx="1001">
          <a:schemeClr val="dk2"/>
        </a:fillRef>
        <a:effectRef idx="0">
          <a:schemeClr val="accent1"/>
        </a:effectRef>
        <a:fontRef idx="minor">
          <a:schemeClr val="lt1"/>
        </a:fontRef>
      </a:style>
    </a:spDef>
    <a:txDef>
      <a:spPr>
        <a:solidFill>
          <a:schemeClr val="accent6">
            <a:lumMod val="75000"/>
            <a:alpha val="15000"/>
          </a:schemeClr>
        </a:solidFill>
        <a:ln w="12700">
          <a:solidFill>
            <a:schemeClr val="tx1">
              <a:lumMod val="75000"/>
            </a:schemeClr>
          </a:solidFill>
        </a:ln>
      </a:spPr>
      <a:bodyPr vert="horz" wrap="square" lIns="144000" tIns="108000" rIns="144000" bIns="108000" rtlCol="0">
        <a:spAutoFit/>
      </a:bodyPr>
      <a:lstStyle>
        <a:defPPr algn="l" eaLnBrk="0" hangingPunct="0">
          <a:lnSpc>
            <a:spcPct val="110000"/>
          </a:lnSpc>
          <a:buClr>
            <a:schemeClr val="accent5">
              <a:lumMod val="40000"/>
              <a:lumOff val="60000"/>
            </a:schemeClr>
          </a:buClr>
          <a:buSzPct val="70000"/>
          <a:defRPr sz="24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SoftUni" id="{D61FAD9B-6E74-4E03-BFE4-B363D484F1DA}" vid="{7089C1A3-635B-4B03-A017-DAF10A3A396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4018</TotalTime>
  <Words>2002</Words>
  <Application>Microsoft Office PowerPoint</Application>
  <PresentationFormat>Widescreen</PresentationFormat>
  <Paragraphs>299</Paragraphs>
  <Slides>45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1" baseType="lpstr">
      <vt:lpstr>Arial</vt:lpstr>
      <vt:lpstr>Calibri</vt:lpstr>
      <vt:lpstr>Consolas</vt:lpstr>
      <vt:lpstr>Wingdings</vt:lpstr>
      <vt:lpstr>Wingdings 2</vt:lpstr>
      <vt:lpstr>SoftUni</vt:lpstr>
      <vt:lpstr>Flexbox</vt:lpstr>
      <vt:lpstr>Table of Contents</vt:lpstr>
      <vt:lpstr>Flexbox</vt:lpstr>
      <vt:lpstr>What is Flexbox?</vt:lpstr>
      <vt:lpstr>Why Flexbox?</vt:lpstr>
      <vt:lpstr>The Flex Model</vt:lpstr>
      <vt:lpstr>The Flex Model</vt:lpstr>
      <vt:lpstr>Flexbox properties</vt:lpstr>
      <vt:lpstr>Properties for the Parent</vt:lpstr>
      <vt:lpstr>Display – Flex</vt:lpstr>
      <vt:lpstr>Display – Inline-flex</vt:lpstr>
      <vt:lpstr>Flex Direction</vt:lpstr>
      <vt:lpstr>Flex Direction</vt:lpstr>
      <vt:lpstr>Flex Direction</vt:lpstr>
      <vt:lpstr>Flex Wrap</vt:lpstr>
      <vt:lpstr>Flex Wrap</vt:lpstr>
      <vt:lpstr>Flex Flow</vt:lpstr>
      <vt:lpstr>Justify Content</vt:lpstr>
      <vt:lpstr>Justify Content</vt:lpstr>
      <vt:lpstr>Justify Content</vt:lpstr>
      <vt:lpstr>Justify Content</vt:lpstr>
      <vt:lpstr>Align Items</vt:lpstr>
      <vt:lpstr>Align-items</vt:lpstr>
      <vt:lpstr>Align-items</vt:lpstr>
      <vt:lpstr>Align Content</vt:lpstr>
      <vt:lpstr>Align Content: Stretch Example</vt:lpstr>
      <vt:lpstr>Align Content</vt:lpstr>
      <vt:lpstr>Align Content</vt:lpstr>
      <vt:lpstr>Align Content</vt:lpstr>
      <vt:lpstr>Align Content</vt:lpstr>
      <vt:lpstr>Align Content</vt:lpstr>
      <vt:lpstr>Properties for the Children</vt:lpstr>
      <vt:lpstr>Order</vt:lpstr>
      <vt:lpstr>Order</vt:lpstr>
      <vt:lpstr>Flex Grow</vt:lpstr>
      <vt:lpstr>Flex Shrink</vt:lpstr>
      <vt:lpstr>Flex Shrink</vt:lpstr>
      <vt:lpstr>Flex Basis</vt:lpstr>
      <vt:lpstr>Flex</vt:lpstr>
      <vt:lpstr>Align Self</vt:lpstr>
      <vt:lpstr>Align Self</vt:lpstr>
      <vt:lpstr>Resources</vt:lpstr>
      <vt:lpstr>Summary</vt:lpstr>
      <vt:lpstr>Trainings @ Software University (SoftUni)</vt:lpstr>
      <vt:lpstr>License</vt:lpstr>
    </vt:vector>
  </TitlesOfParts>
  <Company>SoftUni – https://about.softuni.bg/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Flexbox</dc:title>
  <dc:subject>Software Development</dc:subject>
  <dc:creator>Software University</dc:creator>
  <cp:keywords>SoftUni; Software University; programming; coding; computer programming; software development; software engineering; software technologies; digital skills; technical skills; training; course</cp:keywords>
  <dc:description>© SoftUni – https://about.softuni.bg/
© Software University – https://softuni.bg
Copyrighted document. Unauthorized copy, reproduction or use is not permitted.</dc:description>
  <cp:lastModifiedBy>Diyan Petrov</cp:lastModifiedBy>
  <cp:revision>55</cp:revision>
  <dcterms:created xsi:type="dcterms:W3CDTF">2018-05-23T13:08:44Z</dcterms:created>
  <dcterms:modified xsi:type="dcterms:W3CDTF">2026-05-22T14:17:17Z</dcterms:modified>
  <cp:category>computer programming;programming;software development;software engineering</cp:category>
</cp:coreProperties>
</file>